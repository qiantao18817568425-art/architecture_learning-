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2" r:id="rId5"/>
  </p:sldMasterIdLst>
  <p:notesMasterIdLst>
    <p:notesMasterId r:id="rId32"/>
  </p:notesMasterIdLst>
  <p:handoutMasterIdLst>
    <p:handoutMasterId r:id="rId33"/>
  </p:handoutMasterIdLst>
  <p:sldIdLst>
    <p:sldId id="256" r:id="rId6"/>
    <p:sldId id="264" r:id="rId7"/>
    <p:sldId id="265" r:id="rId8"/>
    <p:sldId id="266" r:id="rId9"/>
    <p:sldId id="288" r:id="rId10"/>
    <p:sldId id="268" r:id="rId11"/>
    <p:sldId id="280" r:id="rId12"/>
    <p:sldId id="279" r:id="rId13"/>
    <p:sldId id="278" r:id="rId14"/>
    <p:sldId id="267" r:id="rId15"/>
    <p:sldId id="276" r:id="rId16"/>
    <p:sldId id="277" r:id="rId17"/>
    <p:sldId id="269" r:id="rId18"/>
    <p:sldId id="270" r:id="rId19"/>
    <p:sldId id="272" r:id="rId20"/>
    <p:sldId id="273" r:id="rId21"/>
    <p:sldId id="286" r:id="rId22"/>
    <p:sldId id="275" r:id="rId23"/>
    <p:sldId id="274" r:id="rId24"/>
    <p:sldId id="283" r:id="rId25"/>
    <p:sldId id="282" r:id="rId26"/>
    <p:sldId id="281" r:id="rId27"/>
    <p:sldId id="284" r:id="rId28"/>
    <p:sldId id="285" r:id="rId29"/>
    <p:sldId id="289" r:id="rId30"/>
    <p:sldId id="25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Bright" id="{8F19EB6F-DE0B-3043-9220-FF90A9B8DE39}">
          <p14:sldIdLst>
            <p14:sldId id="256"/>
            <p14:sldId id="257"/>
            <p14:sldId id="258"/>
          </p14:sldIdLst>
        </p14:section>
        <p14:section name="Dark" id="{ADA0F6E8-6463-1749-BDEB-DD7406E4CD8B}">
          <p14:sldIdLst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00FF99"/>
    <a:srgbClr val="CC99FF"/>
    <a:srgbClr val="FF6699"/>
    <a:srgbClr val="66FF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00" autoAdjust="0"/>
    <p:restoredTop sz="99524" autoAdjust="0"/>
  </p:normalViewPr>
  <p:slideViewPr>
    <p:cSldViewPr snapToGrid="0" snapToObjects="1">
      <p:cViewPr>
        <p:scale>
          <a:sx n="100" d="100"/>
          <a:sy n="100" d="100"/>
        </p:scale>
        <p:origin x="-96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3C0EF-2B70-1E48-AAF4-38D0D60449B7}" type="datetimeFigureOut">
              <a:rPr lang="en-US" smtClean="0"/>
              <a:pPr/>
              <a:t>12/28/2015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E9E92-CACA-7641-8DB3-7C90210B1D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67115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2DFA7-3CB6-2C4B-A973-ECD2AB5618B3}" type="datetimeFigureOut">
              <a:rPr lang="en-US" smtClean="0"/>
              <a:pPr/>
              <a:t>12/28/2015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A2320-C23A-B148-88B1-360D5FA97C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412907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12" y="1539265"/>
            <a:ext cx="2370836" cy="584454"/>
          </a:xfrm>
          <a:prstGeom prst="rect">
            <a:avLst/>
          </a:prstGeom>
          <a:effectLst/>
        </p:spPr>
      </p:pic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3594100" y="1097941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rgbClr val="69BE28"/>
                </a:solidFill>
              </a:rPr>
              <a:t>INTERNAL USE</a:t>
            </a:r>
            <a:endParaRPr lang="en-US" altLang="zh-TW" sz="800" b="1" dirty="0">
              <a:solidFill>
                <a:srgbClr val="69BE28"/>
              </a:solidFill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594100" y="3835403"/>
            <a:ext cx="5092700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10" name="Picture 9" descr="pattern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3"/>
            <a:ext cx="9144000" cy="19642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70215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agline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667" y="2484967"/>
            <a:ext cx="4064000" cy="1762760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 userDrawn="1"/>
        </p:nvSpPr>
        <p:spPr bwMode="auto">
          <a:xfrm>
            <a:off x="2962011" y="6226175"/>
            <a:ext cx="28813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32129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57200" y="1866900"/>
            <a:ext cx="8229600" cy="428942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5393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29817"/>
            <a:ext cx="77724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233" y="2619305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59119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4133"/>
            <a:ext cx="4038600" cy="4203367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4132"/>
            <a:ext cx="4038600" cy="420336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7151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4040188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60600"/>
            <a:ext cx="4040188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744133"/>
            <a:ext cx="4041775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260600"/>
            <a:ext cx="4041775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041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322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9556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7003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538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8992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497343"/>
            <a:ext cx="54864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86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064081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4534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744133"/>
            <a:ext cx="8229600" cy="428948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44047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6988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69880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6555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12" y="1539268"/>
            <a:ext cx="2370836" cy="584454"/>
          </a:xfrm>
          <a:prstGeom prst="rect">
            <a:avLst/>
          </a:prstGeom>
          <a:effectLst/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594100" y="3835403"/>
            <a:ext cx="5092700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 smtClean="0"/>
              <a:t>Click to edit Master subtitle style</a:t>
            </a:r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3723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pic>
        <p:nvPicPr>
          <p:cNvPr id="8" name="Picture 7" descr="pattern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3"/>
            <a:ext cx="9144000" cy="19642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60299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nd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667" y="2484967"/>
            <a:ext cx="4064000" cy="1762760"/>
          </a:xfrm>
          <a:prstGeom prst="rect">
            <a:avLst/>
          </a:prstGeom>
        </p:spPr>
      </p:pic>
      <p:sp>
        <p:nvSpPr>
          <p:cNvPr id="10" name="Text Box 8"/>
          <p:cNvSpPr txBox="1">
            <a:spLocks noChangeArrowheads="1"/>
          </p:cNvSpPr>
          <p:nvPr userDrawn="1"/>
        </p:nvSpPr>
        <p:spPr bwMode="auto">
          <a:xfrm>
            <a:off x="2962011" y="6226175"/>
            <a:ext cx="28813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69405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143000"/>
          </a:xfrm>
        </p:spPr>
        <p:txBody>
          <a:bodyPr tIns="0"/>
          <a:lstStyle/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03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v-SE" dirty="0" smtClean="0"/>
              <a:t>Click to edit Master text styles</a:t>
            </a:r>
          </a:p>
          <a:p>
            <a:pPr lvl="1"/>
            <a:r>
              <a:rPr lang="sv-SE" dirty="0" smtClean="0"/>
              <a:t>Second level</a:t>
            </a:r>
          </a:p>
          <a:p>
            <a:pPr lvl="2"/>
            <a:r>
              <a:rPr lang="sv-SE" dirty="0" smtClean="0"/>
              <a:t>Third level</a:t>
            </a:r>
          </a:p>
          <a:p>
            <a:pPr lvl="3"/>
            <a:r>
              <a:rPr lang="sv-SE" dirty="0" smtClean="0"/>
              <a:t>Fourth level</a:t>
            </a:r>
          </a:p>
          <a:p>
            <a:pPr lvl="4"/>
            <a:r>
              <a:rPr lang="sv-SE" dirty="0" smtClean="0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3962400" y="6775450"/>
            <a:ext cx="184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51371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185"/>
            <a:ext cx="7772400" cy="150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 smtClean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87931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02213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59768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01361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59177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37638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155952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43938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5356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82296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Logotype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2" y="6361222"/>
            <a:ext cx="760781" cy="190561"/>
          </a:xfrm>
          <a:prstGeom prst="rect">
            <a:avLst/>
          </a:prstGeom>
        </p:spPr>
      </p:pic>
      <p:sp>
        <p:nvSpPr>
          <p:cNvPr id="14" name="Footer Placeholder 4"/>
          <p:cNvSpPr txBox="1">
            <a:spLocks/>
          </p:cNvSpPr>
          <p:nvPr/>
        </p:nvSpPr>
        <p:spPr>
          <a:xfrm>
            <a:off x="1441450" y="6273800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rgbClr val="69BE28"/>
                </a:solidFill>
              </a:rPr>
              <a:t>INTERNAL USE</a:t>
            </a:r>
            <a:endParaRPr lang="en-US" altLang="zh-TW" sz="800" b="1" dirty="0">
              <a:solidFill>
                <a:srgbClr val="69BE28"/>
              </a:solidFill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82296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978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 txBox="1">
            <a:spLocks/>
          </p:cNvSpPr>
          <p:nvPr/>
        </p:nvSpPr>
        <p:spPr>
          <a:xfrm>
            <a:off x="1441450" y="6273800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chemeClr val="accent3"/>
                </a:solidFill>
              </a:rPr>
              <a:t>INTERNAL USE</a:t>
            </a:r>
            <a:endParaRPr lang="en-US" altLang="zh-TW" sz="800" b="1" dirty="0">
              <a:solidFill>
                <a:schemeClr val="accent3"/>
              </a:solidFill>
            </a:endParaRPr>
          </a:p>
        </p:txBody>
      </p:sp>
      <p:pic>
        <p:nvPicPr>
          <p:cNvPr id="17" name="Picture 16" descr="Logoty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623" y="6361221"/>
            <a:ext cx="773010" cy="190561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8167"/>
            <a:ext cx="8229600" cy="461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 smtClean="0"/>
              <a:t>Click to edit Master text styles</a:t>
            </a:r>
          </a:p>
          <a:p>
            <a:pPr lvl="1"/>
            <a:r>
              <a:rPr lang="sv-SE" dirty="0" smtClean="0"/>
              <a:t>Second level</a:t>
            </a:r>
          </a:p>
          <a:p>
            <a:pPr lvl="2"/>
            <a:r>
              <a:rPr lang="sv-SE" dirty="0" smtClean="0"/>
              <a:t>Third level</a:t>
            </a:r>
          </a:p>
          <a:p>
            <a:pPr lvl="3"/>
            <a:r>
              <a:rPr lang="sv-SE" dirty="0" smtClean="0"/>
              <a:t>Fourth level</a:t>
            </a:r>
          </a:p>
          <a:p>
            <a:pPr lvl="4"/>
            <a:r>
              <a:rPr lang="sv-SE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9387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7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Lucida Grande"/>
        <a:buChar char="▪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4.xml"/><Relationship Id="rId7" Type="http://schemas.openxmlformats.org/officeDocument/2006/relationships/slide" Target="slide15.xml"/><Relationship Id="rId12" Type="http://schemas.openxmlformats.org/officeDocument/2006/relationships/slide" Target="slide2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3.xml"/><Relationship Id="rId11" Type="http://schemas.openxmlformats.org/officeDocument/2006/relationships/slide" Target="slide23.xml"/><Relationship Id="rId5" Type="http://schemas.openxmlformats.org/officeDocument/2006/relationships/slide" Target="slide10.xml"/><Relationship Id="rId10" Type="http://schemas.openxmlformats.org/officeDocument/2006/relationships/slide" Target="slide22.xml"/><Relationship Id="rId4" Type="http://schemas.openxmlformats.org/officeDocument/2006/relationships/slide" Target="slide6.xml"/><Relationship Id="rId9" Type="http://schemas.openxmlformats.org/officeDocument/2006/relationships/slide" Target="slide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web/catalog/tools/FM147/SC1887/PF260219" TargetMode="External"/><Relationship Id="rId2" Type="http://schemas.openxmlformats.org/officeDocument/2006/relationships/hyperlink" Target="http://www.st.com/web/en/catalog/tools/PF260218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gnuarmeclipse.livius.net/blog/debugger-install/" TargetMode="External"/><Relationship Id="rId3" Type="http://schemas.openxmlformats.org/officeDocument/2006/relationships/hyperlink" Target="http://gnuarmeclipse.livius.net/blog/plugins-install/" TargetMode="External"/><Relationship Id="rId7" Type="http://schemas.openxmlformats.org/officeDocument/2006/relationships/hyperlink" Target="http://sourceforge.net/projects/gnuarmeclipse/files/Build%20Tools/gnuarmeclipse-build-tools-win32-2.4-201503242026-setup.exe/download" TargetMode="External"/><Relationship Id="rId2" Type="http://schemas.openxmlformats.org/officeDocument/2006/relationships/hyperlink" Target="http://www.eclipse.org/downloads/packages/eclipse-ide-cc-developers/lunasr2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gnuarmeclipse.livius.net/blog/build-tools-windows/" TargetMode="External"/><Relationship Id="rId5" Type="http://schemas.openxmlformats.org/officeDocument/2006/relationships/hyperlink" Target="https://launchpad.net/gcc-arm-embedded/4.8/4.8-2014-q3-update/+download/gcc-arm-none-eabi-4_8-2014q3-20140805-win32.zip" TargetMode="External"/><Relationship Id="rId4" Type="http://schemas.openxmlformats.org/officeDocument/2006/relationships/hyperlink" Target="http://gnuarmeclipse.livius.net/blog/toolchain-install/" TargetMode="External"/><Relationship Id="rId9" Type="http://schemas.openxmlformats.org/officeDocument/2006/relationships/hyperlink" Target="http://sourceforge.net/projects/gnuarmeclipse/files/OpenOCD/Windows/gnuarmeclipse-openocd-win32-0.9.0-201503242040-dev-setup.exe/download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user.tw/ProductDetail/STMicroelectronics/NUCLEO-F401RE/?qs=/ha2pyFaduj0LE+zmDN2WIf1yDJEWdBXN99ey6yMt0BmzGwQrP6xFg==" TargetMode="External"/><Relationship Id="rId2" Type="http://schemas.openxmlformats.org/officeDocument/2006/relationships/hyperlink" Target="http://www.mouser.com/ProductDetail/STMicroelectronics/STM32F429I-DISCO/?qs=/ha2pyFadugIKy/Fd/fuLqZPt6I39+11MvJJbLiV2GqqgI/+4X0BDw==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400" dirty="0" smtClean="0"/>
              <a:t>HY Chang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GNU ARM Eclipse Guide 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1673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744133"/>
            <a:ext cx="8229600" cy="4289481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hlinkClick r:id="rId2" action="ppaction://hlinksldjump"/>
              </a:rPr>
              <a:t>GNU ARM Eclipse IDE</a:t>
            </a:r>
            <a:endParaRPr lang="en-US" dirty="0" smtClean="0"/>
          </a:p>
          <a:p>
            <a:r>
              <a:rPr lang="en-US" dirty="0" smtClean="0">
                <a:hlinkClick r:id="rId3" action="ppaction://hlinksldjump"/>
              </a:rPr>
              <a:t>Target board</a:t>
            </a:r>
            <a:endParaRPr lang="en-US" dirty="0" smtClean="0"/>
          </a:p>
          <a:p>
            <a:r>
              <a:rPr lang="en-US" dirty="0" smtClean="0">
                <a:hlinkClick r:id="rId4" action="ppaction://hlinksldjump"/>
              </a:rPr>
              <a:t>IDE Install Step</a:t>
            </a:r>
            <a:endParaRPr lang="en-US" dirty="0" smtClean="0"/>
          </a:p>
          <a:p>
            <a:r>
              <a:rPr lang="en-US" dirty="0" smtClean="0">
                <a:hlinkClick r:id="rId5" action="ppaction://hlinksldjump"/>
              </a:rPr>
              <a:t>New Project</a:t>
            </a:r>
            <a:endParaRPr lang="en-US" dirty="0" smtClean="0"/>
          </a:p>
          <a:p>
            <a:pPr lvl="1"/>
            <a:r>
              <a:rPr lang="en-US" dirty="0" smtClean="0"/>
              <a:t>Import project</a:t>
            </a:r>
          </a:p>
          <a:p>
            <a:r>
              <a:rPr lang="en-US" dirty="0" smtClean="0">
                <a:hlinkClick r:id="rId6" action="ppaction://hlinksldjump"/>
              </a:rPr>
              <a:t>Environment Settings</a:t>
            </a:r>
            <a:endParaRPr lang="en-US" dirty="0" smtClean="0"/>
          </a:p>
          <a:p>
            <a:r>
              <a:rPr lang="en-US" dirty="0" smtClean="0">
                <a:hlinkClick r:id="rId7" action="ppaction://hlinksldjump"/>
              </a:rPr>
              <a:t>Project Settings</a:t>
            </a:r>
            <a:endParaRPr lang="en-US" dirty="0" smtClean="0"/>
          </a:p>
          <a:p>
            <a:r>
              <a:rPr lang="en-US" dirty="0" smtClean="0">
                <a:hlinkClick r:id="rId8" action="ppaction://hlinksldjump"/>
              </a:rPr>
              <a:t>Debug Settings</a:t>
            </a:r>
            <a:endParaRPr lang="en-US" dirty="0" smtClean="0"/>
          </a:p>
          <a:p>
            <a:r>
              <a:rPr lang="en-US" dirty="0" smtClean="0">
                <a:hlinkClick r:id="rId9" action="ppaction://hlinksldjump"/>
              </a:rPr>
              <a:t>Run Project at Target</a:t>
            </a:r>
            <a:endParaRPr lang="en-US" dirty="0" smtClean="0"/>
          </a:p>
          <a:p>
            <a:r>
              <a:rPr lang="en-US" dirty="0" smtClean="0"/>
              <a:t>Appendix</a:t>
            </a:r>
          </a:p>
          <a:p>
            <a:pPr lvl="1"/>
            <a:r>
              <a:rPr lang="en-US" dirty="0" err="1" smtClean="0">
                <a:hlinkClick r:id="rId10" action="ppaction://hlinksldjump"/>
              </a:rPr>
              <a:t>Makefile</a:t>
            </a:r>
            <a:r>
              <a:rPr lang="en-US" dirty="0" smtClean="0">
                <a:hlinkClick r:id="rId10" action="ppaction://hlinksldjump"/>
              </a:rPr>
              <a:t> setting</a:t>
            </a:r>
            <a:endParaRPr lang="en-US" dirty="0" smtClean="0"/>
          </a:p>
          <a:p>
            <a:pPr lvl="1"/>
            <a:r>
              <a:rPr lang="en-US" dirty="0" err="1" smtClean="0">
                <a:hlinkClick r:id="rId11" action="ppaction://hlinksldjump"/>
              </a:rPr>
              <a:t>Semihosting</a:t>
            </a:r>
            <a:endParaRPr lang="en-US" dirty="0" smtClean="0"/>
          </a:p>
          <a:p>
            <a:pPr lvl="1"/>
            <a:r>
              <a:rPr lang="en-US" dirty="0" smtClean="0">
                <a:hlinkClick r:id="rId12" action="ppaction://hlinksldjump"/>
              </a:rPr>
              <a:t>Board Purchase Info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7887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GNU ARM Eclipse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744133"/>
            <a:ext cx="8229600" cy="428948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GNU ARM Eclipse plug-ins allow to </a:t>
            </a:r>
            <a:r>
              <a:rPr lang="en-US" sz="2400" b="1" dirty="0" smtClean="0"/>
              <a:t>create</a:t>
            </a:r>
            <a:r>
              <a:rPr lang="en-US" sz="2400" dirty="0" smtClean="0"/>
              <a:t>, </a:t>
            </a:r>
            <a:r>
              <a:rPr lang="en-US" sz="2400" b="1" dirty="0" smtClean="0"/>
              <a:t>build</a:t>
            </a:r>
            <a:r>
              <a:rPr lang="en-US" sz="2400" dirty="0" smtClean="0"/>
              <a:t>, </a:t>
            </a:r>
            <a:r>
              <a:rPr lang="en-US" sz="2400" b="1" dirty="0" smtClean="0"/>
              <a:t>debug</a:t>
            </a:r>
            <a:r>
              <a:rPr lang="en-US" sz="2400" dirty="0" smtClean="0"/>
              <a:t> and in general to </a:t>
            </a:r>
            <a:r>
              <a:rPr lang="en-US" sz="2400" b="1" dirty="0" smtClean="0"/>
              <a:t>manage ARM and AArch64 projects</a:t>
            </a:r>
            <a:r>
              <a:rPr lang="en-US" sz="2400" dirty="0" smtClean="0"/>
              <a:t> (executables and static/shared libraries, in both 32 and 64-bit versions) with the Eclipse framework.</a:t>
            </a:r>
          </a:p>
          <a:p>
            <a:pPr lvl="1"/>
            <a:r>
              <a:rPr lang="en-US" sz="2000" dirty="0" smtClean="0"/>
              <a:t>Latest to Eclipse 4.4 Luna. </a:t>
            </a:r>
          </a:p>
          <a:p>
            <a:pPr lvl="1"/>
            <a:r>
              <a:rPr lang="en-US" sz="2000" dirty="0" smtClean="0"/>
              <a:t>The plug-ins run on Windows, GNU/Linux and Mac OS X</a:t>
            </a:r>
          </a:p>
          <a:p>
            <a:pPr lvl="1">
              <a:buNone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7887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 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744133"/>
            <a:ext cx="8229600" cy="453453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Target board: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STM32F401RE</a:t>
            </a:r>
          </a:p>
          <a:p>
            <a:pPr lvl="2"/>
            <a:r>
              <a:rPr lang="en-US" dirty="0" smtClean="0"/>
              <a:t>512K Flash</a:t>
            </a:r>
          </a:p>
          <a:p>
            <a:pPr lvl="2"/>
            <a:r>
              <a:rPr lang="en-US" dirty="0" smtClean="0"/>
              <a:t>96K RAM</a:t>
            </a:r>
          </a:p>
          <a:p>
            <a:pPr lvl="2"/>
            <a:r>
              <a:rPr lang="en-US" dirty="0" smtClean="0"/>
              <a:t>84Mhz</a:t>
            </a:r>
          </a:p>
          <a:p>
            <a:r>
              <a:rPr lang="en-US" dirty="0" smtClean="0"/>
              <a:t>Target board: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STM32F429I-DISCO</a:t>
            </a:r>
          </a:p>
          <a:p>
            <a:pPr lvl="2"/>
            <a:r>
              <a:rPr lang="en-US" dirty="0" smtClean="0"/>
              <a:t>2M Flash</a:t>
            </a:r>
          </a:p>
          <a:p>
            <a:pPr lvl="2"/>
            <a:r>
              <a:rPr lang="en-US" dirty="0" smtClean="0"/>
              <a:t>256K RAM</a:t>
            </a:r>
          </a:p>
          <a:p>
            <a:pPr lvl="2"/>
            <a:r>
              <a:rPr lang="en-US" dirty="0" smtClean="0"/>
              <a:t>180Mhz</a:t>
            </a:r>
          </a:p>
          <a:p>
            <a:pPr lvl="2"/>
            <a:r>
              <a:rPr lang="en-US" dirty="0" smtClean="0"/>
              <a:t>8M external SDRAM</a:t>
            </a:r>
          </a:p>
          <a:p>
            <a:pPr>
              <a:buNone/>
            </a:pPr>
            <a:endParaRPr lang="en-US" dirty="0" smtClean="0"/>
          </a:p>
          <a:p>
            <a:pPr lvl="2">
              <a:buFont typeface="Wingdings" pitchFamily="2" charset="2"/>
              <a:buChar char="§"/>
            </a:pPr>
            <a:endParaRPr lang="en-US" sz="1200" dirty="0" smtClean="0">
              <a:solidFill>
                <a:schemeClr val="accent1"/>
              </a:solidFill>
            </a:endParaRPr>
          </a:p>
          <a:p>
            <a:pPr lvl="2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6528" y="1152047"/>
            <a:ext cx="1924050" cy="2269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6528" y="3421171"/>
            <a:ext cx="1795462" cy="304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57887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 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744133"/>
            <a:ext cx="8229600" cy="4704292"/>
          </a:xfrm>
        </p:spPr>
        <p:txBody>
          <a:bodyPr>
            <a:normAutofit/>
          </a:bodyPr>
          <a:lstStyle/>
          <a:p>
            <a:pPr lvl="2">
              <a:buNone/>
            </a:pPr>
            <a:endParaRPr lang="en-US" dirty="0" smtClean="0"/>
          </a:p>
          <a:p>
            <a:r>
              <a:rPr lang="en-US" dirty="0" smtClean="0"/>
              <a:t>ST-Link USB Driver :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>
                <a:solidFill>
                  <a:schemeClr val="accent1"/>
                </a:solidFill>
              </a:rPr>
              <a:t> </a:t>
            </a:r>
            <a:r>
              <a:rPr lang="en-US" sz="1800" b="1" dirty="0" smtClean="0">
                <a:solidFill>
                  <a:schemeClr val="accent1"/>
                </a:solidFill>
              </a:rPr>
              <a:t>STSW-LINK008 for Win vista &amp; Win 7 &amp; Win 8 </a:t>
            </a:r>
            <a:endParaRPr lang="en-US" sz="1800" dirty="0" smtClean="0">
              <a:solidFill>
                <a:schemeClr val="accent1"/>
              </a:solidFill>
            </a:endParaRPr>
          </a:p>
          <a:p>
            <a:pPr lvl="2"/>
            <a:r>
              <a:rPr lang="en-US" sz="2000" dirty="0" smtClean="0">
                <a:hlinkClick r:id="rId2"/>
              </a:rPr>
              <a:t>http://www.st.com/web/en/catalog/tools/PF260218</a:t>
            </a:r>
            <a:endParaRPr lang="en-US" sz="2000" dirty="0" smtClean="0"/>
          </a:p>
          <a:p>
            <a:pPr lvl="1">
              <a:buFont typeface="Wingdings" pitchFamily="2" charset="2"/>
              <a:buChar char="§"/>
            </a:pPr>
            <a:r>
              <a:rPr lang="en-US" sz="1800" dirty="0" smtClean="0">
                <a:solidFill>
                  <a:schemeClr val="accent1"/>
                </a:solidFill>
              </a:rPr>
              <a:t> </a:t>
            </a:r>
            <a:r>
              <a:rPr lang="en-US" sz="1800" b="1" dirty="0" smtClean="0">
                <a:solidFill>
                  <a:schemeClr val="accent1"/>
                </a:solidFill>
              </a:rPr>
              <a:t>STSW-LINK009 for Win XP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accent1"/>
                </a:solidFill>
                <a:hlinkClick r:id="rId3"/>
              </a:rPr>
              <a:t>http://www.st.com/web/catalog/tools/FM147/SC1887/PF260219</a:t>
            </a:r>
            <a:endParaRPr lang="en-US" sz="2000" dirty="0" smtClean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7887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 Install Step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sz="2800" dirty="0" smtClean="0"/>
              <a:t>Download Eclipse CDT</a:t>
            </a:r>
          </a:p>
          <a:p>
            <a:pPr lvl="1"/>
            <a:r>
              <a:rPr lang="en-US" sz="2000" dirty="0" smtClean="0">
                <a:solidFill>
                  <a:srgbClr val="0070C0"/>
                </a:solidFill>
              </a:rPr>
              <a:t>Need to Download Eclipse CDT First : </a:t>
            </a:r>
            <a:r>
              <a:rPr lang="en-US" sz="2000" dirty="0" smtClean="0">
                <a:solidFill>
                  <a:srgbClr val="0070C0"/>
                </a:solidFill>
                <a:hlinkClick r:id="rId2"/>
              </a:rPr>
              <a:t>Here</a:t>
            </a:r>
            <a:endParaRPr lang="en-US" sz="2000" dirty="0" smtClean="0">
              <a:solidFill>
                <a:srgbClr val="0070C0"/>
              </a:solidFill>
            </a:endParaRPr>
          </a:p>
          <a:p>
            <a:pPr lvl="1"/>
            <a:r>
              <a:rPr lang="en-US" sz="2000" dirty="0" smtClean="0">
                <a:solidFill>
                  <a:srgbClr val="0070C0"/>
                </a:solidFill>
              </a:rPr>
              <a:t>Current Latest Version: Luna Service Release 2 (4.4.2)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 smtClean="0"/>
              <a:t>Install </a:t>
            </a:r>
            <a:r>
              <a:rPr lang="en-US" sz="2800" dirty="0" smtClean="0">
                <a:hlinkClick r:id="rId3" tooltip="Plug-ins install"/>
              </a:rPr>
              <a:t>Eclipse plug-ins</a:t>
            </a:r>
            <a:endParaRPr lang="en-US" sz="2400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 smtClean="0"/>
              <a:t>one or more cross build </a:t>
            </a:r>
            <a:r>
              <a:rPr lang="en-US" sz="2800" dirty="0" err="1" smtClean="0">
                <a:hlinkClick r:id="rId4" tooltip="Toolchain install"/>
              </a:rPr>
              <a:t>toolchain</a:t>
            </a:r>
            <a:r>
              <a:rPr lang="en-US" sz="2800" dirty="0" smtClean="0">
                <a:hlinkClick r:id="rId4" tooltip="Toolchain install"/>
              </a:rPr>
              <a:t>(s)</a:t>
            </a:r>
            <a:endParaRPr lang="en-US" sz="2800" dirty="0" smtClean="0"/>
          </a:p>
          <a:p>
            <a:pPr marL="914400" lvl="1" indent="-514350" fontAlgn="base"/>
            <a:r>
              <a:rPr lang="en-US" sz="2000" dirty="0" err="1" smtClean="0">
                <a:solidFill>
                  <a:srgbClr val="0070C0"/>
                </a:solidFill>
              </a:rPr>
              <a:t>Toolchain</a:t>
            </a:r>
            <a:r>
              <a:rPr lang="en-US" sz="2000" dirty="0" smtClean="0">
                <a:solidFill>
                  <a:srgbClr val="0070C0"/>
                </a:solidFill>
              </a:rPr>
              <a:t> version: </a:t>
            </a:r>
            <a:r>
              <a:rPr lang="en-US" sz="2000" dirty="0" smtClean="0">
                <a:solidFill>
                  <a:srgbClr val="0070C0"/>
                </a:solidFill>
                <a:hlinkClick r:id="rId5"/>
              </a:rPr>
              <a:t>here</a:t>
            </a:r>
            <a:endParaRPr lang="en-US" sz="2000" dirty="0" smtClean="0">
              <a:solidFill>
                <a:srgbClr val="0070C0"/>
              </a:solidFill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 smtClean="0"/>
              <a:t>the optional </a:t>
            </a:r>
            <a:r>
              <a:rPr lang="en-US" sz="2800" dirty="0" smtClean="0">
                <a:hlinkClick r:id="rId6" tooltip="Build tools (make &amp; rm) on Windows"/>
              </a:rPr>
              <a:t>build tools</a:t>
            </a:r>
            <a:r>
              <a:rPr lang="en-US" sz="2800" dirty="0" smtClean="0"/>
              <a:t> (make &amp; </a:t>
            </a:r>
            <a:r>
              <a:rPr lang="en-US" sz="2800" dirty="0" err="1" smtClean="0"/>
              <a:t>rm</a:t>
            </a:r>
            <a:r>
              <a:rPr lang="en-US" sz="2800" dirty="0" smtClean="0"/>
              <a:t>) for Windows</a:t>
            </a:r>
          </a:p>
          <a:p>
            <a:pPr marL="914400" lvl="1" indent="-514350" fontAlgn="base"/>
            <a:r>
              <a:rPr lang="en-US" sz="2000" dirty="0" smtClean="0">
                <a:solidFill>
                  <a:srgbClr val="0070C0"/>
                </a:solidFill>
              </a:rPr>
              <a:t>Build Tool: </a:t>
            </a:r>
            <a:r>
              <a:rPr lang="en-US" sz="2000" dirty="0" smtClean="0">
                <a:solidFill>
                  <a:srgbClr val="0070C0"/>
                </a:solidFill>
                <a:hlinkClick r:id="rId7"/>
              </a:rPr>
              <a:t>here</a:t>
            </a:r>
            <a:endParaRPr lang="en-US" sz="2000" dirty="0" smtClean="0">
              <a:solidFill>
                <a:srgbClr val="0070C0"/>
              </a:solidFill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 smtClean="0"/>
              <a:t>the </a:t>
            </a:r>
            <a:r>
              <a:rPr lang="en-US" sz="2800" dirty="0" smtClean="0">
                <a:hlinkClick r:id="rId8" tooltip="Debugger install"/>
              </a:rPr>
              <a:t>debugging</a:t>
            </a:r>
            <a:r>
              <a:rPr lang="en-US" sz="2800" dirty="0" smtClean="0"/>
              <a:t> tools</a:t>
            </a:r>
          </a:p>
          <a:p>
            <a:pPr marL="914400" lvl="1" indent="-514350" fontAlgn="base"/>
            <a:r>
              <a:rPr lang="en-US" sz="2000" dirty="0" err="1" smtClean="0">
                <a:solidFill>
                  <a:srgbClr val="0070C0"/>
                </a:solidFill>
              </a:rPr>
              <a:t>OpenOCD</a:t>
            </a:r>
            <a:r>
              <a:rPr lang="en-US" sz="2000" dirty="0" smtClean="0">
                <a:solidFill>
                  <a:srgbClr val="0070C0"/>
                </a:solidFill>
              </a:rPr>
              <a:t> : </a:t>
            </a:r>
            <a:r>
              <a:rPr lang="en-US" sz="2000" dirty="0" smtClean="0">
                <a:solidFill>
                  <a:srgbClr val="0070C0"/>
                </a:solidFill>
                <a:hlinkClick r:id="rId9"/>
              </a:rPr>
              <a:t>here</a:t>
            </a:r>
            <a:endParaRPr lang="en-US" sz="2000" dirty="0" smtClean="0">
              <a:solidFill>
                <a:srgbClr val="0070C0"/>
              </a:solidFill>
            </a:endParaRPr>
          </a:p>
          <a:p>
            <a:pPr marL="914400" lvl="1" indent="-514350" fontAlgn="base">
              <a:buNone/>
            </a:pP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plug-in – Step1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09675"/>
            <a:ext cx="8229600" cy="494665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(IDE navigation bar) Help</a:t>
            </a:r>
            <a:r>
              <a:rPr lang="en-US" sz="2800" dirty="0" smtClean="0">
                <a:sym typeface="Wingdings" pitchFamily="2" charset="2"/>
              </a:rPr>
              <a:t> Install New Software</a:t>
            </a:r>
            <a:endParaRPr lang="en-US" sz="2800" dirty="0"/>
          </a:p>
        </p:txBody>
      </p:sp>
      <p:pic>
        <p:nvPicPr>
          <p:cNvPr id="44034" name="Picture 2" descr="C:\Users\MTK09865\Desktop\Coocox\Gnueclipseplugi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5739" y="1919951"/>
            <a:ext cx="6011862" cy="47238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plug-in – Step2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09675"/>
            <a:ext cx="8229600" cy="494665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Select necessary components</a:t>
            </a:r>
            <a:endParaRPr lang="en-US" sz="2800" dirty="0"/>
          </a:p>
        </p:txBody>
      </p:sp>
      <p:pic>
        <p:nvPicPr>
          <p:cNvPr id="45058" name="Picture 2" descr="C:\Users\MTK09865\Desktop\Coocox\Gnueclipseplugin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8775" y="1701800"/>
            <a:ext cx="5772150" cy="50417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plug-in – Step3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09675"/>
            <a:ext cx="8229600" cy="494665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After installing plug-in, you will see ARM plug-in icon</a:t>
            </a:r>
          </a:p>
          <a:p>
            <a:r>
              <a:rPr lang="en-US" sz="2800" dirty="0" smtClean="0"/>
              <a:t>Help </a:t>
            </a:r>
            <a:r>
              <a:rPr lang="en-US" sz="2800" dirty="0" smtClean="0">
                <a:sym typeface="Wingdings" pitchFamily="2" charset="2"/>
              </a:rPr>
              <a:t> About Eclipse</a:t>
            </a:r>
            <a:endParaRPr lang="en-US" sz="2800" dirty="0"/>
          </a:p>
        </p:txBody>
      </p:sp>
      <p:grpSp>
        <p:nvGrpSpPr>
          <p:cNvPr id="8" name="Group 7"/>
          <p:cNvGrpSpPr/>
          <p:nvPr/>
        </p:nvGrpSpPr>
        <p:grpSpPr>
          <a:xfrm>
            <a:off x="2162176" y="2205146"/>
            <a:ext cx="5238750" cy="4486275"/>
            <a:chOff x="2069766" y="1909871"/>
            <a:chExt cx="5238750" cy="4486275"/>
          </a:xfrm>
        </p:grpSpPr>
        <p:pic>
          <p:nvPicPr>
            <p:cNvPr id="43010" name="Picture 2" descr="C:\Users\MTK09865\Desktop\Coocox\Gnueclipseplugin3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069766" y="1909871"/>
              <a:ext cx="5238750" cy="4486275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3052040" y="4762501"/>
              <a:ext cx="576986" cy="1076324"/>
            </a:xfrm>
            <a:prstGeom prst="rect">
              <a:avLst/>
            </a:prstGeom>
            <a:noFill/>
            <a:ln w="190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04439" y="2505075"/>
              <a:ext cx="2605811" cy="161925"/>
            </a:xfrm>
            <a:prstGeom prst="rect">
              <a:avLst/>
            </a:prstGeom>
            <a:noFill/>
            <a:ln w="190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 Project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Project for stm32F401RE </a:t>
            </a:r>
          </a:p>
          <a:p>
            <a:pPr lvl="1"/>
            <a:r>
              <a:rPr lang="en-US" dirty="0" smtClean="0"/>
              <a:t>Use </a:t>
            </a:r>
            <a:r>
              <a:rPr lang="en-US" dirty="0" smtClean="0"/>
              <a:t>FreeRTOS_F401_122815 </a:t>
            </a:r>
            <a:r>
              <a:rPr lang="en-US" dirty="0" smtClean="0"/>
              <a:t>as </a:t>
            </a:r>
            <a:r>
              <a:rPr lang="en-US" dirty="0" smtClean="0"/>
              <a:t>the template </a:t>
            </a:r>
            <a:r>
              <a:rPr lang="en-US" dirty="0" smtClean="0"/>
              <a:t>project.</a:t>
            </a:r>
            <a:endParaRPr lang="en-US" dirty="0" smtClean="0"/>
          </a:p>
          <a:p>
            <a:r>
              <a:rPr lang="en-US" dirty="0" smtClean="0"/>
              <a:t>Project for stm32F429Discovery </a:t>
            </a:r>
          </a:p>
          <a:p>
            <a:pPr lvl="1"/>
            <a:r>
              <a:rPr lang="en-US" dirty="0" smtClean="0"/>
              <a:t>Use </a:t>
            </a:r>
            <a:r>
              <a:rPr lang="en-US" dirty="0" smtClean="0"/>
              <a:t>FreeRTOS_F429_122815 </a:t>
            </a:r>
            <a:r>
              <a:rPr lang="en-US" dirty="0" smtClean="0"/>
              <a:t>as </a:t>
            </a:r>
            <a:r>
              <a:rPr lang="en-US" dirty="0" smtClean="0"/>
              <a:t>the </a:t>
            </a:r>
            <a:r>
              <a:rPr lang="en-US" dirty="0" smtClean="0"/>
              <a:t>template project.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Unachieved the file and import into your workspace</a:t>
            </a:r>
            <a:endParaRPr lang="en-US" dirty="0"/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1114425" y="4171950"/>
          <a:ext cx="2195513" cy="685800"/>
        </p:xfrm>
        <a:graphic>
          <a:graphicData uri="http://schemas.openxmlformats.org/presentationml/2006/ole">
            <p:oleObj spid="_x0000_s1030" name="Packager Shell Object" showAsIcon="1" r:id="rId3" imgW="2196000" imgH="685800" progId="Package">
              <p:embed/>
            </p:oleObj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4371975" y="4171950"/>
          <a:ext cx="2195513" cy="685800"/>
        </p:xfrm>
        <a:graphic>
          <a:graphicData uri="http://schemas.openxmlformats.org/presentationml/2006/ole">
            <p:oleObj spid="_x0000_s1031" name="Packager Shell Object" showAsIcon="1" r:id="rId4" imgW="2196000" imgH="685800" progId="Package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Project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72706"/>
            <a:ext cx="8229600" cy="488362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File </a:t>
            </a:r>
            <a:r>
              <a:rPr lang="en-US" sz="2400" dirty="0" smtClean="0">
                <a:sym typeface="Wingdings" pitchFamily="2" charset="2"/>
              </a:rPr>
              <a:t> Import Select root directory select template</a:t>
            </a:r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1292558" y="1701800"/>
            <a:ext cx="6851317" cy="4770545"/>
            <a:chOff x="1292558" y="1701800"/>
            <a:chExt cx="6851317" cy="4770545"/>
          </a:xfrm>
        </p:grpSpPr>
        <p:pic>
          <p:nvPicPr>
            <p:cNvPr id="4096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2559" y="1827644"/>
              <a:ext cx="6334125" cy="4644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ctangle 5"/>
            <p:cNvSpPr/>
            <p:nvPr/>
          </p:nvSpPr>
          <p:spPr>
            <a:xfrm>
              <a:off x="6324600" y="1701800"/>
              <a:ext cx="1819275" cy="14700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292558" y="5572233"/>
              <a:ext cx="3492000" cy="90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493334" y="3171825"/>
              <a:ext cx="266700" cy="33004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Project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72706"/>
            <a:ext cx="8229600" cy="488362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Select Projects and copy into workspace</a:t>
            </a:r>
            <a:endParaRPr lang="en-US" sz="2400" dirty="0"/>
          </a:p>
        </p:txBody>
      </p:sp>
      <p:pic>
        <p:nvPicPr>
          <p:cNvPr id="41986" name="Picture 2" descr="C:\Users\MTK09865\Desktop\Coocox\Gnueclipse_importproject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0625" y="1735969"/>
            <a:ext cx="5905500" cy="50744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Environment Settings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47775"/>
            <a:ext cx="8229600" cy="490855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Set Tool Chain &amp; Build Tool Path</a:t>
            </a:r>
          </a:p>
          <a:p>
            <a:pPr lvl="1"/>
            <a:r>
              <a:rPr lang="en-US" sz="2000" dirty="0" smtClean="0"/>
              <a:t>Window </a:t>
            </a:r>
            <a:r>
              <a:rPr lang="en-US" sz="2000" dirty="0" smtClean="0">
                <a:sym typeface="Wingdings" pitchFamily="2" charset="2"/>
              </a:rPr>
              <a:t> Preferences C/C++  Build  Global Tools Paths</a:t>
            </a:r>
            <a:endParaRPr lang="en-US" sz="2000" dirty="0"/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0833" y="2093794"/>
            <a:ext cx="6375851" cy="4578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Environment Settings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47775"/>
            <a:ext cx="8229600" cy="490855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Set </a:t>
            </a:r>
            <a:r>
              <a:rPr lang="en-US" sz="2800" dirty="0" err="1" smtClean="0"/>
              <a:t>OpenOCD</a:t>
            </a:r>
            <a:r>
              <a:rPr lang="en-US" sz="2800" dirty="0" smtClean="0"/>
              <a:t> Path</a:t>
            </a:r>
          </a:p>
          <a:p>
            <a:pPr lvl="1"/>
            <a:r>
              <a:rPr lang="en-US" sz="2000" dirty="0" smtClean="0"/>
              <a:t>Window </a:t>
            </a:r>
            <a:r>
              <a:rPr lang="en-US" sz="2000" dirty="0" smtClean="0">
                <a:sym typeface="Wingdings" pitchFamily="2" charset="2"/>
              </a:rPr>
              <a:t> Preferences Run/Debug </a:t>
            </a:r>
            <a:r>
              <a:rPr lang="en-US" sz="2000" dirty="0" err="1" smtClean="0">
                <a:sym typeface="Wingdings" pitchFamily="2" charset="2"/>
              </a:rPr>
              <a:t>OpenOCD</a:t>
            </a:r>
            <a:endParaRPr lang="en-US" sz="2000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7301" y="2158908"/>
            <a:ext cx="6819900" cy="4603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 Settings – </a:t>
            </a:r>
            <a:r>
              <a:rPr lang="en-US" dirty="0" err="1" smtClean="0"/>
              <a:t>ToolCahin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199" y="1247775"/>
            <a:ext cx="8348663" cy="490855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Project </a:t>
            </a:r>
            <a:r>
              <a:rPr lang="en-US" sz="2400" dirty="0" smtClean="0">
                <a:sym typeface="Wingdings" pitchFamily="2" charset="2"/>
              </a:rPr>
              <a:t> Properties C/C++ Build  Tools Path</a:t>
            </a:r>
          </a:p>
          <a:p>
            <a:pPr lvl="1"/>
            <a:r>
              <a:rPr lang="en-US" sz="1800" dirty="0" smtClean="0">
                <a:sym typeface="Wingdings" pitchFamily="2" charset="2"/>
              </a:rPr>
              <a:t>You can set in Window Preference global path or here by project</a:t>
            </a:r>
            <a:endParaRPr lang="en-US" sz="1800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8138" y="2500313"/>
            <a:ext cx="846772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 Setting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152525"/>
            <a:ext cx="8229600" cy="428942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Run</a:t>
            </a:r>
            <a:r>
              <a:rPr lang="en-US" sz="2000" dirty="0" smtClean="0">
                <a:sym typeface="Wingdings" pitchFamily="2" charset="2"/>
              </a:rPr>
              <a:t> Debug Configurations </a:t>
            </a:r>
            <a:r>
              <a:rPr lang="en-US" sz="2000" dirty="0" err="1" smtClean="0">
                <a:sym typeface="Wingdings" pitchFamily="2" charset="2"/>
              </a:rPr>
              <a:t>OpenOCD</a:t>
            </a:r>
            <a:r>
              <a:rPr lang="en-US" sz="2000" dirty="0" smtClean="0">
                <a:sym typeface="Wingdings" pitchFamily="2" charset="2"/>
              </a:rPr>
              <a:t> Debugging</a:t>
            </a:r>
          </a:p>
          <a:p>
            <a:r>
              <a:rPr lang="en-US" sz="2000" dirty="0" smtClean="0">
                <a:sym typeface="Wingdings" pitchFamily="2" charset="2"/>
              </a:rPr>
              <a:t>Select your workspace project</a:t>
            </a:r>
          </a:p>
        </p:txBody>
      </p:sp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91300" y="447675"/>
            <a:ext cx="245745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1949374"/>
            <a:ext cx="5314950" cy="469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5099914" y="3019425"/>
            <a:ext cx="3777386" cy="923925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 Setting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152525"/>
            <a:ext cx="8229600" cy="4289426"/>
          </a:xfrm>
        </p:spPr>
        <p:txBody>
          <a:bodyPr>
            <a:normAutofit/>
          </a:bodyPr>
          <a:lstStyle/>
          <a:p>
            <a:r>
              <a:rPr lang="en-US" sz="2000" dirty="0" smtClean="0">
                <a:sym typeface="Wingdings" pitchFamily="2" charset="2"/>
              </a:rPr>
              <a:t>Debugger </a:t>
            </a:r>
            <a:r>
              <a:rPr lang="en-US" sz="2000" dirty="0" err="1" smtClean="0">
                <a:sym typeface="Wingdings" pitchFamily="2" charset="2"/>
              </a:rPr>
              <a:t>Config</a:t>
            </a:r>
            <a:r>
              <a:rPr lang="en-US" sz="2000" dirty="0" smtClean="0">
                <a:sym typeface="Wingdings" pitchFamily="2" charset="2"/>
              </a:rPr>
              <a:t> options: set current </a:t>
            </a:r>
            <a:r>
              <a:rPr lang="en-US" sz="2000" dirty="0" err="1" smtClean="0">
                <a:sym typeface="Wingdings" pitchFamily="2" charset="2"/>
              </a:rPr>
              <a:t>openocd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config</a:t>
            </a:r>
            <a:r>
              <a:rPr lang="en-US" sz="2000" dirty="0" smtClean="0">
                <a:sym typeface="Wingdings" pitchFamily="2" charset="2"/>
              </a:rPr>
              <a:t> board script</a:t>
            </a:r>
          </a:p>
          <a:p>
            <a:r>
              <a:rPr lang="en-US" sz="2000" dirty="0" smtClean="0"/>
              <a:t>Project for stm32F401RE </a:t>
            </a:r>
          </a:p>
          <a:p>
            <a:pPr lvl="1"/>
            <a:r>
              <a:rPr lang="en-US" sz="1600" dirty="0" smtClean="0">
                <a:solidFill>
                  <a:srgbClr val="FF0000"/>
                </a:solidFill>
                <a:sym typeface="Wingdings" pitchFamily="2" charset="2"/>
              </a:rPr>
              <a:t>-f board/st_nucleo_f4.cfg</a:t>
            </a:r>
          </a:p>
          <a:p>
            <a:r>
              <a:rPr lang="en-US" sz="2000" dirty="0" smtClean="0"/>
              <a:t>Project for stm32F429Disco </a:t>
            </a:r>
          </a:p>
          <a:p>
            <a:pPr lvl="1"/>
            <a:r>
              <a:rPr lang="en-US" sz="1600" dirty="0" smtClean="0">
                <a:solidFill>
                  <a:srgbClr val="FF0000"/>
                </a:solidFill>
                <a:sym typeface="Wingdings" pitchFamily="2" charset="2"/>
              </a:rPr>
              <a:t>-f board/stm32f429discovery.cfg</a:t>
            </a:r>
          </a:p>
          <a:p>
            <a:pPr lvl="2"/>
            <a:endParaRPr lang="en-US" sz="1400" dirty="0" smtClean="0">
              <a:sym typeface="Wingdings" pitchFamily="2" charset="2"/>
            </a:endParaRPr>
          </a:p>
        </p:txBody>
      </p:sp>
      <p:grpSp>
        <p:nvGrpSpPr>
          <p:cNvPr id="5" name="Group 10"/>
          <p:cNvGrpSpPr/>
          <p:nvPr/>
        </p:nvGrpSpPr>
        <p:grpSpPr>
          <a:xfrm>
            <a:off x="4181475" y="2081321"/>
            <a:ext cx="4895850" cy="4562475"/>
            <a:chOff x="4000499" y="2228850"/>
            <a:chExt cx="5048251" cy="4562475"/>
          </a:xfrm>
        </p:grpSpPr>
        <p:pic>
          <p:nvPicPr>
            <p:cNvPr id="37892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00499" y="2228850"/>
              <a:ext cx="5048251" cy="4562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Rectangle 9"/>
            <p:cNvSpPr/>
            <p:nvPr/>
          </p:nvSpPr>
          <p:spPr>
            <a:xfrm>
              <a:off x="5350209" y="4095750"/>
              <a:ext cx="3462825" cy="447675"/>
            </a:xfrm>
            <a:prstGeom prst="rect">
              <a:avLst/>
            </a:prstGeom>
            <a:noFill/>
            <a:ln w="190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Arrow Connector 8"/>
          <p:cNvCxnSpPr/>
          <p:nvPr/>
        </p:nvCxnSpPr>
        <p:spPr>
          <a:xfrm>
            <a:off x="3476625" y="2081321"/>
            <a:ext cx="2013814" cy="1866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Project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233363" y="1441650"/>
            <a:ext cx="8641096" cy="4980653"/>
            <a:chOff x="233363" y="1441650"/>
            <a:chExt cx="8641096" cy="4980653"/>
          </a:xfrm>
        </p:grpSpPr>
        <p:pic>
          <p:nvPicPr>
            <p:cNvPr id="38915" name="Picture 3" descr="C:\Users\MTK09865\Desktop\Coocox\Gnueclipse_build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711784" y="1441650"/>
              <a:ext cx="6162675" cy="4980653"/>
            </a:xfrm>
            <a:prstGeom prst="rect">
              <a:avLst/>
            </a:prstGeom>
            <a:noFill/>
          </p:spPr>
        </p:pic>
        <p:pic>
          <p:nvPicPr>
            <p:cNvPr id="3891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33363" y="1441650"/>
              <a:ext cx="1971675" cy="504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Rectangle 8"/>
            <p:cNvSpPr/>
            <p:nvPr/>
          </p:nvSpPr>
          <p:spPr>
            <a:xfrm>
              <a:off x="819151" y="1441650"/>
              <a:ext cx="628650" cy="504825"/>
            </a:xfrm>
            <a:prstGeom prst="rect">
              <a:avLst/>
            </a:prstGeom>
            <a:noFill/>
            <a:ln w="285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9" idx="3"/>
            </p:cNvCxnSpPr>
            <p:nvPr/>
          </p:nvCxnSpPr>
          <p:spPr>
            <a:xfrm>
              <a:off x="1447801" y="1694063"/>
              <a:ext cx="2066924" cy="773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5086350" y="5600700"/>
              <a:ext cx="2400300" cy="821603"/>
            </a:xfrm>
            <a:prstGeom prst="rect">
              <a:avLst/>
            </a:prstGeom>
            <a:noFill/>
            <a:ln w="285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233363" y="6278671"/>
            <a:ext cx="1971675" cy="3651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090568" y="6239740"/>
            <a:ext cx="783891" cy="3651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Project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323975"/>
            <a:ext cx="8229600" cy="4832351"/>
          </a:xfrm>
        </p:spPr>
        <p:txBody>
          <a:bodyPr/>
          <a:lstStyle/>
          <a:p>
            <a:r>
              <a:rPr lang="en-US" dirty="0" smtClean="0"/>
              <a:t>Debug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>
                <a:sym typeface="Wingdings" pitchFamily="2" charset="2"/>
              </a:rPr>
              <a:t>FreeRTOS_DEMO</a:t>
            </a:r>
            <a:endParaRPr lang="en-US" dirty="0"/>
          </a:p>
        </p:txBody>
      </p:sp>
      <p:pic>
        <p:nvPicPr>
          <p:cNvPr id="39939" name="Picture 3" descr="C:\Users\MTK09865\Desktop\Coocox\Gnueclipsedebu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" y="2299852"/>
            <a:ext cx="8953500" cy="252499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390901" y="2571750"/>
            <a:ext cx="342899" cy="23812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Project – Debug mode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46082" name="Picture 2" descr="C:\Users\MTK09865\Desktop\Coocox\Gnueclipseru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307" y="1371600"/>
            <a:ext cx="8808478" cy="4748321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114301" y="4924425"/>
            <a:ext cx="3343274" cy="119549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457575" y="5640588"/>
            <a:ext cx="7239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81475" y="5455922"/>
            <a:ext cx="2718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4. </a:t>
            </a:r>
            <a:r>
              <a:rPr lang="en-US" dirty="0" err="1" smtClean="0">
                <a:solidFill>
                  <a:srgbClr val="C00000"/>
                </a:solidFill>
              </a:rPr>
              <a:t>Semihost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printf</a:t>
            </a:r>
            <a:r>
              <a:rPr lang="en-US" dirty="0" smtClean="0">
                <a:solidFill>
                  <a:srgbClr val="C00000"/>
                </a:solidFill>
              </a:rPr>
              <a:t> message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15100" y="3057525"/>
            <a:ext cx="2435685" cy="186690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831356" y="2318861"/>
            <a:ext cx="2030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3.Disassembly View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626684" y="2688193"/>
            <a:ext cx="0" cy="3693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4850" y="923925"/>
            <a:ext cx="1790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895350" y="1549400"/>
            <a:ext cx="904876" cy="21600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419225" y="1186934"/>
            <a:ext cx="0" cy="3693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35581" y="92392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1.Debug Actions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96274" y="1523900"/>
            <a:ext cx="644985" cy="21600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8362950" y="1125993"/>
            <a:ext cx="0" cy="3693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59157" y="817602"/>
            <a:ext cx="1491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5.Switch View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4301" y="3076575"/>
            <a:ext cx="2435685" cy="174307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295525" y="2688193"/>
            <a:ext cx="0" cy="3693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51304" y="2318861"/>
            <a:ext cx="2023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2.Source code View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0775"/>
            <a:ext cx="8229600" cy="1269800"/>
          </a:xfrm>
        </p:spPr>
        <p:txBody>
          <a:bodyPr/>
          <a:lstStyle/>
          <a:p>
            <a:r>
              <a:rPr lang="en-US" dirty="0" smtClean="0"/>
              <a:t>Appendix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815775"/>
          </a:xfrm>
        </p:spPr>
        <p:txBody>
          <a:bodyPr/>
          <a:lstStyle/>
          <a:p>
            <a:r>
              <a:rPr lang="en-US" dirty="0" smtClean="0"/>
              <a:t>Project  Settings - </a:t>
            </a:r>
            <a:r>
              <a:rPr lang="en-US" dirty="0" err="1" smtClean="0"/>
              <a:t>Makefile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28600" y="1247775"/>
            <a:ext cx="2838450" cy="503089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Project </a:t>
            </a:r>
            <a:r>
              <a:rPr lang="en-US" sz="2000" dirty="0" smtClean="0">
                <a:sym typeface="Wingdings" pitchFamily="2" charset="2"/>
              </a:rPr>
              <a:t> Properties  Settings</a:t>
            </a:r>
          </a:p>
          <a:p>
            <a:pPr lvl="1"/>
            <a:r>
              <a:rPr lang="en-US" sz="1600" dirty="0" smtClean="0">
                <a:sym typeface="Wingdings" pitchFamily="2" charset="2"/>
              </a:rPr>
              <a:t>Set Compiler flag</a:t>
            </a:r>
          </a:p>
          <a:p>
            <a:pPr lvl="1"/>
            <a:r>
              <a:rPr lang="en-US" sz="1600" dirty="0" smtClean="0">
                <a:sym typeface="Wingdings" pitchFamily="2" charset="2"/>
              </a:rPr>
              <a:t>Set Linker flag</a:t>
            </a:r>
          </a:p>
          <a:p>
            <a:endParaRPr lang="en-US" sz="2000" dirty="0" smtClean="0">
              <a:sym typeface="Wingdings" pitchFamily="2" charset="2"/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3474" y="1143000"/>
            <a:ext cx="6006691" cy="5546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815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Project  Settings – enable </a:t>
            </a:r>
            <a:r>
              <a:rPr lang="en-US" dirty="0" err="1" smtClean="0"/>
              <a:t>Semihosting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28600" y="1247775"/>
            <a:ext cx="8210550" cy="5030896"/>
          </a:xfrm>
        </p:spPr>
        <p:txBody>
          <a:bodyPr>
            <a:normAutofit/>
          </a:bodyPr>
          <a:lstStyle/>
          <a:p>
            <a:pPr marL="457200" indent="-457200"/>
            <a:r>
              <a:rPr lang="en-US" sz="2000" dirty="0" smtClean="0">
                <a:solidFill>
                  <a:srgbClr val="C00000"/>
                </a:solidFill>
                <a:sym typeface="Wingdings" pitchFamily="2" charset="2"/>
              </a:rPr>
              <a:t>Print message in IDE console not in serial </a:t>
            </a:r>
            <a:r>
              <a:rPr lang="en-US" sz="2000" dirty="0" err="1" smtClean="0">
                <a:solidFill>
                  <a:srgbClr val="C00000"/>
                </a:solidFill>
                <a:sym typeface="Wingdings" pitchFamily="2" charset="2"/>
              </a:rPr>
              <a:t>Uart</a:t>
            </a:r>
            <a:r>
              <a:rPr lang="en-US" sz="2000" dirty="0" smtClean="0">
                <a:solidFill>
                  <a:srgbClr val="C00000"/>
                </a:solidFill>
                <a:sym typeface="Wingdings" pitchFamily="2" charset="2"/>
              </a:rPr>
              <a:t> port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ym typeface="Wingdings" pitchFamily="2" charset="2"/>
              </a:rPr>
              <a:t>ADD in Linker</a:t>
            </a:r>
          </a:p>
          <a:p>
            <a:pPr lvl="1"/>
            <a:r>
              <a:rPr lang="en-US" sz="1600" dirty="0" smtClean="0">
                <a:sym typeface="Wingdings" pitchFamily="2" charset="2"/>
              </a:rPr>
              <a:t>--specs=</a:t>
            </a:r>
            <a:r>
              <a:rPr lang="en-US" sz="1600" dirty="0" err="1" smtClean="0">
                <a:sym typeface="Wingdings" pitchFamily="2" charset="2"/>
              </a:rPr>
              <a:t>rdimon.specs</a:t>
            </a:r>
            <a:r>
              <a:rPr lang="en-US" sz="1600" dirty="0" smtClean="0">
                <a:sym typeface="Wingdings" pitchFamily="2" charset="2"/>
              </a:rPr>
              <a:t> –</a:t>
            </a:r>
            <a:r>
              <a:rPr lang="en-US" sz="1600" dirty="0" err="1" smtClean="0">
                <a:sym typeface="Wingdings" pitchFamily="2" charset="2"/>
              </a:rPr>
              <a:t>lrdimon</a:t>
            </a:r>
            <a:endParaRPr lang="en-US" sz="16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ym typeface="Wingdings" pitchFamily="2" charset="2"/>
              </a:rPr>
              <a:t>ADD in Compiler define</a:t>
            </a:r>
          </a:p>
          <a:p>
            <a:pPr lvl="1"/>
            <a:r>
              <a:rPr lang="en-US" sz="1600" dirty="0" smtClean="0">
                <a:sym typeface="Wingdings" pitchFamily="2" charset="2"/>
              </a:rPr>
              <a:t>DEBUG_IO</a:t>
            </a:r>
          </a:p>
          <a:p>
            <a:endParaRPr lang="en-US" sz="2000" dirty="0" smtClean="0">
              <a:sym typeface="Wingdings" pitchFamily="2" charset="2"/>
            </a:endParaRP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24263" y="4152900"/>
            <a:ext cx="5210175" cy="2647950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/>
        </p:spPr>
      </p:pic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788" y="2324100"/>
            <a:ext cx="6543675" cy="1581150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815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Project  Settings – </a:t>
            </a:r>
            <a:r>
              <a:rPr lang="en-US" sz="4000" dirty="0" smtClean="0"/>
              <a:t>enable </a:t>
            </a:r>
            <a:r>
              <a:rPr lang="en-US" sz="4000" dirty="0" err="1" smtClean="0"/>
              <a:t>Semihosting</a:t>
            </a:r>
            <a:r>
              <a:rPr lang="en-US" sz="4000" dirty="0" smtClean="0"/>
              <a:t> print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28600" y="1247775"/>
            <a:ext cx="8210550" cy="503089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 smtClean="0">
                <a:sym typeface="Wingdings" pitchFamily="2" charset="2"/>
              </a:rPr>
              <a:t>Exclude </a:t>
            </a:r>
            <a:r>
              <a:rPr lang="en-US" sz="2000" dirty="0" err="1" smtClean="0">
                <a:sym typeface="Wingdings" pitchFamily="2" charset="2"/>
              </a:rPr>
              <a:t>syscalls.c</a:t>
            </a:r>
            <a:r>
              <a:rPr lang="en-US" sz="2000" dirty="0" smtClean="0">
                <a:sym typeface="Wingdings" pitchFamily="2" charset="2"/>
              </a:rPr>
              <a:t> from </a:t>
            </a:r>
            <a:r>
              <a:rPr lang="en-US" sz="2000" dirty="0" smtClean="0">
                <a:sym typeface="Wingdings" pitchFamily="2" charset="2"/>
              </a:rPr>
              <a:t>building, make </a:t>
            </a:r>
            <a:r>
              <a:rPr lang="en-US" sz="2000" dirty="0" err="1" smtClean="0">
                <a:sym typeface="Wingdings" pitchFamily="2" charset="2"/>
              </a:rPr>
              <a:t>printf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err="1" smtClean="0">
                <a:sym typeface="Wingdings" pitchFamily="2" charset="2"/>
              </a:rPr>
              <a:t>avaliable</a:t>
            </a:r>
            <a:r>
              <a:rPr lang="en-US" sz="2000" dirty="0" smtClean="0">
                <a:sym typeface="Wingdings" pitchFamily="2" charset="2"/>
              </a:rPr>
              <a:t> in workspace.</a:t>
            </a:r>
            <a:endParaRPr lang="en-US" sz="20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itchFamily="2" charset="2"/>
            </a:endParaRPr>
          </a:p>
          <a:p>
            <a:endParaRPr lang="en-US" sz="2000" dirty="0" smtClean="0">
              <a:sym typeface="Wingdings" pitchFamily="2" charset="2"/>
            </a:endParaRPr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0234" y="1838730"/>
            <a:ext cx="5886450" cy="4786016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996750"/>
          </a:xfrm>
        </p:spPr>
        <p:txBody>
          <a:bodyPr/>
          <a:lstStyle/>
          <a:p>
            <a:r>
              <a:rPr lang="en-US" dirty="0" smtClean="0"/>
              <a:t>Board Purchase Info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 smtClean="0">
                <a:hlinkClick r:id="rId2"/>
              </a:rPr>
              <a:t>STMicroelectronics STM32F429I-DISCO</a:t>
            </a:r>
            <a:endParaRPr lang="en-US" b="1" dirty="0" smtClean="0"/>
          </a:p>
          <a:p>
            <a:r>
              <a:rPr lang="en-US" b="1" dirty="0" smtClean="0">
                <a:hlinkClick r:id="rId3"/>
              </a:rPr>
              <a:t>STMicroelectronics NUCLEO-F401RE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00221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Internal_Use">
  <a:themeElements>
    <a:clrScheme name="Custom 7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9A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Sensitivity xmlns="7a58c3ed-4a22-4d08-9ddf-2c2b66cc66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A53B7DB280546A20112FD2EF61E0F" ma:contentTypeVersion="8" ma:contentTypeDescription="Create a new document." ma:contentTypeScope="" ma:versionID="93dbae95c85826a351b64e5a9c00c7f1">
  <xsd:schema xmlns:xsd="http://www.w3.org/2001/XMLSchema" xmlns:xs="http://www.w3.org/2001/XMLSchema" xmlns:p="http://schemas.microsoft.com/office/2006/metadata/properties" xmlns:ns2="http://schemas.microsoft.com/sharepoint/v4" xmlns:ns3="8b8cf6ce-236f-4713-896e-b4ec346257bb" xmlns:ns4="58b0650e-828d-46c1-af00-111984e5092a" xmlns:ns5="7a58c3ed-4a22-4d08-9ddf-2c2b66cc6605" targetNamespace="http://schemas.microsoft.com/office/2006/metadata/properties" ma:root="true" ma:fieldsID="f8eeb43b36309ba801eb86731cfe2d05" ns2:_="" ns3:_="" ns4:_="" ns5:_="">
    <xsd:import namespace="http://schemas.microsoft.com/sharepoint/v4"/>
    <xsd:import namespace="8b8cf6ce-236f-4713-896e-b4ec346257bb"/>
    <xsd:import namespace="58b0650e-828d-46c1-af00-111984e5092a"/>
    <xsd:import namespace="7a58c3ed-4a22-4d08-9ddf-2c2b66cc6605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SharedWithUsers" minOccurs="0"/>
                <xsd:element ref="ns4:SharedWithDetails" minOccurs="0"/>
                <xsd:element ref="ns5:Sensi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8cf6ce-236f-4713-896e-b4ec346257bb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0650e-828d-46c1-af00-111984e5092a" elementFormDefault="qualified">
    <xsd:import namespace="http://schemas.microsoft.com/office/2006/documentManagement/types"/>
    <xsd:import namespace="http://schemas.microsoft.com/office/infopath/2007/PartnerControls"/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58c3ed-4a22-4d08-9ddf-2c2b66cc6605" elementFormDefault="qualified">
    <xsd:import namespace="http://schemas.microsoft.com/office/2006/documentManagement/types"/>
    <xsd:import namespace="http://schemas.microsoft.com/office/infopath/2007/PartnerControls"/>
    <xsd:element name="Sensitivity" ma:index="11" nillable="true" ma:displayName="Sensitivity" ma:internalName="Sensitivit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47D9C3-2A33-4ACE-8E61-AAD48D8745A7}"/>
</file>

<file path=customXml/itemProps2.xml><?xml version="1.0" encoding="utf-8"?>
<ds:datastoreItem xmlns:ds="http://schemas.openxmlformats.org/officeDocument/2006/customXml" ds:itemID="{E1D572B5-21DD-4203-931B-1894638C420B}"/>
</file>

<file path=customXml/itemProps3.xml><?xml version="1.0" encoding="utf-8"?>
<ds:datastoreItem xmlns:ds="http://schemas.openxmlformats.org/officeDocument/2006/customXml" ds:itemID="{D276025E-B3F4-46E9-9525-98A2247A6BA2}"/>
</file>

<file path=docProps/app.xml><?xml version="1.0" encoding="utf-8"?>
<Properties xmlns="http://schemas.openxmlformats.org/officeDocument/2006/extended-properties" xmlns:vt="http://schemas.openxmlformats.org/officeDocument/2006/docPropsVTypes">
  <Template>PPT-Internal_Use</Template>
  <TotalTime>4154</TotalTime>
  <Words>434</Words>
  <Application>Microsoft Office PowerPoint</Application>
  <PresentationFormat>On-screen Show (4:3)</PresentationFormat>
  <Paragraphs>150</Paragraphs>
  <Slides>26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PPT-Internal_Use</vt:lpstr>
      <vt:lpstr>Custom Design</vt:lpstr>
      <vt:lpstr>Package</vt:lpstr>
      <vt:lpstr>GNU ARM Eclipse Guide </vt:lpstr>
      <vt:lpstr>Outline</vt:lpstr>
      <vt:lpstr>GNU ARM Eclipse</vt:lpstr>
      <vt:lpstr>Target board</vt:lpstr>
      <vt:lpstr>Target board</vt:lpstr>
      <vt:lpstr>IDE Install Step</vt:lpstr>
      <vt:lpstr>Install plug-in – Step1</vt:lpstr>
      <vt:lpstr>Install plug-in – Step2</vt:lpstr>
      <vt:lpstr>Install plug-in – Step3</vt:lpstr>
      <vt:lpstr>New  Project</vt:lpstr>
      <vt:lpstr>Import Project</vt:lpstr>
      <vt:lpstr>Import Project</vt:lpstr>
      <vt:lpstr>Environment Settings</vt:lpstr>
      <vt:lpstr>Environment Settings</vt:lpstr>
      <vt:lpstr>Project  Settings – ToolCahin</vt:lpstr>
      <vt:lpstr>Debug Setting</vt:lpstr>
      <vt:lpstr>Debug Setting</vt:lpstr>
      <vt:lpstr>Build Project</vt:lpstr>
      <vt:lpstr>Run Project</vt:lpstr>
      <vt:lpstr>Run Project – Debug mode</vt:lpstr>
      <vt:lpstr>Appendix</vt:lpstr>
      <vt:lpstr>Project  Settings - Makefile</vt:lpstr>
      <vt:lpstr>Project  Settings – enable Semihosting</vt:lpstr>
      <vt:lpstr>Project  Settings – enable Semihosting print</vt:lpstr>
      <vt:lpstr>Board Purchase Info</vt:lpstr>
      <vt:lpstr>Slide 26</vt:lpstr>
    </vt:vector>
  </TitlesOfParts>
  <Company>MediaTek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</dc:title>
  <dc:creator>MTK09865</dc:creator>
  <cp:lastModifiedBy>MTK09865</cp:lastModifiedBy>
  <cp:revision>393</cp:revision>
  <dcterms:created xsi:type="dcterms:W3CDTF">2015-04-22T13:04:48Z</dcterms:created>
  <dcterms:modified xsi:type="dcterms:W3CDTF">2015-12-28T09:59:15Z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0x010100FC2A53B7DB280546A20112FD2EF61E0F</vt:lpwstr>
  </property>
  <property fmtid="{D5CDD505-2E9C-101B-9397-08002B2CF9AE}" pid="3" name="IsMyDocuments">
    <vt:bool>true</vt:bool>
  </property>
</Properties>
</file>