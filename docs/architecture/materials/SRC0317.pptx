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5" r:id="rId4"/>
  </p:sldMasterIdLst>
  <p:notesMasterIdLst>
    <p:notesMasterId r:id="rId45"/>
  </p:notesMasterIdLst>
  <p:handoutMasterIdLst>
    <p:handoutMasterId r:id="rId46"/>
  </p:handoutMasterIdLst>
  <p:sldIdLst>
    <p:sldId id="256" r:id="rId5"/>
    <p:sldId id="807" r:id="rId6"/>
    <p:sldId id="808" r:id="rId7"/>
    <p:sldId id="834" r:id="rId8"/>
    <p:sldId id="793" r:id="rId9"/>
    <p:sldId id="323" r:id="rId10"/>
    <p:sldId id="836" r:id="rId11"/>
    <p:sldId id="810" r:id="rId12"/>
    <p:sldId id="303" r:id="rId13"/>
    <p:sldId id="290" r:id="rId14"/>
    <p:sldId id="811" r:id="rId15"/>
    <p:sldId id="818" r:id="rId16"/>
    <p:sldId id="817" r:id="rId17"/>
    <p:sldId id="816" r:id="rId18"/>
    <p:sldId id="833" r:id="rId19"/>
    <p:sldId id="812" r:id="rId20"/>
    <p:sldId id="819" r:id="rId21"/>
    <p:sldId id="820" r:id="rId22"/>
    <p:sldId id="297" r:id="rId23"/>
    <p:sldId id="821" r:id="rId24"/>
    <p:sldId id="822" r:id="rId25"/>
    <p:sldId id="823" r:id="rId26"/>
    <p:sldId id="824" r:id="rId27"/>
    <p:sldId id="825" r:id="rId28"/>
    <p:sldId id="826" r:id="rId29"/>
    <p:sldId id="827" r:id="rId30"/>
    <p:sldId id="602" r:id="rId31"/>
    <p:sldId id="314" r:id="rId32"/>
    <p:sldId id="828" r:id="rId33"/>
    <p:sldId id="829" r:id="rId34"/>
    <p:sldId id="830" r:id="rId35"/>
    <p:sldId id="317" r:id="rId36"/>
    <p:sldId id="305" r:id="rId37"/>
    <p:sldId id="802" r:id="rId38"/>
    <p:sldId id="803" r:id="rId39"/>
    <p:sldId id="804" r:id="rId40"/>
    <p:sldId id="831" r:id="rId41"/>
    <p:sldId id="832" r:id="rId42"/>
    <p:sldId id="797" r:id="rId43"/>
    <p:sldId id="288"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960468-F64D-42BF-9CA8-27A3CFFF9B2E}">
          <p14:sldIdLst>
            <p14:sldId id="256"/>
            <p14:sldId id="807"/>
          </p14:sldIdLst>
        </p14:section>
        <p14:section name="Introduction" id="{A4878D20-50F3-4D6F-973F-830803224774}">
          <p14:sldIdLst>
            <p14:sldId id="808"/>
            <p14:sldId id="834"/>
            <p14:sldId id="793"/>
            <p14:sldId id="323"/>
            <p14:sldId id="836"/>
          </p14:sldIdLst>
        </p14:section>
        <p14:section name="MTK NNE framework and Interface" id="{A7B5FE91-34EF-4578-9994-CF6AD3DBA8A9}">
          <p14:sldIdLst>
            <p14:sldId id="810"/>
            <p14:sldId id="303"/>
            <p14:sldId id="290"/>
            <p14:sldId id="811"/>
            <p14:sldId id="818"/>
            <p14:sldId id="817"/>
            <p14:sldId id="816"/>
            <p14:sldId id="833"/>
            <p14:sldId id="812"/>
            <p14:sldId id="819"/>
            <p14:sldId id="820"/>
          </p14:sldIdLst>
        </p14:section>
        <p14:section name="Model deployment" id="{960C39CC-8EEB-4408-8698-CF19A93A62EF}">
          <p14:sldIdLst>
            <p14:sldId id="297"/>
            <p14:sldId id="821"/>
            <p14:sldId id="822"/>
            <p14:sldId id="823"/>
            <p14:sldId id="824"/>
            <p14:sldId id="825"/>
            <p14:sldId id="826"/>
            <p14:sldId id="827"/>
            <p14:sldId id="602"/>
          </p14:sldIdLst>
        </p14:section>
        <p14:section name="Test with MTK NNE framework" id="{3D446AA6-E7F2-493E-9517-3881B8D6BF2A}">
          <p14:sldIdLst>
            <p14:sldId id="314"/>
            <p14:sldId id="828"/>
            <p14:sldId id="829"/>
            <p14:sldId id="830"/>
            <p14:sldId id="317"/>
            <p14:sldId id="305"/>
          </p14:sldIdLst>
        </p14:section>
        <p14:section name="Q&amp;A" id="{BFCE49C5-BEF6-4322-BC01-B87268E4F075}">
          <p14:sldIdLst>
            <p14:sldId id="802"/>
            <p14:sldId id="803"/>
          </p14:sldIdLst>
        </p14:section>
        <p14:section name="troubleshooting" id="{210393B5-FB35-48F9-B07B-68B8FF82F383}">
          <p14:sldIdLst>
            <p14:sldId id="804"/>
            <p14:sldId id="831"/>
            <p14:sldId id="832"/>
            <p14:sldId id="797"/>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4216A3-DEFE-DB06-8CC6-A0B393555A3A}" name="Celine Liu (劉姿均)" initials="CL(" userId="S::Celine.Liu@mediatek.com::272dd0ae-e963-4117-a1f9-199912fc8076" providerId="AD"/>
  <p188:author id="{8D8EA2C2-6184-C60B-0913-9295CF284BC3}" name="Jung-wei Chen (陳榮偉)" initials="JwC(" userId="S::jung-wei.chen@mediatek.com::e0ff4693-d006-42bf-86ed-32f7d9034b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ella Yao (姚冠伃)" initials="SY(" lastIdx="0" clrIdx="0">
    <p:extLst>
      <p:ext uri="{19B8F6BF-5375-455C-9EA6-DF929625EA0E}">
        <p15:presenceInfo xmlns:p15="http://schemas.microsoft.com/office/powerpoint/2012/main" userId="S-1-5-21-1711831044-1024940897-1435325219-1751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11E3C"/>
    <a:srgbClr val="F39A1E"/>
    <a:srgbClr val="69BE28"/>
    <a:srgbClr val="D71F85"/>
    <a:srgbClr val="FFCA05"/>
    <a:srgbClr val="1717A3"/>
    <a:srgbClr val="036639"/>
    <a:srgbClr val="00A1DE"/>
    <a:srgbClr val="FFFFFF"/>
    <a:srgbClr val="002C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42" autoAdjust="0"/>
    <p:restoredTop sz="95232" autoAdjust="0"/>
  </p:normalViewPr>
  <p:slideViewPr>
    <p:cSldViewPr snapToGrid="0" snapToObjects="1" showGuides="1">
      <p:cViewPr varScale="1">
        <p:scale>
          <a:sx n="150" d="100"/>
          <a:sy n="150" d="100"/>
        </p:scale>
        <p:origin x="714" y="13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83" d="100"/>
          <a:sy n="83" d="100"/>
        </p:scale>
        <p:origin x="313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E133BF5F-174E-40A4-9866-37369B60B4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9B48160D-002A-4C38-B685-9D01781CDFC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C3437A-2548-46BD-BA5A-B2CEE9B60B79}" type="datetimeFigureOut">
              <a:rPr lang="zh-TW" altLang="en-US" smtClean="0"/>
              <a:t>2024/7/16</a:t>
            </a:fld>
            <a:endParaRPr lang="zh-TW" altLang="en-US"/>
          </a:p>
        </p:txBody>
      </p:sp>
      <p:sp>
        <p:nvSpPr>
          <p:cNvPr id="4" name="頁尾版面配置區 3">
            <a:extLst>
              <a:ext uri="{FF2B5EF4-FFF2-40B4-BE49-F238E27FC236}">
                <a16:creationId xmlns:a16="http://schemas.microsoft.com/office/drawing/2014/main" id="{56C9DBB5-AEAC-42FF-B31A-63350E0F6F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BB254148-141F-4002-9FE0-E42D86596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57ED40-27C7-4C17-9AA3-9A8BEF720B9E}" type="slidenum">
              <a:rPr lang="zh-TW" altLang="en-US" smtClean="0"/>
              <a:t>‹#›</a:t>
            </a:fld>
            <a:endParaRPr lang="zh-TW" altLang="en-US"/>
          </a:p>
        </p:txBody>
      </p:sp>
    </p:spTree>
    <p:extLst>
      <p:ext uri="{BB962C8B-B14F-4D97-AF65-F5344CB8AC3E}">
        <p14:creationId xmlns:p14="http://schemas.microsoft.com/office/powerpoint/2010/main" val="3849185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E4A5B-860F-48A8-8317-191E0EF4C33B}" type="datetimeFigureOut">
              <a:rPr lang="en-GB" smtClean="0"/>
              <a:pPr/>
              <a:t>16/07/2024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ABA6D-F0DA-4F85-A720-04754C301D6D}" type="slidenum">
              <a:rPr lang="en-GB" smtClean="0"/>
              <a:pPr/>
              <a:t>‹#›</a:t>
            </a:fld>
            <a:endParaRPr lang="en-GB" dirty="0"/>
          </a:p>
        </p:txBody>
      </p:sp>
    </p:spTree>
    <p:extLst>
      <p:ext uri="{BB962C8B-B14F-4D97-AF65-F5344CB8AC3E}">
        <p14:creationId xmlns:p14="http://schemas.microsoft.com/office/powerpoint/2010/main" val="108823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1</a:t>
            </a:fld>
            <a:endParaRPr lang="en-GB" dirty="0"/>
          </a:p>
        </p:txBody>
      </p:sp>
    </p:spTree>
    <p:extLst>
      <p:ext uri="{BB962C8B-B14F-4D97-AF65-F5344CB8AC3E}">
        <p14:creationId xmlns:p14="http://schemas.microsoft.com/office/powerpoint/2010/main" val="38643062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Formal">
    <p:bg>
      <p:bgPr>
        <a:solidFill>
          <a:srgbClr val="F39A1E"/>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FC31B8-C0A5-4C17-8479-A454E6F28946}"/>
              </a:ext>
            </a:extLst>
          </p:cNvPr>
          <p:cNvSpPr/>
          <p:nvPr userDrawn="1"/>
        </p:nvSpPr>
        <p:spPr>
          <a:xfrm>
            <a:off x="346177" y="4721013"/>
            <a:ext cx="3713721" cy="292785"/>
          </a:xfrm>
          <a:prstGeom prst="rect">
            <a:avLst/>
          </a:prstGeom>
          <a:solidFill>
            <a:srgbClr val="F39A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zh-TW" sz="800" kern="1200" dirty="0">
                <a:solidFill>
                  <a:schemeClr val="bg1"/>
                </a:solidFill>
                <a:effectLst/>
                <a:latin typeface="+mn-lt"/>
                <a:ea typeface="+mn-ea"/>
                <a:cs typeface="+mn-cs"/>
              </a:rPr>
              <a:t>MediaTek Proprietary and Confidential. © 2022 MediaTek Inc. All rights reserved.</a:t>
            </a:r>
            <a:endParaRPr lang="en-GB" altLang="zh-TW" sz="800" dirty="0">
              <a:solidFill>
                <a:schemeClr val="bg1"/>
              </a:solidFill>
              <a:latin typeface="+mn-lt"/>
            </a:endParaRPr>
          </a:p>
        </p:txBody>
      </p:sp>
      <p:sp>
        <p:nvSpPr>
          <p:cNvPr id="4" name="文字方塊 3"/>
          <p:cNvSpPr txBox="1"/>
          <p:nvPr userDrawn="1"/>
        </p:nvSpPr>
        <p:spPr>
          <a:xfrm>
            <a:off x="2382251" y="3048755"/>
            <a:ext cx="6545703" cy="885571"/>
          </a:xfrm>
          <a:prstGeom prst="rect">
            <a:avLst/>
          </a:prstGeom>
        </p:spPr>
        <p:txBody>
          <a:bodyPr wrap="square" lIns="0" tIns="0" rIns="0" bIns="0" rtlCol="0">
            <a:noAutofit/>
          </a:bodyPr>
          <a:lstStyle/>
          <a:p>
            <a:endParaRPr lang="zh-TW" altLang="en-US"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CN" altLang="en-US" dirty="0"/>
              <a:t>标题使用粗体</a:t>
            </a:r>
            <a:r>
              <a:rPr lang="en-US" altLang="zh-TW" dirty="0"/>
              <a:t>32pts</a:t>
            </a:r>
            <a:endParaRPr lang="zh-TW" altLang="en-US" dirty="0"/>
          </a:p>
        </p:txBody>
      </p:sp>
      <p:pic>
        <p:nvPicPr>
          <p:cNvPr id="13" name="圖片 12">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3736" y="1361899"/>
            <a:ext cx="1894918" cy="517459"/>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2370668" y="2733676"/>
            <a:ext cx="4218896"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Tree>
    <p:extLst>
      <p:ext uri="{BB962C8B-B14F-4D97-AF65-F5344CB8AC3E}">
        <p14:creationId xmlns:p14="http://schemas.microsoft.com/office/powerpoint/2010/main" val="396468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7" name="文字版面配置區 6"/>
          <p:cNvSpPr>
            <a:spLocks noGrp="1"/>
          </p:cNvSpPr>
          <p:nvPr>
            <p:ph type="body" sz="quarter" idx="10"/>
          </p:nvPr>
        </p:nvSpPr>
        <p:spPr>
          <a:xfrm>
            <a:off x="323850" y="1032588"/>
            <a:ext cx="8218488" cy="3427445"/>
          </a:xfrm>
          <a:prstGeom prst="rect">
            <a:avLst/>
          </a:prstGeom>
        </p:spPr>
        <p:txBody>
          <a:bodyPr/>
          <a:lstStyle>
            <a:lvl1pPr marL="514350" indent="-514350">
              <a:buFont typeface="Wingdings" panose="05000000000000000000" pitchFamily="2" charset="2"/>
              <a:buChar char="p"/>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90758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49" y="1007706"/>
            <a:ext cx="8218489" cy="3707363"/>
          </a:xfrm>
        </p:spPr>
        <p:txBody>
          <a:bodyPr/>
          <a:lstStyle>
            <a:lvl1pPr>
              <a:defRPr sz="1600" b="1">
                <a:latin typeface="+mj-lt"/>
              </a:defRPr>
            </a:lvl1pPr>
            <a:lvl2pPr>
              <a:defRPr sz="1400" b="1">
                <a:latin typeface="+mj-lt"/>
              </a:defRPr>
            </a:lvl2pPr>
            <a:lvl3pPr>
              <a:defRPr sz="1200">
                <a:latin typeface="+mj-lt"/>
              </a:defRPr>
            </a:lvl3pPr>
            <a:lvl4pPr>
              <a:defRPr sz="1100">
                <a:latin typeface="+mj-lt"/>
              </a:defRPr>
            </a:lvl4pPr>
            <a:lvl5pPr>
              <a:defRPr sz="1000">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36899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50" y="1007706"/>
            <a:ext cx="4032126"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4499992" y="1004972"/>
            <a:ext cx="4042347"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980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04818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Tree>
    <p:extLst>
      <p:ext uri="{BB962C8B-B14F-4D97-AF65-F5344CB8AC3E}">
        <p14:creationId xmlns:p14="http://schemas.microsoft.com/office/powerpoint/2010/main" val="3790191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311552" y="1818018"/>
            <a:ext cx="8230787" cy="255393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atin typeface="+mj-lt"/>
                <a:ea typeface="Microsoft YaHei" panose="020B0503020204020204" pitchFamily="34" charset="-122"/>
              </a:defRPr>
            </a:lvl1pPr>
          </a:lstStyle>
          <a:p>
            <a:pPr lvl="0"/>
            <a:r>
              <a:rPr lang="zh-TW" altLang="en-US" dirty="0"/>
              <a:t>內文使用</a:t>
            </a:r>
            <a:r>
              <a:rPr lang="en-US" altLang="zh-TW" dirty="0"/>
              <a:t>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311552" y="1408099"/>
            <a:ext cx="8230786"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0">
                <a:latin typeface="+mj-lt"/>
                <a:ea typeface="Microsoft YaHei" panose="020B0503020204020204" pitchFamily="34" charset="-122"/>
              </a:defRPr>
            </a:lvl1pPr>
          </a:lstStyle>
          <a:p>
            <a:pPr lvl="0"/>
            <a:r>
              <a:rPr lang="zh-TW" altLang="en-US" dirty="0"/>
              <a:t>內文大标题使用</a:t>
            </a:r>
            <a:r>
              <a:rPr lang="en-US" altLang="zh-TW" dirty="0"/>
              <a:t>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311551" y="4427059"/>
            <a:ext cx="3066022"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900" b="0">
                <a:latin typeface="Calibri" panose="020F0502020204030204" pitchFamily="34" charset="0"/>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311551" y="998180"/>
            <a:ext cx="8230787"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latin typeface="+mj-lt"/>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
        <p:nvSpPr>
          <p:cNvPr id="9"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9266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8526" y="751490"/>
            <a:ext cx="7973813" cy="3972910"/>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0723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239586"/>
            <a:ext cx="3067032" cy="442859"/>
          </a:xfrm>
          <a:prstGeom prst="rect">
            <a:avLst/>
          </a:prstGeom>
          <a:solidFill>
            <a:srgbClr val="FFCA05"/>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1682444"/>
            <a:ext cx="3038482"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3038483" y="1239586"/>
            <a:ext cx="3067032" cy="442859"/>
          </a:xfrm>
          <a:prstGeom prst="rect">
            <a:avLst/>
          </a:prstGeom>
          <a:solidFill>
            <a:srgbClr val="69BE28"/>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3038483" y="1682444"/>
            <a:ext cx="3038483"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6076968" y="1239586"/>
            <a:ext cx="3067032" cy="442859"/>
          </a:xfrm>
          <a:prstGeom prst="rect">
            <a:avLst/>
          </a:prstGeom>
          <a:solidFill>
            <a:schemeClr val="accent3"/>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6076968" y="1682444"/>
            <a:ext cx="3067031"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81763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0" y="1273722"/>
            <a:ext cx="9144001" cy="3408367"/>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userDrawn="1"/>
        </p:nvSpPr>
        <p:spPr>
          <a:xfrm>
            <a:off x="8542339" y="4863742"/>
            <a:ext cx="277811" cy="108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600" smtClean="0"/>
              <a:pPr/>
              <a:t>‹#›</a:t>
            </a:fld>
            <a:endParaRPr lang="en-GB" sz="600"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75182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 y="1239586"/>
            <a:ext cx="2284770" cy="442859"/>
          </a:xfrm>
          <a:prstGeom prst="rect">
            <a:avLst/>
          </a:prstGeom>
          <a:solidFill>
            <a:srgbClr val="FFCA05"/>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3770915"/>
            <a:ext cx="2291624"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2" y="1682445"/>
            <a:ext cx="22860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2286314" y="1239586"/>
            <a:ext cx="2291419" cy="442859"/>
          </a:xfrm>
          <a:prstGeom prst="rect">
            <a:avLst/>
          </a:prstGeom>
          <a:solidFill>
            <a:srgbClr val="69BE28"/>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marL="0" marR="0" lvl="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2286314" y="3770915"/>
            <a:ext cx="2293200"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2286314" y="1682445"/>
            <a:ext cx="22932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4574744" y="1239586"/>
            <a:ext cx="2288055" cy="442859"/>
          </a:xfrm>
          <a:prstGeom prst="rect">
            <a:avLst/>
          </a:prstGeom>
          <a:solidFill>
            <a:schemeClr val="accent3"/>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4574744" y="3770915"/>
            <a:ext cx="2289600"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4574744" y="1682443"/>
            <a:ext cx="22896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6855944" y="1239585"/>
            <a:ext cx="2288055" cy="442859"/>
          </a:xfrm>
          <a:prstGeom prst="rect">
            <a:avLst/>
          </a:prstGeom>
          <a:solidFill>
            <a:srgbClr val="E11E3C"/>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6855944" y="1682444"/>
            <a:ext cx="2288057"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6852376" y="3770914"/>
            <a:ext cx="2287858" cy="820040"/>
          </a:xfrm>
          <a:prstGeom prst="rect">
            <a:avLst/>
          </a:prstGeom>
          <a:solidFill>
            <a:srgbClr val="E11E3C"/>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246087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232094"/>
            <a:ext cx="3038482"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3038483" y="1232094"/>
            <a:ext cx="3038483"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6076968" y="1232094"/>
            <a:ext cx="3067031"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845244" y="2587845"/>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1560442" y="3224518"/>
            <a:ext cx="811089"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Microsoft YaHei" panose="020B0503020204020204" pitchFamily="34" charset="-122"/>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3671379"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4386577" y="3238481"/>
            <a:ext cx="1126032"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7061305"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7776503" y="3238481"/>
            <a:ext cx="460373"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7"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74331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600"/>
            </a:lvl1pPr>
          </a:lstStyle>
          <a:p>
            <a:fld id="{0AEF9A4B-07C9-404C-9053-A3A2AC3AD5D6}" type="slidenum">
              <a:rPr lang="en-GB" smtClean="0"/>
              <a:pPr/>
              <a:t>‹#›</a:t>
            </a:fld>
            <a:endParaRPr lang="en-GB" dirty="0"/>
          </a:p>
        </p:txBody>
      </p:sp>
      <p:sp>
        <p:nvSpPr>
          <p:cNvPr id="22" name="TextBox 38">
            <a:extLst>
              <a:ext uri="{FF2B5EF4-FFF2-40B4-BE49-F238E27FC236}">
                <a16:creationId xmlns:a16="http://schemas.microsoft.com/office/drawing/2014/main" id="{419493DC-0923-4185-BFFB-247A57270438}"/>
              </a:ext>
            </a:extLst>
          </p:cNvPr>
          <p:cNvSpPr txBox="1"/>
          <p:nvPr userDrawn="1"/>
        </p:nvSpPr>
        <p:spPr>
          <a:xfrm>
            <a:off x="810918" y="2014815"/>
            <a:ext cx="2947139" cy="543522"/>
          </a:xfrm>
          <a:prstGeom prst="rect">
            <a:avLst/>
          </a:prstGeom>
        </p:spPr>
        <p:txBody>
          <a:bodyPr wrap="square" lIns="0" tIns="0" rIns="0" bIns="0" rtlCol="0">
            <a:noAutofit/>
          </a:bodyPr>
          <a:lstStyle/>
          <a:p>
            <a:pPr algn="ctr"/>
            <a:r>
              <a:rPr lang="en-US" sz="12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2578" y="1227653"/>
            <a:ext cx="4567652" cy="1664089"/>
          </a:xfrm>
          <a:prstGeom prst="rect">
            <a:avLst/>
          </a:prstGeom>
          <a:solidFill>
            <a:srgbClr val="FFCA05"/>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1665323" y="159214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2515377" y="192104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4565074" y="1227694"/>
            <a:ext cx="4583965" cy="1664089"/>
          </a:xfrm>
          <a:prstGeom prst="rect">
            <a:avLst/>
          </a:prstGeom>
          <a:solidFill>
            <a:srgbClr val="69BE28"/>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6244940" y="1592183"/>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7094994" y="1921088"/>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2578" y="2891743"/>
            <a:ext cx="2289600" cy="1694064"/>
          </a:xfrm>
          <a:prstGeom prst="rect">
            <a:avLst/>
          </a:prstGeom>
          <a:solidFill>
            <a:srgbClr val="00A1DE"/>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538235"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388289"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2283091" y="2891743"/>
            <a:ext cx="2289600" cy="1694064"/>
          </a:xfrm>
          <a:prstGeom prst="rect">
            <a:avLst/>
          </a:prstGeom>
          <a:solidFill>
            <a:srgbClr val="E11E3C"/>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2823904"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3673958"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4569422" y="2891743"/>
            <a:ext cx="2289600" cy="1694064"/>
          </a:xfrm>
          <a:prstGeom prst="rect">
            <a:avLst/>
          </a:prstGeom>
          <a:solidFill>
            <a:srgbClr val="036639"/>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5110235" y="3150184"/>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5960289" y="3479089"/>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6859439" y="2891743"/>
            <a:ext cx="2289600" cy="1694064"/>
          </a:xfrm>
          <a:prstGeom prst="rect">
            <a:avLst/>
          </a:prstGeom>
          <a:solidFill>
            <a:srgbClr val="1717A3"/>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7400252"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8250306"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894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userDrawn="1"/>
        </p:nvGrpSpPr>
        <p:grpSpPr>
          <a:xfrm>
            <a:off x="260351" y="4754875"/>
            <a:ext cx="6037239" cy="281118"/>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solidFill>
                  <a:effectLst/>
                  <a:latin typeface="+mn-lt"/>
                  <a:ea typeface="+mn-ea"/>
                  <a:cs typeface="+mn-cs"/>
                </a:rPr>
                <a:t>MediaTek Proprietary and Confidential. © 2022 MediaTek Inc. All rights reserved</a:t>
              </a:r>
              <a:r>
                <a:rPr lang="en-US" altLang="zh-TW" sz="600" kern="1200" dirty="0">
                  <a:solidFill>
                    <a:schemeClr val="bg1">
                      <a:lumMod val="50000"/>
                    </a:schemeClr>
                  </a:solidFill>
                  <a:effectLst/>
                  <a:latin typeface="+mn-lt"/>
                  <a:ea typeface="+mn-ea"/>
                  <a:cs typeface="+mn-cs"/>
                </a:rPr>
                <a:t>.</a:t>
              </a:r>
              <a:endParaRPr lang="en-GB" sz="6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97312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userDrawn="1"/>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形 4">
            <a:extLst>
              <a:ext uri="{FF2B5EF4-FFF2-40B4-BE49-F238E27FC236}">
                <a16:creationId xmlns:a16="http://schemas.microsoft.com/office/drawing/2014/main" id="{82CBF49B-F09E-4FD8-AA32-33CCF5A10E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90950" y="2262187"/>
            <a:ext cx="1562100" cy="619125"/>
          </a:xfrm>
          <a:prstGeom prst="rect">
            <a:avLst/>
          </a:prstGeom>
        </p:spPr>
      </p:pic>
    </p:spTree>
    <p:extLst>
      <p:ext uri="{BB962C8B-B14F-4D97-AF65-F5344CB8AC3E}">
        <p14:creationId xmlns:p14="http://schemas.microsoft.com/office/powerpoint/2010/main" val="215866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2213" y="407670"/>
            <a:ext cx="1461513" cy="399106"/>
          </a:xfrm>
          <a:prstGeom prst="rect">
            <a:avLst/>
          </a:prstGeom>
        </p:spPr>
      </p:pic>
      <p:sp>
        <p:nvSpPr>
          <p:cNvPr id="1104" name="文字方塊 1103"/>
          <p:cNvSpPr txBox="1"/>
          <p:nvPr userDrawn="1"/>
        </p:nvSpPr>
        <p:spPr>
          <a:xfrm>
            <a:off x="196973" y="2982436"/>
            <a:ext cx="6839255" cy="1969770"/>
          </a:xfrm>
          <a:prstGeom prst="rect">
            <a:avLst/>
          </a:prstGeom>
          <a:noFill/>
        </p:spPr>
        <p:txBody>
          <a:bodyPr wrap="square" rtlCol="0">
            <a:spAutoFit/>
          </a:bodyPr>
          <a:lstStyle/>
          <a:p>
            <a:r>
              <a:rPr lang="en-US" altLang="zh-TW" sz="900" b="1" kern="1200" dirty="0" err="1">
                <a:solidFill>
                  <a:schemeClr val="bg1"/>
                </a:solidFill>
                <a:effectLst/>
                <a:latin typeface="+mn-lt"/>
                <a:ea typeface="+mn-ea"/>
                <a:cs typeface="+mn-cs"/>
              </a:rPr>
              <a:t>MediaTek</a:t>
            </a:r>
            <a:r>
              <a:rPr lang="en-US" altLang="zh-TW" sz="900" b="1" kern="1200" dirty="0">
                <a:solidFill>
                  <a:schemeClr val="bg1"/>
                </a:solidFill>
                <a:effectLst/>
                <a:latin typeface="+mn-lt"/>
                <a:ea typeface="+mn-ea"/>
                <a:cs typeface="+mn-cs"/>
              </a:rPr>
              <a:t> Proprietary and Confidential</a:t>
            </a:r>
            <a:endParaRPr lang="zh-TW" altLang="zh-TW" sz="900" b="1" kern="1200" dirty="0">
              <a:solidFill>
                <a:schemeClr val="bg1"/>
              </a:solidFill>
              <a:effectLst/>
              <a:latin typeface="+mn-lt"/>
              <a:ea typeface="+mn-ea"/>
              <a:cs typeface="+mn-cs"/>
            </a:endParaRPr>
          </a:p>
          <a:p>
            <a:r>
              <a:rPr lang="en-US" altLang="zh-TW" sz="900" b="1" kern="1200" dirty="0">
                <a:solidFill>
                  <a:schemeClr val="bg1"/>
                </a:solidFill>
                <a:effectLst/>
                <a:latin typeface="+mn-lt"/>
                <a:ea typeface="+mn-ea"/>
                <a:cs typeface="+mn-cs"/>
              </a:rPr>
              <a:t> </a:t>
            </a:r>
            <a:endParaRPr lang="zh-TW" altLang="zh-TW" sz="900" b="1"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2022 MediaTek Inc. All rights reserved. The term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refers to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Inc. and/or its affiliates.</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800" kern="1200" cap="all" dirty="0" err="1">
                <a:solidFill>
                  <a:schemeClr val="bg1"/>
                </a:solidFill>
                <a:effectLst/>
                <a:latin typeface="+mn-lt"/>
                <a:ea typeface="+mn-ea"/>
                <a:cs typeface="+mn-cs"/>
              </a:rPr>
              <a:t>MediaTek</a:t>
            </a:r>
            <a:r>
              <a:rPr lang="en-US" altLang="zh-TW" sz="800" kern="1200" cap="all" dirty="0">
                <a:solidFill>
                  <a:schemeClr val="bg1"/>
                </a:solidFill>
                <a:effectLst/>
                <a:latin typeface="+mn-lt"/>
                <a:ea typeface="+mn-ea"/>
                <a:cs typeface="+mn-cs"/>
              </a:rPr>
              <a:t> specifically disclaims all warranties of merchantability, non-infringement and fitness for a particular purpose and any warranties arising out of course of performance, course of dealing or usage of trade. </a:t>
            </a:r>
            <a:r>
              <a:rPr lang="en-US" altLang="zh-TW" sz="800"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a:t>
            </a:r>
            <a:r>
              <a:rPr lang="en-US" altLang="zh-TW" sz="800" kern="1200" dirty="0" err="1">
                <a:solidFill>
                  <a:schemeClr val="bg1"/>
                </a:solidFill>
                <a:effectLst/>
                <a:latin typeface="+mn-lt"/>
                <a:ea typeface="+mn-ea"/>
                <a:cs typeface="+mn-cs"/>
              </a:rPr>
              <a:t>MediaTek’s</a:t>
            </a:r>
            <a:r>
              <a:rPr lang="en-US" altLang="zh-TW" sz="800" kern="1200" dirty="0">
                <a:solidFill>
                  <a:schemeClr val="bg1"/>
                </a:solidFill>
                <a:effectLst/>
                <a:latin typeface="+mn-lt"/>
                <a:ea typeface="+mn-ea"/>
                <a:cs typeface="+mn-cs"/>
              </a:rPr>
              <a:t> prior written consent, which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reserves the right to deny for any reason. You agree to indemnify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any loss or damages suffered by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your unauthorized use or disclosure of this Document, in whole or in part.  If you are not the intended recipient of this document, please delete and destroy all copies immediately.</a:t>
            </a:r>
            <a:endParaRPr lang="zh-TW" altLang="zh-TW" sz="800" kern="1200" dirty="0">
              <a:solidFill>
                <a:schemeClr val="bg1"/>
              </a:solidFill>
              <a:effectLst/>
              <a:latin typeface="+mn-lt"/>
              <a:ea typeface="+mn-ea"/>
              <a:cs typeface="+mn-cs"/>
            </a:endParaRPr>
          </a:p>
        </p:txBody>
      </p:sp>
    </p:spTree>
    <p:extLst>
      <p:ext uri="{BB962C8B-B14F-4D97-AF65-F5344CB8AC3E}">
        <p14:creationId xmlns:p14="http://schemas.microsoft.com/office/powerpoint/2010/main" val="130560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15" name="文字版面配置區 14"/>
          <p:cNvSpPr>
            <a:spLocks noGrp="1"/>
          </p:cNvSpPr>
          <p:nvPr>
            <p:ph type="body" idx="1"/>
          </p:nvPr>
        </p:nvSpPr>
        <p:spPr>
          <a:xfrm>
            <a:off x="323850" y="1028526"/>
            <a:ext cx="8218488" cy="3559447"/>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grpSp>
        <p:nvGrpSpPr>
          <p:cNvPr id="4" name="群組 3"/>
          <p:cNvGrpSpPr/>
          <p:nvPr userDrawn="1"/>
        </p:nvGrpSpPr>
        <p:grpSpPr>
          <a:xfrm>
            <a:off x="323850" y="4760384"/>
            <a:ext cx="5973740" cy="275609"/>
            <a:chOff x="323850" y="4760384"/>
            <a:chExt cx="5973740" cy="275609"/>
          </a:xfrm>
        </p:grpSpPr>
        <p:sp>
          <p:nvSpPr>
            <p:cNvPr id="5"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lumMod val="50000"/>
                    </a:schemeClr>
                  </a:solidFill>
                  <a:effectLst/>
                  <a:latin typeface="+mn-lt"/>
                  <a:ea typeface="+mn-ea"/>
                  <a:cs typeface="+mn-cs"/>
                </a:rPr>
                <a:t>MediaTek Proprietary and Confidential. © 2022 MediaTek Inc. All rights reserved.</a:t>
              </a:r>
              <a:endParaRPr lang="en-GB" sz="600" dirty="0">
                <a:solidFill>
                  <a:schemeClr val="bg1">
                    <a:lumMod val="50000"/>
                  </a:schemeClr>
                </a:solidFill>
                <a:latin typeface="+mn-lt"/>
              </a:endParaRPr>
            </a:p>
          </p:txBody>
        </p:sp>
        <p:pic>
          <p:nvPicPr>
            <p:cNvPr id="3" name="圖片 2"/>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23850" y="4760384"/>
              <a:ext cx="759123" cy="217106"/>
            </a:xfrm>
            <a:prstGeom prst="rect">
              <a:avLst/>
            </a:prstGeom>
          </p:spPr>
        </p:pic>
      </p:grpSp>
    </p:spTree>
    <p:extLst>
      <p:ext uri="{BB962C8B-B14F-4D97-AF65-F5344CB8AC3E}">
        <p14:creationId xmlns:p14="http://schemas.microsoft.com/office/powerpoint/2010/main" val="2240172516"/>
      </p:ext>
    </p:extLst>
  </p:cSld>
  <p:clrMap bg1="lt1" tx1="dk1" bg2="lt2" tx2="dk2" accent1="accent1" accent2="accent2" accent3="accent3" accent4="accent4" accent5="accent5" accent6="accent6" hlink="hlink" folHlink="folHlink"/>
  <p:sldLayoutIdLst>
    <p:sldLayoutId id="2147483806" r:id="rId1"/>
    <p:sldLayoutId id="2147483808" r:id="rId2"/>
    <p:sldLayoutId id="2147483809" r:id="rId3"/>
    <p:sldLayoutId id="2147483810" r:id="rId4"/>
    <p:sldLayoutId id="2147483811" r:id="rId5"/>
    <p:sldLayoutId id="2147483837" r:id="rId6"/>
    <p:sldLayoutId id="2147483838" r:id="rId7"/>
    <p:sldLayoutId id="2147483812" r:id="rId8"/>
    <p:sldLayoutId id="2147483822" r:id="rId9"/>
    <p:sldLayoutId id="2147483823" r:id="rId10"/>
    <p:sldLayoutId id="2147483824" r:id="rId11"/>
    <p:sldLayoutId id="2147483825" r:id="rId12"/>
    <p:sldLayoutId id="2147483827" r:id="rId13"/>
    <p:sldLayoutId id="2147483815" r:id="rId14"/>
    <p:sldLayoutId id="2147483816" r:id="rId15"/>
    <p:sldLayoutId id="2147483855"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2800" b="1" u="none" kern="1200" baseline="0">
          <a:solidFill>
            <a:srgbClr val="F39A1E"/>
          </a:solidFill>
          <a:latin typeface="+mj-lt"/>
          <a:ea typeface="+mj-ea"/>
          <a:cs typeface="Arial"/>
        </a:defRPr>
      </a:lvl1pPr>
    </p:titleStyle>
    <p:bodyStyle>
      <a:lvl1pPr marL="271463" indent="-271463" algn="l" defTabSz="914400" rtl="0" eaLnBrk="1" latinLnBrk="0" hangingPunct="1">
        <a:lnSpc>
          <a:spcPct val="90000"/>
        </a:lnSpc>
        <a:spcBef>
          <a:spcPts val="1200"/>
        </a:spcBef>
        <a:buFont typeface="Arial" panose="020B0604020202020204" pitchFamily="34" charset="0"/>
        <a:buChar char="•"/>
        <a:defRPr lang="zh-TW" altLang="en-US" sz="2000" b="1" kern="1200" baseline="0" dirty="0" smtClean="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34.xml"/><Relationship Id="rId4" Type="http://schemas.openxmlformats.org/officeDocument/2006/relationships/slide" Target="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1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9A1E"/>
        </a:solidFill>
        <a:effectLst/>
      </p:bgPr>
    </p:bg>
    <p:spTree>
      <p:nvGrpSpPr>
        <p:cNvPr id="1" name=""/>
        <p:cNvGrpSpPr/>
        <p:nvPr/>
      </p:nvGrpSpPr>
      <p:grpSpPr>
        <a:xfrm>
          <a:off x="0" y="0"/>
          <a:ext cx="0" cy="0"/>
          <a:chOff x="0" y="0"/>
          <a:chExt cx="0" cy="0"/>
        </a:xfrm>
      </p:grpSpPr>
      <p:sp>
        <p:nvSpPr>
          <p:cNvPr id="4"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a:normAutofit fontScale="92500"/>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marL="0" marR="0" lvl="0" indent="0"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CN" dirty="0"/>
              <a:t>MTK NNE framework introduction</a:t>
            </a:r>
            <a:endParaRPr lang="zh-TW" altLang="en-US" dirty="0"/>
          </a:p>
        </p:txBody>
      </p:sp>
      <p:sp>
        <p:nvSpPr>
          <p:cNvPr id="2" name="文字方塊 1">
            <a:extLst>
              <a:ext uri="{FF2B5EF4-FFF2-40B4-BE49-F238E27FC236}">
                <a16:creationId xmlns:a16="http://schemas.microsoft.com/office/drawing/2014/main" id="{FC337874-615D-0638-CBDC-3EBCF0FB00D7}"/>
              </a:ext>
            </a:extLst>
          </p:cNvPr>
          <p:cNvSpPr txBox="1"/>
          <p:nvPr/>
        </p:nvSpPr>
        <p:spPr>
          <a:xfrm>
            <a:off x="2160695" y="2760770"/>
            <a:ext cx="5841788" cy="914400"/>
          </a:xfrm>
          <a:prstGeom prst="rect">
            <a:avLst/>
          </a:prstGeom>
        </p:spPr>
        <p:txBody>
          <a:bodyPr wrap="none" lIns="0" tIns="0" rIns="0" bIns="0" rtlCol="0">
            <a:noAutofit/>
          </a:bodyPr>
          <a:lstStyle/>
          <a:p>
            <a:pPr algn="ctr"/>
            <a:r>
              <a:rPr lang="en-US" altLang="zh-TW" b="1" dirty="0">
                <a:solidFill>
                  <a:schemeClr val="bg1"/>
                </a:solidFill>
              </a:rPr>
              <a:t>MTK audio team</a:t>
            </a:r>
            <a:endParaRPr lang="zh-TW" altLang="en-US" b="1" dirty="0">
              <a:solidFill>
                <a:schemeClr val="bg1"/>
              </a:solidFill>
            </a:endParaRPr>
          </a:p>
        </p:txBody>
      </p:sp>
    </p:spTree>
    <p:extLst>
      <p:ext uri="{BB962C8B-B14F-4D97-AF65-F5344CB8AC3E}">
        <p14:creationId xmlns:p14="http://schemas.microsoft.com/office/powerpoint/2010/main" val="2865701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DA7A1EE-1E7B-AF6B-D8A7-D9F395F6BDBB}"/>
              </a:ext>
            </a:extLst>
          </p:cNvPr>
          <p:cNvSpPr>
            <a:spLocks noGrp="1"/>
          </p:cNvSpPr>
          <p:nvPr>
            <p:ph type="sldNum" sz="quarter" idx="4"/>
          </p:nvPr>
        </p:nvSpPr>
        <p:spPr/>
        <p:txBody>
          <a:bodyPr/>
          <a:lstStyle/>
          <a:p>
            <a:fld id="{0AEF9A4B-07C9-404C-9053-A3A2AC3AD5D6}" type="slidenum">
              <a:rPr lang="en-GB" smtClean="0"/>
              <a:pPr/>
              <a:t>2</a:t>
            </a:fld>
            <a:endParaRPr lang="en-GB" dirty="0"/>
          </a:p>
        </p:txBody>
      </p:sp>
      <p:sp>
        <p:nvSpPr>
          <p:cNvPr id="3" name="文字版面配置區 2">
            <a:extLst>
              <a:ext uri="{FF2B5EF4-FFF2-40B4-BE49-F238E27FC236}">
                <a16:creationId xmlns:a16="http://schemas.microsoft.com/office/drawing/2014/main" id="{AA3548AA-85B2-9F09-5779-25FD73D0289F}"/>
              </a:ext>
            </a:extLst>
          </p:cNvPr>
          <p:cNvSpPr>
            <a:spLocks noGrp="1"/>
          </p:cNvSpPr>
          <p:nvPr>
            <p:ph type="body" sz="quarter" idx="10"/>
          </p:nvPr>
        </p:nvSpPr>
        <p:spPr/>
        <p:txBody>
          <a:bodyPr/>
          <a:lstStyle/>
          <a:p>
            <a:r>
              <a:rPr lang="en-US" altLang="zh-TW" dirty="0"/>
              <a:t>Introduction </a:t>
            </a:r>
          </a:p>
          <a:p>
            <a:r>
              <a:rPr lang="en-US" altLang="zh-TW" dirty="0"/>
              <a:t>MTK NNE framework and Interface</a:t>
            </a:r>
          </a:p>
          <a:p>
            <a:r>
              <a:rPr lang="en-US" altLang="zh-TW" dirty="0"/>
              <a:t>Model deployment</a:t>
            </a:r>
          </a:p>
          <a:p>
            <a:r>
              <a:rPr lang="en-US" altLang="zh-TW" dirty="0"/>
              <a:t>Test with MTK NNE framework</a:t>
            </a:r>
          </a:p>
          <a:p>
            <a:r>
              <a:rPr lang="en-US" altLang="zh-TW" dirty="0"/>
              <a:t>Troubleshooting</a:t>
            </a:r>
          </a:p>
        </p:txBody>
      </p:sp>
      <p:sp>
        <p:nvSpPr>
          <p:cNvPr id="4" name="標題 3">
            <a:extLst>
              <a:ext uri="{FF2B5EF4-FFF2-40B4-BE49-F238E27FC236}">
                <a16:creationId xmlns:a16="http://schemas.microsoft.com/office/drawing/2014/main" id="{7559371F-273C-1D77-725F-BAB2B75BC5BB}"/>
              </a:ext>
            </a:extLst>
          </p:cNvPr>
          <p:cNvSpPr>
            <a:spLocks noGrp="1"/>
          </p:cNvSpPr>
          <p:nvPr>
            <p:ph type="title"/>
          </p:nvPr>
        </p:nvSpPr>
        <p:spPr/>
        <p:txBody>
          <a:bodyPr>
            <a:normAutofit/>
          </a:bodyPr>
          <a:lstStyle/>
          <a:p>
            <a:pPr algn="ctr"/>
            <a:r>
              <a:rPr lang="en-US" altLang="zh-TW" dirty="0"/>
              <a:t>Agenda</a:t>
            </a:r>
            <a:endParaRPr lang="zh-TW" altLang="en-US" dirty="0"/>
          </a:p>
        </p:txBody>
      </p:sp>
      <p:sp>
        <p:nvSpPr>
          <p:cNvPr id="5" name="箭號: 向右 4">
            <a:hlinkClick r:id="rId2" action="ppaction://hlinksldjump"/>
            <a:extLst>
              <a:ext uri="{FF2B5EF4-FFF2-40B4-BE49-F238E27FC236}">
                <a16:creationId xmlns:a16="http://schemas.microsoft.com/office/drawing/2014/main" id="{39FC13B4-A673-DE8F-8702-EE46DA3E1988}"/>
              </a:ext>
            </a:extLst>
          </p:cNvPr>
          <p:cNvSpPr/>
          <p:nvPr/>
        </p:nvSpPr>
        <p:spPr>
          <a:xfrm>
            <a:off x="2390987" y="1083734"/>
            <a:ext cx="331892" cy="23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箭號: 向右 5">
            <a:hlinkClick r:id="rId3" action="ppaction://hlinksldjump"/>
            <a:extLst>
              <a:ext uri="{FF2B5EF4-FFF2-40B4-BE49-F238E27FC236}">
                <a16:creationId xmlns:a16="http://schemas.microsoft.com/office/drawing/2014/main" id="{26E794F9-5CBC-C223-75DD-23966BE418A0}"/>
              </a:ext>
            </a:extLst>
          </p:cNvPr>
          <p:cNvSpPr/>
          <p:nvPr/>
        </p:nvSpPr>
        <p:spPr>
          <a:xfrm>
            <a:off x="4717627" y="1487431"/>
            <a:ext cx="331892" cy="23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箭號: 向右 6">
            <a:hlinkClick r:id="rId3" action="ppaction://hlinksldjump"/>
            <a:extLst>
              <a:ext uri="{FF2B5EF4-FFF2-40B4-BE49-F238E27FC236}">
                <a16:creationId xmlns:a16="http://schemas.microsoft.com/office/drawing/2014/main" id="{84055F35-D1DA-33AE-CDCA-D4692FBD1A96}"/>
              </a:ext>
            </a:extLst>
          </p:cNvPr>
          <p:cNvSpPr/>
          <p:nvPr/>
        </p:nvSpPr>
        <p:spPr>
          <a:xfrm>
            <a:off x="3115734" y="1964951"/>
            <a:ext cx="331892" cy="23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箭號: 向右 7">
            <a:hlinkClick r:id="rId4" action="ppaction://hlinksldjump"/>
            <a:extLst>
              <a:ext uri="{FF2B5EF4-FFF2-40B4-BE49-F238E27FC236}">
                <a16:creationId xmlns:a16="http://schemas.microsoft.com/office/drawing/2014/main" id="{B62927E7-8D0F-A955-4BD4-5E297C93CC5F}"/>
              </a:ext>
            </a:extLst>
          </p:cNvPr>
          <p:cNvSpPr/>
          <p:nvPr/>
        </p:nvSpPr>
        <p:spPr>
          <a:xfrm>
            <a:off x="4328161" y="2336208"/>
            <a:ext cx="331892" cy="23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箭號: 向右 8">
            <a:hlinkClick r:id="rId5" action="ppaction://hlinksldjump"/>
            <a:extLst>
              <a:ext uri="{FF2B5EF4-FFF2-40B4-BE49-F238E27FC236}">
                <a16:creationId xmlns:a16="http://schemas.microsoft.com/office/drawing/2014/main" id="{F431AF64-2BE3-77C3-0A8F-4EB2B8A28E24}"/>
              </a:ext>
            </a:extLst>
          </p:cNvPr>
          <p:cNvSpPr/>
          <p:nvPr/>
        </p:nvSpPr>
        <p:spPr>
          <a:xfrm>
            <a:off x="2783842" y="2791164"/>
            <a:ext cx="331892" cy="23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647109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D78D8A2-C956-82AA-BFED-57CA3EDA4FD3}"/>
              </a:ext>
            </a:extLst>
          </p:cNvPr>
          <p:cNvSpPr>
            <a:spLocks noGrp="1"/>
          </p:cNvSpPr>
          <p:nvPr>
            <p:ph type="sldNum" sz="quarter" idx="4"/>
          </p:nvPr>
        </p:nvSpPr>
        <p:spPr/>
        <p:txBody>
          <a:bodyPr/>
          <a:lstStyle/>
          <a:p>
            <a:fld id="{0AEF9A4B-07C9-404C-9053-A3A2AC3AD5D6}" type="slidenum">
              <a:rPr lang="en-GB" smtClean="0"/>
              <a:pPr/>
              <a:t>3</a:t>
            </a:fld>
            <a:endParaRPr lang="en-GB" dirty="0"/>
          </a:p>
        </p:txBody>
      </p:sp>
      <p:sp>
        <p:nvSpPr>
          <p:cNvPr id="3" name="內容版面配置區 2">
            <a:extLst>
              <a:ext uri="{FF2B5EF4-FFF2-40B4-BE49-F238E27FC236}">
                <a16:creationId xmlns:a16="http://schemas.microsoft.com/office/drawing/2014/main" id="{B0E876EF-762B-8E32-A8CC-03A6422A8191}"/>
              </a:ext>
            </a:extLst>
          </p:cNvPr>
          <p:cNvSpPr>
            <a:spLocks noGrp="1"/>
          </p:cNvSpPr>
          <p:nvPr>
            <p:ph sz="quarter" idx="10"/>
          </p:nvPr>
        </p:nvSpPr>
        <p:spPr/>
        <p:txBody>
          <a:bodyPr/>
          <a:lstStyle/>
          <a:p>
            <a:r>
              <a:rPr lang="en-US" altLang="zh-TW" b="0" dirty="0"/>
              <a:t>The MTK NNE framework is used to simplify the steps of testing and developing an NNE application on MTK platforms.</a:t>
            </a:r>
          </a:p>
          <a:p>
            <a:r>
              <a:rPr lang="en-US" altLang="zh-TW" b="0" dirty="0"/>
              <a:t>Up to 4 models can be deployed on MTK NNE framework.</a:t>
            </a:r>
          </a:p>
          <a:p>
            <a:r>
              <a:rPr lang="en-US" altLang="zh-TW" b="0" dirty="0"/>
              <a:t>The MTK NNE framework is developed with </a:t>
            </a:r>
            <a:r>
              <a:rPr lang="en-US" altLang="zh-TW" dirty="0" err="1"/>
              <a:t>Xtensa</a:t>
            </a:r>
            <a:r>
              <a:rPr lang="en-US" altLang="zh-TW" dirty="0"/>
              <a:t> NNE SDK V1.4p2</a:t>
            </a:r>
            <a:r>
              <a:rPr lang="en-US" altLang="zh-TW" b="0" dirty="0"/>
              <a:t>.</a:t>
            </a:r>
            <a:endParaRPr lang="zh-TW" altLang="en-US" b="0" dirty="0"/>
          </a:p>
        </p:txBody>
      </p:sp>
      <p:sp>
        <p:nvSpPr>
          <p:cNvPr id="4" name="標題 3">
            <a:extLst>
              <a:ext uri="{FF2B5EF4-FFF2-40B4-BE49-F238E27FC236}">
                <a16:creationId xmlns:a16="http://schemas.microsoft.com/office/drawing/2014/main" id="{A4DBB0F8-7121-6589-D641-1150488F976F}"/>
              </a:ext>
            </a:extLst>
          </p:cNvPr>
          <p:cNvSpPr>
            <a:spLocks noGrp="1"/>
          </p:cNvSpPr>
          <p:nvPr>
            <p:ph type="title"/>
          </p:nvPr>
        </p:nvSpPr>
        <p:spPr/>
        <p:txBody>
          <a:bodyPr/>
          <a:lstStyle/>
          <a:p>
            <a:r>
              <a:rPr lang="en-US" altLang="zh-TW" dirty="0"/>
              <a:t>Introduction</a:t>
            </a:r>
            <a:endParaRPr lang="zh-TW" altLang="en-US" dirty="0"/>
          </a:p>
        </p:txBody>
      </p:sp>
    </p:spTree>
    <p:extLst>
      <p:ext uri="{BB962C8B-B14F-4D97-AF65-F5344CB8AC3E}">
        <p14:creationId xmlns:p14="http://schemas.microsoft.com/office/powerpoint/2010/main" val="2559434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0BF3C5E-9A37-5472-B1FA-3B4A26CB0975}"/>
              </a:ext>
            </a:extLst>
          </p:cNvPr>
          <p:cNvSpPr>
            <a:spLocks noGrp="1"/>
          </p:cNvSpPr>
          <p:nvPr>
            <p:ph type="sldNum" sz="quarter" idx="4"/>
          </p:nvPr>
        </p:nvSpPr>
        <p:spPr/>
        <p:txBody>
          <a:bodyPr/>
          <a:lstStyle/>
          <a:p>
            <a:fld id="{0AEF9A4B-07C9-404C-9053-A3A2AC3AD5D6}" type="slidenum">
              <a:rPr lang="en-GB" smtClean="0"/>
              <a:pPr/>
              <a:t>4</a:t>
            </a:fld>
            <a:endParaRPr lang="en-GB" dirty="0"/>
          </a:p>
        </p:txBody>
      </p:sp>
      <p:sp>
        <p:nvSpPr>
          <p:cNvPr id="4" name="標題 3">
            <a:extLst>
              <a:ext uri="{FF2B5EF4-FFF2-40B4-BE49-F238E27FC236}">
                <a16:creationId xmlns:a16="http://schemas.microsoft.com/office/drawing/2014/main" id="{7C1BFC93-0113-A7F4-CD3F-2839FB094E82}"/>
              </a:ext>
            </a:extLst>
          </p:cNvPr>
          <p:cNvSpPr>
            <a:spLocks noGrp="1"/>
          </p:cNvSpPr>
          <p:nvPr>
            <p:ph type="title"/>
          </p:nvPr>
        </p:nvSpPr>
        <p:spPr/>
        <p:txBody>
          <a:bodyPr/>
          <a:lstStyle/>
          <a:p>
            <a:r>
              <a:rPr lang="en-US" altLang="zh-TW" dirty="0"/>
              <a:t>NNE</a:t>
            </a:r>
            <a:r>
              <a:rPr lang="zh-TW" altLang="en-US" dirty="0"/>
              <a:t> </a:t>
            </a:r>
            <a:r>
              <a:rPr lang="en-US" altLang="zh-TW" dirty="0"/>
              <a:t>related folder structure</a:t>
            </a:r>
            <a:endParaRPr lang="zh-TW" altLang="en-US" dirty="0"/>
          </a:p>
        </p:txBody>
      </p:sp>
      <p:sp>
        <p:nvSpPr>
          <p:cNvPr id="5" name="文字方塊 4">
            <a:extLst>
              <a:ext uri="{FF2B5EF4-FFF2-40B4-BE49-F238E27FC236}">
                <a16:creationId xmlns:a16="http://schemas.microsoft.com/office/drawing/2014/main" id="{C0562C8C-1637-758A-804D-2C98FBC9F14D}"/>
              </a:ext>
            </a:extLst>
          </p:cNvPr>
          <p:cNvSpPr txBox="1"/>
          <p:nvPr/>
        </p:nvSpPr>
        <p:spPr>
          <a:xfrm>
            <a:off x="5461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ADSP_PATH</a:t>
            </a:r>
            <a:endParaRPr lang="zh-TW" altLang="en-US" sz="1200" dirty="0"/>
          </a:p>
        </p:txBody>
      </p:sp>
      <p:sp>
        <p:nvSpPr>
          <p:cNvPr id="6" name="文字方塊 5">
            <a:extLst>
              <a:ext uri="{FF2B5EF4-FFF2-40B4-BE49-F238E27FC236}">
                <a16:creationId xmlns:a16="http://schemas.microsoft.com/office/drawing/2014/main" id="{3113DD8A-BC9E-506F-E52D-E542A4BA1E66}"/>
              </a:ext>
            </a:extLst>
          </p:cNvPr>
          <p:cNvSpPr txBox="1"/>
          <p:nvPr/>
        </p:nvSpPr>
        <p:spPr>
          <a:xfrm>
            <a:off x="18796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HIFI5_SP</a:t>
            </a:r>
            <a:endParaRPr lang="zh-TW" altLang="en-US" sz="1200" dirty="0"/>
          </a:p>
        </p:txBody>
      </p:sp>
      <p:sp>
        <p:nvSpPr>
          <p:cNvPr id="7" name="文字方塊 6">
            <a:extLst>
              <a:ext uri="{FF2B5EF4-FFF2-40B4-BE49-F238E27FC236}">
                <a16:creationId xmlns:a16="http://schemas.microsoft.com/office/drawing/2014/main" id="{A78C310F-B82E-8552-B692-B387457F0CEB}"/>
              </a:ext>
            </a:extLst>
          </p:cNvPr>
          <p:cNvSpPr txBox="1"/>
          <p:nvPr/>
        </p:nvSpPr>
        <p:spPr>
          <a:xfrm>
            <a:off x="5880100" y="2990261"/>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err="1"/>
              <a:t>api</a:t>
            </a:r>
            <a:endParaRPr lang="zh-TW" altLang="en-US" sz="1200" dirty="0"/>
          </a:p>
        </p:txBody>
      </p:sp>
      <p:sp>
        <p:nvSpPr>
          <p:cNvPr id="8" name="文字方塊 7">
            <a:extLst>
              <a:ext uri="{FF2B5EF4-FFF2-40B4-BE49-F238E27FC236}">
                <a16:creationId xmlns:a16="http://schemas.microsoft.com/office/drawing/2014/main" id="{821E58F0-B6F4-D6F8-D4FE-68517ABCEC8A}"/>
              </a:ext>
            </a:extLst>
          </p:cNvPr>
          <p:cNvSpPr txBox="1"/>
          <p:nvPr/>
        </p:nvSpPr>
        <p:spPr>
          <a:xfrm>
            <a:off x="32131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middleware</a:t>
            </a:r>
            <a:endParaRPr lang="zh-TW" altLang="en-US" sz="1200" dirty="0"/>
          </a:p>
        </p:txBody>
      </p:sp>
      <p:sp>
        <p:nvSpPr>
          <p:cNvPr id="9" name="文字方塊 8">
            <a:extLst>
              <a:ext uri="{FF2B5EF4-FFF2-40B4-BE49-F238E27FC236}">
                <a16:creationId xmlns:a16="http://schemas.microsoft.com/office/drawing/2014/main" id="{53E18EA9-7CC0-116E-BD0A-CCCDE7BFA661}"/>
              </a:ext>
            </a:extLst>
          </p:cNvPr>
          <p:cNvSpPr txBox="1"/>
          <p:nvPr/>
        </p:nvSpPr>
        <p:spPr>
          <a:xfrm>
            <a:off x="45466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err="1"/>
              <a:t>nne_model</a:t>
            </a:r>
            <a:endParaRPr lang="zh-TW" altLang="en-US" sz="1200" dirty="0"/>
          </a:p>
        </p:txBody>
      </p:sp>
      <p:sp>
        <p:nvSpPr>
          <p:cNvPr id="10" name="文字方塊 9">
            <a:extLst>
              <a:ext uri="{FF2B5EF4-FFF2-40B4-BE49-F238E27FC236}">
                <a16:creationId xmlns:a16="http://schemas.microsoft.com/office/drawing/2014/main" id="{BA4B7FB4-A9F2-0757-96FB-5B2F8C711FA4}"/>
              </a:ext>
            </a:extLst>
          </p:cNvPr>
          <p:cNvSpPr txBox="1"/>
          <p:nvPr/>
        </p:nvSpPr>
        <p:spPr>
          <a:xfrm>
            <a:off x="58801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model</a:t>
            </a:r>
            <a:endParaRPr lang="zh-TW" altLang="en-US" sz="1200" dirty="0"/>
          </a:p>
        </p:txBody>
      </p:sp>
      <p:sp>
        <p:nvSpPr>
          <p:cNvPr id="11" name="文字方塊 10">
            <a:extLst>
              <a:ext uri="{FF2B5EF4-FFF2-40B4-BE49-F238E27FC236}">
                <a16:creationId xmlns:a16="http://schemas.microsoft.com/office/drawing/2014/main" id="{BF114CCA-5F39-38AD-6819-E0DE72537541}"/>
              </a:ext>
            </a:extLst>
          </p:cNvPr>
          <p:cNvSpPr txBox="1"/>
          <p:nvPr/>
        </p:nvSpPr>
        <p:spPr>
          <a:xfrm>
            <a:off x="5880100" y="2341268"/>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sample</a:t>
            </a:r>
            <a:endParaRPr lang="zh-TW" altLang="en-US" sz="1200" dirty="0"/>
          </a:p>
        </p:txBody>
      </p:sp>
      <p:sp>
        <p:nvSpPr>
          <p:cNvPr id="12" name="文字方塊 11">
            <a:extLst>
              <a:ext uri="{FF2B5EF4-FFF2-40B4-BE49-F238E27FC236}">
                <a16:creationId xmlns:a16="http://schemas.microsoft.com/office/drawing/2014/main" id="{FDB45A9E-0D45-E2BC-C063-6991F0E3B0F5}"/>
              </a:ext>
            </a:extLst>
          </p:cNvPr>
          <p:cNvSpPr txBox="1"/>
          <p:nvPr/>
        </p:nvSpPr>
        <p:spPr>
          <a:xfrm>
            <a:off x="1879600" y="2990261"/>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common</a:t>
            </a:r>
            <a:endParaRPr lang="zh-TW" altLang="en-US" sz="1200" dirty="0"/>
          </a:p>
        </p:txBody>
      </p:sp>
      <p:sp>
        <p:nvSpPr>
          <p:cNvPr id="13" name="文字方塊 12">
            <a:extLst>
              <a:ext uri="{FF2B5EF4-FFF2-40B4-BE49-F238E27FC236}">
                <a16:creationId xmlns:a16="http://schemas.microsoft.com/office/drawing/2014/main" id="{1CB05CFF-C4BF-06DA-C6BD-04D044EE68DD}"/>
              </a:ext>
            </a:extLst>
          </p:cNvPr>
          <p:cNvSpPr txBox="1"/>
          <p:nvPr/>
        </p:nvSpPr>
        <p:spPr>
          <a:xfrm>
            <a:off x="3213100" y="2990261"/>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drivers</a:t>
            </a:r>
            <a:endParaRPr lang="zh-TW" altLang="en-US" sz="1200" dirty="0"/>
          </a:p>
        </p:txBody>
      </p:sp>
      <p:sp>
        <p:nvSpPr>
          <p:cNvPr id="14" name="文字方塊 13">
            <a:extLst>
              <a:ext uri="{FF2B5EF4-FFF2-40B4-BE49-F238E27FC236}">
                <a16:creationId xmlns:a16="http://schemas.microsoft.com/office/drawing/2014/main" id="{F375C9A3-D1C3-71A4-D88B-D949071ABFEB}"/>
              </a:ext>
            </a:extLst>
          </p:cNvPr>
          <p:cNvSpPr txBox="1"/>
          <p:nvPr/>
        </p:nvSpPr>
        <p:spPr>
          <a:xfrm>
            <a:off x="7213600" y="1692275"/>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a:t>V1.4p2</a:t>
            </a:r>
            <a:endParaRPr lang="zh-TW" altLang="en-US" sz="1200" dirty="0"/>
          </a:p>
        </p:txBody>
      </p:sp>
      <p:sp>
        <p:nvSpPr>
          <p:cNvPr id="15" name="文字方塊 14">
            <a:extLst>
              <a:ext uri="{FF2B5EF4-FFF2-40B4-BE49-F238E27FC236}">
                <a16:creationId xmlns:a16="http://schemas.microsoft.com/office/drawing/2014/main" id="{15F6A8F6-C729-0939-56F4-C1CEF1462254}"/>
              </a:ext>
            </a:extLst>
          </p:cNvPr>
          <p:cNvSpPr txBox="1"/>
          <p:nvPr/>
        </p:nvSpPr>
        <p:spPr>
          <a:xfrm>
            <a:off x="4546600" y="2990261"/>
            <a:ext cx="876300" cy="273050"/>
          </a:xfrm>
          <a:prstGeom prst="rect">
            <a:avLst/>
          </a:prstGeom>
          <a:solidFill>
            <a:schemeClr val="accent3">
              <a:lumMod val="20000"/>
              <a:lumOff val="80000"/>
            </a:schemeClr>
          </a:solidFill>
        </p:spPr>
        <p:txBody>
          <a:bodyPr wrap="none" lIns="0" tIns="0" rIns="0" bIns="0" rtlCol="0">
            <a:noAutofit/>
          </a:bodyPr>
          <a:lstStyle/>
          <a:p>
            <a:pPr algn="ctr">
              <a:lnSpc>
                <a:spcPct val="150000"/>
              </a:lnSpc>
            </a:pPr>
            <a:r>
              <a:rPr lang="en-US" altLang="zh-TW" sz="1200" dirty="0" err="1"/>
              <a:t>nne</a:t>
            </a:r>
            <a:endParaRPr lang="zh-TW" altLang="en-US" sz="1200" dirty="0"/>
          </a:p>
        </p:txBody>
      </p:sp>
      <p:cxnSp>
        <p:nvCxnSpPr>
          <p:cNvPr id="17" name="直線接點 16">
            <a:extLst>
              <a:ext uri="{FF2B5EF4-FFF2-40B4-BE49-F238E27FC236}">
                <a16:creationId xmlns:a16="http://schemas.microsoft.com/office/drawing/2014/main" id="{49C09FAC-E095-5C1C-1D77-75C0470D909C}"/>
              </a:ext>
            </a:extLst>
          </p:cNvPr>
          <p:cNvCxnSpPr>
            <a:endCxn id="6" idx="1"/>
          </p:cNvCxnSpPr>
          <p:nvPr/>
        </p:nvCxnSpPr>
        <p:spPr>
          <a:xfrm>
            <a:off x="1422400" y="1828800"/>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39FB4F10-5B6B-7A3E-7EB3-817892045C6D}"/>
              </a:ext>
            </a:extLst>
          </p:cNvPr>
          <p:cNvCxnSpPr/>
          <p:nvPr/>
        </p:nvCxnSpPr>
        <p:spPr>
          <a:xfrm>
            <a:off x="2755900" y="1828800"/>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54FC2BE8-B4FE-C676-7794-0DADEAEFC379}"/>
              </a:ext>
            </a:extLst>
          </p:cNvPr>
          <p:cNvCxnSpPr/>
          <p:nvPr/>
        </p:nvCxnSpPr>
        <p:spPr>
          <a:xfrm>
            <a:off x="4089400" y="1828800"/>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F33EEBD2-9189-5B72-C193-42BD37FEB7F9}"/>
              </a:ext>
            </a:extLst>
          </p:cNvPr>
          <p:cNvCxnSpPr>
            <a:endCxn id="10" idx="1"/>
          </p:cNvCxnSpPr>
          <p:nvPr/>
        </p:nvCxnSpPr>
        <p:spPr>
          <a:xfrm>
            <a:off x="5422900" y="1828800"/>
            <a:ext cx="457200" cy="0"/>
          </a:xfrm>
          <a:prstGeom prst="line">
            <a:avLst/>
          </a:prstGeom>
          <a:ln w="19050">
            <a:solidFill>
              <a:schemeClr val="accent3">
                <a:lumMod val="20000"/>
                <a:lumOff val="80000"/>
              </a:schemeClr>
            </a:solidFill>
          </a:ln>
        </p:spPr>
        <p:style>
          <a:lnRef idx="1">
            <a:schemeClr val="accent3"/>
          </a:lnRef>
          <a:fillRef idx="0">
            <a:schemeClr val="accent3"/>
          </a:fillRef>
          <a:effectRef idx="0">
            <a:schemeClr val="accent3"/>
          </a:effectRef>
          <a:fontRef idx="minor">
            <a:schemeClr val="tx1"/>
          </a:fontRef>
        </p:style>
      </p:cxnSp>
      <p:cxnSp>
        <p:nvCxnSpPr>
          <p:cNvPr id="23" name="直線接點 22">
            <a:extLst>
              <a:ext uri="{FF2B5EF4-FFF2-40B4-BE49-F238E27FC236}">
                <a16:creationId xmlns:a16="http://schemas.microsoft.com/office/drawing/2014/main" id="{8A7FFEA4-49E5-EC35-25FC-537C47388A4D}"/>
              </a:ext>
            </a:extLst>
          </p:cNvPr>
          <p:cNvCxnSpPr>
            <a:stCxn id="10" idx="3"/>
            <a:endCxn id="14" idx="1"/>
          </p:cNvCxnSpPr>
          <p:nvPr/>
        </p:nvCxnSpPr>
        <p:spPr>
          <a:xfrm>
            <a:off x="6756400" y="1828800"/>
            <a:ext cx="457200" cy="0"/>
          </a:xfrm>
          <a:prstGeom prst="line">
            <a:avLst/>
          </a:prstGeom>
          <a:ln w="19050">
            <a:solidFill>
              <a:schemeClr val="accent3">
                <a:lumMod val="20000"/>
                <a:lumOff val="80000"/>
              </a:schemeClr>
            </a:solidFill>
          </a:ln>
        </p:spPr>
        <p:style>
          <a:lnRef idx="1">
            <a:schemeClr val="accent3"/>
          </a:lnRef>
          <a:fillRef idx="0">
            <a:schemeClr val="accent3"/>
          </a:fillRef>
          <a:effectRef idx="0">
            <a:schemeClr val="accent3"/>
          </a:effectRef>
          <a:fontRef idx="minor">
            <a:schemeClr val="tx1"/>
          </a:fontRef>
        </p:style>
      </p:cxnSp>
      <p:cxnSp>
        <p:nvCxnSpPr>
          <p:cNvPr id="25" name="接點: 肘形 24">
            <a:extLst>
              <a:ext uri="{FF2B5EF4-FFF2-40B4-BE49-F238E27FC236}">
                <a16:creationId xmlns:a16="http://schemas.microsoft.com/office/drawing/2014/main" id="{0E54A7AC-94AA-A9D0-37C0-0BA1939EE1B2}"/>
              </a:ext>
            </a:extLst>
          </p:cNvPr>
          <p:cNvCxnSpPr>
            <a:stCxn id="9" idx="2"/>
            <a:endCxn id="11" idx="1"/>
          </p:cNvCxnSpPr>
          <p:nvPr/>
        </p:nvCxnSpPr>
        <p:spPr>
          <a:xfrm rot="16200000" flipH="1">
            <a:off x="5176191" y="1773884"/>
            <a:ext cx="512468" cy="895350"/>
          </a:xfrm>
          <a:prstGeom prst="bentConnector2">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3F640457-50E7-6849-F94B-2EC2E982E0D8}"/>
              </a:ext>
            </a:extLst>
          </p:cNvPr>
          <p:cNvCxnSpPr>
            <a:endCxn id="12" idx="1"/>
          </p:cNvCxnSpPr>
          <p:nvPr/>
        </p:nvCxnSpPr>
        <p:spPr>
          <a:xfrm rot="16200000" flipH="1">
            <a:off x="855957" y="2103142"/>
            <a:ext cx="1161461" cy="885825"/>
          </a:xfrm>
          <a:prstGeom prst="bentConnector2">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0D9CED89-DFD3-1A31-BA7E-DE182BD30758}"/>
              </a:ext>
            </a:extLst>
          </p:cNvPr>
          <p:cNvCxnSpPr>
            <a:stCxn id="12" idx="3"/>
            <a:endCxn id="13" idx="1"/>
          </p:cNvCxnSpPr>
          <p:nvPr/>
        </p:nvCxnSpPr>
        <p:spPr>
          <a:xfrm>
            <a:off x="2755900" y="3126786"/>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F28130ED-063D-39A1-B0B8-6FD42F1524E9}"/>
              </a:ext>
            </a:extLst>
          </p:cNvPr>
          <p:cNvCxnSpPr>
            <a:stCxn id="13" idx="3"/>
            <a:endCxn id="15" idx="1"/>
          </p:cNvCxnSpPr>
          <p:nvPr/>
        </p:nvCxnSpPr>
        <p:spPr>
          <a:xfrm>
            <a:off x="4089400" y="3126786"/>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018F9095-8B1F-728F-64FB-89FB983670F4}"/>
              </a:ext>
            </a:extLst>
          </p:cNvPr>
          <p:cNvCxnSpPr>
            <a:stCxn id="15" idx="3"/>
            <a:endCxn id="7" idx="1"/>
          </p:cNvCxnSpPr>
          <p:nvPr/>
        </p:nvCxnSpPr>
        <p:spPr>
          <a:xfrm>
            <a:off x="5422900" y="3126786"/>
            <a:ext cx="457200" cy="0"/>
          </a:xfrm>
          <a:prstGeom prst="line">
            <a:avLst/>
          </a:prstGeom>
          <a:ln w="1905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39" name="群組 38">
            <a:extLst>
              <a:ext uri="{FF2B5EF4-FFF2-40B4-BE49-F238E27FC236}">
                <a16:creationId xmlns:a16="http://schemas.microsoft.com/office/drawing/2014/main" id="{985B0DBF-AFDF-6F31-B0BF-3296533E3F63}"/>
              </a:ext>
            </a:extLst>
          </p:cNvPr>
          <p:cNvGrpSpPr/>
          <p:nvPr/>
        </p:nvGrpSpPr>
        <p:grpSpPr>
          <a:xfrm>
            <a:off x="7205224" y="697168"/>
            <a:ext cx="1614926" cy="1088725"/>
            <a:chOff x="7205224" y="697168"/>
            <a:chExt cx="1614926" cy="1088725"/>
          </a:xfrm>
        </p:grpSpPr>
        <p:sp>
          <p:nvSpPr>
            <p:cNvPr id="38" name="等腰三角形 37">
              <a:extLst>
                <a:ext uri="{FF2B5EF4-FFF2-40B4-BE49-F238E27FC236}">
                  <a16:creationId xmlns:a16="http://schemas.microsoft.com/office/drawing/2014/main" id="{CC1E937B-701C-4200-B274-41671BF6BA5C}"/>
                </a:ext>
              </a:extLst>
            </p:cNvPr>
            <p:cNvSpPr/>
            <p:nvPr/>
          </p:nvSpPr>
          <p:spPr>
            <a:xfrm rot="12307085">
              <a:off x="7830605" y="1122334"/>
              <a:ext cx="257358" cy="663559"/>
            </a:xfrm>
            <a:prstGeom prst="triangle">
              <a:avLst>
                <a:gd name="adj" fmla="val 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文字方塊 33">
              <a:extLst>
                <a:ext uri="{FF2B5EF4-FFF2-40B4-BE49-F238E27FC236}">
                  <a16:creationId xmlns:a16="http://schemas.microsoft.com/office/drawing/2014/main" id="{54B60C3C-5E96-277F-992A-DEB20CD3172E}"/>
                </a:ext>
              </a:extLst>
            </p:cNvPr>
            <p:cNvSpPr txBox="1"/>
            <p:nvPr/>
          </p:nvSpPr>
          <p:spPr>
            <a:xfrm>
              <a:off x="7205224" y="697168"/>
              <a:ext cx="1614926" cy="511164"/>
            </a:xfrm>
            <a:prstGeom prst="rect">
              <a:avLst/>
            </a:prstGeom>
            <a:solidFill>
              <a:schemeClr val="accent2">
                <a:lumMod val="20000"/>
                <a:lumOff val="80000"/>
              </a:schemeClr>
            </a:solidFill>
          </p:spPr>
          <p:txBody>
            <a:bodyPr wrap="none" lIns="0" tIns="0" rIns="0" bIns="0" rtlCol="0">
              <a:noAutofit/>
            </a:bodyPr>
            <a:lstStyle/>
            <a:p>
              <a:r>
                <a:rPr lang="en-US" altLang="zh-TW" sz="1400" b="1" dirty="0"/>
                <a:t>  Place the</a:t>
              </a:r>
            </a:p>
            <a:p>
              <a:r>
                <a:rPr lang="en-US" altLang="zh-TW" sz="1400" b="1" dirty="0"/>
                <a:t>  </a:t>
              </a:r>
              <a:r>
                <a:rPr lang="en-US" altLang="zh-TW" sz="1400" b="1" dirty="0" err="1"/>
                <a:t>tflite</a:t>
              </a:r>
              <a:r>
                <a:rPr lang="en-US" altLang="zh-TW" sz="1400" b="1" dirty="0"/>
                <a:t> model</a:t>
              </a:r>
              <a:endParaRPr lang="zh-TW" altLang="en-US" sz="1400" b="1" dirty="0"/>
            </a:p>
          </p:txBody>
        </p:sp>
      </p:grpSp>
      <p:grpSp>
        <p:nvGrpSpPr>
          <p:cNvPr id="42" name="群組 41">
            <a:extLst>
              <a:ext uri="{FF2B5EF4-FFF2-40B4-BE49-F238E27FC236}">
                <a16:creationId xmlns:a16="http://schemas.microsoft.com/office/drawing/2014/main" id="{A2780C17-D1C2-2BDA-1770-811DB7EAC925}"/>
              </a:ext>
            </a:extLst>
          </p:cNvPr>
          <p:cNvGrpSpPr/>
          <p:nvPr/>
        </p:nvGrpSpPr>
        <p:grpSpPr>
          <a:xfrm>
            <a:off x="6761710" y="2308788"/>
            <a:ext cx="2066816" cy="511164"/>
            <a:chOff x="6761710" y="2308788"/>
            <a:chExt cx="2066816" cy="511164"/>
          </a:xfrm>
        </p:grpSpPr>
        <p:sp>
          <p:nvSpPr>
            <p:cNvPr id="41" name="等腰三角形 40">
              <a:extLst>
                <a:ext uri="{FF2B5EF4-FFF2-40B4-BE49-F238E27FC236}">
                  <a16:creationId xmlns:a16="http://schemas.microsoft.com/office/drawing/2014/main" id="{B3150FE9-34FE-4EBC-4CC8-7506C9882FA3}"/>
                </a:ext>
              </a:extLst>
            </p:cNvPr>
            <p:cNvSpPr/>
            <p:nvPr/>
          </p:nvSpPr>
          <p:spPr>
            <a:xfrm rot="15970789">
              <a:off x="6925015" y="2291784"/>
              <a:ext cx="176174" cy="502783"/>
            </a:xfrm>
            <a:prstGeom prst="triangle">
              <a:avLst>
                <a:gd name="adj" fmla="val 601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文字方塊 34">
              <a:extLst>
                <a:ext uri="{FF2B5EF4-FFF2-40B4-BE49-F238E27FC236}">
                  <a16:creationId xmlns:a16="http://schemas.microsoft.com/office/drawing/2014/main" id="{BBC30E79-353E-4B3B-A968-8EAE5264443E}"/>
                </a:ext>
              </a:extLst>
            </p:cNvPr>
            <p:cNvSpPr txBox="1"/>
            <p:nvPr/>
          </p:nvSpPr>
          <p:spPr>
            <a:xfrm>
              <a:off x="7213600" y="2308788"/>
              <a:ext cx="1614926" cy="511164"/>
            </a:xfrm>
            <a:prstGeom prst="rect">
              <a:avLst/>
            </a:prstGeom>
            <a:solidFill>
              <a:schemeClr val="accent2">
                <a:lumMod val="20000"/>
                <a:lumOff val="80000"/>
              </a:schemeClr>
            </a:solidFill>
          </p:spPr>
          <p:txBody>
            <a:bodyPr wrap="none" lIns="0" tIns="0" rIns="0" bIns="0" rtlCol="0">
              <a:noAutofit/>
            </a:bodyPr>
            <a:lstStyle/>
            <a:p>
              <a:r>
                <a:rPr lang="en-US" altLang="zh-TW" sz="1400" b="1" dirty="0"/>
                <a:t>  Place the model</a:t>
              </a:r>
            </a:p>
            <a:p>
              <a:r>
                <a:rPr lang="en-US" altLang="zh-TW" sz="1400" b="1" dirty="0"/>
                <a:t>  test code</a:t>
              </a:r>
              <a:endParaRPr lang="zh-TW" altLang="en-US" sz="1400" b="1" dirty="0"/>
            </a:p>
          </p:txBody>
        </p:sp>
      </p:grpSp>
      <p:grpSp>
        <p:nvGrpSpPr>
          <p:cNvPr id="44" name="群組 43">
            <a:extLst>
              <a:ext uri="{FF2B5EF4-FFF2-40B4-BE49-F238E27FC236}">
                <a16:creationId xmlns:a16="http://schemas.microsoft.com/office/drawing/2014/main" id="{54CD00C5-5C7C-E461-1450-369C2D46F602}"/>
              </a:ext>
            </a:extLst>
          </p:cNvPr>
          <p:cNvGrpSpPr/>
          <p:nvPr/>
        </p:nvGrpSpPr>
        <p:grpSpPr>
          <a:xfrm>
            <a:off x="6761710" y="2990262"/>
            <a:ext cx="2220162" cy="511164"/>
            <a:chOff x="6761710" y="2990262"/>
            <a:chExt cx="2220162" cy="511164"/>
          </a:xfrm>
        </p:grpSpPr>
        <p:sp>
          <p:nvSpPr>
            <p:cNvPr id="43" name="等腰三角形 42">
              <a:extLst>
                <a:ext uri="{FF2B5EF4-FFF2-40B4-BE49-F238E27FC236}">
                  <a16:creationId xmlns:a16="http://schemas.microsoft.com/office/drawing/2014/main" id="{F2E8AF57-07AC-D563-9B17-D5610FBC4BD7}"/>
                </a:ext>
              </a:extLst>
            </p:cNvPr>
            <p:cNvSpPr/>
            <p:nvPr/>
          </p:nvSpPr>
          <p:spPr>
            <a:xfrm rot="16200000">
              <a:off x="6925015" y="2907278"/>
              <a:ext cx="176174" cy="502783"/>
            </a:xfrm>
            <a:prstGeom prst="triangle">
              <a:avLst>
                <a:gd name="adj" fmla="val 60167"/>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6" name="文字方塊 35">
              <a:extLst>
                <a:ext uri="{FF2B5EF4-FFF2-40B4-BE49-F238E27FC236}">
                  <a16:creationId xmlns:a16="http://schemas.microsoft.com/office/drawing/2014/main" id="{A85FEC76-C4CB-3036-A283-6B01ADAE1100}"/>
                </a:ext>
              </a:extLst>
            </p:cNvPr>
            <p:cNvSpPr txBox="1"/>
            <p:nvPr/>
          </p:nvSpPr>
          <p:spPr>
            <a:xfrm>
              <a:off x="7205224" y="2990262"/>
              <a:ext cx="1776648" cy="511164"/>
            </a:xfrm>
            <a:prstGeom prst="rect">
              <a:avLst/>
            </a:prstGeom>
            <a:solidFill>
              <a:schemeClr val="accent2">
                <a:lumMod val="20000"/>
                <a:lumOff val="80000"/>
              </a:schemeClr>
            </a:solidFill>
          </p:spPr>
          <p:txBody>
            <a:bodyPr wrap="none" lIns="0" tIns="0" rIns="0" bIns="0" rtlCol="0">
              <a:noAutofit/>
            </a:bodyPr>
            <a:lstStyle/>
            <a:p>
              <a:r>
                <a:rPr lang="en-US" altLang="zh-TW" sz="1400" b="1" dirty="0"/>
                <a:t>  NNE APIs supported</a:t>
              </a:r>
            </a:p>
            <a:p>
              <a:r>
                <a:rPr lang="en-US" altLang="zh-TW" sz="1400" b="1" dirty="0"/>
                <a:t>  by MTK</a:t>
              </a:r>
              <a:endParaRPr lang="zh-TW" altLang="en-US" sz="1400" b="1" dirty="0"/>
            </a:p>
          </p:txBody>
        </p:sp>
      </p:grpSp>
    </p:spTree>
    <p:extLst>
      <p:ext uri="{BB962C8B-B14F-4D97-AF65-F5344CB8AC3E}">
        <p14:creationId xmlns:p14="http://schemas.microsoft.com/office/powerpoint/2010/main" val="2644981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a:extLst>
              <a:ext uri="{FF2B5EF4-FFF2-40B4-BE49-F238E27FC236}">
                <a16:creationId xmlns:a16="http://schemas.microsoft.com/office/drawing/2014/main" id="{719ACB8F-16A7-403D-BC84-A10AB2326B16}"/>
              </a:ext>
            </a:extLst>
          </p:cNvPr>
          <p:cNvSpPr/>
          <p:nvPr/>
        </p:nvSpPr>
        <p:spPr>
          <a:xfrm>
            <a:off x="0" y="978780"/>
            <a:ext cx="9144000" cy="3223387"/>
          </a:xfrm>
          <a:prstGeom prst="rect">
            <a:avLst/>
          </a:prstGeom>
          <a:solidFill>
            <a:srgbClr val="FFEA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1" name="矩形 80">
            <a:extLst>
              <a:ext uri="{FF2B5EF4-FFF2-40B4-BE49-F238E27FC236}">
                <a16:creationId xmlns:a16="http://schemas.microsoft.com/office/drawing/2014/main" id="{9F11C780-FD24-466C-8D06-E505558FEE4F}"/>
              </a:ext>
            </a:extLst>
          </p:cNvPr>
          <p:cNvSpPr/>
          <p:nvPr/>
        </p:nvSpPr>
        <p:spPr>
          <a:xfrm>
            <a:off x="7371041" y="1223620"/>
            <a:ext cx="1731669" cy="69592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a:extLst>
              <a:ext uri="{FF2B5EF4-FFF2-40B4-BE49-F238E27FC236}">
                <a16:creationId xmlns:a16="http://schemas.microsoft.com/office/drawing/2014/main" id="{A2DC84AB-E142-470E-8FBC-236382CAAAC4}"/>
              </a:ext>
            </a:extLst>
          </p:cNvPr>
          <p:cNvSpPr/>
          <p:nvPr/>
        </p:nvSpPr>
        <p:spPr>
          <a:xfrm>
            <a:off x="3967267" y="1919542"/>
            <a:ext cx="5135450" cy="1475781"/>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投影片編號版面配置區 1">
            <a:extLst>
              <a:ext uri="{FF2B5EF4-FFF2-40B4-BE49-F238E27FC236}">
                <a16:creationId xmlns:a16="http://schemas.microsoft.com/office/drawing/2014/main" id="{5BD4190D-2C67-4AF8-8D65-1DBF872B1945}"/>
              </a:ext>
            </a:extLst>
          </p:cNvPr>
          <p:cNvSpPr>
            <a:spLocks noGrp="1"/>
          </p:cNvSpPr>
          <p:nvPr>
            <p:ph type="sldNum" sz="quarter" idx="4"/>
          </p:nvPr>
        </p:nvSpPr>
        <p:spPr/>
        <p:txBody>
          <a:bodyPr/>
          <a:lstStyle/>
          <a:p>
            <a:fld id="{0AEF9A4B-07C9-404C-9053-A3A2AC3AD5D6}" type="slidenum">
              <a:rPr lang="en-GB" smtClean="0"/>
              <a:pPr/>
              <a:t>5</a:t>
            </a:fld>
            <a:endParaRPr lang="en-GB" dirty="0"/>
          </a:p>
        </p:txBody>
      </p:sp>
      <p:sp>
        <p:nvSpPr>
          <p:cNvPr id="4" name="標題 3">
            <a:extLst>
              <a:ext uri="{FF2B5EF4-FFF2-40B4-BE49-F238E27FC236}">
                <a16:creationId xmlns:a16="http://schemas.microsoft.com/office/drawing/2014/main" id="{06CD9563-D431-413F-8EE2-E264DFFF149C}"/>
              </a:ext>
            </a:extLst>
          </p:cNvPr>
          <p:cNvSpPr>
            <a:spLocks noGrp="1"/>
          </p:cNvSpPr>
          <p:nvPr>
            <p:ph type="title"/>
          </p:nvPr>
        </p:nvSpPr>
        <p:spPr/>
        <p:txBody>
          <a:bodyPr/>
          <a:lstStyle/>
          <a:p>
            <a:r>
              <a:rPr lang="en-US" altLang="zh-TW" dirty="0"/>
              <a:t>HiFi5 Structure with NNE</a:t>
            </a:r>
            <a:endParaRPr lang="zh-TW" altLang="en-US" dirty="0"/>
          </a:p>
        </p:txBody>
      </p:sp>
      <p:sp>
        <p:nvSpPr>
          <p:cNvPr id="43" name="矩形 42">
            <a:extLst>
              <a:ext uri="{FF2B5EF4-FFF2-40B4-BE49-F238E27FC236}">
                <a16:creationId xmlns:a16="http://schemas.microsoft.com/office/drawing/2014/main" id="{D8885E5A-1E1C-4959-963F-E4B84486BFF0}"/>
              </a:ext>
            </a:extLst>
          </p:cNvPr>
          <p:cNvSpPr/>
          <p:nvPr/>
        </p:nvSpPr>
        <p:spPr>
          <a:xfrm>
            <a:off x="7630029" y="2153217"/>
            <a:ext cx="1145334" cy="920978"/>
          </a:xfrm>
          <a:prstGeom prst="rect">
            <a:avLst/>
          </a:prstGeom>
          <a:solidFill>
            <a:srgbClr val="8CDFFF"/>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NNE</a:t>
            </a:r>
            <a:endParaRPr lang="zh-TW" altLang="en-US" dirty="0">
              <a:solidFill>
                <a:srgbClr val="FF0000"/>
              </a:solidFill>
            </a:endParaRPr>
          </a:p>
        </p:txBody>
      </p:sp>
      <p:cxnSp>
        <p:nvCxnSpPr>
          <p:cNvPr id="53" name="直線接點 52">
            <a:extLst>
              <a:ext uri="{FF2B5EF4-FFF2-40B4-BE49-F238E27FC236}">
                <a16:creationId xmlns:a16="http://schemas.microsoft.com/office/drawing/2014/main" id="{36ABCB8F-6412-4D22-9683-B932FD433A87}"/>
              </a:ext>
            </a:extLst>
          </p:cNvPr>
          <p:cNvCxnSpPr>
            <a:cxnSpLocks/>
          </p:cNvCxnSpPr>
          <p:nvPr/>
        </p:nvCxnSpPr>
        <p:spPr>
          <a:xfrm>
            <a:off x="5191608" y="1982165"/>
            <a:ext cx="2675822" cy="1"/>
          </a:xfrm>
          <a:prstGeom prst="line">
            <a:avLst/>
          </a:prstGeom>
          <a:ln w="19050">
            <a:solidFill>
              <a:srgbClr val="2287A5"/>
            </a:solidFill>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C7BAA457-AF65-4C85-B5BB-88BF948F47A9}"/>
              </a:ext>
            </a:extLst>
          </p:cNvPr>
          <p:cNvCxnSpPr>
            <a:cxnSpLocks/>
          </p:cNvCxnSpPr>
          <p:nvPr/>
        </p:nvCxnSpPr>
        <p:spPr>
          <a:xfrm>
            <a:off x="7867430" y="1970272"/>
            <a:ext cx="0" cy="177654"/>
          </a:xfrm>
          <a:prstGeom prst="straightConnector1">
            <a:avLst/>
          </a:prstGeom>
          <a:ln w="19050">
            <a:solidFill>
              <a:srgbClr val="2287A5"/>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D73DF320-0244-43CD-8037-CF8BA4532B03}"/>
              </a:ext>
            </a:extLst>
          </p:cNvPr>
          <p:cNvCxnSpPr>
            <a:cxnSpLocks/>
          </p:cNvCxnSpPr>
          <p:nvPr/>
        </p:nvCxnSpPr>
        <p:spPr>
          <a:xfrm>
            <a:off x="4407403" y="3248775"/>
            <a:ext cx="4147200" cy="8871"/>
          </a:xfrm>
          <a:prstGeom prst="line">
            <a:avLst/>
          </a:prstGeom>
          <a:ln w="19050">
            <a:solidFill>
              <a:srgbClr val="2287A5"/>
            </a:solidFill>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65416932-DCF6-4CCE-B47F-9A0453FDC54D}"/>
              </a:ext>
            </a:extLst>
          </p:cNvPr>
          <p:cNvCxnSpPr>
            <a:cxnSpLocks/>
          </p:cNvCxnSpPr>
          <p:nvPr/>
        </p:nvCxnSpPr>
        <p:spPr>
          <a:xfrm flipV="1">
            <a:off x="7855763" y="3061274"/>
            <a:ext cx="0" cy="187501"/>
          </a:xfrm>
          <a:prstGeom prst="straightConnector1">
            <a:avLst/>
          </a:prstGeom>
          <a:ln w="19050">
            <a:solidFill>
              <a:srgbClr val="2287A5"/>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04966C73-43F8-4DD3-A60E-E7005A6CF5AE}"/>
              </a:ext>
            </a:extLst>
          </p:cNvPr>
          <p:cNvCxnSpPr>
            <a:cxnSpLocks/>
          </p:cNvCxnSpPr>
          <p:nvPr/>
        </p:nvCxnSpPr>
        <p:spPr>
          <a:xfrm flipV="1">
            <a:off x="8542339" y="3067086"/>
            <a:ext cx="0" cy="187501"/>
          </a:xfrm>
          <a:prstGeom prst="straightConnector1">
            <a:avLst/>
          </a:prstGeom>
          <a:ln w="19050">
            <a:solidFill>
              <a:srgbClr val="2287A5"/>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2DFBA8FD-F24E-4E38-9B97-89613B473DEF}"/>
              </a:ext>
            </a:extLst>
          </p:cNvPr>
          <p:cNvSpPr/>
          <p:nvPr/>
        </p:nvSpPr>
        <p:spPr>
          <a:xfrm>
            <a:off x="4964651" y="3423252"/>
            <a:ext cx="835459" cy="46049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I-Cache</a:t>
            </a:r>
          </a:p>
          <a:p>
            <a:pPr algn="ctr"/>
            <a:r>
              <a:rPr lang="en-US" altLang="zh-TW" sz="1200" dirty="0">
                <a:solidFill>
                  <a:sysClr val="windowText" lastClr="000000"/>
                </a:solidFill>
              </a:rPr>
              <a:t>64 KB</a:t>
            </a:r>
            <a:endParaRPr lang="zh-TW" altLang="en-US" sz="1200" dirty="0">
              <a:solidFill>
                <a:sysClr val="windowText" lastClr="000000"/>
              </a:solidFill>
            </a:endParaRPr>
          </a:p>
        </p:txBody>
      </p:sp>
      <p:sp>
        <p:nvSpPr>
          <p:cNvPr id="11" name="矩形 10">
            <a:extLst>
              <a:ext uri="{FF2B5EF4-FFF2-40B4-BE49-F238E27FC236}">
                <a16:creationId xmlns:a16="http://schemas.microsoft.com/office/drawing/2014/main" id="{52F6E692-2750-4ACB-9AC2-0E09235EB7A7}"/>
              </a:ext>
            </a:extLst>
          </p:cNvPr>
          <p:cNvSpPr/>
          <p:nvPr/>
        </p:nvSpPr>
        <p:spPr>
          <a:xfrm>
            <a:off x="3967267" y="3423252"/>
            <a:ext cx="835459" cy="46049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D-Cache</a:t>
            </a:r>
          </a:p>
          <a:p>
            <a:pPr algn="ctr"/>
            <a:r>
              <a:rPr lang="en-US" altLang="zh-TW" sz="1200" dirty="0">
                <a:solidFill>
                  <a:sysClr val="windowText" lastClr="000000"/>
                </a:solidFill>
              </a:rPr>
              <a:t>128 KB</a:t>
            </a:r>
            <a:endParaRPr lang="zh-TW" altLang="en-US" sz="1200" dirty="0">
              <a:solidFill>
                <a:sysClr val="windowText" lastClr="000000"/>
              </a:solidFill>
            </a:endParaRPr>
          </a:p>
        </p:txBody>
      </p:sp>
      <p:sp>
        <p:nvSpPr>
          <p:cNvPr id="12" name="矩形 11">
            <a:extLst>
              <a:ext uri="{FF2B5EF4-FFF2-40B4-BE49-F238E27FC236}">
                <a16:creationId xmlns:a16="http://schemas.microsoft.com/office/drawing/2014/main" id="{8CADFE81-9683-4A3B-9E92-80E5599D6DD7}"/>
              </a:ext>
            </a:extLst>
          </p:cNvPr>
          <p:cNvSpPr/>
          <p:nvPr/>
        </p:nvSpPr>
        <p:spPr>
          <a:xfrm>
            <a:off x="1722759" y="3423252"/>
            <a:ext cx="835459" cy="46049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D-Cache</a:t>
            </a:r>
          </a:p>
          <a:p>
            <a:pPr algn="ctr"/>
            <a:r>
              <a:rPr lang="en-US" altLang="zh-TW" sz="1200" dirty="0">
                <a:solidFill>
                  <a:sysClr val="windowText" lastClr="000000"/>
                </a:solidFill>
              </a:rPr>
              <a:t>128 KB</a:t>
            </a:r>
            <a:endParaRPr lang="zh-TW" altLang="en-US" sz="1200" dirty="0">
              <a:solidFill>
                <a:sysClr val="windowText" lastClr="000000"/>
              </a:solidFill>
            </a:endParaRPr>
          </a:p>
        </p:txBody>
      </p:sp>
      <p:sp>
        <p:nvSpPr>
          <p:cNvPr id="13" name="矩形 12">
            <a:extLst>
              <a:ext uri="{FF2B5EF4-FFF2-40B4-BE49-F238E27FC236}">
                <a16:creationId xmlns:a16="http://schemas.microsoft.com/office/drawing/2014/main" id="{9B498591-C478-4394-90AC-041C8E35F1DA}"/>
              </a:ext>
            </a:extLst>
          </p:cNvPr>
          <p:cNvSpPr/>
          <p:nvPr/>
        </p:nvSpPr>
        <p:spPr>
          <a:xfrm>
            <a:off x="2720143" y="3424348"/>
            <a:ext cx="835459" cy="46049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I-Cache</a:t>
            </a:r>
          </a:p>
          <a:p>
            <a:pPr algn="ctr"/>
            <a:r>
              <a:rPr lang="en-US" altLang="zh-TW" sz="1200" dirty="0">
                <a:solidFill>
                  <a:sysClr val="windowText" lastClr="000000"/>
                </a:solidFill>
              </a:rPr>
              <a:t>64 KB</a:t>
            </a:r>
            <a:endParaRPr lang="zh-TW" altLang="en-US" sz="1200" dirty="0">
              <a:solidFill>
                <a:sysClr val="windowText" lastClr="000000"/>
              </a:solidFill>
            </a:endParaRPr>
          </a:p>
        </p:txBody>
      </p:sp>
      <p:sp>
        <p:nvSpPr>
          <p:cNvPr id="14" name="矩形 13">
            <a:extLst>
              <a:ext uri="{FF2B5EF4-FFF2-40B4-BE49-F238E27FC236}">
                <a16:creationId xmlns:a16="http://schemas.microsoft.com/office/drawing/2014/main" id="{3E769870-6D08-43DE-9AF5-54593C231943}"/>
              </a:ext>
            </a:extLst>
          </p:cNvPr>
          <p:cNvSpPr/>
          <p:nvPr/>
        </p:nvSpPr>
        <p:spPr>
          <a:xfrm>
            <a:off x="1438619" y="1348566"/>
            <a:ext cx="4696990" cy="453911"/>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ysClr val="windowText" lastClr="000000"/>
                </a:solidFill>
              </a:rPr>
              <a:t>L2TCM</a:t>
            </a:r>
          </a:p>
          <a:p>
            <a:pPr algn="ctr"/>
            <a:r>
              <a:rPr lang="en-US" altLang="zh-TW" sz="1000" dirty="0">
                <a:solidFill>
                  <a:sysClr val="windowText" lastClr="000000"/>
                </a:solidFill>
              </a:rPr>
              <a:t>768 KB</a:t>
            </a:r>
            <a:endParaRPr lang="zh-TW" altLang="en-US" sz="1000" dirty="0">
              <a:solidFill>
                <a:sysClr val="windowText" lastClr="000000"/>
              </a:solidFill>
            </a:endParaRPr>
          </a:p>
        </p:txBody>
      </p:sp>
      <p:sp>
        <p:nvSpPr>
          <p:cNvPr id="15" name="矩形 14">
            <a:extLst>
              <a:ext uri="{FF2B5EF4-FFF2-40B4-BE49-F238E27FC236}">
                <a16:creationId xmlns:a16="http://schemas.microsoft.com/office/drawing/2014/main" id="{69192A3A-222A-4A39-8069-0DC05A1F9E10}"/>
              </a:ext>
            </a:extLst>
          </p:cNvPr>
          <p:cNvSpPr/>
          <p:nvPr/>
        </p:nvSpPr>
        <p:spPr>
          <a:xfrm>
            <a:off x="1458353" y="2128494"/>
            <a:ext cx="1835379" cy="920978"/>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HiFi5 DSP </a:t>
            </a:r>
            <a:r>
              <a:rPr lang="en-US" altLang="zh-TW" dirty="0" err="1">
                <a:solidFill>
                  <a:sysClr val="windowText" lastClr="000000"/>
                </a:solidFill>
              </a:rPr>
              <a:t>CoreA</a:t>
            </a:r>
            <a:endParaRPr lang="zh-TW" altLang="en-US" dirty="0">
              <a:solidFill>
                <a:sysClr val="windowText" lastClr="000000"/>
              </a:solidFill>
            </a:endParaRPr>
          </a:p>
        </p:txBody>
      </p:sp>
      <p:sp>
        <p:nvSpPr>
          <p:cNvPr id="16" name="矩形 15">
            <a:extLst>
              <a:ext uri="{FF2B5EF4-FFF2-40B4-BE49-F238E27FC236}">
                <a16:creationId xmlns:a16="http://schemas.microsoft.com/office/drawing/2014/main" id="{21FB9DD7-8B94-460D-8F01-A35E80D14E0D}"/>
              </a:ext>
            </a:extLst>
          </p:cNvPr>
          <p:cNvSpPr/>
          <p:nvPr/>
        </p:nvSpPr>
        <p:spPr>
          <a:xfrm>
            <a:off x="4273918" y="2161852"/>
            <a:ext cx="1835379" cy="920978"/>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HiFi5 DSP </a:t>
            </a:r>
            <a:r>
              <a:rPr lang="en-US" altLang="zh-TW" dirty="0" err="1">
                <a:solidFill>
                  <a:sysClr val="windowText" lastClr="000000"/>
                </a:solidFill>
              </a:rPr>
              <a:t>Core</a:t>
            </a:r>
            <a:r>
              <a:rPr lang="en-US" altLang="zh-TW" dirty="0" err="1">
                <a:solidFill>
                  <a:srgbClr val="FF0000"/>
                </a:solidFill>
              </a:rPr>
              <a:t>B</a:t>
            </a:r>
            <a:endParaRPr lang="zh-TW" altLang="en-US" dirty="0">
              <a:solidFill>
                <a:srgbClr val="FF0000"/>
              </a:solidFill>
            </a:endParaRPr>
          </a:p>
        </p:txBody>
      </p:sp>
      <p:sp>
        <p:nvSpPr>
          <p:cNvPr id="17" name="矩形 16">
            <a:extLst>
              <a:ext uri="{FF2B5EF4-FFF2-40B4-BE49-F238E27FC236}">
                <a16:creationId xmlns:a16="http://schemas.microsoft.com/office/drawing/2014/main" id="{8C627003-AF2A-4BB0-BDC8-A28A481087B2}"/>
              </a:ext>
            </a:extLst>
          </p:cNvPr>
          <p:cNvSpPr/>
          <p:nvPr/>
        </p:nvSpPr>
        <p:spPr>
          <a:xfrm>
            <a:off x="5724685" y="3014789"/>
            <a:ext cx="743361" cy="343950"/>
          </a:xfrm>
          <a:prstGeom prst="rect">
            <a:avLst/>
          </a:prstGeom>
          <a:solidFill>
            <a:srgbClr val="C2E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NN:</a:t>
            </a:r>
          </a:p>
          <a:p>
            <a:pPr algn="ctr"/>
            <a:r>
              <a:rPr lang="en-US" altLang="zh-TW" sz="1200" dirty="0">
                <a:solidFill>
                  <a:sysClr val="windowText" lastClr="000000"/>
                </a:solidFill>
              </a:rPr>
              <a:t>32 8x8</a:t>
            </a:r>
            <a:endParaRPr lang="zh-TW" altLang="en-US" sz="1200" dirty="0">
              <a:solidFill>
                <a:sysClr val="windowText" lastClr="000000"/>
              </a:solidFill>
            </a:endParaRPr>
          </a:p>
        </p:txBody>
      </p:sp>
      <p:sp>
        <p:nvSpPr>
          <p:cNvPr id="18" name="矩形 17">
            <a:extLst>
              <a:ext uri="{FF2B5EF4-FFF2-40B4-BE49-F238E27FC236}">
                <a16:creationId xmlns:a16="http://schemas.microsoft.com/office/drawing/2014/main" id="{31A3F9CF-7BE0-4018-A08F-423789FC7CCB}"/>
              </a:ext>
            </a:extLst>
          </p:cNvPr>
          <p:cNvSpPr/>
          <p:nvPr/>
        </p:nvSpPr>
        <p:spPr>
          <a:xfrm>
            <a:off x="1206166" y="2966710"/>
            <a:ext cx="743361" cy="343950"/>
          </a:xfrm>
          <a:prstGeom prst="rect">
            <a:avLst/>
          </a:prstGeom>
          <a:solidFill>
            <a:srgbClr val="C2E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NN:</a:t>
            </a:r>
          </a:p>
          <a:p>
            <a:pPr algn="ctr"/>
            <a:r>
              <a:rPr lang="en-US" altLang="zh-TW" sz="1200" dirty="0">
                <a:solidFill>
                  <a:sysClr val="windowText" lastClr="000000"/>
                </a:solidFill>
              </a:rPr>
              <a:t>32 8x8</a:t>
            </a:r>
            <a:endParaRPr lang="zh-TW" altLang="en-US" sz="1200" dirty="0">
              <a:solidFill>
                <a:sysClr val="windowText" lastClr="000000"/>
              </a:solidFill>
            </a:endParaRPr>
          </a:p>
        </p:txBody>
      </p:sp>
      <p:sp>
        <p:nvSpPr>
          <p:cNvPr id="19" name="矩形 18">
            <a:extLst>
              <a:ext uri="{FF2B5EF4-FFF2-40B4-BE49-F238E27FC236}">
                <a16:creationId xmlns:a16="http://schemas.microsoft.com/office/drawing/2014/main" id="{8E0F38FA-83C5-4A83-9641-9E0A904138B6}"/>
              </a:ext>
            </a:extLst>
          </p:cNvPr>
          <p:cNvSpPr/>
          <p:nvPr/>
        </p:nvSpPr>
        <p:spPr>
          <a:xfrm>
            <a:off x="6477687" y="2160197"/>
            <a:ext cx="835459" cy="41444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I-TCM</a:t>
            </a:r>
          </a:p>
          <a:p>
            <a:pPr algn="ctr"/>
            <a:r>
              <a:rPr lang="en-US" altLang="zh-TW" sz="1200" dirty="0">
                <a:solidFill>
                  <a:sysClr val="windowText" lastClr="000000"/>
                </a:solidFill>
              </a:rPr>
              <a:t>32 KB</a:t>
            </a:r>
            <a:endParaRPr lang="zh-TW" altLang="en-US" sz="1200" dirty="0">
              <a:solidFill>
                <a:sysClr val="windowText" lastClr="000000"/>
              </a:solidFill>
            </a:endParaRPr>
          </a:p>
        </p:txBody>
      </p:sp>
      <p:sp>
        <p:nvSpPr>
          <p:cNvPr id="20" name="矩形 19">
            <a:extLst>
              <a:ext uri="{FF2B5EF4-FFF2-40B4-BE49-F238E27FC236}">
                <a16:creationId xmlns:a16="http://schemas.microsoft.com/office/drawing/2014/main" id="{EC12889E-1F11-498D-882A-A11CA25F4D80}"/>
              </a:ext>
            </a:extLst>
          </p:cNvPr>
          <p:cNvSpPr/>
          <p:nvPr/>
        </p:nvSpPr>
        <p:spPr>
          <a:xfrm>
            <a:off x="276200" y="2153217"/>
            <a:ext cx="835459" cy="41444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I-TCM</a:t>
            </a:r>
          </a:p>
          <a:p>
            <a:pPr algn="ctr"/>
            <a:r>
              <a:rPr lang="en-US" altLang="zh-TW" sz="1200" dirty="0">
                <a:solidFill>
                  <a:sysClr val="windowText" lastClr="000000"/>
                </a:solidFill>
              </a:rPr>
              <a:t>32 KB</a:t>
            </a:r>
            <a:endParaRPr lang="zh-TW" altLang="en-US" sz="1200" dirty="0">
              <a:solidFill>
                <a:sysClr val="windowText" lastClr="000000"/>
              </a:solidFill>
            </a:endParaRPr>
          </a:p>
        </p:txBody>
      </p:sp>
      <p:sp>
        <p:nvSpPr>
          <p:cNvPr id="21" name="矩形 20">
            <a:extLst>
              <a:ext uri="{FF2B5EF4-FFF2-40B4-BE49-F238E27FC236}">
                <a16:creationId xmlns:a16="http://schemas.microsoft.com/office/drawing/2014/main" id="{A0456D7A-43C1-4408-9618-0A68BEB9D410}"/>
              </a:ext>
            </a:extLst>
          </p:cNvPr>
          <p:cNvSpPr/>
          <p:nvPr/>
        </p:nvSpPr>
        <p:spPr>
          <a:xfrm>
            <a:off x="275039" y="2654621"/>
            <a:ext cx="835459" cy="41444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D-TCM</a:t>
            </a:r>
          </a:p>
          <a:p>
            <a:pPr algn="ctr"/>
            <a:r>
              <a:rPr lang="en-US" altLang="zh-TW" sz="1200" dirty="0">
                <a:solidFill>
                  <a:sysClr val="windowText" lastClr="000000"/>
                </a:solidFill>
              </a:rPr>
              <a:t>36 KB</a:t>
            </a:r>
            <a:endParaRPr lang="zh-TW" altLang="en-US" sz="1200" dirty="0">
              <a:solidFill>
                <a:sysClr val="windowText" lastClr="000000"/>
              </a:solidFill>
            </a:endParaRPr>
          </a:p>
        </p:txBody>
      </p:sp>
      <p:sp>
        <p:nvSpPr>
          <p:cNvPr id="22" name="矩形 21">
            <a:extLst>
              <a:ext uri="{FF2B5EF4-FFF2-40B4-BE49-F238E27FC236}">
                <a16:creationId xmlns:a16="http://schemas.microsoft.com/office/drawing/2014/main" id="{B2DC4242-84F1-4F5F-9711-2D4E8A4AAB4E}"/>
              </a:ext>
            </a:extLst>
          </p:cNvPr>
          <p:cNvSpPr/>
          <p:nvPr/>
        </p:nvSpPr>
        <p:spPr>
          <a:xfrm>
            <a:off x="6477687" y="2678098"/>
            <a:ext cx="835459" cy="414440"/>
          </a:xfrm>
          <a:prstGeom prst="rect">
            <a:avLst/>
          </a:prstGeom>
          <a:solidFill>
            <a:srgbClr val="8C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ysClr val="windowText" lastClr="000000"/>
                </a:solidFill>
              </a:rPr>
              <a:t>D-TCM</a:t>
            </a:r>
          </a:p>
          <a:p>
            <a:pPr algn="ctr"/>
            <a:r>
              <a:rPr lang="en-US" altLang="zh-TW" sz="1200">
                <a:solidFill>
                  <a:sysClr val="windowText" lastClr="000000"/>
                </a:solidFill>
              </a:rPr>
              <a:t>64 </a:t>
            </a:r>
            <a:r>
              <a:rPr lang="en-US" altLang="zh-TW" sz="1200" dirty="0">
                <a:solidFill>
                  <a:sysClr val="windowText" lastClr="000000"/>
                </a:solidFill>
              </a:rPr>
              <a:t>KB</a:t>
            </a:r>
            <a:endParaRPr lang="zh-TW" altLang="en-US" sz="1200" dirty="0">
              <a:solidFill>
                <a:sysClr val="windowText" lastClr="000000"/>
              </a:solidFill>
            </a:endParaRPr>
          </a:p>
        </p:txBody>
      </p:sp>
      <p:cxnSp>
        <p:nvCxnSpPr>
          <p:cNvPr id="23" name="直線單箭頭接點 22">
            <a:extLst>
              <a:ext uri="{FF2B5EF4-FFF2-40B4-BE49-F238E27FC236}">
                <a16:creationId xmlns:a16="http://schemas.microsoft.com/office/drawing/2014/main" id="{28D8A6D7-6609-4B03-A706-C1157AEDF6B1}"/>
              </a:ext>
            </a:extLst>
          </p:cNvPr>
          <p:cNvCxnSpPr>
            <a:cxnSpLocks/>
            <a:endCxn id="16" idx="0"/>
          </p:cNvCxnSpPr>
          <p:nvPr/>
        </p:nvCxnSpPr>
        <p:spPr>
          <a:xfrm>
            <a:off x="5191608" y="1802477"/>
            <a:ext cx="0" cy="359375"/>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4" name="直線單箭頭接點 23">
            <a:extLst>
              <a:ext uri="{FF2B5EF4-FFF2-40B4-BE49-F238E27FC236}">
                <a16:creationId xmlns:a16="http://schemas.microsoft.com/office/drawing/2014/main" id="{DB271926-CFF8-4A57-BE75-C7AEBBE455FD}"/>
              </a:ext>
            </a:extLst>
          </p:cNvPr>
          <p:cNvCxnSpPr>
            <a:cxnSpLocks/>
          </p:cNvCxnSpPr>
          <p:nvPr/>
        </p:nvCxnSpPr>
        <p:spPr>
          <a:xfrm flipH="1">
            <a:off x="2369712" y="1802477"/>
            <a:ext cx="4587" cy="338871"/>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5" name="直線單箭頭接點 24">
            <a:extLst>
              <a:ext uri="{FF2B5EF4-FFF2-40B4-BE49-F238E27FC236}">
                <a16:creationId xmlns:a16="http://schemas.microsoft.com/office/drawing/2014/main" id="{854D8D95-4664-4CAF-A2E6-327B4E39C706}"/>
              </a:ext>
            </a:extLst>
          </p:cNvPr>
          <p:cNvCxnSpPr>
            <a:cxnSpLocks/>
          </p:cNvCxnSpPr>
          <p:nvPr/>
        </p:nvCxnSpPr>
        <p:spPr>
          <a:xfrm flipH="1">
            <a:off x="3161685" y="3056452"/>
            <a:ext cx="4587" cy="338871"/>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ED87213C-E6DC-4A92-9A5A-C9F7619D9F0D}"/>
              </a:ext>
            </a:extLst>
          </p:cNvPr>
          <p:cNvCxnSpPr>
            <a:cxnSpLocks/>
          </p:cNvCxnSpPr>
          <p:nvPr/>
        </p:nvCxnSpPr>
        <p:spPr>
          <a:xfrm flipH="1">
            <a:off x="2140269" y="3058631"/>
            <a:ext cx="4587" cy="338871"/>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7" name="直線單箭頭接點 26">
            <a:extLst>
              <a:ext uri="{FF2B5EF4-FFF2-40B4-BE49-F238E27FC236}">
                <a16:creationId xmlns:a16="http://schemas.microsoft.com/office/drawing/2014/main" id="{63F65976-D7DF-4A9A-A665-0FC5888E3058}"/>
              </a:ext>
            </a:extLst>
          </p:cNvPr>
          <p:cNvCxnSpPr>
            <a:cxnSpLocks/>
          </p:cNvCxnSpPr>
          <p:nvPr/>
        </p:nvCxnSpPr>
        <p:spPr>
          <a:xfrm flipH="1">
            <a:off x="4407404" y="3076362"/>
            <a:ext cx="4587" cy="338871"/>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8" name="直線單箭頭接點 27">
            <a:extLst>
              <a:ext uri="{FF2B5EF4-FFF2-40B4-BE49-F238E27FC236}">
                <a16:creationId xmlns:a16="http://schemas.microsoft.com/office/drawing/2014/main" id="{60B3E005-87DE-4C38-B6F5-2C51251A02E8}"/>
              </a:ext>
            </a:extLst>
          </p:cNvPr>
          <p:cNvCxnSpPr>
            <a:cxnSpLocks/>
          </p:cNvCxnSpPr>
          <p:nvPr/>
        </p:nvCxnSpPr>
        <p:spPr>
          <a:xfrm flipH="1">
            <a:off x="5399157" y="3082830"/>
            <a:ext cx="4587" cy="338871"/>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29" name="直線單箭頭接點 28">
            <a:extLst>
              <a:ext uri="{FF2B5EF4-FFF2-40B4-BE49-F238E27FC236}">
                <a16:creationId xmlns:a16="http://schemas.microsoft.com/office/drawing/2014/main" id="{EFB451C7-7FA4-481E-BC94-6A91F49DEFE8}"/>
              </a:ext>
            </a:extLst>
          </p:cNvPr>
          <p:cNvCxnSpPr>
            <a:cxnSpLocks/>
          </p:cNvCxnSpPr>
          <p:nvPr/>
        </p:nvCxnSpPr>
        <p:spPr>
          <a:xfrm>
            <a:off x="6100134" y="2360437"/>
            <a:ext cx="377553" cy="0"/>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0" name="直線單箭頭接點 29">
            <a:extLst>
              <a:ext uri="{FF2B5EF4-FFF2-40B4-BE49-F238E27FC236}">
                <a16:creationId xmlns:a16="http://schemas.microsoft.com/office/drawing/2014/main" id="{A397F1A8-0749-43B2-994D-C1F7DF6F63C2}"/>
              </a:ext>
            </a:extLst>
          </p:cNvPr>
          <p:cNvCxnSpPr>
            <a:cxnSpLocks/>
          </p:cNvCxnSpPr>
          <p:nvPr/>
        </p:nvCxnSpPr>
        <p:spPr>
          <a:xfrm>
            <a:off x="6100133" y="2874036"/>
            <a:ext cx="377553" cy="0"/>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1" name="直線單箭頭接點 30">
            <a:extLst>
              <a:ext uri="{FF2B5EF4-FFF2-40B4-BE49-F238E27FC236}">
                <a16:creationId xmlns:a16="http://schemas.microsoft.com/office/drawing/2014/main" id="{03DAC194-2E28-4BF2-82D1-FB1C954BBF94}"/>
              </a:ext>
            </a:extLst>
          </p:cNvPr>
          <p:cNvCxnSpPr>
            <a:cxnSpLocks/>
          </p:cNvCxnSpPr>
          <p:nvPr/>
        </p:nvCxnSpPr>
        <p:spPr>
          <a:xfrm>
            <a:off x="1110498" y="2346477"/>
            <a:ext cx="377553" cy="0"/>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2" name="直線單箭頭接點 31">
            <a:extLst>
              <a:ext uri="{FF2B5EF4-FFF2-40B4-BE49-F238E27FC236}">
                <a16:creationId xmlns:a16="http://schemas.microsoft.com/office/drawing/2014/main" id="{0044F31D-6084-44BB-8F72-B7CDE38E3807}"/>
              </a:ext>
            </a:extLst>
          </p:cNvPr>
          <p:cNvCxnSpPr>
            <a:cxnSpLocks/>
          </p:cNvCxnSpPr>
          <p:nvPr/>
        </p:nvCxnSpPr>
        <p:spPr>
          <a:xfrm>
            <a:off x="1103517" y="2867056"/>
            <a:ext cx="377553" cy="0"/>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3" name="直線單箭頭接點 32">
            <a:extLst>
              <a:ext uri="{FF2B5EF4-FFF2-40B4-BE49-F238E27FC236}">
                <a16:creationId xmlns:a16="http://schemas.microsoft.com/office/drawing/2014/main" id="{1BEEECD8-7D4B-4C5D-A286-F5E33EC68DB5}"/>
              </a:ext>
            </a:extLst>
          </p:cNvPr>
          <p:cNvCxnSpPr>
            <a:cxnSpLocks/>
          </p:cNvCxnSpPr>
          <p:nvPr/>
        </p:nvCxnSpPr>
        <p:spPr>
          <a:xfrm>
            <a:off x="2144856" y="3883742"/>
            <a:ext cx="0" cy="551843"/>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4" name="直線單箭頭接點 33">
            <a:extLst>
              <a:ext uri="{FF2B5EF4-FFF2-40B4-BE49-F238E27FC236}">
                <a16:creationId xmlns:a16="http://schemas.microsoft.com/office/drawing/2014/main" id="{B016B994-6A6C-48C4-8FDD-5DFCF9366AAC}"/>
              </a:ext>
            </a:extLst>
          </p:cNvPr>
          <p:cNvCxnSpPr>
            <a:cxnSpLocks/>
          </p:cNvCxnSpPr>
          <p:nvPr/>
        </p:nvCxnSpPr>
        <p:spPr>
          <a:xfrm>
            <a:off x="3166272" y="3883741"/>
            <a:ext cx="0" cy="551843"/>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5" name="直線單箭頭接點 34">
            <a:extLst>
              <a:ext uri="{FF2B5EF4-FFF2-40B4-BE49-F238E27FC236}">
                <a16:creationId xmlns:a16="http://schemas.microsoft.com/office/drawing/2014/main" id="{DCCCA958-83B8-42D9-83CE-A53789B815E2}"/>
              </a:ext>
            </a:extLst>
          </p:cNvPr>
          <p:cNvCxnSpPr>
            <a:cxnSpLocks/>
          </p:cNvCxnSpPr>
          <p:nvPr/>
        </p:nvCxnSpPr>
        <p:spPr>
          <a:xfrm>
            <a:off x="4421574" y="3884838"/>
            <a:ext cx="0" cy="551843"/>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cxnSp>
        <p:nvCxnSpPr>
          <p:cNvPr id="36" name="直線單箭頭接點 35">
            <a:extLst>
              <a:ext uri="{FF2B5EF4-FFF2-40B4-BE49-F238E27FC236}">
                <a16:creationId xmlns:a16="http://schemas.microsoft.com/office/drawing/2014/main" id="{47D7A8B8-0EA1-49CA-904C-6D5F72181DC3}"/>
              </a:ext>
            </a:extLst>
          </p:cNvPr>
          <p:cNvCxnSpPr>
            <a:cxnSpLocks/>
          </p:cNvCxnSpPr>
          <p:nvPr/>
        </p:nvCxnSpPr>
        <p:spPr>
          <a:xfrm>
            <a:off x="5403744" y="3883740"/>
            <a:ext cx="0" cy="551843"/>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sp>
        <p:nvSpPr>
          <p:cNvPr id="37" name="箭號: 左-右雙向 36">
            <a:extLst>
              <a:ext uri="{FF2B5EF4-FFF2-40B4-BE49-F238E27FC236}">
                <a16:creationId xmlns:a16="http://schemas.microsoft.com/office/drawing/2014/main" id="{96BA0255-5183-4625-93E8-177264C084C6}"/>
              </a:ext>
            </a:extLst>
          </p:cNvPr>
          <p:cNvSpPr/>
          <p:nvPr/>
        </p:nvSpPr>
        <p:spPr>
          <a:xfrm>
            <a:off x="636906" y="4311042"/>
            <a:ext cx="6198372" cy="513599"/>
          </a:xfrm>
          <a:prstGeom prst="leftRightArrow">
            <a:avLst/>
          </a:prstGeom>
          <a:solidFill>
            <a:srgbClr val="FFEA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Bus Interconnect</a:t>
            </a:r>
            <a:endParaRPr lang="zh-TW" altLang="en-US" dirty="0">
              <a:solidFill>
                <a:sysClr val="windowText" lastClr="000000"/>
              </a:solidFill>
            </a:endParaRPr>
          </a:p>
        </p:txBody>
      </p:sp>
      <p:cxnSp>
        <p:nvCxnSpPr>
          <p:cNvPr id="78" name="直線單箭頭接點 77">
            <a:extLst>
              <a:ext uri="{FF2B5EF4-FFF2-40B4-BE49-F238E27FC236}">
                <a16:creationId xmlns:a16="http://schemas.microsoft.com/office/drawing/2014/main" id="{F5139982-C493-4C2F-828B-4E06F98759A6}"/>
              </a:ext>
            </a:extLst>
          </p:cNvPr>
          <p:cNvCxnSpPr>
            <a:cxnSpLocks/>
          </p:cNvCxnSpPr>
          <p:nvPr/>
        </p:nvCxnSpPr>
        <p:spPr>
          <a:xfrm>
            <a:off x="8198890" y="1793842"/>
            <a:ext cx="0" cy="359375"/>
          </a:xfrm>
          <a:prstGeom prst="straightConnector1">
            <a:avLst/>
          </a:prstGeom>
          <a:ln w="19050">
            <a:solidFill>
              <a:srgbClr val="2287A5"/>
            </a:solidFill>
            <a:headEnd type="triangle"/>
            <a:tailEnd type="triangle"/>
          </a:ln>
        </p:spPr>
        <p:style>
          <a:lnRef idx="1">
            <a:schemeClr val="accent5"/>
          </a:lnRef>
          <a:fillRef idx="0">
            <a:schemeClr val="accent5"/>
          </a:fillRef>
          <a:effectRef idx="0">
            <a:schemeClr val="accent5"/>
          </a:effectRef>
          <a:fontRef idx="minor">
            <a:schemeClr val="tx1"/>
          </a:fontRef>
        </p:style>
      </p:cxnSp>
      <p:sp>
        <p:nvSpPr>
          <p:cNvPr id="82" name="矩形 81">
            <a:extLst>
              <a:ext uri="{FF2B5EF4-FFF2-40B4-BE49-F238E27FC236}">
                <a16:creationId xmlns:a16="http://schemas.microsoft.com/office/drawing/2014/main" id="{E54FFA14-18C6-4140-9889-44A51C5FA34E}"/>
              </a:ext>
            </a:extLst>
          </p:cNvPr>
          <p:cNvSpPr/>
          <p:nvPr/>
        </p:nvSpPr>
        <p:spPr>
          <a:xfrm>
            <a:off x="7781160" y="1386836"/>
            <a:ext cx="835459" cy="414440"/>
          </a:xfrm>
          <a:prstGeom prst="rect">
            <a:avLst/>
          </a:prstGeom>
          <a:solidFill>
            <a:srgbClr val="8CDFFF"/>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FF0000"/>
                </a:solidFill>
              </a:rPr>
              <a:t>UBUF</a:t>
            </a:r>
          </a:p>
          <a:p>
            <a:pPr algn="ctr"/>
            <a:r>
              <a:rPr lang="en-US" altLang="zh-TW" sz="1200" dirty="0">
                <a:solidFill>
                  <a:sysClr val="windowText" lastClr="000000"/>
                </a:solidFill>
              </a:rPr>
              <a:t>128 KB</a:t>
            </a:r>
            <a:endParaRPr lang="zh-TW" altLang="en-US" sz="1200" dirty="0">
              <a:solidFill>
                <a:sysClr val="windowText" lastClr="000000"/>
              </a:solidFill>
            </a:endParaRPr>
          </a:p>
        </p:txBody>
      </p:sp>
      <p:sp>
        <p:nvSpPr>
          <p:cNvPr id="47" name="文字方塊 46">
            <a:extLst>
              <a:ext uri="{FF2B5EF4-FFF2-40B4-BE49-F238E27FC236}">
                <a16:creationId xmlns:a16="http://schemas.microsoft.com/office/drawing/2014/main" id="{1A9AF0A0-BDBF-4205-914A-7184135D6689}"/>
              </a:ext>
            </a:extLst>
          </p:cNvPr>
          <p:cNvSpPr txBox="1"/>
          <p:nvPr/>
        </p:nvSpPr>
        <p:spPr>
          <a:xfrm>
            <a:off x="2468237" y="1816919"/>
            <a:ext cx="486860" cy="230058"/>
          </a:xfrm>
          <a:prstGeom prst="rect">
            <a:avLst/>
          </a:prstGeom>
        </p:spPr>
        <p:txBody>
          <a:bodyPr wrap="none" lIns="0" tIns="0" rIns="0" bIns="0" rtlCol="0">
            <a:noAutofit/>
          </a:bodyPr>
          <a:lstStyle/>
          <a:p>
            <a:r>
              <a:rPr lang="en-US" altLang="zh-TW" sz="1100" dirty="0"/>
              <a:t>Int bus</a:t>
            </a:r>
            <a:endParaRPr lang="zh-TW" altLang="en-US" sz="1100" dirty="0"/>
          </a:p>
        </p:txBody>
      </p:sp>
      <p:sp>
        <p:nvSpPr>
          <p:cNvPr id="48" name="文字方塊 47">
            <a:extLst>
              <a:ext uri="{FF2B5EF4-FFF2-40B4-BE49-F238E27FC236}">
                <a16:creationId xmlns:a16="http://schemas.microsoft.com/office/drawing/2014/main" id="{7CB6FA9A-49B0-40DA-AE4A-4C612F3CF388}"/>
              </a:ext>
            </a:extLst>
          </p:cNvPr>
          <p:cNvSpPr txBox="1"/>
          <p:nvPr/>
        </p:nvSpPr>
        <p:spPr>
          <a:xfrm>
            <a:off x="5285546" y="1811577"/>
            <a:ext cx="486860" cy="230058"/>
          </a:xfrm>
          <a:prstGeom prst="rect">
            <a:avLst/>
          </a:prstGeom>
        </p:spPr>
        <p:txBody>
          <a:bodyPr wrap="none" lIns="0" tIns="0" rIns="0" bIns="0" rtlCol="0">
            <a:noAutofit/>
          </a:bodyPr>
          <a:lstStyle/>
          <a:p>
            <a:r>
              <a:rPr lang="en-US" altLang="zh-TW" sz="1100" dirty="0"/>
              <a:t>Int bus</a:t>
            </a:r>
            <a:endParaRPr lang="zh-TW" altLang="en-US" sz="1100" dirty="0"/>
          </a:p>
        </p:txBody>
      </p:sp>
      <p:cxnSp>
        <p:nvCxnSpPr>
          <p:cNvPr id="49" name="直線單箭頭接點 48">
            <a:extLst>
              <a:ext uri="{FF2B5EF4-FFF2-40B4-BE49-F238E27FC236}">
                <a16:creationId xmlns:a16="http://schemas.microsoft.com/office/drawing/2014/main" id="{74FBBD29-77F4-43D5-A133-FE433009DE46}"/>
              </a:ext>
            </a:extLst>
          </p:cNvPr>
          <p:cNvCxnSpPr>
            <a:stCxn id="43" idx="1"/>
            <a:endCxn id="16" idx="3"/>
          </p:cNvCxnSpPr>
          <p:nvPr/>
        </p:nvCxnSpPr>
        <p:spPr>
          <a:xfrm flipH="1">
            <a:off x="6109297" y="2613706"/>
            <a:ext cx="1520732" cy="8635"/>
          </a:xfrm>
          <a:prstGeom prst="straightConnector1">
            <a:avLst/>
          </a:prstGeom>
          <a:ln w="19050">
            <a:tailEnd type="triangle"/>
          </a:ln>
        </p:spPr>
        <p:style>
          <a:lnRef idx="1">
            <a:schemeClr val="accent6"/>
          </a:lnRef>
          <a:fillRef idx="0">
            <a:schemeClr val="accent6"/>
          </a:fillRef>
          <a:effectRef idx="0">
            <a:schemeClr val="accent6"/>
          </a:effectRef>
          <a:fontRef idx="minor">
            <a:schemeClr val="tx1"/>
          </a:fontRef>
        </p:style>
      </p:cxnSp>
      <p:sp>
        <p:nvSpPr>
          <p:cNvPr id="50" name="文字方塊 49">
            <a:extLst>
              <a:ext uri="{FF2B5EF4-FFF2-40B4-BE49-F238E27FC236}">
                <a16:creationId xmlns:a16="http://schemas.microsoft.com/office/drawing/2014/main" id="{82C2F863-740D-4650-8EFE-1FD119F292D3}"/>
              </a:ext>
            </a:extLst>
          </p:cNvPr>
          <p:cNvSpPr txBox="1"/>
          <p:nvPr/>
        </p:nvSpPr>
        <p:spPr>
          <a:xfrm>
            <a:off x="7101734" y="2441932"/>
            <a:ext cx="560068" cy="205840"/>
          </a:xfrm>
          <a:prstGeom prst="rect">
            <a:avLst/>
          </a:prstGeom>
        </p:spPr>
        <p:txBody>
          <a:bodyPr wrap="none" lIns="0" tIns="0" rIns="0" bIns="0" rtlCol="0">
            <a:noAutofit/>
          </a:bodyPr>
          <a:lstStyle/>
          <a:p>
            <a:r>
              <a:rPr lang="en-US" altLang="zh-TW" sz="1100" dirty="0">
                <a:solidFill>
                  <a:srgbClr val="002060"/>
                </a:solidFill>
              </a:rPr>
              <a:t>interrupt</a:t>
            </a:r>
            <a:endParaRPr lang="zh-TW" altLang="en-US" sz="1100" dirty="0">
              <a:solidFill>
                <a:srgbClr val="002060"/>
              </a:solidFill>
            </a:endParaRPr>
          </a:p>
        </p:txBody>
      </p:sp>
    </p:spTree>
    <p:extLst>
      <p:ext uri="{BB962C8B-B14F-4D97-AF65-F5344CB8AC3E}">
        <p14:creationId xmlns:p14="http://schemas.microsoft.com/office/powerpoint/2010/main" val="3050136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一張含有 文字, 螢幕擷取畫面, 軟體, 多媒體軟體 的圖片&#10;&#10;自動產生的描述">
            <a:extLst>
              <a:ext uri="{FF2B5EF4-FFF2-40B4-BE49-F238E27FC236}">
                <a16:creationId xmlns:a16="http://schemas.microsoft.com/office/drawing/2014/main" id="{3FC62C62-6120-AB66-6161-2AF9B07A52DB}"/>
              </a:ext>
            </a:extLst>
          </p:cNvPr>
          <p:cNvPicPr>
            <a:picLocks noChangeAspect="1"/>
          </p:cNvPicPr>
          <p:nvPr/>
        </p:nvPicPr>
        <p:blipFill>
          <a:blip r:embed="rId2"/>
          <a:stretch>
            <a:fillRect/>
          </a:stretch>
        </p:blipFill>
        <p:spPr>
          <a:xfrm>
            <a:off x="421360" y="0"/>
            <a:ext cx="8301280" cy="5143500"/>
          </a:xfrm>
          <a:prstGeom prst="rect">
            <a:avLst/>
          </a:prstGeom>
        </p:spPr>
      </p:pic>
      <p:sp>
        <p:nvSpPr>
          <p:cNvPr id="2" name="投影片編號版面配置區 1">
            <a:extLst>
              <a:ext uri="{FF2B5EF4-FFF2-40B4-BE49-F238E27FC236}">
                <a16:creationId xmlns:a16="http://schemas.microsoft.com/office/drawing/2014/main" id="{BE679E3E-01B4-4E06-863D-7CB1143CC8C2}"/>
              </a:ext>
            </a:extLst>
          </p:cNvPr>
          <p:cNvSpPr>
            <a:spLocks noGrp="1"/>
          </p:cNvSpPr>
          <p:nvPr>
            <p:ph type="sldNum" sz="quarter" idx="4"/>
          </p:nvPr>
        </p:nvSpPr>
        <p:spPr/>
        <p:txBody>
          <a:bodyPr/>
          <a:lstStyle/>
          <a:p>
            <a:fld id="{0AEF9A4B-07C9-404C-9053-A3A2AC3AD5D6}" type="slidenum">
              <a:rPr lang="en-GB" smtClean="0"/>
              <a:pPr/>
              <a:t>6</a:t>
            </a:fld>
            <a:endParaRPr lang="en-GB" dirty="0"/>
          </a:p>
        </p:txBody>
      </p:sp>
      <p:sp>
        <p:nvSpPr>
          <p:cNvPr id="9" name="標題 3">
            <a:extLst>
              <a:ext uri="{FF2B5EF4-FFF2-40B4-BE49-F238E27FC236}">
                <a16:creationId xmlns:a16="http://schemas.microsoft.com/office/drawing/2014/main" id="{FA42F47E-78F9-7D2C-2B4F-C2109CC9818E}"/>
              </a:ext>
            </a:extLst>
          </p:cNvPr>
          <p:cNvSpPr txBox="1">
            <a:spLocks/>
          </p:cNvSpPr>
          <p:nvPr/>
        </p:nvSpPr>
        <p:spPr>
          <a:xfrm>
            <a:off x="1" y="0"/>
            <a:ext cx="3149600" cy="325120"/>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100000"/>
              </a:lnSpc>
              <a:spcBef>
                <a:spcPct val="0"/>
              </a:spcBef>
              <a:buNone/>
              <a:defRPr sz="2800" b="1" u="none" kern="1200" baseline="0">
                <a:solidFill>
                  <a:srgbClr val="F39A1E"/>
                </a:solidFill>
                <a:latin typeface="+mj-lt"/>
                <a:ea typeface="+mj-ea"/>
                <a:cs typeface="Arial"/>
              </a:defRPr>
            </a:lvl1pPr>
          </a:lstStyle>
          <a:p>
            <a:r>
              <a:rPr lang="en-US" altLang="zh-TW" dirty="0"/>
              <a:t>NNE inference flow</a:t>
            </a:r>
            <a:endParaRPr lang="zh-TW" altLang="en-US" dirty="0"/>
          </a:p>
        </p:txBody>
      </p:sp>
    </p:spTree>
    <p:extLst>
      <p:ext uri="{BB962C8B-B14F-4D97-AF65-F5344CB8AC3E}">
        <p14:creationId xmlns:p14="http://schemas.microsoft.com/office/powerpoint/2010/main" val="2728255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E679E3E-01B4-4E06-863D-7CB1143CC8C2}"/>
              </a:ext>
            </a:extLst>
          </p:cNvPr>
          <p:cNvSpPr>
            <a:spLocks noGrp="1"/>
          </p:cNvSpPr>
          <p:nvPr>
            <p:ph type="sldNum" sz="quarter" idx="4"/>
          </p:nvPr>
        </p:nvSpPr>
        <p:spPr/>
        <p:txBody>
          <a:bodyPr/>
          <a:lstStyle/>
          <a:p>
            <a:fld id="{0AEF9A4B-07C9-404C-9053-A3A2AC3AD5D6}" type="slidenum">
              <a:rPr lang="en-GB" smtClean="0"/>
              <a:pPr/>
              <a:t>7</a:t>
            </a:fld>
            <a:endParaRPr lang="en-GB" dirty="0"/>
          </a:p>
        </p:txBody>
      </p:sp>
      <p:sp>
        <p:nvSpPr>
          <p:cNvPr id="4" name="標題 3">
            <a:extLst>
              <a:ext uri="{FF2B5EF4-FFF2-40B4-BE49-F238E27FC236}">
                <a16:creationId xmlns:a16="http://schemas.microsoft.com/office/drawing/2014/main" id="{BA70FA49-D8DB-4814-A63E-B2259683EAA5}"/>
              </a:ext>
            </a:extLst>
          </p:cNvPr>
          <p:cNvSpPr>
            <a:spLocks noGrp="1"/>
          </p:cNvSpPr>
          <p:nvPr>
            <p:ph type="title"/>
          </p:nvPr>
        </p:nvSpPr>
        <p:spPr>
          <a:xfrm>
            <a:off x="1" y="0"/>
            <a:ext cx="3149600" cy="325120"/>
          </a:xfrm>
        </p:spPr>
        <p:txBody>
          <a:bodyPr>
            <a:noAutofit/>
          </a:bodyPr>
          <a:lstStyle/>
          <a:p>
            <a:r>
              <a:rPr lang="en-US" altLang="zh-TW" sz="1700" dirty="0"/>
              <a:t>NNE inference flow (2)</a:t>
            </a:r>
            <a:endParaRPr lang="zh-TW" altLang="en-US" sz="1700" dirty="0"/>
          </a:p>
        </p:txBody>
      </p:sp>
      <p:pic>
        <p:nvPicPr>
          <p:cNvPr id="10" name="圖片 9" descr="一張含有 文字, 螢幕擷取畫面, 圖表, 軟體 的圖片&#10;&#10;自動產生的描述">
            <a:extLst>
              <a:ext uri="{FF2B5EF4-FFF2-40B4-BE49-F238E27FC236}">
                <a16:creationId xmlns:a16="http://schemas.microsoft.com/office/drawing/2014/main" id="{592A181E-511A-8A1A-A8B8-41397ADF7C29}"/>
              </a:ext>
            </a:extLst>
          </p:cNvPr>
          <p:cNvPicPr>
            <a:picLocks noChangeAspect="1"/>
          </p:cNvPicPr>
          <p:nvPr/>
        </p:nvPicPr>
        <p:blipFill>
          <a:blip r:embed="rId2"/>
          <a:stretch>
            <a:fillRect/>
          </a:stretch>
        </p:blipFill>
        <p:spPr>
          <a:xfrm>
            <a:off x="0" y="83044"/>
            <a:ext cx="9144000" cy="4977411"/>
          </a:xfrm>
          <a:prstGeom prst="rect">
            <a:avLst/>
          </a:prstGeom>
        </p:spPr>
      </p:pic>
    </p:spTree>
    <p:extLst>
      <p:ext uri="{BB962C8B-B14F-4D97-AF65-F5344CB8AC3E}">
        <p14:creationId xmlns:p14="http://schemas.microsoft.com/office/powerpoint/2010/main" val="225785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BF74891-1D1A-382E-FD64-3B5203FDB61B}"/>
              </a:ext>
            </a:extLst>
          </p:cNvPr>
          <p:cNvSpPr>
            <a:spLocks noGrp="1"/>
          </p:cNvSpPr>
          <p:nvPr>
            <p:ph type="sldNum" sz="quarter" idx="4"/>
          </p:nvPr>
        </p:nvSpPr>
        <p:spPr/>
        <p:txBody>
          <a:bodyPr/>
          <a:lstStyle/>
          <a:p>
            <a:fld id="{0AEF9A4B-07C9-404C-9053-A3A2AC3AD5D6}" type="slidenum">
              <a:rPr lang="en-GB" smtClean="0"/>
              <a:pPr/>
              <a:t>8</a:t>
            </a:fld>
            <a:endParaRPr lang="en-GB" dirty="0"/>
          </a:p>
        </p:txBody>
      </p:sp>
      <p:sp>
        <p:nvSpPr>
          <p:cNvPr id="3" name="內容版面配置區 2">
            <a:extLst>
              <a:ext uri="{FF2B5EF4-FFF2-40B4-BE49-F238E27FC236}">
                <a16:creationId xmlns:a16="http://schemas.microsoft.com/office/drawing/2014/main" id="{F8B5039E-068E-CDF8-EC46-3417D3244E9E}"/>
              </a:ext>
            </a:extLst>
          </p:cNvPr>
          <p:cNvSpPr>
            <a:spLocks noGrp="1"/>
          </p:cNvSpPr>
          <p:nvPr>
            <p:ph sz="quarter" idx="10"/>
          </p:nvPr>
        </p:nvSpPr>
        <p:spPr>
          <a:xfrm>
            <a:off x="323849" y="1007707"/>
            <a:ext cx="8218489" cy="2326044"/>
          </a:xfrm>
        </p:spPr>
        <p:txBody>
          <a:bodyPr>
            <a:normAutofit fontScale="92500" lnSpcReduction="10000"/>
          </a:bodyPr>
          <a:lstStyle/>
          <a:p>
            <a:r>
              <a:rPr lang="en-US" altLang="zh-TW" b="0" dirty="0"/>
              <a:t>Please enable the option “</a:t>
            </a:r>
            <a:r>
              <a:rPr lang="en-US" altLang="zh-TW" dirty="0">
                <a:solidFill>
                  <a:srgbClr val="FF0000"/>
                </a:solidFill>
              </a:rPr>
              <a:t>CFG_NNE_SUPPORT</a:t>
            </a:r>
            <a:r>
              <a:rPr lang="en-US" altLang="zh-TW" b="0" dirty="0"/>
              <a:t>”</a:t>
            </a:r>
            <a:r>
              <a:rPr lang="en-US" altLang="zh-TW" dirty="0"/>
              <a:t> </a:t>
            </a:r>
            <a:r>
              <a:rPr lang="en-US" altLang="zh-TW" b="0" dirty="0"/>
              <a:t>by modifying the default value from </a:t>
            </a:r>
            <a:r>
              <a:rPr lang="en-US" altLang="zh-TW" dirty="0"/>
              <a:t>no</a:t>
            </a:r>
            <a:r>
              <a:rPr lang="en-US" altLang="zh-TW" b="0" dirty="0"/>
              <a:t> to </a:t>
            </a:r>
            <a:r>
              <a:rPr lang="en-US" altLang="zh-TW" dirty="0"/>
              <a:t>yes</a:t>
            </a:r>
            <a:r>
              <a:rPr lang="en-US" altLang="zh-TW" b="0" dirty="0"/>
              <a:t> and rebuild the ADSP image.</a:t>
            </a:r>
          </a:p>
          <a:p>
            <a:pPr lvl="1"/>
            <a:r>
              <a:rPr lang="en-US" altLang="zh-TW" b="0" dirty="0"/>
              <a:t>Path: ${ADSP_PATH}/HIFI5_SP/project/${PLATFORM}/HIFI5_</a:t>
            </a:r>
            <a:r>
              <a:rPr lang="en-US" altLang="zh-TW" b="0" dirty="0">
                <a:solidFill>
                  <a:srgbClr val="FF0000"/>
                </a:solidFill>
              </a:rPr>
              <a:t>B</a:t>
            </a:r>
            <a:r>
              <a:rPr lang="en-US" altLang="zh-TW" b="0" dirty="0"/>
              <a:t>/platform/platform.mk</a:t>
            </a:r>
          </a:p>
          <a:p>
            <a:r>
              <a:rPr lang="en-US" altLang="zh-TW" b="0" dirty="0"/>
              <a:t>To test models, please enable the option  “</a:t>
            </a:r>
            <a:r>
              <a:rPr lang="en-US" altLang="zh-TW" dirty="0">
                <a:solidFill>
                  <a:srgbClr val="FF0000"/>
                </a:solidFill>
              </a:rPr>
              <a:t>CFG_NNE_SAMPLE_SUPPORT</a:t>
            </a:r>
            <a:r>
              <a:rPr lang="en-US" altLang="zh-TW" b="0" dirty="0"/>
              <a:t>” as well</a:t>
            </a:r>
          </a:p>
          <a:p>
            <a:pPr lvl="1"/>
            <a:r>
              <a:rPr lang="en-US" altLang="zh-TW" b="0" dirty="0"/>
              <a:t>The </a:t>
            </a:r>
            <a:r>
              <a:rPr lang="en-US" altLang="zh-TW" dirty="0"/>
              <a:t>CFG_NNE_SAMPLE_SUPPORT </a:t>
            </a:r>
            <a:r>
              <a:rPr lang="en-US" altLang="zh-TW" b="0" dirty="0"/>
              <a:t>only takes effect when </a:t>
            </a:r>
            <a:r>
              <a:rPr lang="en-US" altLang="zh-TW" dirty="0"/>
              <a:t>CFG_NNE_SUPPORT </a:t>
            </a:r>
            <a:r>
              <a:rPr lang="en-US" altLang="zh-TW" b="0" dirty="0"/>
              <a:t>is enabled.</a:t>
            </a:r>
          </a:p>
          <a:p>
            <a:r>
              <a:rPr lang="en-US" altLang="zh-TW" b="0" dirty="0"/>
              <a:t>There is a sample project demonstrating the way to enable MTK NNE framework. Please refer to the project </a:t>
            </a:r>
            <a:r>
              <a:rPr lang="en-US" altLang="zh-TW" dirty="0"/>
              <a:t>${PLATFORM}-sample-project-</a:t>
            </a:r>
            <a:r>
              <a:rPr lang="en-US" altLang="zh-TW" dirty="0" err="1"/>
              <a:t>nne</a:t>
            </a:r>
            <a:r>
              <a:rPr lang="en-US" altLang="zh-TW" dirty="0"/>
              <a:t>.</a:t>
            </a:r>
          </a:p>
          <a:p>
            <a:pPr lvl="1"/>
            <a:r>
              <a:rPr lang="en-US" altLang="zh-TW" b="0" dirty="0"/>
              <a:t>Path: Path: ${ADSP_PATH}/HIFI5_SP/project/${PLATFORM}/HIFI5_B/${PLATFORM}-sample-project-nne/project.mk</a:t>
            </a:r>
          </a:p>
        </p:txBody>
      </p:sp>
      <p:sp>
        <p:nvSpPr>
          <p:cNvPr id="4" name="標題 3">
            <a:extLst>
              <a:ext uri="{FF2B5EF4-FFF2-40B4-BE49-F238E27FC236}">
                <a16:creationId xmlns:a16="http://schemas.microsoft.com/office/drawing/2014/main" id="{177FBAD4-E1F7-DADE-3FF8-A9401D495E5A}"/>
              </a:ext>
            </a:extLst>
          </p:cNvPr>
          <p:cNvSpPr>
            <a:spLocks noGrp="1"/>
          </p:cNvSpPr>
          <p:nvPr>
            <p:ph type="title"/>
          </p:nvPr>
        </p:nvSpPr>
        <p:spPr/>
        <p:txBody>
          <a:bodyPr/>
          <a:lstStyle/>
          <a:p>
            <a:r>
              <a:rPr lang="en-US" altLang="zh-TW" dirty="0"/>
              <a:t>Enable MTK NNE framework in HiFi5 DSP</a:t>
            </a:r>
            <a:endParaRPr lang="zh-TW" altLang="en-US" dirty="0"/>
          </a:p>
        </p:txBody>
      </p:sp>
      <p:graphicFrame>
        <p:nvGraphicFramePr>
          <p:cNvPr id="7" name="表格 7">
            <a:extLst>
              <a:ext uri="{FF2B5EF4-FFF2-40B4-BE49-F238E27FC236}">
                <a16:creationId xmlns:a16="http://schemas.microsoft.com/office/drawing/2014/main" id="{F499042A-F120-27C7-993C-C72E937E7198}"/>
              </a:ext>
            </a:extLst>
          </p:cNvPr>
          <p:cNvGraphicFramePr>
            <a:graphicFrameLocks noGrp="1"/>
          </p:cNvGraphicFramePr>
          <p:nvPr>
            <p:extLst>
              <p:ext uri="{D42A27DB-BD31-4B8C-83A1-F6EECF244321}">
                <p14:modId xmlns:p14="http://schemas.microsoft.com/office/powerpoint/2010/main" val="1129448898"/>
              </p:ext>
            </p:extLst>
          </p:nvPr>
        </p:nvGraphicFramePr>
        <p:xfrm>
          <a:off x="1524000" y="3532385"/>
          <a:ext cx="6096000" cy="1458947"/>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46156108"/>
                    </a:ext>
                  </a:extLst>
                </a:gridCol>
                <a:gridCol w="2032000">
                  <a:extLst>
                    <a:ext uri="{9D8B030D-6E8A-4147-A177-3AD203B41FA5}">
                      <a16:colId xmlns:a16="http://schemas.microsoft.com/office/drawing/2014/main" val="2585937643"/>
                    </a:ext>
                  </a:extLst>
                </a:gridCol>
                <a:gridCol w="2032000">
                  <a:extLst>
                    <a:ext uri="{9D8B030D-6E8A-4147-A177-3AD203B41FA5}">
                      <a16:colId xmlns:a16="http://schemas.microsoft.com/office/drawing/2014/main" val="4233077693"/>
                    </a:ext>
                  </a:extLst>
                </a:gridCol>
              </a:tblGrid>
              <a:tr h="453107">
                <a:tc>
                  <a:txBody>
                    <a:bodyPr/>
                    <a:lstStyle/>
                    <a:p>
                      <a:endParaRPr lang="zh-TW" altLang="en-US" sz="900" dirty="0"/>
                    </a:p>
                  </a:txBody>
                  <a:tcPr/>
                </a:tc>
                <a:tc>
                  <a:txBody>
                    <a:bodyPr/>
                    <a:lstStyle/>
                    <a:p>
                      <a:r>
                        <a:rPr lang="en-US" altLang="zh-TW" sz="900" dirty="0"/>
                        <a:t>Not enabled</a:t>
                      </a:r>
                      <a:endParaRPr lang="zh-TW" altLang="en-US" sz="900" dirty="0"/>
                    </a:p>
                  </a:txBody>
                  <a:tcPr/>
                </a:tc>
                <a:tc>
                  <a:txBody>
                    <a:bodyPr/>
                    <a:lstStyle/>
                    <a:p>
                      <a:r>
                        <a:rPr lang="en-US" altLang="zh-TW" sz="900" dirty="0"/>
                        <a:t>enabled</a:t>
                      </a:r>
                      <a:endParaRPr lang="zh-TW" altLang="en-US" sz="900" dirty="0"/>
                    </a:p>
                  </a:txBody>
                  <a:tcPr/>
                </a:tc>
                <a:extLst>
                  <a:ext uri="{0D108BD9-81ED-4DB2-BD59-A6C34878D82A}">
                    <a16:rowId xmlns:a16="http://schemas.microsoft.com/office/drawing/2014/main" val="3379992451"/>
                  </a:ext>
                </a:extLst>
              </a:tr>
              <a:tr h="459508">
                <a:tc>
                  <a:txBody>
                    <a:bodyPr/>
                    <a:lstStyle/>
                    <a:p>
                      <a:r>
                        <a:rPr lang="en-US" altLang="zh-TW" sz="900" dirty="0"/>
                        <a:t>Enable MTK NNE framework</a:t>
                      </a:r>
                      <a:endParaRPr lang="zh-TW" altLang="en-US" sz="900" dirty="0"/>
                    </a:p>
                  </a:txBody>
                  <a:tcPr/>
                </a:tc>
                <a:tc>
                  <a:txBody>
                    <a:bodyPr/>
                    <a:lstStyle/>
                    <a:p>
                      <a:endParaRPr lang="en-US" altLang="zh-TW" sz="900" dirty="0"/>
                    </a:p>
                    <a:p>
                      <a:endParaRPr lang="en-US" altLang="zh-TW" sz="900" dirty="0"/>
                    </a:p>
                    <a:p>
                      <a:endParaRPr lang="zh-TW" altLang="en-US" sz="900" dirty="0"/>
                    </a:p>
                  </a:txBody>
                  <a:tcPr/>
                </a:tc>
                <a:tc>
                  <a:txBody>
                    <a:bodyPr/>
                    <a:lstStyle/>
                    <a:p>
                      <a:endParaRPr lang="zh-TW" altLang="en-US" sz="900" dirty="0"/>
                    </a:p>
                  </a:txBody>
                  <a:tcPr/>
                </a:tc>
                <a:extLst>
                  <a:ext uri="{0D108BD9-81ED-4DB2-BD59-A6C34878D82A}">
                    <a16:rowId xmlns:a16="http://schemas.microsoft.com/office/drawing/2014/main" val="1802434234"/>
                  </a:ext>
                </a:extLst>
              </a:tr>
              <a:tr h="453107">
                <a:tc>
                  <a:txBody>
                    <a:bodyPr/>
                    <a:lstStyle/>
                    <a:p>
                      <a:r>
                        <a:rPr lang="en-US" altLang="zh-TW" sz="900" dirty="0"/>
                        <a:t>Test models</a:t>
                      </a:r>
                    </a:p>
                    <a:p>
                      <a:r>
                        <a:rPr lang="en-US" altLang="zh-TW" sz="900" dirty="0"/>
                        <a:t>(MTK NNE framework must be enabled)</a:t>
                      </a:r>
                      <a:endParaRPr lang="zh-TW" altLang="en-US" sz="900" dirty="0"/>
                    </a:p>
                  </a:txBody>
                  <a:tcPr/>
                </a:tc>
                <a:tc>
                  <a:txBody>
                    <a:bodyPr/>
                    <a:lstStyle/>
                    <a:p>
                      <a:endParaRPr lang="en-US" altLang="zh-TW" sz="900" dirty="0"/>
                    </a:p>
                    <a:p>
                      <a:endParaRPr lang="en-US" altLang="zh-TW" sz="900" dirty="0"/>
                    </a:p>
                    <a:p>
                      <a:endParaRPr lang="zh-TW" altLang="en-US" sz="900" dirty="0"/>
                    </a:p>
                  </a:txBody>
                  <a:tcPr/>
                </a:tc>
                <a:tc>
                  <a:txBody>
                    <a:bodyPr/>
                    <a:lstStyle/>
                    <a:p>
                      <a:endParaRPr lang="zh-TW" altLang="en-US" sz="900" dirty="0"/>
                    </a:p>
                  </a:txBody>
                  <a:tcPr/>
                </a:tc>
                <a:extLst>
                  <a:ext uri="{0D108BD9-81ED-4DB2-BD59-A6C34878D82A}">
                    <a16:rowId xmlns:a16="http://schemas.microsoft.com/office/drawing/2014/main" val="3871207384"/>
                  </a:ext>
                </a:extLst>
              </a:tr>
            </a:tbl>
          </a:graphicData>
        </a:graphic>
      </p:graphicFrame>
      <p:pic>
        <p:nvPicPr>
          <p:cNvPr id="9" name="圖片 8">
            <a:extLst>
              <a:ext uri="{FF2B5EF4-FFF2-40B4-BE49-F238E27FC236}">
                <a16:creationId xmlns:a16="http://schemas.microsoft.com/office/drawing/2014/main" id="{2D6D0184-AE70-EC69-6216-508C956E3D2F}"/>
              </a:ext>
            </a:extLst>
          </p:cNvPr>
          <p:cNvPicPr>
            <a:picLocks noChangeAspect="1"/>
          </p:cNvPicPr>
          <p:nvPr/>
        </p:nvPicPr>
        <p:blipFill>
          <a:blip r:embed="rId2"/>
          <a:stretch>
            <a:fillRect/>
          </a:stretch>
        </p:blipFill>
        <p:spPr>
          <a:xfrm>
            <a:off x="3566969" y="4000746"/>
            <a:ext cx="2010064" cy="472412"/>
          </a:xfrm>
          <a:prstGeom prst="rect">
            <a:avLst/>
          </a:prstGeom>
        </p:spPr>
      </p:pic>
      <p:pic>
        <p:nvPicPr>
          <p:cNvPr id="11" name="圖片 10">
            <a:extLst>
              <a:ext uri="{FF2B5EF4-FFF2-40B4-BE49-F238E27FC236}">
                <a16:creationId xmlns:a16="http://schemas.microsoft.com/office/drawing/2014/main" id="{81F9BEC9-71DC-FA5D-E9DD-BF85879147BC}"/>
              </a:ext>
            </a:extLst>
          </p:cNvPr>
          <p:cNvPicPr>
            <a:picLocks noChangeAspect="1"/>
          </p:cNvPicPr>
          <p:nvPr/>
        </p:nvPicPr>
        <p:blipFill>
          <a:blip r:embed="rId3"/>
          <a:stretch>
            <a:fillRect/>
          </a:stretch>
        </p:blipFill>
        <p:spPr>
          <a:xfrm>
            <a:off x="5577033" y="3998721"/>
            <a:ext cx="2048727" cy="472412"/>
          </a:xfrm>
          <a:prstGeom prst="rect">
            <a:avLst/>
          </a:prstGeom>
        </p:spPr>
      </p:pic>
      <p:pic>
        <p:nvPicPr>
          <p:cNvPr id="13" name="圖片 12">
            <a:extLst>
              <a:ext uri="{FF2B5EF4-FFF2-40B4-BE49-F238E27FC236}">
                <a16:creationId xmlns:a16="http://schemas.microsoft.com/office/drawing/2014/main" id="{8B9ACC9F-59D8-D68B-CCDB-53B6C95FD307}"/>
              </a:ext>
            </a:extLst>
          </p:cNvPr>
          <p:cNvPicPr>
            <a:picLocks noChangeAspect="1"/>
          </p:cNvPicPr>
          <p:nvPr/>
        </p:nvPicPr>
        <p:blipFill>
          <a:blip r:embed="rId4"/>
          <a:stretch>
            <a:fillRect/>
          </a:stretch>
        </p:blipFill>
        <p:spPr>
          <a:xfrm>
            <a:off x="3566969" y="4509568"/>
            <a:ext cx="2010064" cy="482224"/>
          </a:xfrm>
          <a:prstGeom prst="rect">
            <a:avLst/>
          </a:prstGeom>
        </p:spPr>
      </p:pic>
      <p:pic>
        <p:nvPicPr>
          <p:cNvPr id="15" name="圖片 14">
            <a:extLst>
              <a:ext uri="{FF2B5EF4-FFF2-40B4-BE49-F238E27FC236}">
                <a16:creationId xmlns:a16="http://schemas.microsoft.com/office/drawing/2014/main" id="{37B7B255-1F3C-76DF-9DDA-34A197AC7DBE}"/>
              </a:ext>
            </a:extLst>
          </p:cNvPr>
          <p:cNvPicPr>
            <a:picLocks noChangeAspect="1"/>
          </p:cNvPicPr>
          <p:nvPr/>
        </p:nvPicPr>
        <p:blipFill>
          <a:blip r:embed="rId5"/>
          <a:stretch>
            <a:fillRect/>
          </a:stretch>
        </p:blipFill>
        <p:spPr>
          <a:xfrm>
            <a:off x="5609935" y="4503365"/>
            <a:ext cx="2010065" cy="488427"/>
          </a:xfrm>
          <a:prstGeom prst="rect">
            <a:avLst/>
          </a:prstGeom>
        </p:spPr>
      </p:pic>
    </p:spTree>
    <p:extLst>
      <p:ext uri="{BB962C8B-B14F-4D97-AF65-F5344CB8AC3E}">
        <p14:creationId xmlns:p14="http://schemas.microsoft.com/office/powerpoint/2010/main" val="194500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79AE949-88D3-41A7-B88B-9A56B1CB247D}"/>
              </a:ext>
            </a:extLst>
          </p:cNvPr>
          <p:cNvSpPr>
            <a:spLocks noGrp="1"/>
          </p:cNvSpPr>
          <p:nvPr>
            <p:ph type="sldNum" sz="quarter" idx="4"/>
          </p:nvPr>
        </p:nvSpPr>
        <p:spPr/>
        <p:txBody>
          <a:bodyPr/>
          <a:lstStyle/>
          <a:p>
            <a:fld id="{0AEF9A4B-07C9-404C-9053-A3A2AC3AD5D6}" type="slidenum">
              <a:rPr lang="en-GB" smtClean="0"/>
              <a:pPr/>
              <a:t>9</a:t>
            </a:fld>
            <a:endParaRPr lang="en-GB" dirty="0"/>
          </a:p>
        </p:txBody>
      </p:sp>
      <p:sp>
        <p:nvSpPr>
          <p:cNvPr id="3" name="文字版面配置區 2">
            <a:extLst>
              <a:ext uri="{FF2B5EF4-FFF2-40B4-BE49-F238E27FC236}">
                <a16:creationId xmlns:a16="http://schemas.microsoft.com/office/drawing/2014/main" id="{531C530E-0693-4AF5-A2A2-D7DAB786664D}"/>
              </a:ext>
            </a:extLst>
          </p:cNvPr>
          <p:cNvSpPr>
            <a:spLocks noGrp="1"/>
          </p:cNvSpPr>
          <p:nvPr>
            <p:ph type="body" sz="quarter" idx="10"/>
          </p:nvPr>
        </p:nvSpPr>
        <p:spPr>
          <a:xfrm>
            <a:off x="323850" y="1032589"/>
            <a:ext cx="8218488" cy="1646567"/>
          </a:xfrm>
        </p:spPr>
        <p:txBody>
          <a:bodyPr>
            <a:normAutofit/>
          </a:bodyPr>
          <a:lstStyle/>
          <a:p>
            <a:r>
              <a:rPr lang="en-US" altLang="zh-TW" b="0" dirty="0"/>
              <a:t>To develop an algorithm/application for NNE, the following c flags are necessary. Please add these </a:t>
            </a:r>
            <a:r>
              <a:rPr lang="en-US" altLang="zh-TW" b="0" dirty="0">
                <a:solidFill>
                  <a:srgbClr val="FF0000"/>
                </a:solidFill>
              </a:rPr>
              <a:t>C flags </a:t>
            </a:r>
            <a:r>
              <a:rPr lang="en-US" altLang="zh-TW" b="0" dirty="0"/>
              <a:t>in the </a:t>
            </a:r>
            <a:r>
              <a:rPr lang="en-US" altLang="zh-TW" b="0" dirty="0">
                <a:solidFill>
                  <a:srgbClr val="FF0000"/>
                </a:solidFill>
              </a:rPr>
              <a:t>library’s build script</a:t>
            </a:r>
            <a:r>
              <a:rPr lang="en-US" altLang="zh-TW" b="0" dirty="0"/>
              <a:t>.</a:t>
            </a:r>
          </a:p>
          <a:p>
            <a:r>
              <a:rPr lang="en-US" altLang="zh-TW" b="0" dirty="0" err="1"/>
              <a:t>Makefile</a:t>
            </a:r>
            <a:r>
              <a:rPr lang="en-US" altLang="zh-TW" b="0" dirty="0"/>
              <a:t> example:</a:t>
            </a:r>
          </a:p>
          <a:p>
            <a:pPr lvl="1"/>
            <a:r>
              <a:rPr lang="en-US" altLang="zh-TW" b="0" dirty="0"/>
              <a:t> ${ADSP_PATH}/middleware/nne_model/sample/makefile_nne_sample.mk</a:t>
            </a:r>
            <a:endParaRPr lang="zh-TW" altLang="en-US" b="0" dirty="0"/>
          </a:p>
        </p:txBody>
      </p:sp>
      <p:sp>
        <p:nvSpPr>
          <p:cNvPr id="4" name="標題 3">
            <a:extLst>
              <a:ext uri="{FF2B5EF4-FFF2-40B4-BE49-F238E27FC236}">
                <a16:creationId xmlns:a16="http://schemas.microsoft.com/office/drawing/2014/main" id="{0B324CD8-E970-4DC5-B24C-84BD74B3D6A8}"/>
              </a:ext>
            </a:extLst>
          </p:cNvPr>
          <p:cNvSpPr>
            <a:spLocks noGrp="1"/>
          </p:cNvSpPr>
          <p:nvPr>
            <p:ph type="title"/>
          </p:nvPr>
        </p:nvSpPr>
        <p:spPr/>
        <p:txBody>
          <a:bodyPr/>
          <a:lstStyle/>
          <a:p>
            <a:r>
              <a:rPr lang="en-US" altLang="zh-TW" dirty="0"/>
              <a:t>Developer note – C flags</a:t>
            </a:r>
            <a:endParaRPr lang="zh-TW" altLang="en-US" dirty="0"/>
          </a:p>
        </p:txBody>
      </p:sp>
      <p:sp>
        <p:nvSpPr>
          <p:cNvPr id="6" name="文字方塊 4">
            <a:extLst>
              <a:ext uri="{FF2B5EF4-FFF2-40B4-BE49-F238E27FC236}">
                <a16:creationId xmlns:a16="http://schemas.microsoft.com/office/drawing/2014/main" id="{6175C108-418B-E85C-7571-685808674AFB}"/>
              </a:ext>
            </a:extLst>
          </p:cNvPr>
          <p:cNvSpPr txBox="1"/>
          <p:nvPr/>
        </p:nvSpPr>
        <p:spPr>
          <a:xfrm>
            <a:off x="3285160" y="2679156"/>
            <a:ext cx="2295867" cy="2068955"/>
          </a:xfrm>
          <a:prstGeom prst="rect">
            <a:avLst/>
          </a:prstGeom>
        </p:spPr>
        <p:txBody>
          <a:bodyPr wrap="none" lIns="0" tIns="0" rIns="0" bIns="0" rtlCol="0">
            <a:noAutofit/>
          </a:bodyPr>
          <a:lstStyle/>
          <a:p>
            <a:r>
              <a:rPr lang="en-US" altLang="zh-TW" sz="1000" dirty="0"/>
              <a:t>CFLAGS += \</a:t>
            </a:r>
            <a:br>
              <a:rPr lang="en-US" altLang="zh-TW" sz="1000" dirty="0"/>
            </a:br>
            <a:r>
              <a:rPr lang="en-US" altLang="zh-TW" sz="1000" dirty="0"/>
              <a:t>-DTF_LITE_STATIC_MEMORY \</a:t>
            </a:r>
            <a:br>
              <a:rPr lang="en-US" altLang="zh-TW" sz="1000" dirty="0"/>
            </a:br>
            <a:r>
              <a:rPr lang="en-US" altLang="zh-TW" sz="1000" dirty="0"/>
              <a:t>-DTF_LITE_DISABLE_X86_NEON \</a:t>
            </a:r>
            <a:br>
              <a:rPr lang="en-US" altLang="zh-TW" sz="1000" dirty="0"/>
            </a:br>
            <a:r>
              <a:rPr lang="en-US" altLang="zh-TW" sz="1000" dirty="0"/>
              <a:t>-DXTENSA \</a:t>
            </a:r>
            <a:br>
              <a:rPr lang="en-US" altLang="zh-TW" sz="1000" dirty="0"/>
            </a:br>
            <a:r>
              <a:rPr lang="en-US" altLang="zh-TW" sz="1000" dirty="0"/>
              <a:t>-DTF_LITE_MCU_DEBUG_LOG \</a:t>
            </a:r>
            <a:br>
              <a:rPr lang="en-US" altLang="zh-TW" sz="1000" dirty="0"/>
            </a:br>
            <a:r>
              <a:rPr lang="en-US" altLang="zh-TW" sz="1000" dirty="0"/>
              <a:t>-DTF_LITE_USE_CTIME \</a:t>
            </a:r>
            <a:br>
              <a:rPr lang="en-US" altLang="zh-TW" sz="1000" dirty="0"/>
            </a:br>
            <a:r>
              <a:rPr lang="en-US" altLang="zh-TW" sz="1000" dirty="0"/>
              <a:t>-DMAX_RFFT_PWR=9 \</a:t>
            </a:r>
            <a:br>
              <a:rPr lang="en-US" altLang="zh-TW" sz="1000" dirty="0"/>
            </a:br>
            <a:r>
              <a:rPr lang="en-US" altLang="zh-TW" sz="1000" dirty="0"/>
              <a:t>-DMIN_RFFT_PWR=MAX_RFFT_PWR \</a:t>
            </a:r>
            <a:br>
              <a:rPr lang="en-US" altLang="zh-TW" sz="1000" dirty="0"/>
            </a:br>
            <a:r>
              <a:rPr lang="en-US" altLang="zh-TW" sz="1000" dirty="0"/>
              <a:t>-DHIFI5 \</a:t>
            </a:r>
            <a:br>
              <a:rPr lang="en-US" altLang="zh-TW" sz="1000" dirty="0"/>
            </a:br>
            <a:r>
              <a:rPr lang="en-US" altLang="zh-TW" sz="1000" dirty="0"/>
              <a:t>-DNNLIB_HIFI5 \</a:t>
            </a:r>
            <a:br>
              <a:rPr lang="en-US" altLang="zh-TW" sz="1000" dirty="0"/>
            </a:br>
            <a:r>
              <a:rPr lang="en-US" altLang="zh-TW" sz="1000" dirty="0"/>
              <a:t>-DDMA=1</a:t>
            </a:r>
            <a:endParaRPr lang="zh-TW" altLang="en-US" sz="1000" dirty="0"/>
          </a:p>
        </p:txBody>
      </p:sp>
    </p:spTree>
    <p:extLst>
      <p:ext uri="{BB962C8B-B14F-4D97-AF65-F5344CB8AC3E}">
        <p14:creationId xmlns:p14="http://schemas.microsoft.com/office/powerpoint/2010/main" val="1323086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EB622ED-EEF4-4D69-8D71-236CF7348436}"/>
              </a:ext>
            </a:extLst>
          </p:cNvPr>
          <p:cNvSpPr>
            <a:spLocks noGrp="1"/>
          </p:cNvSpPr>
          <p:nvPr>
            <p:ph type="sldNum" sz="quarter" idx="4"/>
          </p:nvPr>
        </p:nvSpPr>
        <p:spPr>
          <a:xfrm>
            <a:off x="8542339" y="4868937"/>
            <a:ext cx="277811" cy="108000"/>
          </a:xfrm>
        </p:spPr>
        <p:txBody>
          <a:bodyPr anchor="ctr">
            <a:normAutofit/>
          </a:bodyPr>
          <a:lstStyle/>
          <a:p>
            <a:pPr>
              <a:spcAft>
                <a:spcPts val="600"/>
              </a:spcAft>
            </a:pPr>
            <a:fld id="{0AEF9A4B-07C9-404C-9053-A3A2AC3AD5D6}" type="slidenum">
              <a:rPr lang="en-GB" smtClean="0"/>
              <a:pPr>
                <a:spcAft>
                  <a:spcPts val="600"/>
                </a:spcAft>
              </a:pPr>
              <a:t>10</a:t>
            </a:fld>
            <a:endParaRPr lang="en-GB"/>
          </a:p>
        </p:txBody>
      </p:sp>
      <p:sp>
        <p:nvSpPr>
          <p:cNvPr id="4" name="標題 3">
            <a:extLst>
              <a:ext uri="{FF2B5EF4-FFF2-40B4-BE49-F238E27FC236}">
                <a16:creationId xmlns:a16="http://schemas.microsoft.com/office/drawing/2014/main" id="{07AA68D2-AF6A-49D7-BD00-EE44381048A7}"/>
              </a:ext>
            </a:extLst>
          </p:cNvPr>
          <p:cNvSpPr>
            <a:spLocks noGrp="1"/>
          </p:cNvSpPr>
          <p:nvPr>
            <p:ph type="title"/>
          </p:nvPr>
        </p:nvSpPr>
        <p:spPr>
          <a:xfrm>
            <a:off x="323850" y="177670"/>
            <a:ext cx="8218488" cy="720464"/>
          </a:xfrm>
        </p:spPr>
        <p:txBody>
          <a:bodyPr anchor="ctr">
            <a:normAutofit/>
          </a:bodyPr>
          <a:lstStyle/>
          <a:p>
            <a:r>
              <a:rPr lang="en-US" altLang="zh-TW" dirty="0"/>
              <a:t>Developer note – NNE op resolver</a:t>
            </a:r>
            <a:endParaRPr lang="zh-TW" altLang="en-US" dirty="0"/>
          </a:p>
        </p:txBody>
      </p:sp>
      <p:pic>
        <p:nvPicPr>
          <p:cNvPr id="5" name="圖片 4">
            <a:extLst>
              <a:ext uri="{FF2B5EF4-FFF2-40B4-BE49-F238E27FC236}">
                <a16:creationId xmlns:a16="http://schemas.microsoft.com/office/drawing/2014/main" id="{1C7C9221-EC84-4E7F-857E-9C903135E3F8}"/>
              </a:ext>
            </a:extLst>
          </p:cNvPr>
          <p:cNvPicPr>
            <a:picLocks noChangeAspect="1"/>
          </p:cNvPicPr>
          <p:nvPr/>
        </p:nvPicPr>
        <p:blipFill>
          <a:blip r:embed="rId2"/>
          <a:stretch>
            <a:fillRect/>
          </a:stretch>
        </p:blipFill>
        <p:spPr>
          <a:xfrm>
            <a:off x="1013916" y="2501089"/>
            <a:ext cx="7116168" cy="2114845"/>
          </a:xfrm>
          <a:prstGeom prst="rect">
            <a:avLst/>
          </a:prstGeom>
        </p:spPr>
      </p:pic>
      <p:sp>
        <p:nvSpPr>
          <p:cNvPr id="6" name="文字版面配置區 2">
            <a:extLst>
              <a:ext uri="{FF2B5EF4-FFF2-40B4-BE49-F238E27FC236}">
                <a16:creationId xmlns:a16="http://schemas.microsoft.com/office/drawing/2014/main" id="{9FFAF64D-3608-4285-A99F-0482D93A6C14}"/>
              </a:ext>
            </a:extLst>
          </p:cNvPr>
          <p:cNvSpPr txBox="1">
            <a:spLocks/>
          </p:cNvSpPr>
          <p:nvPr/>
        </p:nvSpPr>
        <p:spPr>
          <a:xfrm>
            <a:off x="323849" y="1032588"/>
            <a:ext cx="8496301" cy="1468501"/>
          </a:xfrm>
          <a:prstGeom prst="rect">
            <a:avLst/>
          </a:prstGeom>
        </p:spPr>
        <p:txBody>
          <a:bodyPr vert="horz" lIns="91440" tIns="45720" rIns="91440" bIns="45720" rtlCol="0">
            <a:normAutofit/>
          </a:bodyPr>
          <a:lstStyle>
            <a:lvl1pPr marL="271463" indent="-271463" algn="l" defTabSz="914400" rtl="0" eaLnBrk="1" latinLnBrk="0" hangingPunct="1">
              <a:lnSpc>
                <a:spcPct val="90000"/>
              </a:lnSpc>
              <a:spcBef>
                <a:spcPts val="1200"/>
              </a:spcBef>
              <a:buFont typeface="Arial" panose="020B0604020202020204" pitchFamily="34" charset="0"/>
              <a:buChar char="•"/>
              <a:defRPr lang="zh-TW" altLang="en-US" sz="1600" b="1" kern="1200" baseline="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4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0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b="0" dirty="0"/>
              <a:t>If developers want to use NNE to accelerate Neural Network computations. The </a:t>
            </a:r>
            <a:r>
              <a:rPr lang="en-US" altLang="zh-TW" b="0" dirty="0" err="1"/>
              <a:t>op_resolver</a:t>
            </a:r>
            <a:r>
              <a:rPr lang="en-US" altLang="zh-TW" b="0" dirty="0"/>
              <a:t> (</a:t>
            </a:r>
            <a:r>
              <a:rPr lang="en-US" altLang="zh-TW" b="0" dirty="0" err="1"/>
              <a:t>MicroMutableOpResolver</a:t>
            </a:r>
            <a:r>
              <a:rPr lang="en-US" altLang="zh-TW" b="0" dirty="0"/>
              <a:t>) should  call </a:t>
            </a:r>
            <a:r>
              <a:rPr lang="en-US" altLang="zh-TW" dirty="0" err="1">
                <a:solidFill>
                  <a:srgbClr val="FF0000"/>
                </a:solidFill>
              </a:rPr>
              <a:t>AddNneCustom</a:t>
            </a:r>
            <a:r>
              <a:rPr lang="en-US" altLang="zh-TW" dirty="0">
                <a:solidFill>
                  <a:srgbClr val="FF0000"/>
                </a:solidFill>
              </a:rPr>
              <a:t>()</a:t>
            </a:r>
            <a:r>
              <a:rPr lang="en-US" altLang="zh-TW" b="0" dirty="0"/>
              <a:t> to enable the NNE op resolver.</a:t>
            </a:r>
          </a:p>
        </p:txBody>
      </p:sp>
      <p:cxnSp>
        <p:nvCxnSpPr>
          <p:cNvPr id="7" name="直線接點 6">
            <a:extLst>
              <a:ext uri="{FF2B5EF4-FFF2-40B4-BE49-F238E27FC236}">
                <a16:creationId xmlns:a16="http://schemas.microsoft.com/office/drawing/2014/main" id="{6710E39C-D29E-42A4-919B-53B84F125AFB}"/>
              </a:ext>
            </a:extLst>
          </p:cNvPr>
          <p:cNvCxnSpPr/>
          <p:nvPr/>
        </p:nvCxnSpPr>
        <p:spPr>
          <a:xfrm>
            <a:off x="1472453" y="3247465"/>
            <a:ext cx="3146612" cy="0"/>
          </a:xfrm>
          <a:prstGeom prst="line">
            <a:avLst/>
          </a:prstGeom>
          <a:ln w="19050"/>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12982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9F783E2-5C47-5A95-E761-DA1397B09E51}"/>
              </a:ext>
            </a:extLst>
          </p:cNvPr>
          <p:cNvSpPr>
            <a:spLocks noGrp="1"/>
          </p:cNvSpPr>
          <p:nvPr>
            <p:ph type="sldNum" sz="quarter" idx="4"/>
          </p:nvPr>
        </p:nvSpPr>
        <p:spPr/>
        <p:txBody>
          <a:bodyPr/>
          <a:lstStyle/>
          <a:p>
            <a:fld id="{0AEF9A4B-07C9-404C-9053-A3A2AC3AD5D6}" type="slidenum">
              <a:rPr lang="en-GB" smtClean="0"/>
              <a:pPr/>
              <a:t>11</a:t>
            </a:fld>
            <a:endParaRPr lang="en-GB" dirty="0"/>
          </a:p>
        </p:txBody>
      </p:sp>
      <p:sp>
        <p:nvSpPr>
          <p:cNvPr id="3" name="內容版面配置區 2">
            <a:extLst>
              <a:ext uri="{FF2B5EF4-FFF2-40B4-BE49-F238E27FC236}">
                <a16:creationId xmlns:a16="http://schemas.microsoft.com/office/drawing/2014/main" id="{F99CEE86-384F-6211-C549-9D55D93A13E7}"/>
              </a:ext>
            </a:extLst>
          </p:cNvPr>
          <p:cNvSpPr>
            <a:spLocks noGrp="1"/>
          </p:cNvSpPr>
          <p:nvPr>
            <p:ph sz="quarter" idx="10"/>
          </p:nvPr>
        </p:nvSpPr>
        <p:spPr/>
        <p:txBody>
          <a:bodyPr/>
          <a:lstStyle/>
          <a:p>
            <a:r>
              <a:rPr lang="en-US" altLang="zh-TW" b="0" dirty="0"/>
              <a:t>Please refer to the sample code in the following paths to develop NNE applications</a:t>
            </a:r>
          </a:p>
          <a:p>
            <a:pPr lvl="1"/>
            <a:r>
              <a:rPr lang="en-US" altLang="zh-TW" b="0" dirty="0"/>
              <a:t>${ADSP_PATH}/HIFI5_SP/middleware/nne_model/sample/src/nne_sample_person_detect.cc</a:t>
            </a:r>
          </a:p>
          <a:p>
            <a:pPr lvl="1"/>
            <a:r>
              <a:rPr lang="en-US" altLang="zh-TW" b="0" dirty="0"/>
              <a:t>${ADSP_PATH}/HIFI5_SP/middleware/nne_model/sample/src/nne_sample_micro_speech_lstm.cc</a:t>
            </a:r>
          </a:p>
        </p:txBody>
      </p:sp>
      <p:sp>
        <p:nvSpPr>
          <p:cNvPr id="4" name="標題 3">
            <a:extLst>
              <a:ext uri="{FF2B5EF4-FFF2-40B4-BE49-F238E27FC236}">
                <a16:creationId xmlns:a16="http://schemas.microsoft.com/office/drawing/2014/main" id="{AB6EF41C-7B36-BA23-98DB-222B60E38C37}"/>
              </a:ext>
            </a:extLst>
          </p:cNvPr>
          <p:cNvSpPr>
            <a:spLocks noGrp="1"/>
          </p:cNvSpPr>
          <p:nvPr>
            <p:ph type="title"/>
          </p:nvPr>
        </p:nvSpPr>
        <p:spPr/>
        <p:txBody>
          <a:bodyPr/>
          <a:lstStyle/>
          <a:p>
            <a:r>
              <a:rPr lang="en-US" altLang="zh-TW" dirty="0"/>
              <a:t>Developer note – NNE sample code</a:t>
            </a:r>
            <a:endParaRPr lang="zh-TW" altLang="en-US" dirty="0"/>
          </a:p>
        </p:txBody>
      </p:sp>
    </p:spTree>
    <p:extLst>
      <p:ext uri="{BB962C8B-B14F-4D97-AF65-F5344CB8AC3E}">
        <p14:creationId xmlns:p14="http://schemas.microsoft.com/office/powerpoint/2010/main" val="10891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B0808CE-BD4F-499C-8939-1FA79401C6BC}"/>
              </a:ext>
            </a:extLst>
          </p:cNvPr>
          <p:cNvSpPr>
            <a:spLocks noGrp="1"/>
          </p:cNvSpPr>
          <p:nvPr>
            <p:ph type="sldNum" sz="quarter" idx="4"/>
          </p:nvPr>
        </p:nvSpPr>
        <p:spPr/>
        <p:txBody>
          <a:bodyPr/>
          <a:lstStyle/>
          <a:p>
            <a:fld id="{0AEF9A4B-07C9-404C-9053-A3A2AC3AD5D6}" type="slidenum">
              <a:rPr lang="en-GB" smtClean="0"/>
              <a:pPr/>
              <a:t>12</a:t>
            </a:fld>
            <a:endParaRPr lang="en-GB" dirty="0"/>
          </a:p>
        </p:txBody>
      </p:sp>
      <p:sp>
        <p:nvSpPr>
          <p:cNvPr id="3" name="內容版面配置區 2">
            <a:extLst>
              <a:ext uri="{FF2B5EF4-FFF2-40B4-BE49-F238E27FC236}">
                <a16:creationId xmlns:a16="http://schemas.microsoft.com/office/drawing/2014/main" id="{C927E9E1-9B67-42F3-BC9B-0E11269A0137}"/>
              </a:ext>
            </a:extLst>
          </p:cNvPr>
          <p:cNvSpPr>
            <a:spLocks noGrp="1"/>
          </p:cNvSpPr>
          <p:nvPr>
            <p:ph sz="quarter" idx="10"/>
          </p:nvPr>
        </p:nvSpPr>
        <p:spPr/>
        <p:txBody>
          <a:bodyPr>
            <a:normAutofit/>
          </a:bodyPr>
          <a:lstStyle/>
          <a:p>
            <a:r>
              <a:rPr lang="en-US" altLang="zh-TW" b="0" dirty="0"/>
              <a:t>These APIs are helper functions to run an NNE inference simply. They can be used not only in test functions but also applications. </a:t>
            </a:r>
            <a:endParaRPr lang="en-US" altLang="zh-TW" sz="1500" b="0" dirty="0"/>
          </a:p>
          <a:p>
            <a:r>
              <a:rPr lang="en-US" altLang="zh-TW" b="0" dirty="0"/>
              <a:t>These APIs are defined in the </a:t>
            </a:r>
            <a:r>
              <a:rPr lang="en-US" altLang="zh-TW" dirty="0" err="1"/>
              <a:t>nne_test_helper.h</a:t>
            </a:r>
            <a:endParaRPr lang="zh-TW" altLang="en-US" dirty="0"/>
          </a:p>
        </p:txBody>
      </p:sp>
      <p:sp>
        <p:nvSpPr>
          <p:cNvPr id="4" name="標題 3">
            <a:extLst>
              <a:ext uri="{FF2B5EF4-FFF2-40B4-BE49-F238E27FC236}">
                <a16:creationId xmlns:a16="http://schemas.microsoft.com/office/drawing/2014/main" id="{168958DE-C47B-44BC-81BC-67B0A616236F}"/>
              </a:ext>
            </a:extLst>
          </p:cNvPr>
          <p:cNvSpPr>
            <a:spLocks noGrp="1"/>
          </p:cNvSpPr>
          <p:nvPr>
            <p:ph type="title"/>
          </p:nvPr>
        </p:nvSpPr>
        <p:spPr/>
        <p:txBody>
          <a:bodyPr/>
          <a:lstStyle/>
          <a:p>
            <a:r>
              <a:rPr lang="en-US" altLang="zh-TW" dirty="0"/>
              <a:t>NNE test helper APIs</a:t>
            </a:r>
            <a:endParaRPr lang="zh-TW" altLang="en-US" dirty="0"/>
          </a:p>
        </p:txBody>
      </p:sp>
      <p:graphicFrame>
        <p:nvGraphicFramePr>
          <p:cNvPr id="5" name="表格 5">
            <a:extLst>
              <a:ext uri="{FF2B5EF4-FFF2-40B4-BE49-F238E27FC236}">
                <a16:creationId xmlns:a16="http://schemas.microsoft.com/office/drawing/2014/main" id="{BC71C134-7101-6C80-4E7E-0F9040D2CA88}"/>
              </a:ext>
            </a:extLst>
          </p:cNvPr>
          <p:cNvGraphicFramePr>
            <a:graphicFrameLocks noGrp="1"/>
          </p:cNvGraphicFramePr>
          <p:nvPr/>
        </p:nvGraphicFramePr>
        <p:xfrm>
          <a:off x="1524000" y="2749550"/>
          <a:ext cx="6096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38137561"/>
                    </a:ext>
                  </a:extLst>
                </a:gridCol>
                <a:gridCol w="4064000">
                  <a:extLst>
                    <a:ext uri="{9D8B030D-6E8A-4147-A177-3AD203B41FA5}">
                      <a16:colId xmlns:a16="http://schemas.microsoft.com/office/drawing/2014/main" val="2044969032"/>
                    </a:ext>
                  </a:extLst>
                </a:gridCol>
              </a:tblGrid>
              <a:tr h="370840">
                <a:tc>
                  <a:txBody>
                    <a:bodyPr/>
                    <a:lstStyle/>
                    <a:p>
                      <a:r>
                        <a:rPr lang="en-US" altLang="zh-TW" dirty="0"/>
                        <a:t>APIs</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a:t>Description </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52874468"/>
                  </a:ext>
                </a:extLst>
              </a:tr>
              <a:tr h="370840">
                <a:tc>
                  <a:txBody>
                    <a:bodyPr/>
                    <a:lstStyle/>
                    <a:p>
                      <a:r>
                        <a:rPr lang="en-US" altLang="zh-TW" sz="900" dirty="0" err="1"/>
                        <a:t>mtk_interpreter_init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The function is a helper function to create a </a:t>
                      </a:r>
                      <a:r>
                        <a:rPr lang="en-US" altLang="zh-TW" sz="900" dirty="0" err="1"/>
                        <a:t>tflite</a:t>
                      </a:r>
                      <a:r>
                        <a:rPr lang="en-US" altLang="zh-TW" sz="900" dirty="0"/>
                        <a:t>::</a:t>
                      </a:r>
                      <a:r>
                        <a:rPr lang="en-US" altLang="zh-TW" sz="900" dirty="0" err="1"/>
                        <a:t>MicroInterpreter</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324489"/>
                  </a:ext>
                </a:extLst>
              </a:tr>
              <a:tr h="370840">
                <a:tc>
                  <a:txBody>
                    <a:bodyPr/>
                    <a:lstStyle/>
                    <a:p>
                      <a:r>
                        <a:rPr lang="en-US" altLang="zh-TW" sz="900" dirty="0" err="1"/>
                        <a:t>mtk_interpreter_release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The function is a helper function to destruct a </a:t>
                      </a:r>
                      <a:r>
                        <a:rPr lang="en-US" altLang="zh-TW" sz="900" dirty="0" err="1"/>
                        <a:t>tflite</a:t>
                      </a:r>
                      <a:r>
                        <a:rPr lang="en-US" altLang="zh-TW" sz="900" dirty="0"/>
                        <a:t>::</a:t>
                      </a:r>
                      <a:r>
                        <a:rPr lang="en-US" altLang="zh-TW" sz="900" dirty="0" err="1"/>
                        <a:t>MicroInterpreter</a:t>
                      </a: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73591"/>
                  </a:ext>
                </a:extLst>
              </a:tr>
              <a:tr h="370840">
                <a:tc>
                  <a:txBody>
                    <a:bodyPr/>
                    <a:lstStyle/>
                    <a:p>
                      <a:r>
                        <a:rPr lang="en-US" altLang="zh-TW" sz="900" dirty="0" err="1"/>
                        <a:t>mtk_interpreter_invoke_test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The function is a helper function to call the </a:t>
                      </a:r>
                      <a:r>
                        <a:rPr lang="en-US" altLang="zh-TW" sz="900" dirty="0" err="1"/>
                        <a:t>tflite</a:t>
                      </a:r>
                      <a:r>
                        <a:rPr lang="en-US" altLang="zh-TW" sz="900" dirty="0"/>
                        <a:t>::</a:t>
                      </a:r>
                      <a:r>
                        <a:rPr lang="en-US" altLang="zh-TW" sz="900" dirty="0" err="1"/>
                        <a:t>MicroInterpreter</a:t>
                      </a:r>
                      <a:r>
                        <a:rPr lang="en-US" altLang="zh-TW" sz="900" dirty="0"/>
                        <a:t>-&gt;Invoke()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461844"/>
                  </a:ext>
                </a:extLst>
              </a:tr>
            </a:tbl>
          </a:graphicData>
        </a:graphic>
      </p:graphicFrame>
    </p:spTree>
    <p:extLst>
      <p:ext uri="{BB962C8B-B14F-4D97-AF65-F5344CB8AC3E}">
        <p14:creationId xmlns:p14="http://schemas.microsoft.com/office/powerpoint/2010/main" val="209207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D672C76-0AA7-058D-B64A-F0767BA2FE28}"/>
              </a:ext>
            </a:extLst>
          </p:cNvPr>
          <p:cNvSpPr>
            <a:spLocks noGrp="1"/>
          </p:cNvSpPr>
          <p:nvPr>
            <p:ph type="sldNum" sz="quarter" idx="4"/>
          </p:nvPr>
        </p:nvSpPr>
        <p:spPr/>
        <p:txBody>
          <a:bodyPr/>
          <a:lstStyle/>
          <a:p>
            <a:fld id="{0AEF9A4B-07C9-404C-9053-A3A2AC3AD5D6}" type="slidenum">
              <a:rPr lang="en-GB" smtClean="0"/>
              <a:pPr/>
              <a:t>13</a:t>
            </a:fld>
            <a:endParaRPr lang="en-GB" dirty="0"/>
          </a:p>
        </p:txBody>
      </p:sp>
      <p:sp>
        <p:nvSpPr>
          <p:cNvPr id="4" name="標題 3">
            <a:extLst>
              <a:ext uri="{FF2B5EF4-FFF2-40B4-BE49-F238E27FC236}">
                <a16:creationId xmlns:a16="http://schemas.microsoft.com/office/drawing/2014/main" id="{48731479-75B1-2BA6-769D-AA3A739BAA1F}"/>
              </a:ext>
            </a:extLst>
          </p:cNvPr>
          <p:cNvSpPr>
            <a:spLocks noGrp="1"/>
          </p:cNvSpPr>
          <p:nvPr>
            <p:ph type="title"/>
          </p:nvPr>
        </p:nvSpPr>
        <p:spPr/>
        <p:txBody>
          <a:bodyPr/>
          <a:lstStyle/>
          <a:p>
            <a:r>
              <a:rPr lang="en-US" altLang="zh-TW" dirty="0"/>
              <a:t>NNE test helper APIs (1)</a:t>
            </a:r>
            <a:endParaRPr lang="zh-TW" altLang="en-US" dirty="0"/>
          </a:p>
        </p:txBody>
      </p:sp>
      <p:graphicFrame>
        <p:nvGraphicFramePr>
          <p:cNvPr id="5" name="表格 5">
            <a:extLst>
              <a:ext uri="{FF2B5EF4-FFF2-40B4-BE49-F238E27FC236}">
                <a16:creationId xmlns:a16="http://schemas.microsoft.com/office/drawing/2014/main" id="{1D067FB0-D1A9-17F3-707B-97908B105EF1}"/>
              </a:ext>
            </a:extLst>
          </p:cNvPr>
          <p:cNvGraphicFramePr>
            <a:graphicFrameLocks noGrp="1"/>
          </p:cNvGraphicFramePr>
          <p:nvPr>
            <p:extLst>
              <p:ext uri="{D42A27DB-BD31-4B8C-83A1-F6EECF244321}">
                <p14:modId xmlns:p14="http://schemas.microsoft.com/office/powerpoint/2010/main" val="2684939364"/>
              </p:ext>
            </p:extLst>
          </p:nvPr>
        </p:nvGraphicFramePr>
        <p:xfrm>
          <a:off x="92075" y="1040091"/>
          <a:ext cx="8959850" cy="4069080"/>
        </p:xfrm>
        <a:graphic>
          <a:graphicData uri="http://schemas.openxmlformats.org/drawingml/2006/table">
            <a:tbl>
              <a:tblPr firstRow="1" bandRow="1">
                <a:tableStyleId>{5C22544A-7EE6-4342-B048-85BDC9FD1C3A}</a:tableStyleId>
              </a:tblPr>
              <a:tblGrid>
                <a:gridCol w="2130425">
                  <a:extLst>
                    <a:ext uri="{9D8B030D-6E8A-4147-A177-3AD203B41FA5}">
                      <a16:colId xmlns:a16="http://schemas.microsoft.com/office/drawing/2014/main" val="3538137561"/>
                    </a:ext>
                  </a:extLst>
                </a:gridCol>
                <a:gridCol w="2276475">
                  <a:extLst>
                    <a:ext uri="{9D8B030D-6E8A-4147-A177-3AD203B41FA5}">
                      <a16:colId xmlns:a16="http://schemas.microsoft.com/office/drawing/2014/main" val="2354633328"/>
                    </a:ext>
                  </a:extLst>
                </a:gridCol>
                <a:gridCol w="4552950">
                  <a:extLst>
                    <a:ext uri="{9D8B030D-6E8A-4147-A177-3AD203B41FA5}">
                      <a16:colId xmlns:a16="http://schemas.microsoft.com/office/drawing/2014/main" val="1080441283"/>
                    </a:ext>
                  </a:extLst>
                </a:gridCol>
              </a:tblGrid>
              <a:tr h="0">
                <a:tc>
                  <a:txBody>
                    <a:bodyPr/>
                    <a:lstStyle/>
                    <a:p>
                      <a:r>
                        <a:rPr lang="en-US" altLang="zh-TW" sz="1200"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dirty="0"/>
                        <a:t>arguments</a:t>
                      </a:r>
                      <a:endParaRPr lang="zh-TW" altLang="en-US" sz="12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dirty="0"/>
                        <a:t>return</a:t>
                      </a:r>
                      <a:endParaRPr lang="zh-TW" altLang="en-US" sz="12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52874468"/>
                  </a:ext>
                </a:extLst>
              </a:tr>
              <a:tr h="844589">
                <a:tc rowSpan="3">
                  <a:txBody>
                    <a:bodyPr/>
                    <a:lstStyle/>
                    <a:p>
                      <a:r>
                        <a:rPr lang="en-US" altLang="zh-TW" sz="900" b="1" dirty="0" err="1">
                          <a:solidFill>
                            <a:schemeClr val="tx1"/>
                          </a:solidFill>
                        </a:rPr>
                        <a:t>mtk_interpreter_init</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char *</a:t>
                      </a:r>
                      <a:r>
                        <a:rPr lang="en-US" altLang="zh-TW" sz="900" dirty="0" err="1"/>
                        <a:t>network_name</a:t>
                      </a:r>
                      <a:endParaRPr lang="en-US" altLang="zh-TW" sz="900" dirty="0"/>
                    </a:p>
                    <a:p>
                      <a:r>
                        <a:rPr lang="en-US" altLang="zh-TW" sz="900" dirty="0"/>
                        <a:t>void *</a:t>
                      </a:r>
                      <a:r>
                        <a:rPr lang="en-US" altLang="zh-TW" sz="900" dirty="0">
                          <a:highlight>
                            <a:srgbClr val="FFFF00"/>
                          </a:highlight>
                        </a:rPr>
                        <a:t>interpreter</a:t>
                      </a:r>
                    </a:p>
                    <a:p>
                      <a:r>
                        <a:rPr lang="en-US" altLang="zh-TW" sz="900" dirty="0"/>
                        <a:t>void *</a:t>
                      </a:r>
                      <a:r>
                        <a:rPr lang="en-US" altLang="zh-TW" sz="900" dirty="0" err="1"/>
                        <a:t>tensor_arena</a:t>
                      </a:r>
                      <a:endParaRPr lang="en-US" altLang="zh-TW" sz="900" dirty="0"/>
                    </a:p>
                    <a:p>
                      <a:r>
                        <a:rPr lang="en-US" altLang="zh-TW" sz="900" dirty="0" err="1"/>
                        <a:t>size_t</a:t>
                      </a:r>
                      <a:r>
                        <a:rPr lang="en-US" altLang="zh-TW" sz="900" dirty="0"/>
                        <a:t> </a:t>
                      </a:r>
                      <a:r>
                        <a:rPr lang="en-US" altLang="zh-TW" sz="900" dirty="0" err="1"/>
                        <a:t>tensor_arena_size</a:t>
                      </a:r>
                      <a:endParaRPr lang="en-US" altLang="zh-TW" sz="900" dirty="0"/>
                    </a:p>
                    <a:p>
                      <a:r>
                        <a:rPr lang="en-US" altLang="zh-TW" sz="900" dirty="0"/>
                        <a:t>void *</a:t>
                      </a:r>
                      <a:r>
                        <a:rPr lang="en-US" altLang="zh-TW" sz="900" dirty="0" err="1"/>
                        <a:t>p_op_resolver</a:t>
                      </a:r>
                      <a:endParaRPr lang="en-US" altLang="zh-TW" sz="900" dirty="0"/>
                    </a:p>
                    <a:p>
                      <a:r>
                        <a:rPr lang="en-US" altLang="zh-TW" sz="900" dirty="0"/>
                        <a:t>int </a:t>
                      </a:r>
                      <a:r>
                        <a:rPr lang="en-US" altLang="zh-TW" sz="900" dirty="0" err="1"/>
                        <a:t>kNumResourceVariables</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void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the address of interpreter (the same as the input argument </a:t>
                      </a:r>
                      <a:r>
                        <a:rPr lang="en-US" altLang="zh-TW" sz="900" i="1" dirty="0">
                          <a:highlight>
                            <a:srgbClr val="FFFF00"/>
                          </a:highlight>
                        </a:rPr>
                        <a:t>interpreter</a:t>
                      </a:r>
                      <a:r>
                        <a:rPr lang="en-US" altLang="zh-TW" sz="900" dirty="0"/>
                        <a:t> )</a:t>
                      </a:r>
                      <a:br>
                        <a:rPr lang="en-US" altLang="zh-TW" sz="900" dirty="0"/>
                      </a:br>
                      <a:r>
                        <a:rPr lang="en-US" altLang="zh-TW" sz="900" dirty="0"/>
                        <a:t>               NULL if initialization for the interpreter failed.</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731717"/>
                  </a:ext>
                </a:extLst>
              </a:tr>
              <a:tr h="152439">
                <a:tc vMerge="1">
                  <a:txBody>
                    <a:bodyPr/>
                    <a:lstStyle/>
                    <a:p>
                      <a:endParaRPr lang="zh-TW" altLang="en-US"/>
                    </a:p>
                  </a:txBody>
                  <a:tcPr/>
                </a:tc>
                <a:tc gridSpan="2">
                  <a:txBody>
                    <a:bodyPr/>
                    <a:lstStyle/>
                    <a:p>
                      <a:r>
                        <a:rPr lang="en-US" altLang="zh-TW" sz="1200" b="1" dirty="0">
                          <a:solidFill>
                            <a:schemeClr val="bg1"/>
                          </a:solidFill>
                        </a:rPr>
                        <a:t>Description</a:t>
                      </a:r>
                      <a:endParaRPr lang="zh-TW" altLang="en-US" sz="12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87116664"/>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indent="-171450">
                        <a:buFont typeface="Arial" panose="020B0604020202020204" pitchFamily="34" charset="0"/>
                        <a:buChar char="•"/>
                      </a:pPr>
                      <a:r>
                        <a:rPr lang="en-US" altLang="zh-TW" sz="900" dirty="0"/>
                        <a:t>Defined in </a:t>
                      </a:r>
                      <a:r>
                        <a:rPr lang="en-US" altLang="zh-TW" sz="900" b="1" dirty="0" err="1"/>
                        <a:t>nne_test_helper.h</a:t>
                      </a:r>
                      <a:endParaRPr lang="en-US" altLang="zh-TW" sz="900" b="1" dirty="0"/>
                    </a:p>
                    <a:p>
                      <a:pPr marL="171450" indent="-171450">
                        <a:buFont typeface="Arial" panose="020B0604020202020204" pitchFamily="34" charset="0"/>
                        <a:buChar char="•"/>
                      </a:pPr>
                      <a:r>
                        <a:rPr lang="en-US" altLang="zh-TW" sz="900" dirty="0"/>
                        <a:t>The function is a helper function to create a </a:t>
                      </a:r>
                      <a:r>
                        <a:rPr lang="en-US" altLang="zh-TW" sz="900" dirty="0" err="1"/>
                        <a:t>tflite</a:t>
                      </a:r>
                      <a:r>
                        <a:rPr lang="en-US" altLang="zh-TW" sz="900" dirty="0"/>
                        <a:t>::</a:t>
                      </a:r>
                      <a:r>
                        <a:rPr lang="en-US" altLang="zh-TW" sz="900" dirty="0" err="1"/>
                        <a:t>MicroInterpreter</a:t>
                      </a:r>
                      <a:r>
                        <a:rPr lang="en-US" altLang="zh-TW" sz="900" dirty="0"/>
                        <a:t>.</a:t>
                      </a:r>
                    </a:p>
                    <a:p>
                      <a:pPr marL="171450" indent="-171450">
                        <a:buFont typeface="Arial" panose="020B0604020202020204" pitchFamily="34" charset="0"/>
                        <a:buChar char="•"/>
                      </a:pPr>
                      <a:r>
                        <a:rPr lang="en-US" altLang="zh-TW" sz="900" dirty="0"/>
                        <a:t>The function does not allocate memory. The arguments </a:t>
                      </a:r>
                      <a:r>
                        <a:rPr lang="en-US" altLang="zh-TW" sz="900" b="1" dirty="0">
                          <a:solidFill>
                            <a:schemeClr val="accent4"/>
                          </a:solidFill>
                        </a:rPr>
                        <a:t>interpreter</a:t>
                      </a:r>
                      <a:r>
                        <a:rPr lang="en-US" altLang="zh-TW" sz="900" dirty="0">
                          <a:solidFill>
                            <a:schemeClr val="accent4"/>
                          </a:solidFill>
                        </a:rPr>
                        <a:t>, </a:t>
                      </a:r>
                      <a:r>
                        <a:rPr lang="en-US" altLang="zh-TW" sz="900" b="1" dirty="0" err="1">
                          <a:solidFill>
                            <a:schemeClr val="accent4"/>
                          </a:solidFill>
                        </a:rPr>
                        <a:t>tensor_arena</a:t>
                      </a:r>
                      <a:r>
                        <a:rPr lang="en-US" altLang="zh-TW" sz="900" dirty="0">
                          <a:solidFill>
                            <a:schemeClr val="accent4"/>
                          </a:solidFill>
                        </a:rPr>
                        <a:t>, and </a:t>
                      </a:r>
                      <a:r>
                        <a:rPr lang="en-US" altLang="zh-TW" sz="900" b="1" dirty="0" err="1">
                          <a:solidFill>
                            <a:schemeClr val="accent4"/>
                          </a:solidFill>
                        </a:rPr>
                        <a:t>p_op_resolver</a:t>
                      </a:r>
                      <a:r>
                        <a:rPr lang="en-US" altLang="zh-TW" sz="900" b="1" dirty="0">
                          <a:solidFill>
                            <a:schemeClr val="accent4"/>
                          </a:solidFill>
                        </a:rPr>
                        <a:t> </a:t>
                      </a:r>
                      <a:r>
                        <a:rPr lang="en-US" altLang="zh-TW" sz="900" dirty="0">
                          <a:solidFill>
                            <a:schemeClr val="accent4"/>
                          </a:solidFill>
                        </a:rPr>
                        <a:t>should be allocated </a:t>
                      </a:r>
                      <a:r>
                        <a:rPr lang="en-US" altLang="zh-TW" sz="900" dirty="0">
                          <a:solidFill>
                            <a:srgbClr val="FF0000"/>
                          </a:solidFill>
                        </a:rPr>
                        <a:t>through </a:t>
                      </a:r>
                      <a:r>
                        <a:rPr lang="en-US" altLang="zh-TW" sz="900" dirty="0" err="1">
                          <a:solidFill>
                            <a:srgbClr val="FF0000"/>
                          </a:solidFill>
                        </a:rPr>
                        <a:t>Aurisys</a:t>
                      </a:r>
                      <a:r>
                        <a:rPr lang="en-US" altLang="zh-TW" sz="900" dirty="0">
                          <a:solidFill>
                            <a:srgbClr val="FF0000"/>
                          </a:solidFill>
                        </a:rPr>
                        <a:t> (</a:t>
                      </a:r>
                      <a:r>
                        <a:rPr lang="en-US" altLang="zh-TW" sz="900" dirty="0" err="1">
                          <a:solidFill>
                            <a:srgbClr val="FF0000"/>
                          </a:solidFill>
                        </a:rPr>
                        <a:t>arsi_query_wroking_buf_size</a:t>
                      </a:r>
                      <a:r>
                        <a:rPr lang="en-US" altLang="zh-TW" sz="900" dirty="0">
                          <a:solidFill>
                            <a:srgbClr val="FF0000"/>
                          </a:solidFill>
                        </a:rPr>
                        <a:t>()) </a:t>
                      </a:r>
                      <a:r>
                        <a:rPr lang="en-US" altLang="zh-TW" sz="900" dirty="0"/>
                        <a:t>before calling this function. </a:t>
                      </a:r>
                    </a:p>
                    <a:p>
                      <a:pPr marL="171450" indent="-171450">
                        <a:buFont typeface="Arial" panose="020B0604020202020204" pitchFamily="34" charset="0"/>
                        <a:buChar char="•"/>
                      </a:pPr>
                      <a:r>
                        <a:rPr lang="en-US" altLang="zh-TW" sz="900" dirty="0"/>
                        <a:t>Moreover, the argument </a:t>
                      </a:r>
                      <a:r>
                        <a:rPr lang="en-US" altLang="zh-TW" sz="900" b="1" dirty="0" err="1">
                          <a:solidFill>
                            <a:schemeClr val="accent4"/>
                          </a:solidFill>
                        </a:rPr>
                        <a:t>p_op_resolver</a:t>
                      </a:r>
                      <a:r>
                        <a:rPr lang="en-US" altLang="zh-TW" sz="900" b="1" dirty="0">
                          <a:solidFill>
                            <a:schemeClr val="accent4"/>
                          </a:solidFill>
                        </a:rPr>
                        <a:t> </a:t>
                      </a:r>
                      <a:r>
                        <a:rPr lang="en-US" altLang="zh-TW" sz="900" dirty="0">
                          <a:solidFill>
                            <a:schemeClr val="accent4"/>
                          </a:solidFill>
                        </a:rPr>
                        <a:t>should be added required </a:t>
                      </a:r>
                      <a:r>
                        <a:rPr lang="en-US" altLang="zh-TW" sz="900" dirty="0" err="1">
                          <a:solidFill>
                            <a:schemeClr val="accent4"/>
                          </a:solidFill>
                        </a:rPr>
                        <a:t>op_resolvers</a:t>
                      </a:r>
                      <a:r>
                        <a:rPr lang="en-US" altLang="zh-TW" sz="900" dirty="0">
                          <a:solidFill>
                            <a:schemeClr val="accent4"/>
                          </a:solidFill>
                        </a:rPr>
                        <a:t> </a:t>
                      </a:r>
                      <a:r>
                        <a:rPr lang="en-US" altLang="zh-TW" sz="900" dirty="0"/>
                        <a:t>before calling this function (please see this </a:t>
                      </a:r>
                      <a:r>
                        <a:rPr lang="en-US" altLang="zh-TW" sz="900" dirty="0">
                          <a:hlinkClick r:id="rId2" action="ppaction://hlinksldjump"/>
                        </a:rPr>
                        <a:t>page</a:t>
                      </a:r>
                      <a:r>
                        <a:rPr lang="en-US" altLang="zh-TW" sz="900" dirty="0"/>
                        <a:t>).</a:t>
                      </a:r>
                    </a:p>
                    <a:p>
                      <a:pPr marL="171450" indent="-171450">
                        <a:buFont typeface="Arial" panose="020B0604020202020204" pitchFamily="34" charset="0"/>
                        <a:buChar char="•"/>
                      </a:pPr>
                      <a:r>
                        <a:rPr lang="en-US" altLang="zh-TW" sz="900" dirty="0"/>
                        <a:t>If developer needs an interpreter other than a </a:t>
                      </a:r>
                      <a:r>
                        <a:rPr lang="en-US" altLang="zh-TW" sz="900" dirty="0" err="1"/>
                        <a:t>tflite</a:t>
                      </a:r>
                      <a:r>
                        <a:rPr lang="en-US" altLang="zh-TW" sz="900" dirty="0"/>
                        <a:t>::</a:t>
                      </a:r>
                      <a:r>
                        <a:rPr lang="en-US" altLang="zh-TW" sz="900" dirty="0" err="1"/>
                        <a:t>MicroInterpreter</a:t>
                      </a:r>
                      <a:r>
                        <a:rPr lang="en-US" altLang="zh-TW" sz="900" dirty="0"/>
                        <a:t>, this function is not applicable to the usage. Please follows the constructor of the desired Interpreter to create an instance.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1450" indent="-171450">
                        <a:buFont typeface="Arial" panose="020B0604020202020204" pitchFamily="34" charset="0"/>
                        <a:buChar char="•"/>
                      </a:pP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6065297"/>
                  </a:ext>
                </a:extLst>
              </a:tr>
              <a:tr h="0">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89809474"/>
                  </a:ext>
                </a:extLst>
              </a:tr>
              <a:tr h="322619">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t>mtk_interpreter_release</a:t>
                      </a:r>
                      <a:endParaRPr lang="en-US" altLang="zh-TW" sz="900" b="1"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void *interpreter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void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no return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73591"/>
                  </a:ext>
                </a:extLst>
              </a:tr>
              <a:tr h="27432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897742"/>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nne_test_helper.h</a:t>
                      </a:r>
                      <a:endParaRPr lang="en-US" altLang="zh-TW" sz="9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The function is a helper function to destruct a </a:t>
                      </a:r>
                      <a:r>
                        <a:rPr lang="en-US" altLang="zh-TW" sz="900" dirty="0" err="1"/>
                        <a:t>tflite</a:t>
                      </a:r>
                      <a:r>
                        <a:rPr lang="en-US" altLang="zh-TW" sz="900" dirty="0"/>
                        <a:t>::</a:t>
                      </a:r>
                      <a:r>
                        <a:rPr lang="en-US" altLang="zh-TW" sz="900" dirty="0" err="1"/>
                        <a:t>MicroInterpreter</a:t>
                      </a:r>
                      <a:r>
                        <a:rPr lang="en-US" altLang="zh-TW" sz="90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The function does not free the memory. It only call the destructor of </a:t>
                      </a:r>
                      <a:r>
                        <a:rPr lang="en-US" altLang="zh-TW" sz="900" dirty="0" err="1"/>
                        <a:t>tflite</a:t>
                      </a:r>
                      <a:r>
                        <a:rPr lang="en-US" altLang="zh-TW" sz="900" dirty="0"/>
                        <a:t>::</a:t>
                      </a:r>
                      <a:r>
                        <a:rPr lang="en-US" altLang="zh-TW" sz="900" dirty="0" err="1"/>
                        <a:t>MicroInterpreter</a:t>
                      </a:r>
                      <a:r>
                        <a:rPr lang="en-US" altLang="zh-TW" sz="900" dirty="0"/>
                        <a:t>, so </a:t>
                      </a:r>
                      <a:r>
                        <a:rPr lang="en-US" altLang="zh-TW" sz="900" dirty="0">
                          <a:solidFill>
                            <a:schemeClr val="accent4"/>
                          </a:solidFill>
                        </a:rPr>
                        <a:t>developers should free the memory space of interpreter after calling this function</a:t>
                      </a:r>
                      <a:r>
                        <a:rPr lang="en-US" altLang="zh-TW" sz="900" dirty="0"/>
                        <a:t>. </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5694069"/>
                  </a:ext>
                </a:extLst>
              </a:tr>
            </a:tbl>
          </a:graphicData>
        </a:graphic>
      </p:graphicFrame>
    </p:spTree>
    <p:extLst>
      <p:ext uri="{BB962C8B-B14F-4D97-AF65-F5344CB8AC3E}">
        <p14:creationId xmlns:p14="http://schemas.microsoft.com/office/powerpoint/2010/main" val="7776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D672C76-0AA7-058D-B64A-F0767BA2FE28}"/>
              </a:ext>
            </a:extLst>
          </p:cNvPr>
          <p:cNvSpPr>
            <a:spLocks noGrp="1"/>
          </p:cNvSpPr>
          <p:nvPr>
            <p:ph type="sldNum" sz="quarter" idx="4"/>
          </p:nvPr>
        </p:nvSpPr>
        <p:spPr/>
        <p:txBody>
          <a:bodyPr/>
          <a:lstStyle/>
          <a:p>
            <a:fld id="{0AEF9A4B-07C9-404C-9053-A3A2AC3AD5D6}" type="slidenum">
              <a:rPr lang="en-GB" smtClean="0"/>
              <a:pPr/>
              <a:t>14</a:t>
            </a:fld>
            <a:endParaRPr lang="en-GB" dirty="0"/>
          </a:p>
        </p:txBody>
      </p:sp>
      <p:sp>
        <p:nvSpPr>
          <p:cNvPr id="4" name="標題 3">
            <a:extLst>
              <a:ext uri="{FF2B5EF4-FFF2-40B4-BE49-F238E27FC236}">
                <a16:creationId xmlns:a16="http://schemas.microsoft.com/office/drawing/2014/main" id="{48731479-75B1-2BA6-769D-AA3A739BAA1F}"/>
              </a:ext>
            </a:extLst>
          </p:cNvPr>
          <p:cNvSpPr>
            <a:spLocks noGrp="1"/>
          </p:cNvSpPr>
          <p:nvPr>
            <p:ph type="title"/>
          </p:nvPr>
        </p:nvSpPr>
        <p:spPr/>
        <p:txBody>
          <a:bodyPr/>
          <a:lstStyle/>
          <a:p>
            <a:r>
              <a:rPr lang="en-US" altLang="zh-TW" dirty="0"/>
              <a:t>NNE test helper APIs (2)</a:t>
            </a:r>
            <a:endParaRPr lang="zh-TW" altLang="en-US" dirty="0"/>
          </a:p>
        </p:txBody>
      </p:sp>
      <p:graphicFrame>
        <p:nvGraphicFramePr>
          <p:cNvPr id="5" name="表格 5">
            <a:extLst>
              <a:ext uri="{FF2B5EF4-FFF2-40B4-BE49-F238E27FC236}">
                <a16:creationId xmlns:a16="http://schemas.microsoft.com/office/drawing/2014/main" id="{1D067FB0-D1A9-17F3-707B-97908B105EF1}"/>
              </a:ext>
            </a:extLst>
          </p:cNvPr>
          <p:cNvGraphicFramePr>
            <a:graphicFrameLocks noGrp="1"/>
          </p:cNvGraphicFramePr>
          <p:nvPr>
            <p:extLst>
              <p:ext uri="{D42A27DB-BD31-4B8C-83A1-F6EECF244321}">
                <p14:modId xmlns:p14="http://schemas.microsoft.com/office/powerpoint/2010/main" val="2085236098"/>
              </p:ext>
            </p:extLst>
          </p:nvPr>
        </p:nvGraphicFramePr>
        <p:xfrm>
          <a:off x="92075" y="1040091"/>
          <a:ext cx="8959850" cy="2514600"/>
        </p:xfrm>
        <a:graphic>
          <a:graphicData uri="http://schemas.openxmlformats.org/drawingml/2006/table">
            <a:tbl>
              <a:tblPr firstRow="1" bandRow="1">
                <a:tableStyleId>{5C22544A-7EE6-4342-B048-85BDC9FD1C3A}</a:tableStyleId>
              </a:tblPr>
              <a:tblGrid>
                <a:gridCol w="2130425">
                  <a:extLst>
                    <a:ext uri="{9D8B030D-6E8A-4147-A177-3AD203B41FA5}">
                      <a16:colId xmlns:a16="http://schemas.microsoft.com/office/drawing/2014/main" val="3538137561"/>
                    </a:ext>
                  </a:extLst>
                </a:gridCol>
                <a:gridCol w="2276475">
                  <a:extLst>
                    <a:ext uri="{9D8B030D-6E8A-4147-A177-3AD203B41FA5}">
                      <a16:colId xmlns:a16="http://schemas.microsoft.com/office/drawing/2014/main" val="2354633328"/>
                    </a:ext>
                  </a:extLst>
                </a:gridCol>
                <a:gridCol w="4552950">
                  <a:extLst>
                    <a:ext uri="{9D8B030D-6E8A-4147-A177-3AD203B41FA5}">
                      <a16:colId xmlns:a16="http://schemas.microsoft.com/office/drawing/2014/main" val="1080441283"/>
                    </a:ext>
                  </a:extLst>
                </a:gridCol>
              </a:tblGrid>
              <a:tr h="139739">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289809474"/>
                  </a:ext>
                </a:extLst>
              </a:tr>
              <a:tr h="118872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solidFill>
                            <a:schemeClr val="tx1"/>
                          </a:solidFill>
                        </a:rPr>
                        <a:t>mtk_interpreter_invoke_test</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char *</a:t>
                      </a:r>
                      <a:r>
                        <a:rPr lang="en-US" altLang="zh-TW" sz="900" dirty="0" err="1"/>
                        <a:t>network_name</a:t>
                      </a:r>
                      <a:endParaRPr lang="en-US" altLang="zh-TW" sz="900" dirty="0"/>
                    </a:p>
                    <a:p>
                      <a:r>
                        <a:rPr lang="en-US" altLang="zh-TW" sz="900" dirty="0"/>
                        <a:t>void *</a:t>
                      </a:r>
                      <a:r>
                        <a:rPr lang="en-US" altLang="zh-TW" sz="900" dirty="0" err="1"/>
                        <a:t>p_interpreter</a:t>
                      </a:r>
                      <a:endParaRPr lang="en-US" altLang="zh-TW" sz="900" dirty="0"/>
                    </a:p>
                    <a:p>
                      <a:r>
                        <a:rPr lang="en-US" altLang="zh-TW" sz="900" dirty="0"/>
                        <a:t>void *</a:t>
                      </a:r>
                      <a:r>
                        <a:rPr lang="en-US" altLang="zh-TW" sz="900" dirty="0" err="1"/>
                        <a:t>input_buf</a:t>
                      </a:r>
                      <a:endParaRPr lang="en-US" altLang="zh-TW" sz="900" dirty="0"/>
                    </a:p>
                    <a:p>
                      <a:r>
                        <a:rPr lang="en-US" altLang="zh-TW" sz="900" dirty="0" err="1"/>
                        <a:t>size_t</a:t>
                      </a:r>
                      <a:r>
                        <a:rPr lang="en-US" altLang="zh-TW" sz="900" dirty="0"/>
                        <a:t> </a:t>
                      </a:r>
                      <a:r>
                        <a:rPr lang="en-US" altLang="zh-TW" sz="900" dirty="0" err="1"/>
                        <a:t>input_buf_size</a:t>
                      </a:r>
                      <a:endParaRPr lang="en-US" altLang="zh-TW" sz="900" dirty="0"/>
                    </a:p>
                    <a:p>
                      <a:r>
                        <a:rPr lang="en-US" altLang="zh-TW" sz="900" dirty="0"/>
                        <a:t>void *</a:t>
                      </a:r>
                      <a:r>
                        <a:rPr lang="en-US" altLang="zh-TW" sz="900" dirty="0" err="1"/>
                        <a:t>output_buf</a:t>
                      </a:r>
                      <a:endParaRPr lang="en-US" altLang="zh-TW" sz="900" dirty="0"/>
                    </a:p>
                    <a:p>
                      <a:r>
                        <a:rPr lang="en-US" altLang="zh-TW" sz="900" dirty="0" err="1"/>
                        <a:t>size_t</a:t>
                      </a:r>
                      <a:r>
                        <a:rPr lang="en-US" altLang="zh-TW" sz="900" dirty="0"/>
                        <a:t> </a:t>
                      </a:r>
                      <a:r>
                        <a:rPr lang="en-US" altLang="zh-TW" sz="900" dirty="0" err="1"/>
                        <a:t>output_buf_size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the result of interpreter invoke test. This function will return the following values.</a:t>
                      </a:r>
                      <a:br>
                        <a:rPr lang="en-US" altLang="zh-TW" sz="900" dirty="0"/>
                      </a:br>
                      <a:r>
                        <a:rPr lang="en-US" altLang="zh-TW" sz="900" dirty="0"/>
                        <a:t>0: finish interpreter invoke</a:t>
                      </a:r>
                      <a:br>
                        <a:rPr lang="en-US" altLang="zh-TW" sz="900" dirty="0"/>
                      </a:br>
                      <a:r>
                        <a:rPr lang="en-US" altLang="zh-TW" sz="900" dirty="0"/>
                        <a:t>-1: argument is NULL</a:t>
                      </a:r>
                      <a:br>
                        <a:rPr lang="en-US" altLang="zh-TW" sz="900" dirty="0"/>
                      </a:br>
                      <a:r>
                        <a:rPr lang="en-US" altLang="zh-TW" sz="900" dirty="0"/>
                        <a:t>-2: arguments </a:t>
                      </a:r>
                      <a:r>
                        <a:rPr lang="en-US" altLang="zh-TW" sz="900" dirty="0" err="1"/>
                        <a:t>input_buf_size</a:t>
                      </a:r>
                      <a:r>
                        <a:rPr lang="en-US" altLang="zh-TW" sz="900" dirty="0"/>
                        <a:t> or </a:t>
                      </a:r>
                      <a:r>
                        <a:rPr lang="en-US" altLang="zh-TW" sz="900" dirty="0" err="1"/>
                        <a:t>output_buf_size</a:t>
                      </a:r>
                      <a:r>
                        <a:rPr lang="en-US" altLang="zh-TW" sz="900" dirty="0"/>
                        <a:t> are 0</a:t>
                      </a:r>
                      <a:br>
                        <a:rPr lang="en-US" altLang="zh-TW" sz="900" dirty="0"/>
                      </a:br>
                      <a:r>
                        <a:rPr lang="en-US" altLang="zh-TW" sz="900" dirty="0"/>
                        <a:t>-3: input </a:t>
                      </a:r>
                      <a:r>
                        <a:rPr lang="en-US" altLang="zh-TW" sz="900" dirty="0" err="1"/>
                        <a:t>buf</a:t>
                      </a:r>
                      <a:r>
                        <a:rPr lang="en-US" altLang="zh-TW" sz="900" dirty="0"/>
                        <a:t> size is smaller than the model input size</a:t>
                      </a:r>
                      <a:br>
                        <a:rPr lang="en-US" altLang="zh-TW" sz="900" dirty="0"/>
                      </a:br>
                      <a:r>
                        <a:rPr lang="en-US" altLang="zh-TW" sz="900" dirty="0"/>
                        <a:t>      output </a:t>
                      </a:r>
                      <a:r>
                        <a:rPr lang="en-US" altLang="zh-TW" sz="900" dirty="0" err="1"/>
                        <a:t>buf</a:t>
                      </a:r>
                      <a:r>
                        <a:rPr lang="en-US" altLang="zh-TW" sz="900" dirty="0"/>
                        <a:t> size is smaller than the model output size</a:t>
                      </a:r>
                      <a:br>
                        <a:rPr lang="en-US" altLang="zh-TW" sz="900" dirty="0"/>
                      </a:br>
                      <a:r>
                        <a:rPr lang="en-US" altLang="zh-TW" sz="900" dirty="0"/>
                        <a:t>-4: error encountered when processing interpreter-&gt;Invoke();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73591"/>
                  </a:ext>
                </a:extLst>
              </a:tr>
              <a:tr h="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897742"/>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indent="-171450">
                        <a:buFont typeface="Arial" panose="020B0604020202020204" pitchFamily="34" charset="0"/>
                        <a:buChar char="•"/>
                      </a:pPr>
                      <a:r>
                        <a:rPr lang="en-US" altLang="zh-TW" sz="900" dirty="0"/>
                        <a:t>Defined in </a:t>
                      </a:r>
                      <a:r>
                        <a:rPr lang="en-US" altLang="zh-TW" sz="900" b="1" dirty="0" err="1"/>
                        <a:t>nne_test_helper.h</a:t>
                      </a:r>
                      <a:endParaRPr lang="en-US" altLang="zh-TW" sz="900" b="1" dirty="0"/>
                    </a:p>
                    <a:p>
                      <a:pPr marL="171450" indent="-171450">
                        <a:buFont typeface="Arial" panose="020B0604020202020204" pitchFamily="34" charset="0"/>
                        <a:buChar char="•"/>
                      </a:pPr>
                      <a:r>
                        <a:rPr lang="en-US" altLang="zh-TW" sz="900" dirty="0"/>
                        <a:t>The function is a helper function to call the </a:t>
                      </a:r>
                      <a:r>
                        <a:rPr lang="en-US" altLang="zh-TW" sz="900" dirty="0" err="1"/>
                        <a:t>tflite</a:t>
                      </a:r>
                      <a:r>
                        <a:rPr lang="en-US" altLang="zh-TW" sz="900" dirty="0"/>
                        <a:t>::</a:t>
                      </a:r>
                      <a:r>
                        <a:rPr lang="en-US" altLang="zh-TW" sz="900" dirty="0" err="1"/>
                        <a:t>MicroInterpreter</a:t>
                      </a:r>
                      <a:r>
                        <a:rPr lang="en-US" altLang="zh-TW" sz="900" dirty="0"/>
                        <a:t>-&gt;Invoke().</a:t>
                      </a:r>
                    </a:p>
                    <a:p>
                      <a:pPr marL="171450" indent="-171450">
                        <a:buFont typeface="Arial" panose="020B0604020202020204" pitchFamily="34" charset="0"/>
                        <a:buChar char="•"/>
                      </a:pPr>
                      <a:r>
                        <a:rPr lang="en-US" altLang="zh-TW" sz="900" dirty="0"/>
                        <a:t>The function does not allocate memory, so the arguments interpreter, </a:t>
                      </a:r>
                      <a:r>
                        <a:rPr lang="en-US" altLang="zh-TW" sz="900" dirty="0" err="1"/>
                        <a:t>input_buf</a:t>
                      </a:r>
                      <a:r>
                        <a:rPr lang="en-US" altLang="zh-TW" sz="900" dirty="0"/>
                        <a:t>, and </a:t>
                      </a:r>
                      <a:r>
                        <a:rPr lang="en-US" altLang="zh-TW" sz="900" dirty="0" err="1"/>
                        <a:t>output_buf</a:t>
                      </a:r>
                      <a:r>
                        <a:rPr lang="en-US" altLang="zh-TW" sz="900" dirty="0"/>
                        <a:t> should be allocated a memory space first.</a:t>
                      </a:r>
                    </a:p>
                    <a:p>
                      <a:pPr marL="171450" indent="-171450">
                        <a:buFont typeface="Arial" panose="020B0604020202020204" pitchFamily="34" charset="0"/>
                        <a:buChar char="•"/>
                      </a:pPr>
                      <a:r>
                        <a:rPr lang="en-US" altLang="zh-TW" sz="900" dirty="0"/>
                        <a:t>Moreover, the argument interpreter should be initialized first before calling this function. Developers can use </a:t>
                      </a:r>
                      <a:r>
                        <a:rPr lang="en-US" altLang="zh-TW" sz="900" dirty="0" err="1"/>
                        <a:t>mtk_interpreter_init</a:t>
                      </a:r>
                      <a:r>
                        <a:rPr lang="en-US" altLang="zh-TW" sz="900" dirty="0"/>
                        <a:t>() to create a </a:t>
                      </a:r>
                      <a:r>
                        <a:rPr lang="en-US" altLang="zh-TW" sz="900" dirty="0" err="1"/>
                        <a:t>tflite</a:t>
                      </a:r>
                      <a:r>
                        <a:rPr lang="en-US" altLang="zh-TW" sz="900" dirty="0"/>
                        <a:t>::</a:t>
                      </a:r>
                      <a:r>
                        <a:rPr lang="en-US" altLang="zh-TW" sz="900" dirty="0" err="1"/>
                        <a:t>MicroInterpreter</a:t>
                      </a:r>
                      <a:r>
                        <a:rPr lang="en-US" altLang="zh-TW" sz="900" dirty="0"/>
                        <a:t> for the test.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5694069"/>
                  </a:ext>
                </a:extLst>
              </a:tr>
            </a:tbl>
          </a:graphicData>
        </a:graphic>
      </p:graphicFrame>
    </p:spTree>
    <p:extLst>
      <p:ext uri="{BB962C8B-B14F-4D97-AF65-F5344CB8AC3E}">
        <p14:creationId xmlns:p14="http://schemas.microsoft.com/office/powerpoint/2010/main" val="123315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588FDCD-40FB-A2F9-E90D-C3D5955E502C}"/>
              </a:ext>
            </a:extLst>
          </p:cNvPr>
          <p:cNvSpPr>
            <a:spLocks noGrp="1"/>
          </p:cNvSpPr>
          <p:nvPr>
            <p:ph type="sldNum" sz="quarter" idx="4"/>
          </p:nvPr>
        </p:nvSpPr>
        <p:spPr/>
        <p:txBody>
          <a:bodyPr/>
          <a:lstStyle/>
          <a:p>
            <a:fld id="{0AEF9A4B-07C9-404C-9053-A3A2AC3AD5D6}" type="slidenum">
              <a:rPr lang="en-GB" smtClean="0"/>
              <a:pPr/>
              <a:t>15</a:t>
            </a:fld>
            <a:endParaRPr lang="en-GB" dirty="0"/>
          </a:p>
        </p:txBody>
      </p:sp>
      <p:sp>
        <p:nvSpPr>
          <p:cNvPr id="3" name="內容版面配置區 2">
            <a:extLst>
              <a:ext uri="{FF2B5EF4-FFF2-40B4-BE49-F238E27FC236}">
                <a16:creationId xmlns:a16="http://schemas.microsoft.com/office/drawing/2014/main" id="{364031C5-9507-21A1-4FCD-A8D7FA93707E}"/>
              </a:ext>
            </a:extLst>
          </p:cNvPr>
          <p:cNvSpPr>
            <a:spLocks noGrp="1"/>
          </p:cNvSpPr>
          <p:nvPr>
            <p:ph sz="quarter" idx="10"/>
          </p:nvPr>
        </p:nvSpPr>
        <p:spPr/>
        <p:txBody>
          <a:bodyPr/>
          <a:lstStyle/>
          <a:p>
            <a:r>
              <a:rPr lang="en-US" altLang="zh-TW" b="0" dirty="0"/>
              <a:t>If developers want to further improve the performance of NNE inference, please used the </a:t>
            </a:r>
            <a:r>
              <a:rPr lang="en-US" altLang="zh-TW" dirty="0"/>
              <a:t>MTK NNE framework APIs </a:t>
            </a:r>
            <a:r>
              <a:rPr lang="en-US" altLang="zh-TW" b="0" dirty="0"/>
              <a:t>described in the next page to implement the interpreter initialization and invocation.</a:t>
            </a:r>
          </a:p>
        </p:txBody>
      </p:sp>
      <p:sp>
        <p:nvSpPr>
          <p:cNvPr id="4" name="標題 3">
            <a:extLst>
              <a:ext uri="{FF2B5EF4-FFF2-40B4-BE49-F238E27FC236}">
                <a16:creationId xmlns:a16="http://schemas.microsoft.com/office/drawing/2014/main" id="{B78C5C88-6166-7AE6-FADF-E263E46AD767}"/>
              </a:ext>
            </a:extLst>
          </p:cNvPr>
          <p:cNvSpPr>
            <a:spLocks noGrp="1"/>
          </p:cNvSpPr>
          <p:nvPr>
            <p:ph type="title"/>
          </p:nvPr>
        </p:nvSpPr>
        <p:spPr/>
        <p:txBody>
          <a:bodyPr/>
          <a:lstStyle/>
          <a:p>
            <a:r>
              <a:rPr lang="en-US" altLang="zh-TW" dirty="0"/>
              <a:t>NNE test helper APIs (3)</a:t>
            </a:r>
            <a:endParaRPr lang="zh-TW" altLang="en-US" dirty="0"/>
          </a:p>
        </p:txBody>
      </p:sp>
    </p:spTree>
    <p:extLst>
      <p:ext uri="{BB962C8B-B14F-4D97-AF65-F5344CB8AC3E}">
        <p14:creationId xmlns:p14="http://schemas.microsoft.com/office/powerpoint/2010/main" val="16781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A967FFE4-755B-2F9F-F669-78080BB1FA4B}"/>
              </a:ext>
            </a:extLst>
          </p:cNvPr>
          <p:cNvSpPr>
            <a:spLocks noGrp="1"/>
          </p:cNvSpPr>
          <p:nvPr>
            <p:ph type="sldNum" sz="quarter" idx="4"/>
          </p:nvPr>
        </p:nvSpPr>
        <p:spPr/>
        <p:txBody>
          <a:bodyPr/>
          <a:lstStyle/>
          <a:p>
            <a:fld id="{0AEF9A4B-07C9-404C-9053-A3A2AC3AD5D6}" type="slidenum">
              <a:rPr lang="en-GB" smtClean="0"/>
              <a:pPr/>
              <a:t>16</a:t>
            </a:fld>
            <a:endParaRPr lang="en-GB" dirty="0"/>
          </a:p>
        </p:txBody>
      </p:sp>
      <p:sp>
        <p:nvSpPr>
          <p:cNvPr id="3" name="內容版面配置區 2">
            <a:extLst>
              <a:ext uri="{FF2B5EF4-FFF2-40B4-BE49-F238E27FC236}">
                <a16:creationId xmlns:a16="http://schemas.microsoft.com/office/drawing/2014/main" id="{E2E43215-0EA1-57BE-36D4-49513CE21DF5}"/>
              </a:ext>
            </a:extLst>
          </p:cNvPr>
          <p:cNvSpPr>
            <a:spLocks noGrp="1"/>
          </p:cNvSpPr>
          <p:nvPr>
            <p:ph sz="quarter" idx="10"/>
          </p:nvPr>
        </p:nvSpPr>
        <p:spPr/>
        <p:txBody>
          <a:bodyPr>
            <a:normAutofit/>
          </a:bodyPr>
          <a:lstStyle/>
          <a:p>
            <a:r>
              <a:rPr lang="en-US" altLang="zh-TW" sz="1200" b="0" dirty="0"/>
              <a:t>The MTK NNE framework APIs are used to obtain necessary materials for the NNE infrastructure, such as model data and network context.</a:t>
            </a:r>
          </a:p>
          <a:p>
            <a:r>
              <a:rPr lang="en-US" altLang="zh-TW" sz="1200" b="0" dirty="0"/>
              <a:t>If the model is built in the ADSP image, there is a network name corresponding to the model. Developers can get the network info through the network name.</a:t>
            </a:r>
          </a:p>
          <a:p>
            <a:r>
              <a:rPr lang="en-US" altLang="zh-TW" sz="1200" b="0" dirty="0"/>
              <a:t>After obtaining the network info, developers can use it to create an TFLM interpreter, and call interpreter-&gt;invoke() to run NNE inference.</a:t>
            </a:r>
          </a:p>
          <a:p>
            <a:r>
              <a:rPr lang="en-US" altLang="zh-TW" sz="1200" b="0" dirty="0"/>
              <a:t>These APIs are defined in the </a:t>
            </a:r>
            <a:r>
              <a:rPr lang="en-US" altLang="zh-TW" sz="1200" b="1" dirty="0" err="1"/>
              <a:t>xa_network_api.h</a:t>
            </a:r>
            <a:endParaRPr lang="en-US" altLang="zh-TW" sz="1200" b="1" dirty="0"/>
          </a:p>
        </p:txBody>
      </p:sp>
      <p:sp>
        <p:nvSpPr>
          <p:cNvPr id="4" name="標題 3">
            <a:extLst>
              <a:ext uri="{FF2B5EF4-FFF2-40B4-BE49-F238E27FC236}">
                <a16:creationId xmlns:a16="http://schemas.microsoft.com/office/drawing/2014/main" id="{83366A9F-8450-201C-C930-AD3DBFC31920}"/>
              </a:ext>
            </a:extLst>
          </p:cNvPr>
          <p:cNvSpPr>
            <a:spLocks noGrp="1"/>
          </p:cNvSpPr>
          <p:nvPr>
            <p:ph type="title"/>
          </p:nvPr>
        </p:nvSpPr>
        <p:spPr/>
        <p:txBody>
          <a:bodyPr/>
          <a:lstStyle/>
          <a:p>
            <a:r>
              <a:rPr lang="en-US" altLang="zh-TW" dirty="0"/>
              <a:t>MTK NNE framework APIs</a:t>
            </a:r>
            <a:endParaRPr lang="zh-TW" altLang="en-US" dirty="0"/>
          </a:p>
        </p:txBody>
      </p:sp>
      <p:graphicFrame>
        <p:nvGraphicFramePr>
          <p:cNvPr id="5" name="表格 5">
            <a:extLst>
              <a:ext uri="{FF2B5EF4-FFF2-40B4-BE49-F238E27FC236}">
                <a16:creationId xmlns:a16="http://schemas.microsoft.com/office/drawing/2014/main" id="{85FA3344-7E1D-66F7-F1C2-891C483A52A3}"/>
              </a:ext>
            </a:extLst>
          </p:cNvPr>
          <p:cNvGraphicFramePr>
            <a:graphicFrameLocks noGrp="1"/>
          </p:cNvGraphicFramePr>
          <p:nvPr>
            <p:extLst>
              <p:ext uri="{D42A27DB-BD31-4B8C-83A1-F6EECF244321}">
                <p14:modId xmlns:p14="http://schemas.microsoft.com/office/powerpoint/2010/main" val="1194636010"/>
              </p:ext>
            </p:extLst>
          </p:nvPr>
        </p:nvGraphicFramePr>
        <p:xfrm>
          <a:off x="1524000" y="2749550"/>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38137561"/>
                    </a:ext>
                  </a:extLst>
                </a:gridCol>
                <a:gridCol w="4064000">
                  <a:extLst>
                    <a:ext uri="{9D8B030D-6E8A-4147-A177-3AD203B41FA5}">
                      <a16:colId xmlns:a16="http://schemas.microsoft.com/office/drawing/2014/main" val="2044969032"/>
                    </a:ext>
                  </a:extLst>
                </a:gridCol>
              </a:tblGrid>
              <a:tr h="370840">
                <a:tc>
                  <a:txBody>
                    <a:bodyPr/>
                    <a:lstStyle/>
                    <a:p>
                      <a:r>
                        <a:rPr lang="en-US" altLang="zh-TW" dirty="0"/>
                        <a:t>APIs</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a:t>Description </a:t>
                      </a:r>
                      <a:endParaRPr lang="zh-TW" alt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52874468"/>
                  </a:ext>
                </a:extLst>
              </a:tr>
              <a:tr h="370840">
                <a:tc>
                  <a:txBody>
                    <a:bodyPr/>
                    <a:lstStyle/>
                    <a:p>
                      <a:r>
                        <a:rPr lang="en-US" altLang="zh-TW" sz="900" dirty="0" err="1"/>
                        <a:t>mtk_network_info_get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The function is used to get the </a:t>
                      </a:r>
                      <a:r>
                        <a:rPr lang="en-US" altLang="zh-TW" sz="900" dirty="0" err="1"/>
                        <a:t>network_info</a:t>
                      </a:r>
                      <a:r>
                        <a:rPr lang="en-US" altLang="zh-TW" sz="900" dirty="0"/>
                        <a:t> prebuilt in </a:t>
                      </a:r>
                      <a:r>
                        <a:rPr lang="en-US" altLang="zh-TW" sz="900" dirty="0" err="1"/>
                        <a:t>adsp</a:t>
                      </a:r>
                      <a:r>
                        <a:rPr lang="en-US" altLang="zh-TW" sz="900" dirty="0"/>
                        <a:t> image.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324489"/>
                  </a:ext>
                </a:extLst>
              </a:tr>
              <a:tr h="370840">
                <a:tc>
                  <a:txBody>
                    <a:bodyPr/>
                    <a:lstStyle/>
                    <a:p>
                      <a:r>
                        <a:rPr lang="en-US" altLang="zh-TW" sz="900" dirty="0" err="1"/>
                        <a:t>mtk_network_get_model</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The function is used to get the buffer of the model stored in the </a:t>
                      </a:r>
                      <a:r>
                        <a:rPr lang="en-US" altLang="zh-TW" sz="900" dirty="0" err="1"/>
                        <a:t>network_info</a:t>
                      </a:r>
                      <a:r>
                        <a:rPr lang="en-US" altLang="zh-TW" sz="900" dirty="0"/>
                        <a: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673591"/>
                  </a:ext>
                </a:extLst>
              </a:tr>
              <a:tr h="370840">
                <a:tc>
                  <a:txBody>
                    <a:bodyPr/>
                    <a:lstStyle/>
                    <a:p>
                      <a:r>
                        <a:rPr lang="en-US" altLang="zh-TW" sz="900" dirty="0" err="1"/>
                        <a:t>mtk_network_get_external_context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This function is used to get the address of TNNE external context.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461844"/>
                  </a:ext>
                </a:extLst>
              </a:tr>
              <a:tr h="370840">
                <a:tc>
                  <a:txBody>
                    <a:bodyPr/>
                    <a:lstStyle/>
                    <a:p>
                      <a:r>
                        <a:rPr lang="en-US" altLang="zh-TW" sz="900" dirty="0" err="1"/>
                        <a:t>is_nne_enabled</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dirty="0"/>
                        <a:t>The function is used to check if NNE is initialized in the ADSP system.</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045653"/>
                  </a:ext>
                </a:extLst>
              </a:tr>
            </a:tbl>
          </a:graphicData>
        </a:graphic>
      </p:graphicFrame>
    </p:spTree>
    <p:extLst>
      <p:ext uri="{BB962C8B-B14F-4D97-AF65-F5344CB8AC3E}">
        <p14:creationId xmlns:p14="http://schemas.microsoft.com/office/powerpoint/2010/main" val="394908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6F5C663-A6E7-01B9-2785-7081B627B138}"/>
              </a:ext>
            </a:extLst>
          </p:cNvPr>
          <p:cNvSpPr>
            <a:spLocks noGrp="1"/>
          </p:cNvSpPr>
          <p:nvPr>
            <p:ph type="sldNum" sz="quarter" idx="4"/>
          </p:nvPr>
        </p:nvSpPr>
        <p:spPr/>
        <p:txBody>
          <a:bodyPr/>
          <a:lstStyle/>
          <a:p>
            <a:fld id="{0AEF9A4B-07C9-404C-9053-A3A2AC3AD5D6}" type="slidenum">
              <a:rPr lang="en-GB" smtClean="0"/>
              <a:pPr/>
              <a:t>17</a:t>
            </a:fld>
            <a:endParaRPr lang="en-GB" dirty="0"/>
          </a:p>
        </p:txBody>
      </p:sp>
      <p:graphicFrame>
        <p:nvGraphicFramePr>
          <p:cNvPr id="5" name="內容版面配置區 4">
            <a:extLst>
              <a:ext uri="{FF2B5EF4-FFF2-40B4-BE49-F238E27FC236}">
                <a16:creationId xmlns:a16="http://schemas.microsoft.com/office/drawing/2014/main" id="{1DE7367C-DA9D-AEA0-1564-0B7F92CB00E4}"/>
              </a:ext>
            </a:extLst>
          </p:cNvPr>
          <p:cNvGraphicFramePr>
            <a:graphicFrameLocks noGrp="1"/>
          </p:cNvGraphicFramePr>
          <p:nvPr>
            <p:ph sz="quarter" idx="10"/>
            <p:extLst>
              <p:ext uri="{D42A27DB-BD31-4B8C-83A1-F6EECF244321}">
                <p14:modId xmlns:p14="http://schemas.microsoft.com/office/powerpoint/2010/main" val="1132258994"/>
              </p:ext>
            </p:extLst>
          </p:nvPr>
        </p:nvGraphicFramePr>
        <p:xfrm>
          <a:off x="323850" y="1008063"/>
          <a:ext cx="8959851" cy="2867660"/>
        </p:xfrm>
        <a:graphic>
          <a:graphicData uri="http://schemas.openxmlformats.org/drawingml/2006/table">
            <a:tbl>
              <a:tblPr firstRow="1" bandRow="1">
                <a:tableStyleId>{5C22544A-7EE6-4342-B048-85BDC9FD1C3A}</a:tableStyleId>
              </a:tblPr>
              <a:tblGrid>
                <a:gridCol w="2130425">
                  <a:extLst>
                    <a:ext uri="{9D8B030D-6E8A-4147-A177-3AD203B41FA5}">
                      <a16:colId xmlns:a16="http://schemas.microsoft.com/office/drawing/2014/main" val="3620699591"/>
                    </a:ext>
                  </a:extLst>
                </a:gridCol>
                <a:gridCol w="2276475">
                  <a:extLst>
                    <a:ext uri="{9D8B030D-6E8A-4147-A177-3AD203B41FA5}">
                      <a16:colId xmlns:a16="http://schemas.microsoft.com/office/drawing/2014/main" val="2206619992"/>
                    </a:ext>
                  </a:extLst>
                </a:gridCol>
                <a:gridCol w="4552951">
                  <a:extLst>
                    <a:ext uri="{9D8B030D-6E8A-4147-A177-3AD203B41FA5}">
                      <a16:colId xmlns:a16="http://schemas.microsoft.com/office/drawing/2014/main" val="1534618098"/>
                    </a:ext>
                  </a:extLst>
                </a:gridCol>
              </a:tblGrid>
              <a:tr h="139739">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78302425"/>
                  </a:ext>
                </a:extLst>
              </a:tr>
              <a:tr h="50292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solidFill>
                            <a:schemeClr val="tx1"/>
                          </a:solidFill>
                        </a:rPr>
                        <a:t>mtk_network_info_get</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char *</a:t>
                      </a:r>
                      <a:r>
                        <a:rPr lang="en-US" altLang="zh-TW" sz="900" dirty="0" err="1"/>
                        <a:t>network_name</a:t>
                      </a: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a:t>
                      </a:r>
                      <a:r>
                        <a:rPr lang="en-US" altLang="zh-TW" sz="900" dirty="0" err="1"/>
                        <a:t>network_info_t</a:t>
                      </a:r>
                      <a:r>
                        <a:rPr lang="en-US" altLang="zh-TW" sz="900"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address of the instance of </a:t>
                      </a:r>
                      <a:r>
                        <a:rPr lang="en-US" altLang="zh-TW" sz="900" dirty="0" err="1"/>
                        <a:t>network_info_t</a:t>
                      </a:r>
                      <a:r>
                        <a:rPr lang="en-US" altLang="zh-TW" sz="900" dirty="0"/>
                        <a:t> or NULL if no network is found for the given name.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791121"/>
                  </a:ext>
                </a:extLst>
              </a:tr>
              <a:tr h="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705395"/>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xa_network_api.h</a:t>
                      </a:r>
                      <a:endParaRPr lang="en-US" altLang="zh-TW" sz="9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The function is used to get the </a:t>
                      </a:r>
                      <a:r>
                        <a:rPr lang="en-US" altLang="zh-TW" sz="900" dirty="0" err="1"/>
                        <a:t>network_info</a:t>
                      </a:r>
                      <a:r>
                        <a:rPr lang="en-US" altLang="zh-TW" sz="900" dirty="0"/>
                        <a:t> prebuilt in </a:t>
                      </a:r>
                      <a:r>
                        <a:rPr lang="en-US" altLang="zh-TW" sz="900" dirty="0" err="1"/>
                        <a:t>adsp</a:t>
                      </a:r>
                      <a:r>
                        <a:rPr lang="en-US" altLang="zh-TW" sz="900" dirty="0"/>
                        <a:t> image.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The argument </a:t>
                      </a:r>
                      <a:r>
                        <a:rPr lang="en-US" altLang="zh-TW" sz="900" b="1" dirty="0" err="1"/>
                        <a:t>network_name</a:t>
                      </a:r>
                      <a:r>
                        <a:rPr lang="en-US" altLang="zh-TW" sz="900" b="1" dirty="0"/>
                        <a:t> </a:t>
                      </a:r>
                      <a:r>
                        <a:rPr lang="en-US" altLang="zh-TW" sz="900" dirty="0"/>
                        <a:t>is the ‘</a:t>
                      </a:r>
                      <a:r>
                        <a:rPr lang="en-US" altLang="zh-TW" sz="900" dirty="0">
                          <a:solidFill>
                            <a:srgbClr val="FF0000"/>
                          </a:solidFill>
                        </a:rPr>
                        <a:t>name</a:t>
                      </a:r>
                      <a:r>
                        <a:rPr lang="en-US" altLang="zh-TW" sz="900" dirty="0"/>
                        <a:t>’ entry defined </a:t>
                      </a:r>
                      <a:r>
                        <a:rPr lang="en-US" altLang="zh-TW" sz="900" dirty="0">
                          <a:solidFill>
                            <a:srgbClr val="FF0000"/>
                          </a:solidFill>
                        </a:rPr>
                        <a:t>in the model config</a:t>
                      </a:r>
                      <a:r>
                        <a:rPr lang="en-US" altLang="zh-TW" sz="900" dirty="0"/>
                        <a:t>. About the model config, please see the </a:t>
                      </a:r>
                      <a:r>
                        <a:rPr lang="en-US" altLang="zh-TW" sz="900" dirty="0">
                          <a:hlinkClick r:id="rId2" action="ppaction://hlinksldjump"/>
                        </a:rPr>
                        <a:t>page</a:t>
                      </a:r>
                      <a:r>
                        <a:rPr lang="en-US" altLang="zh-TW" sz="900" dirty="0"/>
                        <a: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400731"/>
                  </a:ext>
                </a:extLst>
              </a:tr>
              <a:tr h="0">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26411536"/>
                  </a:ext>
                </a:extLst>
              </a:tr>
              <a:tr h="39370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solidFill>
                            <a:schemeClr val="tx1"/>
                          </a:solidFill>
                        </a:rPr>
                        <a:t>mtk_network_info_get</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altLang="zh-TW" sz="900" b="0" dirty="0">
                          <a:solidFill>
                            <a:schemeClr val="tx1"/>
                          </a:solidFill>
                        </a:rPr>
                        <a:t>network_info_t *nw_info</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b="0" dirty="0">
                          <a:solidFill>
                            <a:schemeClr val="tx1"/>
                          </a:solidFill>
                        </a:rPr>
                        <a:t>Return type: unsigned char *</a:t>
                      </a:r>
                    </a:p>
                    <a:p>
                      <a:r>
                        <a:rPr lang="en-US" altLang="zh-TW" sz="900" b="0" dirty="0">
                          <a:solidFill>
                            <a:schemeClr val="tx1"/>
                          </a:solidFill>
                        </a:rPr>
                        <a:t>Return: the address of the model or NULL if no network is found for the given name.</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945501"/>
                  </a:ext>
                </a:extLst>
              </a:tr>
              <a:tr h="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679561"/>
                  </a:ext>
                </a:extLst>
              </a:tr>
              <a:tr h="37084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xa_network_api.h</a:t>
                      </a:r>
                      <a:endParaRPr lang="en-US" altLang="zh-TW" sz="900" b="0" dirty="0">
                        <a:solidFill>
                          <a:schemeClr val="tx1"/>
                        </a:solidFill>
                      </a:endParaRPr>
                    </a:p>
                    <a:p>
                      <a:pPr marL="171450" indent="-171450">
                        <a:buFont typeface="Arial" panose="020B0604020202020204" pitchFamily="34" charset="0"/>
                        <a:buChar char="•"/>
                      </a:pPr>
                      <a:r>
                        <a:rPr lang="en-US" altLang="zh-TW" sz="900" b="0" dirty="0">
                          <a:solidFill>
                            <a:schemeClr val="tx1"/>
                          </a:solidFill>
                        </a:rPr>
                        <a:t>The function is used to get the buffer of the model stored in the </a:t>
                      </a:r>
                      <a:r>
                        <a:rPr lang="en-US" altLang="zh-TW" sz="900" b="0" dirty="0" err="1">
                          <a:solidFill>
                            <a:schemeClr val="tx1"/>
                          </a:solidFill>
                        </a:rPr>
                        <a:t>network_info</a:t>
                      </a:r>
                      <a:r>
                        <a:rPr lang="en-US" altLang="zh-TW" sz="900" b="0" dirty="0">
                          <a:solidFill>
                            <a:schemeClr val="tx1"/>
                          </a:solidFill>
                        </a:rPr>
                        <a:t>. </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537048"/>
                  </a:ext>
                </a:extLst>
              </a:tr>
            </a:tbl>
          </a:graphicData>
        </a:graphic>
      </p:graphicFrame>
      <p:sp>
        <p:nvSpPr>
          <p:cNvPr id="4" name="標題 3">
            <a:extLst>
              <a:ext uri="{FF2B5EF4-FFF2-40B4-BE49-F238E27FC236}">
                <a16:creationId xmlns:a16="http://schemas.microsoft.com/office/drawing/2014/main" id="{DFE1FCCB-5C21-656F-FDCC-6F13EAF6EB11}"/>
              </a:ext>
            </a:extLst>
          </p:cNvPr>
          <p:cNvSpPr>
            <a:spLocks noGrp="1"/>
          </p:cNvSpPr>
          <p:nvPr>
            <p:ph type="title"/>
          </p:nvPr>
        </p:nvSpPr>
        <p:spPr/>
        <p:txBody>
          <a:bodyPr/>
          <a:lstStyle/>
          <a:p>
            <a:r>
              <a:rPr lang="en-US" altLang="zh-TW" sz="2800" dirty="0"/>
              <a:t>MTK NNE framework APIs (1)</a:t>
            </a:r>
            <a:endParaRPr lang="zh-TW" altLang="en-US" dirty="0"/>
          </a:p>
        </p:txBody>
      </p:sp>
    </p:spTree>
    <p:extLst>
      <p:ext uri="{BB962C8B-B14F-4D97-AF65-F5344CB8AC3E}">
        <p14:creationId xmlns:p14="http://schemas.microsoft.com/office/powerpoint/2010/main" val="271885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6F5C663-A6E7-01B9-2785-7081B627B138}"/>
              </a:ext>
            </a:extLst>
          </p:cNvPr>
          <p:cNvSpPr>
            <a:spLocks noGrp="1"/>
          </p:cNvSpPr>
          <p:nvPr>
            <p:ph type="sldNum" sz="quarter" idx="4"/>
          </p:nvPr>
        </p:nvSpPr>
        <p:spPr/>
        <p:txBody>
          <a:bodyPr/>
          <a:lstStyle/>
          <a:p>
            <a:fld id="{0AEF9A4B-07C9-404C-9053-A3A2AC3AD5D6}" type="slidenum">
              <a:rPr lang="en-GB" smtClean="0"/>
              <a:pPr/>
              <a:t>18</a:t>
            </a:fld>
            <a:endParaRPr lang="en-GB" dirty="0"/>
          </a:p>
        </p:txBody>
      </p:sp>
      <p:graphicFrame>
        <p:nvGraphicFramePr>
          <p:cNvPr id="5" name="內容版面配置區 4">
            <a:extLst>
              <a:ext uri="{FF2B5EF4-FFF2-40B4-BE49-F238E27FC236}">
                <a16:creationId xmlns:a16="http://schemas.microsoft.com/office/drawing/2014/main" id="{1DE7367C-DA9D-AEA0-1564-0B7F92CB00E4}"/>
              </a:ext>
            </a:extLst>
          </p:cNvPr>
          <p:cNvGraphicFramePr>
            <a:graphicFrameLocks noGrp="1"/>
          </p:cNvGraphicFramePr>
          <p:nvPr>
            <p:ph sz="quarter" idx="10"/>
            <p:extLst>
              <p:ext uri="{D42A27DB-BD31-4B8C-83A1-F6EECF244321}">
                <p14:modId xmlns:p14="http://schemas.microsoft.com/office/powerpoint/2010/main" val="2746148974"/>
              </p:ext>
            </p:extLst>
          </p:nvPr>
        </p:nvGraphicFramePr>
        <p:xfrm>
          <a:off x="323850" y="1008063"/>
          <a:ext cx="8959851" cy="2595880"/>
        </p:xfrm>
        <a:graphic>
          <a:graphicData uri="http://schemas.openxmlformats.org/drawingml/2006/table">
            <a:tbl>
              <a:tblPr firstRow="1" bandRow="1">
                <a:tableStyleId>{5C22544A-7EE6-4342-B048-85BDC9FD1C3A}</a:tableStyleId>
              </a:tblPr>
              <a:tblGrid>
                <a:gridCol w="2130425">
                  <a:extLst>
                    <a:ext uri="{9D8B030D-6E8A-4147-A177-3AD203B41FA5}">
                      <a16:colId xmlns:a16="http://schemas.microsoft.com/office/drawing/2014/main" val="3620699591"/>
                    </a:ext>
                  </a:extLst>
                </a:gridCol>
                <a:gridCol w="2276475">
                  <a:extLst>
                    <a:ext uri="{9D8B030D-6E8A-4147-A177-3AD203B41FA5}">
                      <a16:colId xmlns:a16="http://schemas.microsoft.com/office/drawing/2014/main" val="2206619992"/>
                    </a:ext>
                  </a:extLst>
                </a:gridCol>
                <a:gridCol w="4552951">
                  <a:extLst>
                    <a:ext uri="{9D8B030D-6E8A-4147-A177-3AD203B41FA5}">
                      <a16:colId xmlns:a16="http://schemas.microsoft.com/office/drawing/2014/main" val="1534618098"/>
                    </a:ext>
                  </a:extLst>
                </a:gridCol>
              </a:tblGrid>
              <a:tr h="0">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78302425"/>
                  </a:ext>
                </a:extLst>
              </a:tr>
              <a:tr h="322619">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solidFill>
                            <a:schemeClr val="tx1"/>
                          </a:solidFill>
                        </a:rPr>
                        <a:t>mtk_network_get_external_context</a:t>
                      </a:r>
                      <a:endParaRPr lang="en-US" altLang="zh-TW" sz="900" b="1" dirty="0">
                        <a:solidFill>
                          <a:schemeClr val="tx1"/>
                        </a:solidFill>
                      </a:endParaRPr>
                    </a:p>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altLang="zh-TW" sz="900" b="0" dirty="0">
                          <a:solidFill>
                            <a:schemeClr val="tx1"/>
                          </a:solidFill>
                        </a:rPr>
                        <a:t>network_info_t *nw_info</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Struct </a:t>
                      </a:r>
                      <a:r>
                        <a:rPr lang="en-US" altLang="zh-TW" sz="900" dirty="0" err="1"/>
                        <a:t>XaTnneNetworkContext</a:t>
                      </a:r>
                      <a:r>
                        <a:rPr lang="en-US" altLang="zh-TW" sz="900" dirty="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the address of the struct </a:t>
                      </a:r>
                      <a:r>
                        <a:rPr lang="en-US" altLang="zh-TW" sz="900" dirty="0" err="1"/>
                        <a:t>XaTnneNetworkContext</a:t>
                      </a: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791121"/>
                  </a:ext>
                </a:extLst>
              </a:tr>
              <a:tr h="174307">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705395"/>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xa_network_api.h</a:t>
                      </a:r>
                      <a:endParaRPr lang="en-US" altLang="zh-TW" sz="9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This function is used to get the address of TNNE external context.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400731"/>
                  </a:ext>
                </a:extLst>
              </a:tr>
              <a:tr h="0">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26411536"/>
                  </a:ext>
                </a:extLst>
              </a:tr>
              <a:tr h="39116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solidFill>
                            <a:schemeClr val="tx1"/>
                          </a:solidFill>
                        </a:rPr>
                        <a:t>is_nne_enabled</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altLang="zh-TW" sz="900" b="0" dirty="0">
                          <a:solidFill>
                            <a:schemeClr val="tx1"/>
                          </a:solidFill>
                        </a:rPr>
                        <a:t>void (no argument)</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b="0" dirty="0">
                          <a:solidFill>
                            <a:schemeClr val="tx1"/>
                          </a:solidFill>
                        </a:rPr>
                        <a:t>Return type: bool</a:t>
                      </a:r>
                    </a:p>
                    <a:p>
                      <a:r>
                        <a:rPr lang="en-US" altLang="zh-TW" sz="900" b="0" dirty="0">
                          <a:solidFill>
                            <a:schemeClr val="tx1"/>
                          </a:solidFill>
                        </a:rPr>
                        <a:t>Return: true if NNE is enabled and initialized. Otherwise, return false.</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945501"/>
                  </a:ext>
                </a:extLst>
              </a:tr>
              <a:tr h="0">
                <a:tc vMerge="1">
                  <a:txBody>
                    <a:bodyPr/>
                    <a:lstStyle/>
                    <a:p>
                      <a:endParaRPr lang="en-US" altLang="zh-TW"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679561"/>
                  </a:ext>
                </a:extLst>
              </a:tr>
              <a:tr h="37084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xa_network_api.h</a:t>
                      </a:r>
                      <a:endParaRPr lang="en-US" altLang="zh-TW" sz="9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b="0" dirty="0">
                          <a:solidFill>
                            <a:schemeClr val="tx1"/>
                          </a:solidFill>
                        </a:rPr>
                        <a:t>The function is used to check if NNE is initialized in the ADSP system.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537048"/>
                  </a:ext>
                </a:extLst>
              </a:tr>
            </a:tbl>
          </a:graphicData>
        </a:graphic>
      </p:graphicFrame>
      <p:sp>
        <p:nvSpPr>
          <p:cNvPr id="4" name="標題 3">
            <a:extLst>
              <a:ext uri="{FF2B5EF4-FFF2-40B4-BE49-F238E27FC236}">
                <a16:creationId xmlns:a16="http://schemas.microsoft.com/office/drawing/2014/main" id="{DFE1FCCB-5C21-656F-FDCC-6F13EAF6EB11}"/>
              </a:ext>
            </a:extLst>
          </p:cNvPr>
          <p:cNvSpPr>
            <a:spLocks noGrp="1"/>
          </p:cNvSpPr>
          <p:nvPr>
            <p:ph type="title"/>
          </p:nvPr>
        </p:nvSpPr>
        <p:spPr/>
        <p:txBody>
          <a:bodyPr/>
          <a:lstStyle/>
          <a:p>
            <a:r>
              <a:rPr lang="en-US" altLang="zh-TW" sz="2800" dirty="0"/>
              <a:t>MTK NNE framework APIs (2)</a:t>
            </a:r>
            <a:endParaRPr lang="zh-TW" altLang="en-US" dirty="0"/>
          </a:p>
        </p:txBody>
      </p:sp>
    </p:spTree>
    <p:extLst>
      <p:ext uri="{BB962C8B-B14F-4D97-AF65-F5344CB8AC3E}">
        <p14:creationId xmlns:p14="http://schemas.microsoft.com/office/powerpoint/2010/main" val="398035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7229A4E4-1A64-4319-8E57-F4B66BE88245}"/>
              </a:ext>
            </a:extLst>
          </p:cNvPr>
          <p:cNvPicPr>
            <a:picLocks noChangeAspect="1"/>
          </p:cNvPicPr>
          <p:nvPr/>
        </p:nvPicPr>
        <p:blipFill>
          <a:blip r:embed="rId2"/>
          <a:stretch>
            <a:fillRect/>
          </a:stretch>
        </p:blipFill>
        <p:spPr>
          <a:xfrm>
            <a:off x="4280276" y="774700"/>
            <a:ext cx="4483494" cy="4368800"/>
          </a:xfrm>
          <a:prstGeom prst="rect">
            <a:avLst/>
          </a:prstGeom>
        </p:spPr>
      </p:pic>
      <p:sp>
        <p:nvSpPr>
          <p:cNvPr id="2" name="投影片編號版面配置區 1">
            <a:extLst>
              <a:ext uri="{FF2B5EF4-FFF2-40B4-BE49-F238E27FC236}">
                <a16:creationId xmlns:a16="http://schemas.microsoft.com/office/drawing/2014/main" id="{6C4A28CC-8C5A-45E4-B904-279A32A507B5}"/>
              </a:ext>
            </a:extLst>
          </p:cNvPr>
          <p:cNvSpPr>
            <a:spLocks noGrp="1"/>
          </p:cNvSpPr>
          <p:nvPr>
            <p:ph type="sldNum" sz="quarter" idx="4"/>
          </p:nvPr>
        </p:nvSpPr>
        <p:spPr/>
        <p:txBody>
          <a:bodyPr/>
          <a:lstStyle/>
          <a:p>
            <a:fld id="{0AEF9A4B-07C9-404C-9053-A3A2AC3AD5D6}" type="slidenum">
              <a:rPr lang="en-GB" smtClean="0"/>
              <a:pPr/>
              <a:t>19</a:t>
            </a:fld>
            <a:endParaRPr lang="en-GB" dirty="0"/>
          </a:p>
        </p:txBody>
      </p:sp>
      <p:sp>
        <p:nvSpPr>
          <p:cNvPr id="3" name="內容版面配置區 2">
            <a:extLst>
              <a:ext uri="{FF2B5EF4-FFF2-40B4-BE49-F238E27FC236}">
                <a16:creationId xmlns:a16="http://schemas.microsoft.com/office/drawing/2014/main" id="{47992005-5383-43B7-B764-F70D54035BA4}"/>
              </a:ext>
            </a:extLst>
          </p:cNvPr>
          <p:cNvSpPr>
            <a:spLocks noGrp="1"/>
          </p:cNvSpPr>
          <p:nvPr>
            <p:ph sz="quarter" idx="10"/>
          </p:nvPr>
        </p:nvSpPr>
        <p:spPr>
          <a:xfrm>
            <a:off x="323850" y="1007706"/>
            <a:ext cx="3161388" cy="3707363"/>
          </a:xfrm>
        </p:spPr>
        <p:txBody>
          <a:bodyPr>
            <a:normAutofit lnSpcReduction="10000"/>
          </a:bodyPr>
          <a:lstStyle/>
          <a:p>
            <a:r>
              <a:rPr lang="en-US" altLang="zh-TW" b="0" dirty="0"/>
              <a:t>The model configuration needs to be set according to the hardware specifications</a:t>
            </a:r>
          </a:p>
          <a:p>
            <a:pPr lvl="1"/>
            <a:r>
              <a:rPr lang="en-US" altLang="zh-TW" dirty="0" err="1"/>
              <a:t>xtensa_core</a:t>
            </a:r>
            <a:r>
              <a:rPr lang="en-US" altLang="zh-TW" dirty="0"/>
              <a:t> = ${PLATFORM}_b</a:t>
            </a:r>
          </a:p>
          <a:p>
            <a:pPr lvl="2"/>
            <a:r>
              <a:rPr lang="en-US" altLang="zh-TW" dirty="0"/>
              <a:t>If using DX-4, please set as mt6991_b</a:t>
            </a:r>
          </a:p>
          <a:p>
            <a:pPr lvl="1"/>
            <a:r>
              <a:rPr lang="en-US" altLang="zh-TW" dirty="0"/>
              <a:t>Read/</a:t>
            </a:r>
            <a:r>
              <a:rPr lang="en-US" altLang="zh-TW" dirty="0" err="1"/>
              <a:t>write_delay</a:t>
            </a:r>
            <a:r>
              <a:rPr lang="en-US" altLang="zh-TW" dirty="0"/>
              <a:t> = 560 cycles</a:t>
            </a:r>
          </a:p>
          <a:p>
            <a:pPr lvl="2"/>
            <a:r>
              <a:rPr lang="en-US" altLang="zh-TW" dirty="0"/>
              <a:t>Dram access worst latency: 700 ns</a:t>
            </a:r>
          </a:p>
          <a:p>
            <a:pPr lvl="2"/>
            <a:r>
              <a:rPr lang="en-US" altLang="zh-TW" dirty="0"/>
              <a:t>700 ns = 560 cycles in 800M</a:t>
            </a:r>
          </a:p>
          <a:p>
            <a:pPr lvl="1"/>
            <a:r>
              <a:rPr lang="en-US" altLang="zh-TW" dirty="0" err="1"/>
              <a:t>maxAxiBurstLen</a:t>
            </a:r>
            <a:r>
              <a:rPr lang="en-US" altLang="zh-TW" dirty="0"/>
              <a:t> = 256</a:t>
            </a:r>
          </a:p>
          <a:p>
            <a:pPr lvl="1"/>
            <a:r>
              <a:rPr lang="en-US" altLang="zh-TW" dirty="0" err="1"/>
              <a:t>xnnefreq</a:t>
            </a:r>
            <a:r>
              <a:rPr lang="en-US" altLang="zh-TW" dirty="0"/>
              <a:t> = 800</a:t>
            </a:r>
          </a:p>
          <a:p>
            <a:pPr lvl="1"/>
            <a:r>
              <a:rPr lang="en-US" altLang="zh-TW" dirty="0" err="1"/>
              <a:t>dspfreq</a:t>
            </a:r>
            <a:r>
              <a:rPr lang="en-US" altLang="zh-TW" dirty="0"/>
              <a:t> = 800</a:t>
            </a:r>
            <a:endParaRPr lang="zh-TW" altLang="en-US" dirty="0"/>
          </a:p>
        </p:txBody>
      </p:sp>
      <p:sp>
        <p:nvSpPr>
          <p:cNvPr id="4" name="標題 3">
            <a:extLst>
              <a:ext uri="{FF2B5EF4-FFF2-40B4-BE49-F238E27FC236}">
                <a16:creationId xmlns:a16="http://schemas.microsoft.com/office/drawing/2014/main" id="{81BD1A98-C8E6-4864-BBEC-6B79BE300759}"/>
              </a:ext>
            </a:extLst>
          </p:cNvPr>
          <p:cNvSpPr>
            <a:spLocks noGrp="1"/>
          </p:cNvSpPr>
          <p:nvPr>
            <p:ph type="title"/>
          </p:nvPr>
        </p:nvSpPr>
        <p:spPr/>
        <p:txBody>
          <a:bodyPr/>
          <a:lstStyle/>
          <a:p>
            <a:r>
              <a:rPr lang="en-US" altLang="zh-TW" dirty="0"/>
              <a:t>Model deployment - Model config</a:t>
            </a:r>
            <a:endParaRPr lang="zh-TW" altLang="en-US" dirty="0"/>
          </a:p>
        </p:txBody>
      </p:sp>
      <p:cxnSp>
        <p:nvCxnSpPr>
          <p:cNvPr id="13" name="直線接點 12">
            <a:extLst>
              <a:ext uri="{FF2B5EF4-FFF2-40B4-BE49-F238E27FC236}">
                <a16:creationId xmlns:a16="http://schemas.microsoft.com/office/drawing/2014/main" id="{D7C5720E-562B-4E0D-ADB2-840B85D24A29}"/>
              </a:ext>
            </a:extLst>
          </p:cNvPr>
          <p:cNvCxnSpPr/>
          <p:nvPr/>
        </p:nvCxnSpPr>
        <p:spPr>
          <a:xfrm>
            <a:off x="4624673" y="2716749"/>
            <a:ext cx="1059126" cy="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4" name="直線接點 13">
            <a:extLst>
              <a:ext uri="{FF2B5EF4-FFF2-40B4-BE49-F238E27FC236}">
                <a16:creationId xmlns:a16="http://schemas.microsoft.com/office/drawing/2014/main" id="{C05250AB-2FA9-4B89-8D19-B8059B787545}"/>
              </a:ext>
            </a:extLst>
          </p:cNvPr>
          <p:cNvCxnSpPr/>
          <p:nvPr/>
        </p:nvCxnSpPr>
        <p:spPr>
          <a:xfrm>
            <a:off x="4572000" y="3218764"/>
            <a:ext cx="1059126" cy="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5" name="直線接點 14">
            <a:extLst>
              <a:ext uri="{FF2B5EF4-FFF2-40B4-BE49-F238E27FC236}">
                <a16:creationId xmlns:a16="http://schemas.microsoft.com/office/drawing/2014/main" id="{68D4E873-CA21-420D-8F10-C2B2C1F6770C}"/>
              </a:ext>
            </a:extLst>
          </p:cNvPr>
          <p:cNvCxnSpPr/>
          <p:nvPr/>
        </p:nvCxnSpPr>
        <p:spPr>
          <a:xfrm>
            <a:off x="4572000" y="3323378"/>
            <a:ext cx="1059126" cy="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6" name="直線接點 15">
            <a:extLst>
              <a:ext uri="{FF2B5EF4-FFF2-40B4-BE49-F238E27FC236}">
                <a16:creationId xmlns:a16="http://schemas.microsoft.com/office/drawing/2014/main" id="{443F5953-F358-4DE6-AF67-0E490DFDA363}"/>
              </a:ext>
            </a:extLst>
          </p:cNvPr>
          <p:cNvCxnSpPr>
            <a:cxnSpLocks/>
          </p:cNvCxnSpPr>
          <p:nvPr/>
        </p:nvCxnSpPr>
        <p:spPr>
          <a:xfrm>
            <a:off x="4572000" y="4231201"/>
            <a:ext cx="934135" cy="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7" name="直線接點 16">
            <a:extLst>
              <a:ext uri="{FF2B5EF4-FFF2-40B4-BE49-F238E27FC236}">
                <a16:creationId xmlns:a16="http://schemas.microsoft.com/office/drawing/2014/main" id="{3B1EE423-73EF-44C6-8CA5-1DA7A87E9C3A}"/>
              </a:ext>
            </a:extLst>
          </p:cNvPr>
          <p:cNvCxnSpPr>
            <a:cxnSpLocks/>
          </p:cNvCxnSpPr>
          <p:nvPr/>
        </p:nvCxnSpPr>
        <p:spPr>
          <a:xfrm>
            <a:off x="4572000" y="4529743"/>
            <a:ext cx="677577" cy="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8" name="直線接點 17">
            <a:extLst>
              <a:ext uri="{FF2B5EF4-FFF2-40B4-BE49-F238E27FC236}">
                <a16:creationId xmlns:a16="http://schemas.microsoft.com/office/drawing/2014/main" id="{BFE75E45-AF71-48DF-9E21-D91C9032226F}"/>
              </a:ext>
            </a:extLst>
          </p:cNvPr>
          <p:cNvCxnSpPr>
            <a:cxnSpLocks/>
          </p:cNvCxnSpPr>
          <p:nvPr/>
        </p:nvCxnSpPr>
        <p:spPr>
          <a:xfrm>
            <a:off x="4572000" y="4824487"/>
            <a:ext cx="677577" cy="0"/>
          </a:xfrm>
          <a:prstGeom prst="line">
            <a:avLst/>
          </a:prstGeom>
          <a:ln w="12700"/>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35439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24710D5-57AB-59ED-AF60-F73444EEAE0D}"/>
              </a:ext>
            </a:extLst>
          </p:cNvPr>
          <p:cNvSpPr>
            <a:spLocks noGrp="1"/>
          </p:cNvSpPr>
          <p:nvPr>
            <p:ph type="sldNum" sz="quarter" idx="4"/>
          </p:nvPr>
        </p:nvSpPr>
        <p:spPr/>
        <p:txBody>
          <a:bodyPr/>
          <a:lstStyle/>
          <a:p>
            <a:fld id="{0AEF9A4B-07C9-404C-9053-A3A2AC3AD5D6}" type="slidenum">
              <a:rPr lang="en-GB" smtClean="0"/>
              <a:pPr/>
              <a:t>20</a:t>
            </a:fld>
            <a:endParaRPr lang="en-GB" dirty="0"/>
          </a:p>
        </p:txBody>
      </p:sp>
      <p:sp>
        <p:nvSpPr>
          <p:cNvPr id="3" name="內容版面配置區 2">
            <a:extLst>
              <a:ext uri="{FF2B5EF4-FFF2-40B4-BE49-F238E27FC236}">
                <a16:creationId xmlns:a16="http://schemas.microsoft.com/office/drawing/2014/main" id="{E405E14C-5919-2DD0-1EF3-074E03D42A94}"/>
              </a:ext>
            </a:extLst>
          </p:cNvPr>
          <p:cNvSpPr>
            <a:spLocks noGrp="1"/>
          </p:cNvSpPr>
          <p:nvPr>
            <p:ph sz="quarter" idx="10"/>
          </p:nvPr>
        </p:nvSpPr>
        <p:spPr/>
        <p:txBody>
          <a:bodyPr/>
          <a:lstStyle/>
          <a:p>
            <a:r>
              <a:rPr lang="en-US" altLang="zh-TW" dirty="0"/>
              <a:t>There are 2 ways to deploy models to ADSP. Use one of the following to add models:</a:t>
            </a:r>
          </a:p>
          <a:p>
            <a:pPr lvl="1">
              <a:buFont typeface="+mj-lt"/>
              <a:buAutoNum type="arabicPeriod"/>
            </a:pPr>
            <a:r>
              <a:rPr lang="en-US" altLang="zh-TW" dirty="0"/>
              <a:t>Copy </a:t>
            </a:r>
            <a:r>
              <a:rPr lang="en-US" altLang="zh-TW" dirty="0">
                <a:solidFill>
                  <a:srgbClr val="FF0000"/>
                </a:solidFill>
              </a:rPr>
              <a:t>all</a:t>
            </a:r>
            <a:r>
              <a:rPr lang="en-US" altLang="zh-TW" dirty="0"/>
              <a:t> models from the NNE SDK</a:t>
            </a:r>
          </a:p>
          <a:p>
            <a:pPr lvl="2">
              <a:buFont typeface="+mj-lt"/>
              <a:buAutoNum type="arabicPeriod"/>
            </a:pPr>
            <a:r>
              <a:rPr lang="en-US" altLang="zh-TW" dirty="0"/>
              <a:t>Please note that the way </a:t>
            </a:r>
            <a:r>
              <a:rPr lang="en-US" altLang="zh-TW" dirty="0">
                <a:solidFill>
                  <a:srgbClr val="FF0000"/>
                </a:solidFill>
              </a:rPr>
              <a:t>replaces</a:t>
            </a:r>
            <a:r>
              <a:rPr lang="en-US" altLang="zh-TW" dirty="0"/>
              <a:t> </a:t>
            </a:r>
            <a:r>
              <a:rPr lang="en-US" altLang="zh-TW" dirty="0">
                <a:solidFill>
                  <a:srgbClr val="FF0000"/>
                </a:solidFill>
              </a:rPr>
              <a:t>all the previous models</a:t>
            </a:r>
            <a:r>
              <a:rPr lang="en-US" altLang="zh-TW" dirty="0"/>
              <a:t>. If developers want to add models without replacing old ones, please use the next way.</a:t>
            </a:r>
          </a:p>
          <a:p>
            <a:pPr lvl="1">
              <a:buFont typeface="+mj-lt"/>
              <a:buAutoNum type="arabicPeriod"/>
            </a:pPr>
            <a:r>
              <a:rPr lang="en-US" altLang="zh-TW" dirty="0"/>
              <a:t>Add models manually</a:t>
            </a:r>
          </a:p>
        </p:txBody>
      </p:sp>
      <p:sp>
        <p:nvSpPr>
          <p:cNvPr id="4" name="標題 3">
            <a:extLst>
              <a:ext uri="{FF2B5EF4-FFF2-40B4-BE49-F238E27FC236}">
                <a16:creationId xmlns:a16="http://schemas.microsoft.com/office/drawing/2014/main" id="{44F8FF7C-8EC0-4A6E-CC9D-01BEADF293E3}"/>
              </a:ext>
            </a:extLst>
          </p:cNvPr>
          <p:cNvSpPr>
            <a:spLocks noGrp="1"/>
          </p:cNvSpPr>
          <p:nvPr>
            <p:ph type="title"/>
          </p:nvPr>
        </p:nvSpPr>
        <p:spPr/>
        <p:txBody>
          <a:bodyPr/>
          <a:lstStyle/>
          <a:p>
            <a:r>
              <a:rPr lang="en-US" altLang="zh-TW" dirty="0"/>
              <a:t>Ways to deploy models to ADSP</a:t>
            </a:r>
            <a:endParaRPr lang="zh-TW" altLang="en-US" dirty="0"/>
          </a:p>
        </p:txBody>
      </p:sp>
    </p:spTree>
    <p:extLst>
      <p:ext uri="{BB962C8B-B14F-4D97-AF65-F5344CB8AC3E}">
        <p14:creationId xmlns:p14="http://schemas.microsoft.com/office/powerpoint/2010/main" val="1179021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FCA7ED5-52B6-9C08-4B3C-04EB89F96A5C}"/>
              </a:ext>
            </a:extLst>
          </p:cNvPr>
          <p:cNvSpPr>
            <a:spLocks noGrp="1"/>
          </p:cNvSpPr>
          <p:nvPr>
            <p:ph type="sldNum" sz="quarter" idx="4"/>
          </p:nvPr>
        </p:nvSpPr>
        <p:spPr/>
        <p:txBody>
          <a:bodyPr/>
          <a:lstStyle/>
          <a:p>
            <a:fld id="{0AEF9A4B-07C9-404C-9053-A3A2AC3AD5D6}" type="slidenum">
              <a:rPr lang="en-GB" smtClean="0"/>
              <a:pPr/>
              <a:t>21</a:t>
            </a:fld>
            <a:endParaRPr lang="en-GB" dirty="0"/>
          </a:p>
        </p:txBody>
      </p:sp>
      <p:sp>
        <p:nvSpPr>
          <p:cNvPr id="3" name="內容版面配置區 2">
            <a:extLst>
              <a:ext uri="{FF2B5EF4-FFF2-40B4-BE49-F238E27FC236}">
                <a16:creationId xmlns:a16="http://schemas.microsoft.com/office/drawing/2014/main" id="{49CBE6CD-23CB-C7D1-30DA-94C0583C4430}"/>
              </a:ext>
            </a:extLst>
          </p:cNvPr>
          <p:cNvSpPr>
            <a:spLocks noGrp="1"/>
          </p:cNvSpPr>
          <p:nvPr>
            <p:ph sz="quarter" idx="10"/>
          </p:nvPr>
        </p:nvSpPr>
        <p:spPr/>
        <p:txBody>
          <a:bodyPr/>
          <a:lstStyle/>
          <a:p>
            <a:r>
              <a:rPr lang="en-US" altLang="zh-TW" dirty="0"/>
              <a:t>Steps</a:t>
            </a:r>
          </a:p>
          <a:p>
            <a:pPr lvl="1">
              <a:buFont typeface="+mj-lt"/>
              <a:buAutoNum type="arabicPeriod"/>
            </a:pPr>
            <a:r>
              <a:rPr lang="en-US" altLang="zh-TW" dirty="0"/>
              <a:t>Place models into the NNE SDK</a:t>
            </a:r>
          </a:p>
          <a:p>
            <a:pPr lvl="1">
              <a:buFont typeface="+mj-lt"/>
              <a:buAutoNum type="arabicPeriod"/>
            </a:pPr>
            <a:r>
              <a:rPr lang="en-US" altLang="zh-TW" dirty="0"/>
              <a:t>Run NNE SDK build</a:t>
            </a:r>
          </a:p>
          <a:p>
            <a:pPr lvl="1">
              <a:buFont typeface="+mj-lt"/>
              <a:buAutoNum type="arabicPeriod"/>
            </a:pPr>
            <a:r>
              <a:rPr lang="en-US" altLang="zh-TW" dirty="0"/>
              <a:t>Copy the produced models from the NNE SDK</a:t>
            </a:r>
          </a:p>
        </p:txBody>
      </p:sp>
      <p:sp>
        <p:nvSpPr>
          <p:cNvPr id="4" name="標題 3">
            <a:extLst>
              <a:ext uri="{FF2B5EF4-FFF2-40B4-BE49-F238E27FC236}">
                <a16:creationId xmlns:a16="http://schemas.microsoft.com/office/drawing/2014/main" id="{7F583A6A-E8D1-A9E8-F020-1F1D79D8E9C3}"/>
              </a:ext>
            </a:extLst>
          </p:cNvPr>
          <p:cNvSpPr>
            <a:spLocks noGrp="1"/>
          </p:cNvSpPr>
          <p:nvPr>
            <p:ph type="title"/>
          </p:nvPr>
        </p:nvSpPr>
        <p:spPr/>
        <p:txBody>
          <a:bodyPr/>
          <a:lstStyle/>
          <a:p>
            <a:r>
              <a:rPr lang="en-US" altLang="zh-TW" dirty="0"/>
              <a:t>#1 Copy all models from the NNE SDK</a:t>
            </a:r>
            <a:endParaRPr lang="zh-TW" altLang="en-US" dirty="0"/>
          </a:p>
        </p:txBody>
      </p:sp>
    </p:spTree>
    <p:extLst>
      <p:ext uri="{BB962C8B-B14F-4D97-AF65-F5344CB8AC3E}">
        <p14:creationId xmlns:p14="http://schemas.microsoft.com/office/powerpoint/2010/main" val="146116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FCA7ED5-52B6-9C08-4B3C-04EB89F96A5C}"/>
              </a:ext>
            </a:extLst>
          </p:cNvPr>
          <p:cNvSpPr>
            <a:spLocks noGrp="1"/>
          </p:cNvSpPr>
          <p:nvPr>
            <p:ph type="sldNum" sz="quarter" idx="4"/>
          </p:nvPr>
        </p:nvSpPr>
        <p:spPr/>
        <p:txBody>
          <a:bodyPr/>
          <a:lstStyle/>
          <a:p>
            <a:fld id="{0AEF9A4B-07C9-404C-9053-A3A2AC3AD5D6}" type="slidenum">
              <a:rPr lang="en-GB" smtClean="0"/>
              <a:pPr/>
              <a:t>22</a:t>
            </a:fld>
            <a:endParaRPr lang="en-GB" dirty="0"/>
          </a:p>
        </p:txBody>
      </p:sp>
      <p:sp>
        <p:nvSpPr>
          <p:cNvPr id="3" name="內容版面配置區 2">
            <a:extLst>
              <a:ext uri="{FF2B5EF4-FFF2-40B4-BE49-F238E27FC236}">
                <a16:creationId xmlns:a16="http://schemas.microsoft.com/office/drawing/2014/main" id="{49CBE6CD-23CB-C7D1-30DA-94C0583C4430}"/>
              </a:ext>
            </a:extLst>
          </p:cNvPr>
          <p:cNvSpPr>
            <a:spLocks noGrp="1"/>
          </p:cNvSpPr>
          <p:nvPr>
            <p:ph sz="quarter" idx="10"/>
          </p:nvPr>
        </p:nvSpPr>
        <p:spPr/>
        <p:txBody>
          <a:bodyPr/>
          <a:lstStyle/>
          <a:p>
            <a:pPr>
              <a:lnSpc>
                <a:spcPct val="100000"/>
              </a:lnSpc>
            </a:pPr>
            <a:r>
              <a:rPr lang="en-US" altLang="zh-TW" b="0" dirty="0"/>
              <a:t>Place the model (.</a:t>
            </a:r>
            <a:r>
              <a:rPr lang="en-US" altLang="zh-TW" b="0" dirty="0" err="1"/>
              <a:t>tflite</a:t>
            </a:r>
            <a:r>
              <a:rPr lang="en-US" altLang="zh-TW" b="0" dirty="0"/>
              <a:t> file) in the following path</a:t>
            </a:r>
          </a:p>
          <a:p>
            <a:pPr lvl="1">
              <a:lnSpc>
                <a:spcPct val="100000"/>
              </a:lnSpc>
            </a:pPr>
            <a:r>
              <a:rPr lang="en-US" altLang="zh-TW" b="0" dirty="0"/>
              <a:t>${NNE_SDK_PATH}/networks/</a:t>
            </a:r>
            <a:r>
              <a:rPr lang="en-US" altLang="zh-TW" b="0" dirty="0" err="1"/>
              <a:t>tflite</a:t>
            </a:r>
            <a:r>
              <a:rPr lang="en-US" altLang="zh-TW" b="0" dirty="0"/>
              <a:t>/</a:t>
            </a:r>
          </a:p>
          <a:p>
            <a:pPr>
              <a:lnSpc>
                <a:spcPct val="100000"/>
              </a:lnSpc>
            </a:pPr>
            <a:r>
              <a:rPr lang="en-US" altLang="zh-TW" b="0" dirty="0"/>
              <a:t>Add the model to the </a:t>
            </a:r>
            <a:r>
              <a:rPr lang="en-US" altLang="zh-TW" b="0" dirty="0" err="1"/>
              <a:t>nw_list</a:t>
            </a:r>
            <a:r>
              <a:rPr lang="en-US" altLang="zh-TW" b="0" dirty="0"/>
              <a:t>: </a:t>
            </a:r>
          </a:p>
          <a:p>
            <a:pPr lvl="1">
              <a:lnSpc>
                <a:spcPct val="100000"/>
              </a:lnSpc>
            </a:pPr>
            <a:r>
              <a:rPr lang="en-US" altLang="zh-TW" b="0" dirty="0"/>
              <a:t>File: ${NNE_SDK_PATH}/networks/</a:t>
            </a:r>
            <a:r>
              <a:rPr lang="en-US" altLang="zh-TW" b="0" dirty="0" err="1"/>
              <a:t>nw_in</a:t>
            </a:r>
            <a:r>
              <a:rPr lang="en-US" altLang="zh-TW" b="0" dirty="0"/>
              <a:t>/nw_list.txt</a:t>
            </a:r>
          </a:p>
          <a:p>
            <a:pPr lvl="1">
              <a:lnSpc>
                <a:spcPct val="100000"/>
              </a:lnSpc>
            </a:pPr>
            <a:r>
              <a:rPr lang="en-US" altLang="zh-TW" b="0" dirty="0"/>
              <a:t>Add model example</a:t>
            </a:r>
          </a:p>
          <a:p>
            <a:pPr lvl="2">
              <a:lnSpc>
                <a:spcPct val="100000"/>
              </a:lnSpc>
            </a:pPr>
            <a:r>
              <a:rPr lang="en-US" altLang="zh-TW" b="0" dirty="0" err="1"/>
              <a:t>networkName</a:t>
            </a:r>
            <a:r>
              <a:rPr lang="en-US" altLang="zh-TW" b="0" dirty="0"/>
              <a:t> = </a:t>
            </a:r>
            <a:r>
              <a:rPr lang="en-US" altLang="zh-TW" b="0" dirty="0">
                <a:solidFill>
                  <a:srgbClr val="FF0000"/>
                </a:solidFill>
              </a:rPr>
              <a:t>person_detect_int8</a:t>
            </a:r>
            <a:r>
              <a:rPr lang="en-US" altLang="zh-TW" b="0" dirty="0"/>
              <a:t>, priority = </a:t>
            </a:r>
            <a:r>
              <a:rPr lang="en-US" altLang="zh-TW" b="0" dirty="0">
                <a:solidFill>
                  <a:srgbClr val="FF0000"/>
                </a:solidFill>
              </a:rPr>
              <a:t>0</a:t>
            </a:r>
            <a:r>
              <a:rPr lang="en-US" altLang="zh-TW" b="0" dirty="0"/>
              <a:t>, instances = 1</a:t>
            </a:r>
          </a:p>
          <a:p>
            <a:pPr>
              <a:lnSpc>
                <a:spcPct val="100000"/>
              </a:lnSpc>
            </a:pPr>
            <a:endParaRPr lang="en-US" altLang="zh-TW" b="0" dirty="0"/>
          </a:p>
          <a:p>
            <a:pPr marL="0" indent="0">
              <a:buNone/>
            </a:pPr>
            <a:endParaRPr lang="en-US" altLang="zh-TW" dirty="0"/>
          </a:p>
        </p:txBody>
      </p:sp>
      <p:sp>
        <p:nvSpPr>
          <p:cNvPr id="4" name="標題 3">
            <a:extLst>
              <a:ext uri="{FF2B5EF4-FFF2-40B4-BE49-F238E27FC236}">
                <a16:creationId xmlns:a16="http://schemas.microsoft.com/office/drawing/2014/main" id="{7F583A6A-E8D1-A9E8-F020-1F1D79D8E9C3}"/>
              </a:ext>
            </a:extLst>
          </p:cNvPr>
          <p:cNvSpPr>
            <a:spLocks noGrp="1"/>
          </p:cNvSpPr>
          <p:nvPr>
            <p:ph type="title"/>
          </p:nvPr>
        </p:nvSpPr>
        <p:spPr/>
        <p:txBody>
          <a:bodyPr>
            <a:normAutofit fontScale="90000"/>
          </a:bodyPr>
          <a:lstStyle/>
          <a:p>
            <a:r>
              <a:rPr lang="en-US" altLang="zh-TW" dirty="0"/>
              <a:t>#1 Copy all models from the NNE SDK </a:t>
            </a:r>
            <a:br>
              <a:rPr lang="en-US" altLang="zh-TW" dirty="0"/>
            </a:br>
            <a:r>
              <a:rPr lang="en-US" altLang="zh-TW" sz="2000" dirty="0"/>
              <a:t>Step1. Place models into the NNE SDK</a:t>
            </a:r>
            <a:endParaRPr lang="zh-TW" altLang="en-US" dirty="0"/>
          </a:p>
        </p:txBody>
      </p:sp>
      <p:sp>
        <p:nvSpPr>
          <p:cNvPr id="5" name="文字方塊 4">
            <a:extLst>
              <a:ext uri="{FF2B5EF4-FFF2-40B4-BE49-F238E27FC236}">
                <a16:creationId xmlns:a16="http://schemas.microsoft.com/office/drawing/2014/main" id="{9ACA1D3E-1162-32C8-9C72-8151E6961438}"/>
              </a:ext>
            </a:extLst>
          </p:cNvPr>
          <p:cNvSpPr txBox="1"/>
          <p:nvPr/>
        </p:nvSpPr>
        <p:spPr>
          <a:xfrm>
            <a:off x="980302" y="3772930"/>
            <a:ext cx="3591698" cy="255373"/>
          </a:xfrm>
          <a:prstGeom prst="rect">
            <a:avLst/>
          </a:prstGeom>
        </p:spPr>
        <p:txBody>
          <a:bodyPr wrap="none" lIns="0" tIns="0" rIns="0" bIns="0" rtlCol="0">
            <a:noAutofit/>
          </a:bodyPr>
          <a:lstStyle/>
          <a:p>
            <a:r>
              <a:rPr lang="en-US" altLang="zh-TW" sz="1200" dirty="0"/>
              <a:t>The file name of the model excluding </a:t>
            </a:r>
            <a:r>
              <a:rPr lang="en-US" altLang="zh-TW" sz="1200" b="1" dirty="0"/>
              <a:t>.</a:t>
            </a:r>
            <a:r>
              <a:rPr lang="en-US" altLang="zh-TW" sz="1200" b="1" dirty="0" err="1"/>
              <a:t>tflite</a:t>
            </a:r>
            <a:r>
              <a:rPr lang="en-US" altLang="zh-TW" sz="1200" b="1" dirty="0"/>
              <a:t> </a:t>
            </a:r>
            <a:r>
              <a:rPr lang="en-US" altLang="zh-TW" sz="1200" dirty="0"/>
              <a:t>file extension</a:t>
            </a:r>
            <a:endParaRPr lang="zh-TW" altLang="en-US" sz="1200" dirty="0"/>
          </a:p>
        </p:txBody>
      </p:sp>
      <p:sp>
        <p:nvSpPr>
          <p:cNvPr id="6" name="文字方塊 5">
            <a:extLst>
              <a:ext uri="{FF2B5EF4-FFF2-40B4-BE49-F238E27FC236}">
                <a16:creationId xmlns:a16="http://schemas.microsoft.com/office/drawing/2014/main" id="{0EA03A51-5EA6-74F3-E1A9-0CB5A2A559F8}"/>
              </a:ext>
            </a:extLst>
          </p:cNvPr>
          <p:cNvSpPr txBox="1"/>
          <p:nvPr/>
        </p:nvSpPr>
        <p:spPr>
          <a:xfrm>
            <a:off x="3958281" y="4337222"/>
            <a:ext cx="2417807" cy="341870"/>
          </a:xfrm>
          <a:prstGeom prst="rect">
            <a:avLst/>
          </a:prstGeom>
        </p:spPr>
        <p:txBody>
          <a:bodyPr wrap="none" lIns="0" tIns="0" rIns="0" bIns="0" rtlCol="0">
            <a:noAutofit/>
          </a:bodyPr>
          <a:lstStyle/>
          <a:p>
            <a:r>
              <a:rPr lang="en-US" altLang="zh-TW" sz="1200" dirty="0"/>
              <a:t>The priority of the model.</a:t>
            </a:r>
          </a:p>
          <a:p>
            <a:r>
              <a:rPr lang="en-US" altLang="zh-TW" sz="1200" dirty="0"/>
              <a:t>0 has the highest priority, multiple model can have same priority</a:t>
            </a:r>
            <a:endParaRPr lang="zh-TW" altLang="en-US" sz="1200" dirty="0"/>
          </a:p>
        </p:txBody>
      </p:sp>
      <p:sp>
        <p:nvSpPr>
          <p:cNvPr id="7" name="文字方塊 6">
            <a:extLst>
              <a:ext uri="{FF2B5EF4-FFF2-40B4-BE49-F238E27FC236}">
                <a16:creationId xmlns:a16="http://schemas.microsoft.com/office/drawing/2014/main" id="{52DC44B8-6840-D360-0358-5843D146F005}"/>
              </a:ext>
            </a:extLst>
          </p:cNvPr>
          <p:cNvSpPr txBox="1"/>
          <p:nvPr/>
        </p:nvSpPr>
        <p:spPr>
          <a:xfrm>
            <a:off x="5446755" y="3767172"/>
            <a:ext cx="1577546" cy="197708"/>
          </a:xfrm>
          <a:prstGeom prst="rect">
            <a:avLst/>
          </a:prstGeom>
        </p:spPr>
        <p:txBody>
          <a:bodyPr wrap="none" lIns="0" tIns="0" rIns="0" bIns="0" rtlCol="0">
            <a:noAutofit/>
          </a:bodyPr>
          <a:lstStyle/>
          <a:p>
            <a:r>
              <a:rPr lang="en-US" altLang="zh-TW" sz="1200" dirty="0"/>
              <a:t>Instances is optional.</a:t>
            </a:r>
            <a:endParaRPr lang="zh-TW" altLang="en-US" sz="1200" dirty="0"/>
          </a:p>
        </p:txBody>
      </p:sp>
      <p:cxnSp>
        <p:nvCxnSpPr>
          <p:cNvPr id="8" name="直線單箭頭接點 7">
            <a:extLst>
              <a:ext uri="{FF2B5EF4-FFF2-40B4-BE49-F238E27FC236}">
                <a16:creationId xmlns:a16="http://schemas.microsoft.com/office/drawing/2014/main" id="{D7806A66-F08D-693C-678C-F72B2358C973}"/>
              </a:ext>
            </a:extLst>
          </p:cNvPr>
          <p:cNvCxnSpPr>
            <a:cxnSpLocks/>
          </p:cNvCxnSpPr>
          <p:nvPr/>
        </p:nvCxnSpPr>
        <p:spPr>
          <a:xfrm flipV="1">
            <a:off x="2776151" y="2998574"/>
            <a:ext cx="284206" cy="774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31C94B1A-64ED-DA12-504F-F48CFF780136}"/>
              </a:ext>
            </a:extLst>
          </p:cNvPr>
          <p:cNvCxnSpPr>
            <a:cxnSpLocks/>
          </p:cNvCxnSpPr>
          <p:nvPr/>
        </p:nvCxnSpPr>
        <p:spPr>
          <a:xfrm flipH="1" flipV="1">
            <a:off x="4485505" y="2998574"/>
            <a:ext cx="681680" cy="1338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53D8E043-1C43-B8FD-C75E-E9D949E864CB}"/>
              </a:ext>
            </a:extLst>
          </p:cNvPr>
          <p:cNvCxnSpPr>
            <a:cxnSpLocks/>
          </p:cNvCxnSpPr>
          <p:nvPr/>
        </p:nvCxnSpPr>
        <p:spPr>
          <a:xfrm flipH="1" flipV="1">
            <a:off x="5315470" y="2943788"/>
            <a:ext cx="920058" cy="823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9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90732F7-1FFB-FB42-764D-FE85CB76BD76}"/>
              </a:ext>
            </a:extLst>
          </p:cNvPr>
          <p:cNvSpPr>
            <a:spLocks noGrp="1"/>
          </p:cNvSpPr>
          <p:nvPr>
            <p:ph type="sldNum" sz="quarter" idx="4"/>
          </p:nvPr>
        </p:nvSpPr>
        <p:spPr/>
        <p:txBody>
          <a:bodyPr/>
          <a:lstStyle/>
          <a:p>
            <a:fld id="{0AEF9A4B-07C9-404C-9053-A3A2AC3AD5D6}" type="slidenum">
              <a:rPr lang="en-GB" smtClean="0"/>
              <a:pPr/>
              <a:t>23</a:t>
            </a:fld>
            <a:endParaRPr lang="en-GB" dirty="0"/>
          </a:p>
        </p:txBody>
      </p:sp>
      <p:sp>
        <p:nvSpPr>
          <p:cNvPr id="3" name="內容版面配置區 2">
            <a:extLst>
              <a:ext uri="{FF2B5EF4-FFF2-40B4-BE49-F238E27FC236}">
                <a16:creationId xmlns:a16="http://schemas.microsoft.com/office/drawing/2014/main" id="{95C7BB66-6477-FF8F-222C-9DA3781E2AF8}"/>
              </a:ext>
            </a:extLst>
          </p:cNvPr>
          <p:cNvSpPr>
            <a:spLocks noGrp="1"/>
          </p:cNvSpPr>
          <p:nvPr>
            <p:ph sz="quarter" idx="10"/>
          </p:nvPr>
        </p:nvSpPr>
        <p:spPr/>
        <p:txBody>
          <a:bodyPr/>
          <a:lstStyle/>
          <a:p>
            <a:pPr>
              <a:lnSpc>
                <a:spcPct val="100000"/>
              </a:lnSpc>
            </a:pPr>
            <a:r>
              <a:rPr lang="en-US" altLang="zh-TW" b="0" dirty="0"/>
              <a:t>Command</a:t>
            </a:r>
          </a:p>
          <a:p>
            <a:pPr lvl="1">
              <a:lnSpc>
                <a:spcPct val="100000"/>
              </a:lnSpc>
            </a:pPr>
            <a:r>
              <a:rPr lang="en-US" altLang="zh-TW" b="0" dirty="0"/>
              <a:t>$ cd ${NNE_SDK_PATH}/build</a:t>
            </a:r>
          </a:p>
          <a:p>
            <a:pPr lvl="1">
              <a:lnSpc>
                <a:spcPct val="100000"/>
              </a:lnSpc>
            </a:pPr>
            <a:r>
              <a:rPr lang="en-US" altLang="zh-TW" b="0" dirty="0"/>
              <a:t>$ ./nne110.sh --</a:t>
            </a:r>
            <a:r>
              <a:rPr lang="en-US" altLang="zh-TW" b="0" dirty="0" err="1"/>
              <a:t>test_app</a:t>
            </a:r>
            <a:r>
              <a:rPr lang="en-US" altLang="zh-TW" b="0" dirty="0"/>
              <a:t> </a:t>
            </a:r>
            <a:r>
              <a:rPr lang="en-US" altLang="zh-TW" b="0" dirty="0" err="1"/>
              <a:t>tflm</a:t>
            </a:r>
            <a:r>
              <a:rPr lang="en-US" altLang="zh-TW" b="0" dirty="0"/>
              <a:t> --clean --core hifi5</a:t>
            </a:r>
          </a:p>
          <a:p>
            <a:pPr>
              <a:lnSpc>
                <a:spcPct val="100000"/>
              </a:lnSpc>
            </a:pPr>
            <a:r>
              <a:rPr lang="en-US" altLang="zh-TW" b="0" dirty="0"/>
              <a:t>The above commands would trigger NNE SDK build flow, and the corresponding NNE custom </a:t>
            </a:r>
            <a:r>
              <a:rPr lang="en-US" altLang="zh-TW" b="0" dirty="0" err="1"/>
              <a:t>tflite</a:t>
            </a:r>
            <a:r>
              <a:rPr lang="en-US" altLang="zh-TW" b="0" dirty="0"/>
              <a:t> files are placed in the following path</a:t>
            </a:r>
          </a:p>
          <a:p>
            <a:pPr lvl="1">
              <a:lnSpc>
                <a:spcPct val="100000"/>
              </a:lnSpc>
            </a:pPr>
            <a:r>
              <a:rPr lang="en-US" altLang="zh-TW" b="0" dirty="0"/>
              <a:t>${NNE_SDK_PATH}/networks/</a:t>
            </a:r>
            <a:r>
              <a:rPr lang="en-US" altLang="zh-TW" b="0" dirty="0" err="1"/>
              <a:t>nw_out</a:t>
            </a:r>
            <a:r>
              <a:rPr lang="en-US" altLang="zh-TW" b="0" dirty="0"/>
              <a:t>/${MODEL_NAME}_files/</a:t>
            </a:r>
            <a:r>
              <a:rPr lang="en-US" altLang="zh-TW" dirty="0"/>
              <a:t>${MODEL_NAME}_</a:t>
            </a:r>
            <a:r>
              <a:rPr lang="en-US" altLang="zh-TW" dirty="0" err="1"/>
              <a:t>nne_custom.tflite</a:t>
            </a:r>
            <a:endParaRPr lang="en-US" altLang="zh-TW" dirty="0"/>
          </a:p>
          <a:p>
            <a:pPr>
              <a:lnSpc>
                <a:spcPct val="100000"/>
              </a:lnSpc>
            </a:pPr>
            <a:r>
              <a:rPr lang="en-US" altLang="zh-TW" b="0" dirty="0"/>
              <a:t>After finishing NNE SDK build flow, the NNE custom </a:t>
            </a:r>
            <a:r>
              <a:rPr lang="en-US" altLang="zh-TW" b="0" dirty="0" err="1"/>
              <a:t>tflite</a:t>
            </a:r>
            <a:r>
              <a:rPr lang="en-US" altLang="zh-TW" b="0" dirty="0"/>
              <a:t> files will be converted to C headers. Please check the following path.</a:t>
            </a:r>
          </a:p>
          <a:p>
            <a:pPr lvl="1">
              <a:lnSpc>
                <a:spcPct val="100000"/>
              </a:lnSpc>
            </a:pPr>
            <a:r>
              <a:rPr lang="en-US" altLang="zh-TW" b="0" dirty="0"/>
              <a:t>${NNE_SDK_PATH}/test/</a:t>
            </a:r>
            <a:r>
              <a:rPr lang="en-US" altLang="zh-TW" b="0" dirty="0" err="1"/>
              <a:t>tflm</a:t>
            </a:r>
            <a:r>
              <a:rPr lang="en-US" altLang="zh-TW" b="0" dirty="0"/>
              <a:t>/include</a:t>
            </a:r>
            <a:r>
              <a:rPr lang="en-US" altLang="zh-TW" dirty="0"/>
              <a:t>/${MODEL_NAME}_</a:t>
            </a:r>
            <a:r>
              <a:rPr lang="en-US" altLang="zh-TW" dirty="0" err="1"/>
              <a:t>model_data.h</a:t>
            </a:r>
            <a:endParaRPr lang="en-US" altLang="zh-TW" dirty="0"/>
          </a:p>
          <a:p>
            <a:endParaRPr lang="zh-TW" altLang="en-US" dirty="0"/>
          </a:p>
        </p:txBody>
      </p:sp>
      <p:sp>
        <p:nvSpPr>
          <p:cNvPr id="4" name="標題 3">
            <a:extLst>
              <a:ext uri="{FF2B5EF4-FFF2-40B4-BE49-F238E27FC236}">
                <a16:creationId xmlns:a16="http://schemas.microsoft.com/office/drawing/2014/main" id="{6A3A15E8-A7B0-5DB9-E97D-683B8EF8DF6B}"/>
              </a:ext>
            </a:extLst>
          </p:cNvPr>
          <p:cNvSpPr>
            <a:spLocks noGrp="1"/>
          </p:cNvSpPr>
          <p:nvPr>
            <p:ph type="title"/>
          </p:nvPr>
        </p:nvSpPr>
        <p:spPr/>
        <p:txBody>
          <a:bodyPr>
            <a:normAutofit fontScale="90000"/>
          </a:bodyPr>
          <a:lstStyle/>
          <a:p>
            <a:r>
              <a:rPr lang="en-US" altLang="zh-TW" dirty="0"/>
              <a:t>#1 Copy all models from the NNE SDK </a:t>
            </a:r>
            <a:br>
              <a:rPr lang="en-US" altLang="zh-TW" dirty="0"/>
            </a:br>
            <a:r>
              <a:rPr lang="en-US" altLang="zh-TW" sz="2000" dirty="0"/>
              <a:t>Step2. Run NNE SDK build</a:t>
            </a:r>
            <a:endParaRPr lang="zh-TW" altLang="en-US" sz="2000" dirty="0"/>
          </a:p>
        </p:txBody>
      </p:sp>
    </p:spTree>
    <p:extLst>
      <p:ext uri="{BB962C8B-B14F-4D97-AF65-F5344CB8AC3E}">
        <p14:creationId xmlns:p14="http://schemas.microsoft.com/office/powerpoint/2010/main" val="257183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90732F7-1FFB-FB42-764D-FE85CB76BD76}"/>
              </a:ext>
            </a:extLst>
          </p:cNvPr>
          <p:cNvSpPr>
            <a:spLocks noGrp="1"/>
          </p:cNvSpPr>
          <p:nvPr>
            <p:ph type="sldNum" sz="quarter" idx="4"/>
          </p:nvPr>
        </p:nvSpPr>
        <p:spPr/>
        <p:txBody>
          <a:bodyPr/>
          <a:lstStyle/>
          <a:p>
            <a:fld id="{0AEF9A4B-07C9-404C-9053-A3A2AC3AD5D6}" type="slidenum">
              <a:rPr lang="en-GB" smtClean="0"/>
              <a:pPr/>
              <a:t>24</a:t>
            </a:fld>
            <a:endParaRPr lang="en-GB" dirty="0"/>
          </a:p>
        </p:txBody>
      </p:sp>
      <p:sp>
        <p:nvSpPr>
          <p:cNvPr id="3" name="內容版面配置區 2">
            <a:extLst>
              <a:ext uri="{FF2B5EF4-FFF2-40B4-BE49-F238E27FC236}">
                <a16:creationId xmlns:a16="http://schemas.microsoft.com/office/drawing/2014/main" id="{95C7BB66-6477-FF8F-222C-9DA3781E2AF8}"/>
              </a:ext>
            </a:extLst>
          </p:cNvPr>
          <p:cNvSpPr>
            <a:spLocks noGrp="1"/>
          </p:cNvSpPr>
          <p:nvPr>
            <p:ph sz="quarter" idx="10"/>
          </p:nvPr>
        </p:nvSpPr>
        <p:spPr/>
        <p:txBody>
          <a:bodyPr>
            <a:normAutofit fontScale="92500" lnSpcReduction="20000"/>
          </a:bodyPr>
          <a:lstStyle/>
          <a:p>
            <a:pPr marL="342900" indent="-342900">
              <a:buFont typeface="+mj-lt"/>
              <a:buAutoNum type="arabicPeriod"/>
            </a:pPr>
            <a:r>
              <a:rPr lang="en-US" altLang="zh-TW" b="0" dirty="0"/>
              <a:t>Copy all the model headers (</a:t>
            </a:r>
            <a:r>
              <a:rPr lang="en-US" altLang="zh-TW" b="0" dirty="0">
                <a:solidFill>
                  <a:schemeClr val="accent2"/>
                </a:solidFill>
              </a:rPr>
              <a:t>Note 1</a:t>
            </a:r>
            <a:r>
              <a:rPr lang="en-US" altLang="zh-TW" b="0" dirty="0"/>
              <a:t>) to the following path. The model headers are inside the path </a:t>
            </a:r>
            <a:r>
              <a:rPr lang="en-US" altLang="zh-TW" dirty="0"/>
              <a:t>$(NNE_SDK)/test/</a:t>
            </a:r>
            <a:r>
              <a:rPr lang="en-US" altLang="zh-TW" dirty="0" err="1"/>
              <a:t>tflm</a:t>
            </a:r>
            <a:r>
              <a:rPr lang="en-US" altLang="zh-TW" dirty="0"/>
              <a:t>/</a:t>
            </a:r>
            <a:r>
              <a:rPr lang="en-US" altLang="zh-TW" dirty="0" err="1"/>
              <a:t>inc</a:t>
            </a:r>
            <a:endParaRPr lang="en-US" altLang="zh-TW" b="0" dirty="0"/>
          </a:p>
          <a:p>
            <a:pPr lvl="1"/>
            <a:r>
              <a:rPr lang="en-US" altLang="zh-TW" dirty="0"/>
              <a:t>${ADSP_PATH}/HIFI5_SP/middleware/</a:t>
            </a:r>
            <a:r>
              <a:rPr lang="en-US" altLang="zh-TW" dirty="0" err="1"/>
              <a:t>nne_model</a:t>
            </a:r>
            <a:r>
              <a:rPr lang="en-US" altLang="zh-TW" dirty="0"/>
              <a:t>/model/v1.4p2/</a:t>
            </a:r>
            <a:r>
              <a:rPr lang="en-US" altLang="zh-TW" dirty="0" err="1"/>
              <a:t>inc</a:t>
            </a:r>
            <a:endParaRPr lang="en-US" altLang="zh-TW" dirty="0"/>
          </a:p>
          <a:p>
            <a:pPr marL="342900" indent="-342900">
              <a:buFont typeface="+mj-lt"/>
              <a:buAutoNum type="arabicPeriod"/>
            </a:pPr>
            <a:r>
              <a:rPr lang="en-US" altLang="zh-TW" b="0" dirty="0"/>
              <a:t>Copy the </a:t>
            </a:r>
            <a:r>
              <a:rPr lang="en-US" altLang="zh-TW" dirty="0"/>
              <a:t>$(NNE_SDK)/test/</a:t>
            </a:r>
            <a:r>
              <a:rPr lang="en-US" altLang="zh-TW" dirty="0" err="1"/>
              <a:t>tflm</a:t>
            </a:r>
            <a:r>
              <a:rPr lang="en-US" altLang="zh-TW" dirty="0"/>
              <a:t>/</a:t>
            </a:r>
            <a:r>
              <a:rPr lang="en-US" altLang="zh-TW" dirty="0" err="1"/>
              <a:t>inc</a:t>
            </a:r>
            <a:r>
              <a:rPr lang="en-US" altLang="zh-TW" dirty="0"/>
              <a:t>/</a:t>
            </a:r>
            <a:r>
              <a:rPr lang="en-US" altLang="zh-TW" dirty="0" err="1"/>
              <a:t>xa_network_model_data.h</a:t>
            </a:r>
            <a:r>
              <a:rPr lang="en-US" altLang="zh-TW" dirty="0"/>
              <a:t> </a:t>
            </a:r>
            <a:r>
              <a:rPr lang="en-US" altLang="zh-TW" b="0" dirty="0"/>
              <a:t>to the following path</a:t>
            </a:r>
          </a:p>
          <a:p>
            <a:pPr lvl="1"/>
            <a:r>
              <a:rPr lang="en-US" altLang="zh-TW" dirty="0"/>
              <a:t>${ADSP_PATH}/HIFI5_SP/middleware/</a:t>
            </a:r>
            <a:r>
              <a:rPr lang="en-US" altLang="zh-TW" dirty="0" err="1"/>
              <a:t>nne_model</a:t>
            </a:r>
            <a:r>
              <a:rPr lang="en-US" altLang="zh-TW" dirty="0"/>
              <a:t>/model/v1.4p2/</a:t>
            </a:r>
            <a:r>
              <a:rPr lang="en-US" altLang="zh-TW" dirty="0" err="1"/>
              <a:t>inc</a:t>
            </a:r>
            <a:endParaRPr lang="en-US" altLang="zh-TW" dirty="0"/>
          </a:p>
          <a:p>
            <a:pPr marL="342900" indent="-342900">
              <a:buFont typeface="+mj-lt"/>
              <a:buAutoNum type="arabicPeriod"/>
            </a:pPr>
            <a:r>
              <a:rPr lang="en-US" altLang="zh-TW" b="0" dirty="0"/>
              <a:t>Copy </a:t>
            </a:r>
            <a:r>
              <a:rPr lang="en-US" altLang="zh-TW" dirty="0"/>
              <a:t>$(NNE_SDK)/test/tflm/src/xa_network_model_data.cc </a:t>
            </a:r>
            <a:r>
              <a:rPr lang="en-US" altLang="zh-TW" b="0" dirty="0"/>
              <a:t>to the following path and rename to </a:t>
            </a:r>
            <a:r>
              <a:rPr lang="en-US" altLang="zh-TW" dirty="0" err="1">
                <a:solidFill>
                  <a:srgbClr val="FF0000"/>
                </a:solidFill>
              </a:rPr>
              <a:t>xa_network_model_data.c</a:t>
            </a:r>
            <a:r>
              <a:rPr lang="en-US" altLang="zh-TW" dirty="0">
                <a:solidFill>
                  <a:srgbClr val="FF0000"/>
                </a:solidFill>
              </a:rPr>
              <a:t> </a:t>
            </a:r>
            <a:r>
              <a:rPr lang="en-US" altLang="zh-TW" b="0" dirty="0"/>
              <a:t>(</a:t>
            </a:r>
            <a:r>
              <a:rPr lang="en-US" altLang="zh-TW" b="0" dirty="0">
                <a:solidFill>
                  <a:schemeClr val="accent2"/>
                </a:solidFill>
              </a:rPr>
              <a:t>Note 2</a:t>
            </a:r>
            <a:r>
              <a:rPr lang="en-US" altLang="zh-TW" b="0" dirty="0"/>
              <a:t>)</a:t>
            </a:r>
          </a:p>
          <a:p>
            <a:pPr lvl="1"/>
            <a:r>
              <a:rPr lang="en-US" altLang="zh-TW" dirty="0"/>
              <a:t>${ADSP_PATH}/HIFI5_SP/middleware/</a:t>
            </a:r>
            <a:r>
              <a:rPr lang="en-US" altLang="zh-TW" dirty="0" err="1"/>
              <a:t>nne_model</a:t>
            </a:r>
            <a:r>
              <a:rPr lang="en-US" altLang="zh-TW" dirty="0"/>
              <a:t>/model/v1.4p2/</a:t>
            </a:r>
            <a:r>
              <a:rPr lang="en-US" altLang="zh-TW" dirty="0" err="1"/>
              <a:t>src</a:t>
            </a:r>
            <a:endParaRPr lang="en-US" altLang="zh-TW" dirty="0"/>
          </a:p>
          <a:p>
            <a:pPr marL="342900" indent="-342900">
              <a:buFont typeface="+mj-lt"/>
              <a:buAutoNum type="arabicPeriod"/>
            </a:pPr>
            <a:r>
              <a:rPr lang="en-US" altLang="zh-TW" b="0" dirty="0"/>
              <a:t>Rebuild ADSP image</a:t>
            </a:r>
            <a:br>
              <a:rPr lang="en-US" altLang="zh-TW" b="0" dirty="0"/>
            </a:br>
            <a:endParaRPr lang="en-US" altLang="zh-TW" b="0" dirty="0"/>
          </a:p>
          <a:p>
            <a:r>
              <a:rPr lang="en-US" altLang="zh-TW" b="0" dirty="0"/>
              <a:t>Note</a:t>
            </a:r>
          </a:p>
          <a:p>
            <a:pPr lvl="1">
              <a:buFont typeface="+mj-lt"/>
              <a:buAutoNum type="arabicPeriod"/>
            </a:pPr>
            <a:r>
              <a:rPr lang="en-US" altLang="zh-TW" b="0" dirty="0"/>
              <a:t>If there are multiple models defined in the nw_list.txt, the NNE SDK would generate a model header for each model. The model header name is suffixed with </a:t>
            </a:r>
            <a:r>
              <a:rPr lang="en-US" altLang="zh-TW" dirty="0"/>
              <a:t>_</a:t>
            </a:r>
            <a:r>
              <a:rPr lang="en-US" altLang="zh-TW" dirty="0" err="1"/>
              <a:t>model_data.h</a:t>
            </a:r>
            <a:r>
              <a:rPr lang="en-US" altLang="zh-TW" dirty="0"/>
              <a:t>.</a:t>
            </a:r>
          </a:p>
          <a:p>
            <a:pPr lvl="1">
              <a:buFont typeface="+mj-lt"/>
              <a:buAutoNum type="arabicPeriod"/>
            </a:pPr>
            <a:r>
              <a:rPr lang="en-US" altLang="zh-TW" b="0" dirty="0"/>
              <a:t>Please note that the </a:t>
            </a:r>
            <a:r>
              <a:rPr lang="en-US" altLang="zh-TW" dirty="0"/>
              <a:t>xa_network_model_data.cc </a:t>
            </a:r>
            <a:r>
              <a:rPr lang="en-US" altLang="zh-TW" b="0" dirty="0"/>
              <a:t>must be renamed to </a:t>
            </a:r>
            <a:r>
              <a:rPr lang="en-US" altLang="zh-TW" dirty="0"/>
              <a:t>C</a:t>
            </a:r>
            <a:r>
              <a:rPr lang="en-US" altLang="zh-TW" b="0" dirty="0"/>
              <a:t> file because the ADSP build script does not support </a:t>
            </a:r>
            <a:r>
              <a:rPr lang="en-US" altLang="zh-TW" dirty="0"/>
              <a:t>CC</a:t>
            </a:r>
            <a:r>
              <a:rPr lang="en-US" altLang="zh-TW" b="0" dirty="0"/>
              <a:t> file currently.</a:t>
            </a:r>
          </a:p>
        </p:txBody>
      </p:sp>
      <p:sp>
        <p:nvSpPr>
          <p:cNvPr id="4" name="標題 3">
            <a:extLst>
              <a:ext uri="{FF2B5EF4-FFF2-40B4-BE49-F238E27FC236}">
                <a16:creationId xmlns:a16="http://schemas.microsoft.com/office/drawing/2014/main" id="{6A3A15E8-A7B0-5DB9-E97D-683B8EF8DF6B}"/>
              </a:ext>
            </a:extLst>
          </p:cNvPr>
          <p:cNvSpPr>
            <a:spLocks noGrp="1"/>
          </p:cNvSpPr>
          <p:nvPr>
            <p:ph type="title"/>
          </p:nvPr>
        </p:nvSpPr>
        <p:spPr/>
        <p:txBody>
          <a:bodyPr>
            <a:normAutofit fontScale="90000"/>
          </a:bodyPr>
          <a:lstStyle/>
          <a:p>
            <a:r>
              <a:rPr lang="en-US" altLang="zh-TW" dirty="0"/>
              <a:t>#1 Copy all models from the NNE SDK</a:t>
            </a:r>
            <a:br>
              <a:rPr lang="en-US" altLang="zh-TW" dirty="0"/>
            </a:br>
            <a:r>
              <a:rPr lang="en-US" altLang="zh-TW" sz="2000" dirty="0"/>
              <a:t>Step3. Copy the produced models from the NNE SDK</a:t>
            </a:r>
            <a:endParaRPr lang="zh-TW" altLang="en-US" sz="2000" dirty="0"/>
          </a:p>
        </p:txBody>
      </p:sp>
    </p:spTree>
    <p:extLst>
      <p:ext uri="{BB962C8B-B14F-4D97-AF65-F5344CB8AC3E}">
        <p14:creationId xmlns:p14="http://schemas.microsoft.com/office/powerpoint/2010/main" val="48984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74F0A25-8BFC-8F1B-5B39-4E66C993EFF7}"/>
              </a:ext>
            </a:extLst>
          </p:cNvPr>
          <p:cNvSpPr>
            <a:spLocks noGrp="1"/>
          </p:cNvSpPr>
          <p:nvPr>
            <p:ph type="sldNum" sz="quarter" idx="4"/>
          </p:nvPr>
        </p:nvSpPr>
        <p:spPr/>
        <p:txBody>
          <a:bodyPr/>
          <a:lstStyle/>
          <a:p>
            <a:fld id="{0AEF9A4B-07C9-404C-9053-A3A2AC3AD5D6}" type="slidenum">
              <a:rPr lang="en-GB" smtClean="0"/>
              <a:pPr/>
              <a:t>25</a:t>
            </a:fld>
            <a:endParaRPr lang="en-GB" dirty="0"/>
          </a:p>
        </p:txBody>
      </p:sp>
      <p:sp>
        <p:nvSpPr>
          <p:cNvPr id="3" name="內容版面配置區 2">
            <a:extLst>
              <a:ext uri="{FF2B5EF4-FFF2-40B4-BE49-F238E27FC236}">
                <a16:creationId xmlns:a16="http://schemas.microsoft.com/office/drawing/2014/main" id="{B6A79351-23AC-5D1D-B79C-1AADFADDC541}"/>
              </a:ext>
            </a:extLst>
          </p:cNvPr>
          <p:cNvSpPr>
            <a:spLocks noGrp="1"/>
          </p:cNvSpPr>
          <p:nvPr>
            <p:ph sz="quarter" idx="10"/>
          </p:nvPr>
        </p:nvSpPr>
        <p:spPr/>
        <p:txBody>
          <a:bodyPr/>
          <a:lstStyle/>
          <a:p>
            <a:r>
              <a:rPr lang="en-US" altLang="zh-TW" dirty="0"/>
              <a:t>Steps</a:t>
            </a:r>
          </a:p>
          <a:p>
            <a:pPr lvl="1">
              <a:buFont typeface="+mj-lt"/>
              <a:buAutoNum type="arabicPeriod"/>
            </a:pPr>
            <a:r>
              <a:rPr lang="en-US" altLang="zh-TW" dirty="0"/>
              <a:t>Place models into the NNE SDK (same as the 1</a:t>
            </a:r>
            <a:r>
              <a:rPr lang="en-US" altLang="zh-TW" baseline="30000" dirty="0"/>
              <a:t>st</a:t>
            </a:r>
            <a:r>
              <a:rPr lang="en-US" altLang="zh-TW" dirty="0"/>
              <a:t> way)</a:t>
            </a:r>
          </a:p>
          <a:p>
            <a:pPr lvl="1">
              <a:buFont typeface="+mj-lt"/>
              <a:buAutoNum type="arabicPeriod"/>
            </a:pPr>
            <a:r>
              <a:rPr lang="en-US" altLang="zh-TW" dirty="0"/>
              <a:t>Run NNE SDK build (same as the 1</a:t>
            </a:r>
            <a:r>
              <a:rPr lang="en-US" altLang="zh-TW" baseline="30000" dirty="0"/>
              <a:t>st</a:t>
            </a:r>
            <a:r>
              <a:rPr lang="en-US" altLang="zh-TW" dirty="0"/>
              <a:t> way)</a:t>
            </a:r>
          </a:p>
          <a:p>
            <a:pPr lvl="1">
              <a:buFont typeface="+mj-lt"/>
              <a:buAutoNum type="arabicPeriod"/>
            </a:pPr>
            <a:r>
              <a:rPr lang="en-US" altLang="zh-TW" dirty="0"/>
              <a:t>Modify the </a:t>
            </a:r>
            <a:r>
              <a:rPr lang="en-US" altLang="zh-TW" dirty="0" err="1"/>
              <a:t>xa_network_model_data.c</a:t>
            </a:r>
            <a:r>
              <a:rPr lang="en-US" altLang="zh-TW" dirty="0"/>
              <a:t>/.h manually</a:t>
            </a:r>
          </a:p>
          <a:p>
            <a:pPr marL="446088" lvl="1" indent="0">
              <a:buNone/>
            </a:pPr>
            <a:endParaRPr lang="en-US" altLang="zh-TW" dirty="0"/>
          </a:p>
          <a:p>
            <a:r>
              <a:rPr lang="en-US" altLang="zh-TW" dirty="0"/>
              <a:t>The step 1 and 2 are the same for both the 1</a:t>
            </a:r>
            <a:r>
              <a:rPr lang="en-US" altLang="zh-TW" baseline="30000" dirty="0"/>
              <a:t>st</a:t>
            </a:r>
            <a:r>
              <a:rPr lang="en-US" altLang="zh-TW" dirty="0"/>
              <a:t> and 2</a:t>
            </a:r>
            <a:r>
              <a:rPr lang="en-US" altLang="zh-TW" baseline="30000" dirty="0"/>
              <a:t>nd</a:t>
            </a:r>
            <a:r>
              <a:rPr lang="en-US" altLang="zh-TW" dirty="0"/>
              <a:t> methods.</a:t>
            </a:r>
          </a:p>
        </p:txBody>
      </p:sp>
      <p:sp>
        <p:nvSpPr>
          <p:cNvPr id="4" name="標題 3">
            <a:extLst>
              <a:ext uri="{FF2B5EF4-FFF2-40B4-BE49-F238E27FC236}">
                <a16:creationId xmlns:a16="http://schemas.microsoft.com/office/drawing/2014/main" id="{5599F321-6E71-2C08-57EA-4E3CE7355A1F}"/>
              </a:ext>
            </a:extLst>
          </p:cNvPr>
          <p:cNvSpPr>
            <a:spLocks noGrp="1"/>
          </p:cNvSpPr>
          <p:nvPr>
            <p:ph type="title"/>
          </p:nvPr>
        </p:nvSpPr>
        <p:spPr/>
        <p:txBody>
          <a:bodyPr/>
          <a:lstStyle/>
          <a:p>
            <a:r>
              <a:rPr lang="en-US" altLang="zh-TW" dirty="0"/>
              <a:t>#2 Add models manually</a:t>
            </a:r>
            <a:endParaRPr lang="zh-TW" altLang="en-US" dirty="0"/>
          </a:p>
        </p:txBody>
      </p:sp>
    </p:spTree>
    <p:extLst>
      <p:ext uri="{BB962C8B-B14F-4D97-AF65-F5344CB8AC3E}">
        <p14:creationId xmlns:p14="http://schemas.microsoft.com/office/powerpoint/2010/main" val="15182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82E78AD-CB16-ED52-B60F-32582B1BAD78}"/>
              </a:ext>
            </a:extLst>
          </p:cNvPr>
          <p:cNvSpPr>
            <a:spLocks noGrp="1"/>
          </p:cNvSpPr>
          <p:nvPr>
            <p:ph type="sldNum" sz="quarter" idx="4"/>
          </p:nvPr>
        </p:nvSpPr>
        <p:spPr/>
        <p:txBody>
          <a:bodyPr/>
          <a:lstStyle/>
          <a:p>
            <a:fld id="{0AEF9A4B-07C9-404C-9053-A3A2AC3AD5D6}" type="slidenum">
              <a:rPr lang="en-GB" smtClean="0"/>
              <a:pPr/>
              <a:t>26</a:t>
            </a:fld>
            <a:endParaRPr lang="en-GB" dirty="0"/>
          </a:p>
        </p:txBody>
      </p:sp>
      <p:sp>
        <p:nvSpPr>
          <p:cNvPr id="3" name="內容版面配置區 2">
            <a:extLst>
              <a:ext uri="{FF2B5EF4-FFF2-40B4-BE49-F238E27FC236}">
                <a16:creationId xmlns:a16="http://schemas.microsoft.com/office/drawing/2014/main" id="{1898BFE6-9AF9-0471-92C0-BE0693E121FC}"/>
              </a:ext>
            </a:extLst>
          </p:cNvPr>
          <p:cNvSpPr>
            <a:spLocks noGrp="1"/>
          </p:cNvSpPr>
          <p:nvPr>
            <p:ph sz="quarter" idx="10"/>
          </p:nvPr>
        </p:nvSpPr>
        <p:spPr/>
        <p:txBody>
          <a:bodyPr/>
          <a:lstStyle/>
          <a:p>
            <a:pPr marL="342900" indent="-342900">
              <a:buFont typeface="+mj-lt"/>
              <a:buAutoNum type="arabicPeriod"/>
            </a:pPr>
            <a:r>
              <a:rPr lang="en-US" altLang="zh-TW" b="0" dirty="0"/>
              <a:t>Copy all the model headers to the following path. The model headers are inside the path </a:t>
            </a:r>
            <a:r>
              <a:rPr lang="en-US" altLang="zh-TW" dirty="0"/>
              <a:t>$(NNE_SDK)/test/</a:t>
            </a:r>
            <a:r>
              <a:rPr lang="en-US" altLang="zh-TW" dirty="0" err="1"/>
              <a:t>tflm</a:t>
            </a:r>
            <a:r>
              <a:rPr lang="en-US" altLang="zh-TW" dirty="0"/>
              <a:t>/</a:t>
            </a:r>
            <a:r>
              <a:rPr lang="en-US" altLang="zh-TW" dirty="0" err="1"/>
              <a:t>inc</a:t>
            </a:r>
            <a:endParaRPr lang="en-US" altLang="zh-TW" b="0" dirty="0"/>
          </a:p>
          <a:p>
            <a:pPr lvl="1"/>
            <a:r>
              <a:rPr lang="en-US" altLang="zh-TW" dirty="0"/>
              <a:t>${ADSP_PATH}/HIFI5_SP/middleware/</a:t>
            </a:r>
            <a:r>
              <a:rPr lang="en-US" altLang="zh-TW" dirty="0" err="1"/>
              <a:t>nne_model</a:t>
            </a:r>
            <a:r>
              <a:rPr lang="en-US" altLang="zh-TW" dirty="0"/>
              <a:t>/model/v1.4p2/</a:t>
            </a:r>
            <a:r>
              <a:rPr lang="en-US" altLang="zh-TW" dirty="0" err="1"/>
              <a:t>inc</a:t>
            </a:r>
            <a:endParaRPr lang="en-US" altLang="zh-TW" dirty="0"/>
          </a:p>
          <a:p>
            <a:pPr marL="342900" indent="-342900">
              <a:buFont typeface="+mj-lt"/>
              <a:buAutoNum type="arabicPeriod"/>
            </a:pPr>
            <a:r>
              <a:rPr lang="en-US" altLang="zh-TW" dirty="0"/>
              <a:t>modify</a:t>
            </a:r>
          </a:p>
          <a:p>
            <a:pPr marL="876300" lvl="1" indent="-342900">
              <a:buFont typeface="+mj-lt"/>
              <a:buAutoNum type="arabicPeriod"/>
            </a:pPr>
            <a:r>
              <a:rPr lang="en-US" altLang="zh-TW" dirty="0"/>
              <a:t>${ADSP_PATH}/HIFI5_SP/middleware/</a:t>
            </a:r>
            <a:r>
              <a:rPr lang="en-US" altLang="zh-TW" dirty="0" err="1"/>
              <a:t>nne_model</a:t>
            </a:r>
            <a:r>
              <a:rPr lang="en-US" altLang="zh-TW" dirty="0"/>
              <a:t>/model/v1.4p2/</a:t>
            </a:r>
            <a:r>
              <a:rPr lang="en-US" altLang="zh-TW" dirty="0" err="1"/>
              <a:t>inc</a:t>
            </a:r>
            <a:r>
              <a:rPr lang="en-US" altLang="zh-TW" dirty="0"/>
              <a:t>/</a:t>
            </a:r>
            <a:r>
              <a:rPr lang="en-US" altLang="zh-TW" dirty="0" err="1"/>
              <a:t>xa_network_model_data.h</a:t>
            </a:r>
            <a:endParaRPr lang="en-US" altLang="zh-TW" dirty="0"/>
          </a:p>
          <a:p>
            <a:pPr marL="1149350" lvl="2" indent="-342900"/>
            <a:r>
              <a:rPr lang="en-US" altLang="zh-TW" b="1" dirty="0"/>
              <a:t>“#define NETWORKS_COUNT 2”</a:t>
            </a:r>
            <a:r>
              <a:rPr lang="en-US" altLang="zh-TW" dirty="0"/>
              <a:t>,</a:t>
            </a:r>
            <a:r>
              <a:rPr lang="zh-TW" altLang="en-US" dirty="0"/>
              <a:t> </a:t>
            </a:r>
            <a:r>
              <a:rPr lang="en-US" altLang="zh-TW" dirty="0"/>
              <a:t>Please modify the number following NETWORKS_COUNT to the desired number of models to be run on the ADSP.</a:t>
            </a:r>
          </a:p>
          <a:p>
            <a:pPr marL="876300" lvl="1" indent="-342900">
              <a:buFont typeface="+mj-lt"/>
              <a:buAutoNum type="arabicPeriod"/>
            </a:pPr>
            <a:r>
              <a:rPr lang="en-US" altLang="zh-TW" dirty="0"/>
              <a:t>${ADSP_PATH}/HIFI5_SP/middleware/</a:t>
            </a:r>
            <a:r>
              <a:rPr lang="en-US" altLang="zh-TW" dirty="0" err="1"/>
              <a:t>nne_model</a:t>
            </a:r>
            <a:r>
              <a:rPr lang="en-US" altLang="zh-TW" dirty="0"/>
              <a:t>/model/v1.4p2/</a:t>
            </a:r>
            <a:r>
              <a:rPr lang="en-US" altLang="zh-TW" dirty="0" err="1"/>
              <a:t>src</a:t>
            </a:r>
            <a:r>
              <a:rPr lang="en-US" altLang="zh-TW" dirty="0"/>
              <a:t>/</a:t>
            </a:r>
            <a:r>
              <a:rPr lang="en-US" altLang="zh-TW" dirty="0" err="1"/>
              <a:t>xa_network_model_data.c</a:t>
            </a:r>
            <a:endParaRPr lang="en-US" altLang="zh-TW" dirty="0"/>
          </a:p>
          <a:p>
            <a:pPr marL="1149350" lvl="2" indent="-342900"/>
            <a:r>
              <a:rPr lang="en-US" altLang="zh-TW" dirty="0"/>
              <a:t>Include “${MODEL_NAME}_</a:t>
            </a:r>
            <a:r>
              <a:rPr lang="en-US" altLang="zh-TW" dirty="0" err="1"/>
              <a:t>model_data.h</a:t>
            </a:r>
            <a:r>
              <a:rPr lang="en-US" altLang="zh-TW" dirty="0"/>
              <a:t>”</a:t>
            </a:r>
          </a:p>
          <a:p>
            <a:pPr marL="1149350" lvl="2" indent="-342900"/>
            <a:r>
              <a:rPr lang="en-US" altLang="zh-TW" dirty="0" err="1"/>
              <a:t>xa_nw_models</a:t>
            </a:r>
            <a:r>
              <a:rPr lang="en-US" altLang="zh-TW" dirty="0"/>
              <a:t> adds ${MODEL_NAME}_</a:t>
            </a:r>
            <a:r>
              <a:rPr lang="en-US" altLang="zh-TW" dirty="0" err="1"/>
              <a:t>nne_custom_tflite</a:t>
            </a:r>
            <a:endParaRPr lang="en-US" altLang="zh-TW" dirty="0"/>
          </a:p>
          <a:p>
            <a:pPr marL="1149350" lvl="2" indent="-342900"/>
            <a:r>
              <a:rPr lang="en-US" altLang="zh-TW" dirty="0" err="1"/>
              <a:t>xa_nw_priorities</a:t>
            </a:r>
            <a:r>
              <a:rPr lang="en-US" altLang="zh-TW" dirty="0"/>
              <a:t> adds priorities for models (0 has the largest priority)</a:t>
            </a:r>
          </a:p>
          <a:p>
            <a:pPr marL="1149350" lvl="2" indent="-342900"/>
            <a:r>
              <a:rPr lang="en-US" altLang="zh-TW" dirty="0" err="1"/>
              <a:t>xa_nw_name</a:t>
            </a:r>
            <a:r>
              <a:rPr lang="en-US" altLang="zh-TW" dirty="0"/>
              <a:t> adds  model names</a:t>
            </a:r>
          </a:p>
          <a:p>
            <a:endParaRPr lang="zh-TW" altLang="en-US" dirty="0"/>
          </a:p>
        </p:txBody>
      </p:sp>
      <p:sp>
        <p:nvSpPr>
          <p:cNvPr id="4" name="標題 3">
            <a:extLst>
              <a:ext uri="{FF2B5EF4-FFF2-40B4-BE49-F238E27FC236}">
                <a16:creationId xmlns:a16="http://schemas.microsoft.com/office/drawing/2014/main" id="{5FC9F521-883D-16B7-05B2-BCAF7FB717F6}"/>
              </a:ext>
            </a:extLst>
          </p:cNvPr>
          <p:cNvSpPr>
            <a:spLocks noGrp="1"/>
          </p:cNvSpPr>
          <p:nvPr>
            <p:ph type="title"/>
          </p:nvPr>
        </p:nvSpPr>
        <p:spPr/>
        <p:txBody>
          <a:bodyPr>
            <a:noAutofit/>
          </a:bodyPr>
          <a:lstStyle/>
          <a:p>
            <a:r>
              <a:rPr lang="en-US" altLang="zh-TW" sz="2500" dirty="0"/>
              <a:t>#2 Add models manually</a:t>
            </a:r>
            <a:br>
              <a:rPr lang="en-US" altLang="zh-TW" sz="2000" dirty="0"/>
            </a:br>
            <a:r>
              <a:rPr lang="en-US" altLang="zh-TW" sz="1800" dirty="0"/>
              <a:t>Step3. Modify the </a:t>
            </a:r>
            <a:r>
              <a:rPr lang="en-US" altLang="zh-TW" sz="1800" dirty="0" err="1"/>
              <a:t>xa_network_model_data.c</a:t>
            </a:r>
            <a:r>
              <a:rPr lang="en-US" altLang="zh-TW" sz="1800" dirty="0"/>
              <a:t>/.h manually</a:t>
            </a:r>
            <a:endParaRPr lang="zh-TW" altLang="en-US" sz="1800" dirty="0"/>
          </a:p>
        </p:txBody>
      </p:sp>
    </p:spTree>
    <p:extLst>
      <p:ext uri="{BB962C8B-B14F-4D97-AF65-F5344CB8AC3E}">
        <p14:creationId xmlns:p14="http://schemas.microsoft.com/office/powerpoint/2010/main" val="316988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群組 28">
            <a:extLst>
              <a:ext uri="{FF2B5EF4-FFF2-40B4-BE49-F238E27FC236}">
                <a16:creationId xmlns:a16="http://schemas.microsoft.com/office/drawing/2014/main" id="{3B3FE8AA-7535-45EC-E517-71A0927448DC}"/>
              </a:ext>
            </a:extLst>
          </p:cNvPr>
          <p:cNvGrpSpPr/>
          <p:nvPr/>
        </p:nvGrpSpPr>
        <p:grpSpPr>
          <a:xfrm>
            <a:off x="4433094" y="1024857"/>
            <a:ext cx="4680569" cy="4064705"/>
            <a:chOff x="4433094" y="1024857"/>
            <a:chExt cx="4680569" cy="4064705"/>
          </a:xfrm>
        </p:grpSpPr>
        <p:pic>
          <p:nvPicPr>
            <p:cNvPr id="27" name="圖片 26">
              <a:extLst>
                <a:ext uri="{FF2B5EF4-FFF2-40B4-BE49-F238E27FC236}">
                  <a16:creationId xmlns:a16="http://schemas.microsoft.com/office/drawing/2014/main" id="{C9B2B099-3ACA-C51E-B53E-D74404B265C5}"/>
                </a:ext>
              </a:extLst>
            </p:cNvPr>
            <p:cNvPicPr>
              <a:picLocks noChangeAspect="1"/>
            </p:cNvPicPr>
            <p:nvPr/>
          </p:nvPicPr>
          <p:blipFill>
            <a:blip r:embed="rId2"/>
            <a:stretch>
              <a:fillRect/>
            </a:stretch>
          </p:blipFill>
          <p:spPr>
            <a:xfrm>
              <a:off x="4433094" y="1024857"/>
              <a:ext cx="4680569" cy="4064705"/>
            </a:xfrm>
            <a:prstGeom prst="rect">
              <a:avLst/>
            </a:prstGeom>
          </p:spPr>
        </p:pic>
        <p:sp>
          <p:nvSpPr>
            <p:cNvPr id="7" name="矩形 6">
              <a:extLst>
                <a:ext uri="{FF2B5EF4-FFF2-40B4-BE49-F238E27FC236}">
                  <a16:creationId xmlns:a16="http://schemas.microsoft.com/office/drawing/2014/main" id="{9B381DB4-7024-69AA-0D4D-D00B999A2DB7}"/>
                </a:ext>
              </a:extLst>
            </p:cNvPr>
            <p:cNvSpPr/>
            <p:nvPr/>
          </p:nvSpPr>
          <p:spPr>
            <a:xfrm>
              <a:off x="4695324" y="1476228"/>
              <a:ext cx="2707200" cy="360000"/>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DD197126-9FB2-251C-ACB1-8473DD5B150F}"/>
                </a:ext>
              </a:extLst>
            </p:cNvPr>
            <p:cNvSpPr/>
            <p:nvPr/>
          </p:nvSpPr>
          <p:spPr>
            <a:xfrm>
              <a:off x="4695323" y="2377367"/>
              <a:ext cx="2339657" cy="360000"/>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2C5132D-805D-EEBB-538D-0881103BB74B}"/>
                </a:ext>
              </a:extLst>
            </p:cNvPr>
            <p:cNvSpPr/>
            <p:nvPr/>
          </p:nvSpPr>
          <p:spPr>
            <a:xfrm>
              <a:off x="4709724" y="3375803"/>
              <a:ext cx="324000" cy="360000"/>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CEDB1DF1-4D0E-E25C-2DBD-C21BAF8BC793}"/>
                </a:ext>
              </a:extLst>
            </p:cNvPr>
            <p:cNvSpPr/>
            <p:nvPr/>
          </p:nvSpPr>
          <p:spPr>
            <a:xfrm>
              <a:off x="4709724" y="4451028"/>
              <a:ext cx="2338726" cy="360000"/>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 name="投影片編號版面配置區 1">
            <a:extLst>
              <a:ext uri="{FF2B5EF4-FFF2-40B4-BE49-F238E27FC236}">
                <a16:creationId xmlns:a16="http://schemas.microsoft.com/office/drawing/2014/main" id="{D19314D4-4EF9-6EAD-A534-EE442E127E18}"/>
              </a:ext>
            </a:extLst>
          </p:cNvPr>
          <p:cNvSpPr>
            <a:spLocks noGrp="1"/>
          </p:cNvSpPr>
          <p:nvPr>
            <p:ph type="sldNum" sz="quarter" idx="4"/>
          </p:nvPr>
        </p:nvSpPr>
        <p:spPr/>
        <p:txBody>
          <a:bodyPr/>
          <a:lstStyle/>
          <a:p>
            <a:fld id="{0AEF9A4B-07C9-404C-9053-A3A2AC3AD5D6}" type="slidenum">
              <a:rPr lang="en-GB" smtClean="0"/>
              <a:pPr/>
              <a:t>27</a:t>
            </a:fld>
            <a:endParaRPr lang="en-GB" dirty="0"/>
          </a:p>
        </p:txBody>
      </p:sp>
      <p:sp>
        <p:nvSpPr>
          <p:cNvPr id="30" name="內容版面配置區 2">
            <a:extLst>
              <a:ext uri="{FF2B5EF4-FFF2-40B4-BE49-F238E27FC236}">
                <a16:creationId xmlns:a16="http://schemas.microsoft.com/office/drawing/2014/main" id="{30502587-2227-4E04-9EB9-88421E026DC5}"/>
              </a:ext>
            </a:extLst>
          </p:cNvPr>
          <p:cNvSpPr>
            <a:spLocks noGrp="1"/>
          </p:cNvSpPr>
          <p:nvPr>
            <p:ph sz="quarter" idx="10"/>
          </p:nvPr>
        </p:nvSpPr>
        <p:spPr>
          <a:xfrm>
            <a:off x="323849" y="650766"/>
            <a:ext cx="8218489" cy="374091"/>
          </a:xfrm>
        </p:spPr>
        <p:txBody>
          <a:bodyPr>
            <a:normAutofit/>
          </a:bodyPr>
          <a:lstStyle/>
          <a:p>
            <a:r>
              <a:rPr lang="en-US" altLang="zh-TW" dirty="0"/>
              <a:t>Here is a sample adding 2 models </a:t>
            </a:r>
            <a:r>
              <a:rPr lang="en-US" altLang="zh-TW" i="1" dirty="0">
                <a:solidFill>
                  <a:srgbClr val="FF0000"/>
                </a:solidFill>
              </a:rPr>
              <a:t>new_test_network1 </a:t>
            </a:r>
            <a:r>
              <a:rPr lang="en-US" altLang="zh-TW" dirty="0"/>
              <a:t>and </a:t>
            </a:r>
            <a:r>
              <a:rPr lang="en-US" altLang="zh-TW" i="1" dirty="0">
                <a:solidFill>
                  <a:srgbClr val="FF0000"/>
                </a:solidFill>
              </a:rPr>
              <a:t>new_test_network2</a:t>
            </a:r>
            <a:r>
              <a:rPr lang="en-US" altLang="zh-TW" dirty="0"/>
              <a:t>.</a:t>
            </a:r>
          </a:p>
        </p:txBody>
      </p:sp>
      <p:sp>
        <p:nvSpPr>
          <p:cNvPr id="4" name="標題 3">
            <a:extLst>
              <a:ext uri="{FF2B5EF4-FFF2-40B4-BE49-F238E27FC236}">
                <a16:creationId xmlns:a16="http://schemas.microsoft.com/office/drawing/2014/main" id="{7A754328-D543-CDB3-1705-5A6EB710EE84}"/>
              </a:ext>
            </a:extLst>
          </p:cNvPr>
          <p:cNvSpPr>
            <a:spLocks noGrp="1"/>
          </p:cNvSpPr>
          <p:nvPr>
            <p:ph type="title"/>
          </p:nvPr>
        </p:nvSpPr>
        <p:spPr>
          <a:xfrm>
            <a:off x="323850" y="0"/>
            <a:ext cx="8218488" cy="616025"/>
          </a:xfrm>
        </p:spPr>
        <p:txBody>
          <a:bodyPr>
            <a:noAutofit/>
          </a:bodyPr>
          <a:lstStyle/>
          <a:p>
            <a:r>
              <a:rPr lang="en-US" altLang="zh-TW" sz="2500" dirty="0"/>
              <a:t>#2 Add models manually</a:t>
            </a:r>
            <a:br>
              <a:rPr lang="en-US" altLang="zh-TW" sz="2000" dirty="0"/>
            </a:br>
            <a:r>
              <a:rPr lang="en-US" altLang="zh-TW" sz="1800" dirty="0"/>
              <a:t>Step3. Modify the </a:t>
            </a:r>
            <a:r>
              <a:rPr lang="en-US" altLang="zh-TW" sz="1800" dirty="0" err="1"/>
              <a:t>xa_network_model_data.c</a:t>
            </a:r>
            <a:r>
              <a:rPr lang="en-US" altLang="zh-TW" sz="1800" dirty="0"/>
              <a:t>/.h manually example</a:t>
            </a:r>
            <a:endParaRPr lang="zh-TW" altLang="en-US" sz="1800" dirty="0"/>
          </a:p>
        </p:txBody>
      </p:sp>
      <p:pic>
        <p:nvPicPr>
          <p:cNvPr id="18" name="圖片 17">
            <a:extLst>
              <a:ext uri="{FF2B5EF4-FFF2-40B4-BE49-F238E27FC236}">
                <a16:creationId xmlns:a16="http://schemas.microsoft.com/office/drawing/2014/main" id="{7AF725FF-5F20-48A4-A06D-874861524BAE}"/>
              </a:ext>
            </a:extLst>
          </p:cNvPr>
          <p:cNvPicPr>
            <a:picLocks noChangeAspect="1"/>
          </p:cNvPicPr>
          <p:nvPr/>
        </p:nvPicPr>
        <p:blipFill>
          <a:blip r:embed="rId3"/>
          <a:stretch>
            <a:fillRect/>
          </a:stretch>
        </p:blipFill>
        <p:spPr>
          <a:xfrm>
            <a:off x="149277" y="1029534"/>
            <a:ext cx="4160766" cy="3090309"/>
          </a:xfrm>
          <a:prstGeom prst="rect">
            <a:avLst/>
          </a:prstGeom>
        </p:spPr>
      </p:pic>
      <p:cxnSp>
        <p:nvCxnSpPr>
          <p:cNvPr id="20" name="直線接點 19">
            <a:extLst>
              <a:ext uri="{FF2B5EF4-FFF2-40B4-BE49-F238E27FC236}">
                <a16:creationId xmlns:a16="http://schemas.microsoft.com/office/drawing/2014/main" id="{9364D6AB-CC8C-FCF7-9CE8-51A27DF181F3}"/>
              </a:ext>
            </a:extLst>
          </p:cNvPr>
          <p:cNvCxnSpPr/>
          <p:nvPr/>
        </p:nvCxnSpPr>
        <p:spPr>
          <a:xfrm>
            <a:off x="475200" y="2304000"/>
            <a:ext cx="1317600" cy="0"/>
          </a:xfrm>
          <a:prstGeom prst="line">
            <a:avLst/>
          </a:prstGeom>
          <a:ln w="19050"/>
        </p:spPr>
        <p:style>
          <a:lnRef idx="1">
            <a:schemeClr val="accent4"/>
          </a:lnRef>
          <a:fillRef idx="0">
            <a:schemeClr val="accent4"/>
          </a:fillRef>
          <a:effectRef idx="0">
            <a:schemeClr val="accent4"/>
          </a:effectRef>
          <a:fontRef idx="minor">
            <a:schemeClr val="tx1"/>
          </a:fontRef>
        </p:style>
      </p:cxnSp>
      <p:sp>
        <p:nvSpPr>
          <p:cNvPr id="21" name="文字方塊 20">
            <a:extLst>
              <a:ext uri="{FF2B5EF4-FFF2-40B4-BE49-F238E27FC236}">
                <a16:creationId xmlns:a16="http://schemas.microsoft.com/office/drawing/2014/main" id="{EE67893F-50F1-B95D-B54D-3B8B07923FDC}"/>
              </a:ext>
            </a:extLst>
          </p:cNvPr>
          <p:cNvSpPr txBox="1"/>
          <p:nvPr/>
        </p:nvSpPr>
        <p:spPr>
          <a:xfrm>
            <a:off x="1949930" y="1910734"/>
            <a:ext cx="1873270" cy="914400"/>
          </a:xfrm>
          <a:prstGeom prst="rect">
            <a:avLst/>
          </a:prstGeom>
        </p:spPr>
        <p:txBody>
          <a:bodyPr wrap="none" lIns="0" tIns="0" rIns="0" bIns="0" rtlCol="0">
            <a:noAutofit/>
          </a:bodyPr>
          <a:lstStyle/>
          <a:p>
            <a:r>
              <a:rPr lang="en-US" altLang="zh-TW" sz="1000" dirty="0">
                <a:solidFill>
                  <a:schemeClr val="accent5">
                    <a:lumMod val="40000"/>
                    <a:lumOff val="60000"/>
                  </a:schemeClr>
                </a:solidFill>
              </a:rPr>
              <a:t>The model number you want to</a:t>
            </a:r>
          </a:p>
          <a:p>
            <a:r>
              <a:rPr lang="en-US" altLang="zh-TW" sz="1000" dirty="0">
                <a:solidFill>
                  <a:schemeClr val="accent5">
                    <a:lumMod val="40000"/>
                    <a:lumOff val="60000"/>
                  </a:schemeClr>
                </a:solidFill>
              </a:rPr>
              <a:t>run on </a:t>
            </a:r>
            <a:r>
              <a:rPr lang="en-US" altLang="zh-TW" sz="1000" dirty="0" err="1">
                <a:solidFill>
                  <a:schemeClr val="accent5">
                    <a:lumMod val="40000"/>
                    <a:lumOff val="60000"/>
                  </a:schemeClr>
                </a:solidFill>
              </a:rPr>
              <a:t>adsp</a:t>
            </a:r>
            <a:r>
              <a:rPr lang="en-US" altLang="zh-TW" sz="1000" dirty="0">
                <a:solidFill>
                  <a:schemeClr val="accent5">
                    <a:lumMod val="40000"/>
                    <a:lumOff val="60000"/>
                  </a:schemeClr>
                </a:solidFill>
              </a:rPr>
              <a:t>. In this sample, the</a:t>
            </a:r>
          </a:p>
          <a:p>
            <a:r>
              <a:rPr lang="en-US" altLang="zh-TW" sz="1000" dirty="0">
                <a:solidFill>
                  <a:schemeClr val="accent5">
                    <a:lumMod val="40000"/>
                    <a:lumOff val="60000"/>
                  </a:schemeClr>
                </a:solidFill>
              </a:rPr>
              <a:t>Number is </a:t>
            </a:r>
            <a:r>
              <a:rPr lang="en-US" altLang="zh-TW" sz="1000" b="1" dirty="0">
                <a:solidFill>
                  <a:schemeClr val="accent5">
                    <a:lumMod val="40000"/>
                    <a:lumOff val="60000"/>
                  </a:schemeClr>
                </a:solidFill>
              </a:rPr>
              <a:t>4</a:t>
            </a:r>
            <a:endParaRPr lang="zh-TW" altLang="en-US" sz="1000" b="1" dirty="0">
              <a:solidFill>
                <a:schemeClr val="accent5">
                  <a:lumMod val="40000"/>
                  <a:lumOff val="60000"/>
                </a:schemeClr>
              </a:solidFill>
            </a:endParaRPr>
          </a:p>
        </p:txBody>
      </p:sp>
      <p:sp>
        <p:nvSpPr>
          <p:cNvPr id="22" name="文字方塊 21">
            <a:extLst>
              <a:ext uri="{FF2B5EF4-FFF2-40B4-BE49-F238E27FC236}">
                <a16:creationId xmlns:a16="http://schemas.microsoft.com/office/drawing/2014/main" id="{9A821ED9-CF6E-2C0B-26CD-0ACB608460F8}"/>
              </a:ext>
            </a:extLst>
          </p:cNvPr>
          <p:cNvSpPr txBox="1"/>
          <p:nvPr/>
        </p:nvSpPr>
        <p:spPr>
          <a:xfrm>
            <a:off x="7524000" y="1476228"/>
            <a:ext cx="1231200" cy="914400"/>
          </a:xfrm>
          <a:prstGeom prst="rect">
            <a:avLst/>
          </a:prstGeom>
        </p:spPr>
        <p:txBody>
          <a:bodyPr wrap="none" lIns="0" tIns="0" rIns="0" bIns="0" rtlCol="0">
            <a:noAutofit/>
          </a:bodyPr>
          <a:lstStyle/>
          <a:p>
            <a:r>
              <a:rPr lang="en-US" altLang="zh-TW" sz="1000" dirty="0">
                <a:solidFill>
                  <a:schemeClr val="accent5">
                    <a:lumMod val="40000"/>
                    <a:lumOff val="60000"/>
                  </a:schemeClr>
                </a:solidFill>
              </a:rPr>
              <a:t>Add the model headers </a:t>
            </a:r>
          </a:p>
          <a:p>
            <a:r>
              <a:rPr lang="en-US" altLang="zh-TW" sz="1000" dirty="0">
                <a:solidFill>
                  <a:schemeClr val="accent5">
                    <a:lumMod val="40000"/>
                    <a:lumOff val="60000"/>
                  </a:schemeClr>
                </a:solidFill>
              </a:rPr>
              <a:t>created by NNE SDK</a:t>
            </a:r>
            <a:endParaRPr lang="zh-TW" altLang="en-US" sz="1000" dirty="0">
              <a:solidFill>
                <a:schemeClr val="accent5">
                  <a:lumMod val="40000"/>
                  <a:lumOff val="60000"/>
                </a:schemeClr>
              </a:solidFill>
            </a:endParaRPr>
          </a:p>
        </p:txBody>
      </p:sp>
      <p:sp>
        <p:nvSpPr>
          <p:cNvPr id="23" name="文字方塊 22">
            <a:extLst>
              <a:ext uri="{FF2B5EF4-FFF2-40B4-BE49-F238E27FC236}">
                <a16:creationId xmlns:a16="http://schemas.microsoft.com/office/drawing/2014/main" id="{D3AD156F-F4A4-1193-A63E-26704E3155B9}"/>
              </a:ext>
            </a:extLst>
          </p:cNvPr>
          <p:cNvSpPr txBox="1"/>
          <p:nvPr/>
        </p:nvSpPr>
        <p:spPr>
          <a:xfrm>
            <a:off x="7290961" y="2398656"/>
            <a:ext cx="1697277" cy="914400"/>
          </a:xfrm>
          <a:prstGeom prst="rect">
            <a:avLst/>
          </a:prstGeom>
        </p:spPr>
        <p:txBody>
          <a:bodyPr wrap="none" lIns="0" tIns="0" rIns="0" bIns="0" rtlCol="0">
            <a:noAutofit/>
          </a:bodyPr>
          <a:lstStyle/>
          <a:p>
            <a:r>
              <a:rPr lang="en-US" altLang="zh-TW" sz="1000" dirty="0">
                <a:solidFill>
                  <a:schemeClr val="accent5">
                    <a:lumMod val="40000"/>
                    <a:lumOff val="60000"/>
                  </a:schemeClr>
                </a:solidFill>
              </a:rPr>
              <a:t>Add the binary data of models</a:t>
            </a:r>
          </a:p>
          <a:p>
            <a:r>
              <a:rPr lang="en-US" altLang="zh-TW" sz="1000" dirty="0">
                <a:solidFill>
                  <a:schemeClr val="accent5">
                    <a:lumMod val="40000"/>
                    <a:lumOff val="60000"/>
                  </a:schemeClr>
                </a:solidFill>
              </a:rPr>
              <a:t>to </a:t>
            </a:r>
            <a:r>
              <a:rPr lang="en-US" altLang="zh-TW" sz="1000" b="1" dirty="0" err="1">
                <a:solidFill>
                  <a:schemeClr val="accent5">
                    <a:lumMod val="40000"/>
                    <a:lumOff val="60000"/>
                  </a:schemeClr>
                </a:solidFill>
              </a:rPr>
              <a:t>xa_nw_models</a:t>
            </a:r>
            <a:endParaRPr lang="zh-TW" altLang="en-US" sz="1000" b="1" dirty="0">
              <a:solidFill>
                <a:schemeClr val="accent5">
                  <a:lumMod val="40000"/>
                  <a:lumOff val="60000"/>
                </a:schemeClr>
              </a:solidFill>
            </a:endParaRPr>
          </a:p>
        </p:txBody>
      </p:sp>
      <p:sp>
        <p:nvSpPr>
          <p:cNvPr id="24" name="文字方塊 23">
            <a:extLst>
              <a:ext uri="{FF2B5EF4-FFF2-40B4-BE49-F238E27FC236}">
                <a16:creationId xmlns:a16="http://schemas.microsoft.com/office/drawing/2014/main" id="{9DBB00F8-B9F2-2329-05F4-D6AD76D0E7BC}"/>
              </a:ext>
            </a:extLst>
          </p:cNvPr>
          <p:cNvSpPr txBox="1"/>
          <p:nvPr/>
        </p:nvSpPr>
        <p:spPr>
          <a:xfrm>
            <a:off x="7290960" y="3375803"/>
            <a:ext cx="1529189" cy="914400"/>
          </a:xfrm>
          <a:prstGeom prst="rect">
            <a:avLst/>
          </a:prstGeom>
        </p:spPr>
        <p:txBody>
          <a:bodyPr wrap="none" lIns="0" tIns="0" rIns="0" bIns="0" rtlCol="0">
            <a:noAutofit/>
          </a:bodyPr>
          <a:lstStyle/>
          <a:p>
            <a:r>
              <a:rPr lang="en-US" altLang="zh-TW" sz="1000" dirty="0">
                <a:solidFill>
                  <a:schemeClr val="accent5">
                    <a:lumMod val="40000"/>
                    <a:lumOff val="60000"/>
                  </a:schemeClr>
                </a:solidFill>
              </a:rPr>
              <a:t>Define the priority of models</a:t>
            </a:r>
          </a:p>
          <a:p>
            <a:r>
              <a:rPr lang="en-US" altLang="zh-TW" sz="1000" dirty="0">
                <a:solidFill>
                  <a:schemeClr val="accent5">
                    <a:lumMod val="40000"/>
                    <a:lumOff val="60000"/>
                  </a:schemeClr>
                </a:solidFill>
              </a:rPr>
              <a:t>to </a:t>
            </a:r>
            <a:r>
              <a:rPr lang="en-US" altLang="zh-TW" sz="1000" b="1" dirty="0" err="1">
                <a:solidFill>
                  <a:schemeClr val="accent5">
                    <a:lumMod val="40000"/>
                    <a:lumOff val="60000"/>
                  </a:schemeClr>
                </a:solidFill>
              </a:rPr>
              <a:t>xa_nw_priorities</a:t>
            </a:r>
            <a:r>
              <a:rPr lang="en-US" altLang="zh-TW" sz="1000" dirty="0">
                <a:solidFill>
                  <a:schemeClr val="accent5">
                    <a:lumMod val="40000"/>
                    <a:lumOff val="60000"/>
                  </a:schemeClr>
                </a:solidFill>
              </a:rPr>
              <a:t>.</a:t>
            </a:r>
            <a:br>
              <a:rPr lang="en-US" altLang="zh-TW" sz="1000" dirty="0">
                <a:solidFill>
                  <a:schemeClr val="accent5">
                    <a:lumMod val="40000"/>
                    <a:lumOff val="60000"/>
                  </a:schemeClr>
                </a:solidFill>
              </a:rPr>
            </a:br>
            <a:r>
              <a:rPr lang="en-US" altLang="zh-TW" sz="1000" dirty="0">
                <a:solidFill>
                  <a:schemeClr val="accent5">
                    <a:lumMod val="40000"/>
                    <a:lumOff val="60000"/>
                  </a:schemeClr>
                </a:solidFill>
              </a:rPr>
              <a:t>0 has the largest priority.</a:t>
            </a:r>
            <a:endParaRPr lang="zh-TW" altLang="en-US" sz="1000" dirty="0">
              <a:solidFill>
                <a:schemeClr val="accent5">
                  <a:lumMod val="40000"/>
                  <a:lumOff val="60000"/>
                </a:schemeClr>
              </a:solidFill>
            </a:endParaRPr>
          </a:p>
        </p:txBody>
      </p:sp>
      <p:sp>
        <p:nvSpPr>
          <p:cNvPr id="25" name="文字方塊 24">
            <a:extLst>
              <a:ext uri="{FF2B5EF4-FFF2-40B4-BE49-F238E27FC236}">
                <a16:creationId xmlns:a16="http://schemas.microsoft.com/office/drawing/2014/main" id="{33C39301-DEB2-E250-FCEE-BFC089668022}"/>
              </a:ext>
            </a:extLst>
          </p:cNvPr>
          <p:cNvSpPr txBox="1"/>
          <p:nvPr/>
        </p:nvSpPr>
        <p:spPr>
          <a:xfrm>
            <a:off x="7290959" y="4251243"/>
            <a:ext cx="1580195" cy="851024"/>
          </a:xfrm>
          <a:prstGeom prst="rect">
            <a:avLst/>
          </a:prstGeom>
        </p:spPr>
        <p:txBody>
          <a:bodyPr wrap="none" lIns="0" tIns="0" rIns="0" bIns="0" rtlCol="0">
            <a:noAutofit/>
          </a:bodyPr>
          <a:lstStyle/>
          <a:p>
            <a:r>
              <a:rPr lang="en-US" altLang="zh-TW" sz="1000" dirty="0">
                <a:solidFill>
                  <a:schemeClr val="accent5">
                    <a:lumMod val="40000"/>
                    <a:lumOff val="60000"/>
                  </a:schemeClr>
                </a:solidFill>
              </a:rPr>
              <a:t>Add the name of models</a:t>
            </a:r>
          </a:p>
          <a:p>
            <a:r>
              <a:rPr lang="en-US" altLang="zh-TW" sz="1000" dirty="0">
                <a:solidFill>
                  <a:schemeClr val="accent5">
                    <a:lumMod val="40000"/>
                    <a:lumOff val="60000"/>
                  </a:schemeClr>
                </a:solidFill>
              </a:rPr>
              <a:t>to </a:t>
            </a:r>
            <a:r>
              <a:rPr lang="en-US" altLang="zh-TW" sz="1000" b="1" dirty="0" err="1">
                <a:solidFill>
                  <a:schemeClr val="accent5">
                    <a:lumMod val="40000"/>
                    <a:lumOff val="60000"/>
                  </a:schemeClr>
                </a:solidFill>
              </a:rPr>
              <a:t>xa_nw_name</a:t>
            </a:r>
            <a:r>
              <a:rPr lang="en-US" altLang="zh-TW" sz="1000" dirty="0">
                <a:solidFill>
                  <a:schemeClr val="accent5">
                    <a:lumMod val="40000"/>
                    <a:lumOff val="60000"/>
                  </a:schemeClr>
                </a:solidFill>
              </a:rPr>
              <a:t>.</a:t>
            </a:r>
          </a:p>
          <a:p>
            <a:r>
              <a:rPr lang="en-US" altLang="zh-TW" sz="1000" dirty="0">
                <a:solidFill>
                  <a:schemeClr val="accent5">
                    <a:lumMod val="40000"/>
                    <a:lumOff val="60000"/>
                  </a:schemeClr>
                </a:solidFill>
              </a:rPr>
              <a:t>The name of model is the </a:t>
            </a:r>
          </a:p>
          <a:p>
            <a:r>
              <a:rPr lang="en-US" altLang="zh-TW" sz="1000" dirty="0">
                <a:solidFill>
                  <a:schemeClr val="accent5">
                    <a:lumMod val="40000"/>
                    <a:lumOff val="60000"/>
                  </a:schemeClr>
                </a:solidFill>
              </a:rPr>
              <a:t>same as the name attribute</a:t>
            </a:r>
          </a:p>
          <a:p>
            <a:r>
              <a:rPr lang="en-US" altLang="zh-TW" sz="1000" dirty="0">
                <a:solidFill>
                  <a:schemeClr val="accent5">
                    <a:lumMod val="40000"/>
                    <a:lumOff val="60000"/>
                  </a:schemeClr>
                </a:solidFill>
              </a:rPr>
              <a:t>written in the model’s </a:t>
            </a:r>
            <a:r>
              <a:rPr lang="en-US" altLang="zh-TW" sz="1000" dirty="0" err="1">
                <a:solidFill>
                  <a:schemeClr val="accent5">
                    <a:lumMod val="40000"/>
                    <a:lumOff val="60000"/>
                  </a:schemeClr>
                </a:solidFill>
              </a:rPr>
              <a:t>cfg</a:t>
            </a:r>
            <a:r>
              <a:rPr lang="en-US" altLang="zh-TW" sz="1000" dirty="0">
                <a:solidFill>
                  <a:schemeClr val="accent5">
                    <a:lumMod val="40000"/>
                    <a:lumOff val="60000"/>
                  </a:schemeClr>
                </a:solidFill>
              </a:rPr>
              <a:t> file</a:t>
            </a:r>
            <a:endParaRPr lang="zh-TW" altLang="en-US" sz="1000" dirty="0">
              <a:solidFill>
                <a:schemeClr val="accent5">
                  <a:lumMod val="40000"/>
                  <a:lumOff val="60000"/>
                </a:schemeClr>
              </a:solidFill>
            </a:endParaRPr>
          </a:p>
        </p:txBody>
      </p:sp>
      <p:sp>
        <p:nvSpPr>
          <p:cNvPr id="31" name="文字方塊 30">
            <a:extLst>
              <a:ext uri="{FF2B5EF4-FFF2-40B4-BE49-F238E27FC236}">
                <a16:creationId xmlns:a16="http://schemas.microsoft.com/office/drawing/2014/main" id="{CC53FF3E-73C0-9FB0-F019-B4127AEF6796}"/>
              </a:ext>
            </a:extLst>
          </p:cNvPr>
          <p:cNvSpPr txBox="1"/>
          <p:nvPr/>
        </p:nvSpPr>
        <p:spPr>
          <a:xfrm>
            <a:off x="2541971" y="1064275"/>
            <a:ext cx="1768072" cy="199104"/>
          </a:xfrm>
          <a:prstGeom prst="rect">
            <a:avLst/>
          </a:prstGeom>
        </p:spPr>
        <p:txBody>
          <a:bodyPr wrap="none" lIns="0" tIns="0" rIns="0" bIns="0" rtlCol="0">
            <a:noAutofit/>
          </a:bodyPr>
          <a:lstStyle/>
          <a:p>
            <a:r>
              <a:rPr lang="en-US" altLang="zh-TW" sz="1200" dirty="0" err="1">
                <a:solidFill>
                  <a:srgbClr val="FFFF00"/>
                </a:solidFill>
              </a:rPr>
              <a:t>xa_network_model_data.h</a:t>
            </a:r>
            <a:endParaRPr lang="zh-TW" altLang="en-US" sz="1200" dirty="0">
              <a:solidFill>
                <a:srgbClr val="FFFF00"/>
              </a:solidFill>
            </a:endParaRPr>
          </a:p>
        </p:txBody>
      </p:sp>
      <p:sp>
        <p:nvSpPr>
          <p:cNvPr id="33" name="文字方塊 32">
            <a:extLst>
              <a:ext uri="{FF2B5EF4-FFF2-40B4-BE49-F238E27FC236}">
                <a16:creationId xmlns:a16="http://schemas.microsoft.com/office/drawing/2014/main" id="{0A035B6B-8057-BEB3-B2B9-09C24866C0B7}"/>
              </a:ext>
            </a:extLst>
          </p:cNvPr>
          <p:cNvSpPr txBox="1"/>
          <p:nvPr/>
        </p:nvSpPr>
        <p:spPr>
          <a:xfrm>
            <a:off x="7408793" y="1051438"/>
            <a:ext cx="1768072" cy="199104"/>
          </a:xfrm>
          <a:prstGeom prst="rect">
            <a:avLst/>
          </a:prstGeom>
        </p:spPr>
        <p:txBody>
          <a:bodyPr wrap="none" lIns="0" tIns="0" rIns="0" bIns="0" rtlCol="0">
            <a:noAutofit/>
          </a:bodyPr>
          <a:lstStyle/>
          <a:p>
            <a:r>
              <a:rPr lang="en-US" altLang="zh-TW" sz="1200" dirty="0" err="1">
                <a:solidFill>
                  <a:srgbClr val="FFFF00"/>
                </a:solidFill>
              </a:rPr>
              <a:t>xa_network_model_data.c</a:t>
            </a:r>
            <a:endParaRPr lang="zh-TW" altLang="en-US" sz="1200" dirty="0">
              <a:solidFill>
                <a:srgbClr val="FFFF00"/>
              </a:solidFill>
            </a:endParaRPr>
          </a:p>
        </p:txBody>
      </p:sp>
    </p:spTree>
    <p:extLst>
      <p:ext uri="{BB962C8B-B14F-4D97-AF65-F5344CB8AC3E}">
        <p14:creationId xmlns:p14="http://schemas.microsoft.com/office/powerpoint/2010/main" val="326625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9A23E12-1AC8-4E25-8255-0C629F519015}"/>
              </a:ext>
            </a:extLst>
          </p:cNvPr>
          <p:cNvSpPr>
            <a:spLocks noGrp="1"/>
          </p:cNvSpPr>
          <p:nvPr>
            <p:ph type="sldNum" sz="quarter" idx="4"/>
          </p:nvPr>
        </p:nvSpPr>
        <p:spPr/>
        <p:txBody>
          <a:bodyPr/>
          <a:lstStyle/>
          <a:p>
            <a:fld id="{0AEF9A4B-07C9-404C-9053-A3A2AC3AD5D6}" type="slidenum">
              <a:rPr lang="en-GB" smtClean="0"/>
              <a:pPr/>
              <a:t>28</a:t>
            </a:fld>
            <a:endParaRPr lang="en-GB" dirty="0"/>
          </a:p>
        </p:txBody>
      </p:sp>
      <p:sp>
        <p:nvSpPr>
          <p:cNvPr id="3" name="內容版面配置區 2">
            <a:extLst>
              <a:ext uri="{FF2B5EF4-FFF2-40B4-BE49-F238E27FC236}">
                <a16:creationId xmlns:a16="http://schemas.microsoft.com/office/drawing/2014/main" id="{DEEBE7A6-9147-454A-B70B-D45CB51FA4D0}"/>
              </a:ext>
            </a:extLst>
          </p:cNvPr>
          <p:cNvSpPr>
            <a:spLocks noGrp="1"/>
          </p:cNvSpPr>
          <p:nvPr>
            <p:ph sz="quarter" idx="10"/>
          </p:nvPr>
        </p:nvSpPr>
        <p:spPr>
          <a:xfrm>
            <a:off x="323849" y="1007706"/>
            <a:ext cx="8218489" cy="2762195"/>
          </a:xfrm>
        </p:spPr>
        <p:txBody>
          <a:bodyPr>
            <a:normAutofit fontScale="92500"/>
          </a:bodyPr>
          <a:lstStyle/>
          <a:p>
            <a:r>
              <a:rPr lang="en-US" altLang="zh-TW" b="0" dirty="0"/>
              <a:t>NNE sample is a small framework to test models with NNE. To use NNE sample, developers should create and register a </a:t>
            </a:r>
            <a:r>
              <a:rPr lang="en-US" altLang="zh-TW" b="0" dirty="0" err="1"/>
              <a:t>nne_sample_handler</a:t>
            </a:r>
            <a:r>
              <a:rPr lang="en-US" altLang="zh-TW" b="0" dirty="0"/>
              <a:t> for their model. Here is the steps to test the models.</a:t>
            </a:r>
          </a:p>
          <a:p>
            <a:pPr lvl="1">
              <a:buFont typeface="+mj-lt"/>
              <a:buAutoNum type="arabicPeriod"/>
            </a:pPr>
            <a:r>
              <a:rPr lang="en-US" altLang="zh-TW" b="0" dirty="0"/>
              <a:t>Create a </a:t>
            </a:r>
            <a:r>
              <a:rPr lang="en-US" altLang="zh-TW" dirty="0" err="1"/>
              <a:t>nne_sample_handler</a:t>
            </a:r>
            <a:r>
              <a:rPr lang="en-US" altLang="zh-TW" b="0" dirty="0"/>
              <a:t>, the members are shown in the following table. Implement the </a:t>
            </a:r>
            <a:r>
              <a:rPr lang="en-US" altLang="zh-TW" dirty="0" err="1"/>
              <a:t>init</a:t>
            </a:r>
            <a:r>
              <a:rPr lang="en-US" altLang="zh-TW" b="0" dirty="0"/>
              <a:t>, </a:t>
            </a:r>
            <a:r>
              <a:rPr lang="en-US" altLang="zh-TW" dirty="0"/>
              <a:t>start</a:t>
            </a:r>
            <a:r>
              <a:rPr lang="en-US" altLang="zh-TW" b="0" dirty="0"/>
              <a:t>, and </a:t>
            </a:r>
            <a:r>
              <a:rPr lang="en-US" altLang="zh-TW" dirty="0" err="1"/>
              <a:t>deinit</a:t>
            </a:r>
            <a:r>
              <a:rPr lang="en-US" altLang="zh-TW" b="0" dirty="0"/>
              <a:t> callbacks of the NNE sample code</a:t>
            </a:r>
          </a:p>
          <a:p>
            <a:pPr lvl="2"/>
            <a:r>
              <a:rPr lang="en-US" altLang="zh-TW" dirty="0"/>
              <a:t>Developers can leverage the NNE test helper APIs to implement the start callback, please see the next page for example.</a:t>
            </a:r>
          </a:p>
          <a:p>
            <a:pPr lvl="1">
              <a:buFont typeface="+mj-lt"/>
              <a:buAutoNum type="arabicPeriod"/>
            </a:pPr>
            <a:r>
              <a:rPr lang="en-US" altLang="zh-TW" b="0" dirty="0"/>
              <a:t>Register the </a:t>
            </a:r>
            <a:r>
              <a:rPr lang="en-US" altLang="zh-TW" dirty="0" err="1"/>
              <a:t>nne_sample_handler</a:t>
            </a:r>
            <a:r>
              <a:rPr lang="en-US" altLang="zh-TW" dirty="0"/>
              <a:t> </a:t>
            </a:r>
          </a:p>
          <a:p>
            <a:pPr lvl="2"/>
            <a:r>
              <a:rPr lang="en-US" altLang="zh-TW" dirty="0"/>
              <a:t>Modify the file: ${ADSP_PATH}/middleware/</a:t>
            </a:r>
            <a:r>
              <a:rPr lang="en-US" altLang="zh-TW" dirty="0" err="1"/>
              <a:t>nne_model</a:t>
            </a:r>
            <a:r>
              <a:rPr lang="en-US" altLang="zh-TW" dirty="0"/>
              <a:t>/sample/</a:t>
            </a:r>
            <a:r>
              <a:rPr lang="en-US" altLang="zh-TW" dirty="0" err="1"/>
              <a:t>src</a:t>
            </a:r>
            <a:r>
              <a:rPr lang="en-US" altLang="zh-TW" dirty="0"/>
              <a:t>/</a:t>
            </a:r>
            <a:r>
              <a:rPr lang="en-US" altLang="zh-TW" dirty="0" err="1"/>
              <a:t>nne_sample_registration.c</a:t>
            </a:r>
            <a:endParaRPr lang="en-US" altLang="zh-TW" dirty="0"/>
          </a:p>
          <a:p>
            <a:pPr lvl="2"/>
            <a:r>
              <a:rPr lang="en-US" altLang="zh-TW" dirty="0"/>
              <a:t>use </a:t>
            </a:r>
            <a:r>
              <a:rPr lang="en-US" altLang="zh-TW" b="1" dirty="0" err="1"/>
              <a:t>register_sample_handler</a:t>
            </a:r>
            <a:r>
              <a:rPr lang="en-US" altLang="zh-TW" dirty="0"/>
              <a:t>(struct </a:t>
            </a:r>
            <a:r>
              <a:rPr lang="en-US" altLang="zh-TW" dirty="0" err="1"/>
              <a:t>nne_sample_handler</a:t>
            </a:r>
            <a:r>
              <a:rPr lang="en-US" altLang="zh-TW" dirty="0"/>
              <a:t> *) to register the </a:t>
            </a:r>
            <a:r>
              <a:rPr lang="en-US" altLang="zh-TW" dirty="0" err="1"/>
              <a:t>nne</a:t>
            </a:r>
            <a:r>
              <a:rPr lang="en-US" altLang="zh-TW" dirty="0"/>
              <a:t> sample handler</a:t>
            </a:r>
          </a:p>
          <a:p>
            <a:pPr lvl="3"/>
            <a:r>
              <a:rPr lang="en-US" altLang="zh-TW" dirty="0"/>
              <a:t>For example: </a:t>
            </a:r>
            <a:r>
              <a:rPr lang="en-US" altLang="zh-TW" dirty="0" err="1"/>
              <a:t>register_sample_handler</a:t>
            </a:r>
            <a:r>
              <a:rPr lang="en-US" altLang="zh-TW" dirty="0"/>
              <a:t>(&amp;</a:t>
            </a:r>
            <a:r>
              <a:rPr lang="en-US" altLang="zh-TW" dirty="0" err="1"/>
              <a:t>sample_handler_pd</a:t>
            </a:r>
            <a:r>
              <a:rPr lang="en-US" altLang="zh-TW" dirty="0"/>
              <a:t>);</a:t>
            </a:r>
          </a:p>
          <a:p>
            <a:pPr lvl="1">
              <a:buFont typeface="+mj-lt"/>
              <a:buAutoNum type="arabicPeriod"/>
            </a:pPr>
            <a:r>
              <a:rPr lang="en-US" altLang="zh-TW" b="0" dirty="0"/>
              <a:t>Build </a:t>
            </a:r>
            <a:r>
              <a:rPr lang="en-US" altLang="zh-TW" b="0" dirty="0" err="1"/>
              <a:t>libmtnne_sample.a</a:t>
            </a:r>
            <a:endParaRPr lang="en-US" altLang="zh-TW" b="0" dirty="0"/>
          </a:p>
          <a:p>
            <a:pPr lvl="1">
              <a:buFont typeface="+mj-lt"/>
              <a:buAutoNum type="arabicPeriod"/>
            </a:pPr>
            <a:r>
              <a:rPr lang="en-US" altLang="zh-TW" b="0" dirty="0"/>
              <a:t>Rebuilt ADSP image</a:t>
            </a:r>
          </a:p>
        </p:txBody>
      </p:sp>
      <p:sp>
        <p:nvSpPr>
          <p:cNvPr id="4" name="標題 3">
            <a:extLst>
              <a:ext uri="{FF2B5EF4-FFF2-40B4-BE49-F238E27FC236}">
                <a16:creationId xmlns:a16="http://schemas.microsoft.com/office/drawing/2014/main" id="{FA7369A5-FA14-45AA-9E30-9BBEFC1BF332}"/>
              </a:ext>
            </a:extLst>
          </p:cNvPr>
          <p:cNvSpPr>
            <a:spLocks noGrp="1"/>
          </p:cNvSpPr>
          <p:nvPr>
            <p:ph type="title"/>
          </p:nvPr>
        </p:nvSpPr>
        <p:spPr/>
        <p:txBody>
          <a:bodyPr/>
          <a:lstStyle/>
          <a:p>
            <a:r>
              <a:rPr lang="en-US" altLang="zh-TW" dirty="0"/>
              <a:t>NNE sample</a:t>
            </a:r>
            <a:endParaRPr lang="zh-TW" altLang="en-US" dirty="0"/>
          </a:p>
        </p:txBody>
      </p:sp>
      <p:graphicFrame>
        <p:nvGraphicFramePr>
          <p:cNvPr id="5" name="表格 5">
            <a:extLst>
              <a:ext uri="{FF2B5EF4-FFF2-40B4-BE49-F238E27FC236}">
                <a16:creationId xmlns:a16="http://schemas.microsoft.com/office/drawing/2014/main" id="{720CA3BD-45A5-4862-AA44-E742881D4DE3}"/>
              </a:ext>
            </a:extLst>
          </p:cNvPr>
          <p:cNvGraphicFramePr>
            <a:graphicFrameLocks noGrp="1"/>
          </p:cNvGraphicFramePr>
          <p:nvPr>
            <p:extLst>
              <p:ext uri="{D42A27DB-BD31-4B8C-83A1-F6EECF244321}">
                <p14:modId xmlns:p14="http://schemas.microsoft.com/office/powerpoint/2010/main" val="1578243996"/>
              </p:ext>
            </p:extLst>
          </p:nvPr>
        </p:nvGraphicFramePr>
        <p:xfrm>
          <a:off x="1153415" y="3769901"/>
          <a:ext cx="6837169" cy="1143000"/>
        </p:xfrm>
        <a:graphic>
          <a:graphicData uri="http://schemas.openxmlformats.org/drawingml/2006/table">
            <a:tbl>
              <a:tblPr firstRow="1" bandRow="1">
                <a:tableStyleId>{5C22544A-7EE6-4342-B048-85BDC9FD1C3A}</a:tableStyleId>
              </a:tblPr>
              <a:tblGrid>
                <a:gridCol w="1160843">
                  <a:extLst>
                    <a:ext uri="{9D8B030D-6E8A-4147-A177-3AD203B41FA5}">
                      <a16:colId xmlns:a16="http://schemas.microsoft.com/office/drawing/2014/main" val="4093779136"/>
                    </a:ext>
                  </a:extLst>
                </a:gridCol>
                <a:gridCol w="1210032">
                  <a:extLst>
                    <a:ext uri="{9D8B030D-6E8A-4147-A177-3AD203B41FA5}">
                      <a16:colId xmlns:a16="http://schemas.microsoft.com/office/drawing/2014/main" val="1557293588"/>
                    </a:ext>
                  </a:extLst>
                </a:gridCol>
                <a:gridCol w="4466294">
                  <a:extLst>
                    <a:ext uri="{9D8B030D-6E8A-4147-A177-3AD203B41FA5}">
                      <a16:colId xmlns:a16="http://schemas.microsoft.com/office/drawing/2014/main" val="2543880998"/>
                    </a:ext>
                  </a:extLst>
                </a:gridCol>
              </a:tblGrid>
              <a:tr h="0">
                <a:tc>
                  <a:txBody>
                    <a:bodyPr/>
                    <a:lstStyle/>
                    <a:p>
                      <a:r>
                        <a:rPr lang="en-US" altLang="zh-TW" sz="900" dirty="0"/>
                        <a:t>Member </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altLang="zh-TW" sz="900" dirty="0"/>
                        <a:t>Type </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altLang="zh-TW" sz="900" dirty="0" err="1"/>
                        <a:t>Descrption</a:t>
                      </a:r>
                      <a:r>
                        <a:rPr lang="en-US" altLang="zh-TW" sz="900" dirty="0"/>
                        <a:t> </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960032575"/>
                  </a:ext>
                </a:extLst>
              </a:tr>
              <a:tr h="0">
                <a:tc>
                  <a:txBody>
                    <a:bodyPr/>
                    <a:lstStyle/>
                    <a:p>
                      <a:r>
                        <a:rPr lang="en-US" altLang="zh-TW" sz="900" dirty="0" err="1"/>
                        <a:t>nw_name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altLang="zh-TW" sz="900" dirty="0"/>
                        <a:t>char *</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altLang="zh-TW" sz="900" dirty="0"/>
                        <a:t>Model name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359026173"/>
                  </a:ext>
                </a:extLst>
              </a:tr>
              <a:tr h="0">
                <a:tc>
                  <a:txBody>
                    <a:bodyPr/>
                    <a:lstStyle/>
                    <a:p>
                      <a:r>
                        <a:rPr lang="en-US" altLang="zh-TW" sz="900" dirty="0" err="1"/>
                        <a:t>init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altLang="zh-TW" sz="900" dirty="0"/>
                        <a:t>void (*)(void)</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altLang="zh-TW" sz="900" dirty="0"/>
                        <a:t>a callback to initialize the NNE sample code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386945543"/>
                  </a:ext>
                </a:extLst>
              </a:tr>
              <a:tr h="0">
                <a:tc>
                  <a:txBody>
                    <a:bodyPr/>
                    <a:lstStyle/>
                    <a:p>
                      <a:r>
                        <a:rPr lang="en-US" altLang="zh-TW" sz="900" dirty="0"/>
                        <a:t>start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void (*)(void)</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altLang="zh-TW" sz="900" dirty="0"/>
                        <a:t>a callback to start the NNE sample code, this is the major part to run the NNE inference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09867254"/>
                  </a:ext>
                </a:extLst>
              </a:tr>
              <a:tr h="121060">
                <a:tc>
                  <a:txBody>
                    <a:bodyPr/>
                    <a:lstStyle/>
                    <a:p>
                      <a:r>
                        <a:rPr lang="en-US" altLang="zh-TW" sz="900" dirty="0" err="1"/>
                        <a:t>deinit</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void (*)(void)</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a callback to </a:t>
                      </a:r>
                      <a:r>
                        <a:rPr lang="en-US" altLang="zh-TW" sz="900" dirty="0" err="1"/>
                        <a:t>deinitialize</a:t>
                      </a:r>
                      <a:r>
                        <a:rPr lang="en-US" altLang="zh-TW" sz="900" dirty="0"/>
                        <a:t> the NNE sample code</a:t>
                      </a:r>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83090532"/>
                  </a:ext>
                </a:extLst>
              </a:tr>
            </a:tbl>
          </a:graphicData>
        </a:graphic>
      </p:graphicFrame>
    </p:spTree>
    <p:extLst>
      <p:ext uri="{BB962C8B-B14F-4D97-AF65-F5344CB8AC3E}">
        <p14:creationId xmlns:p14="http://schemas.microsoft.com/office/powerpoint/2010/main" val="50575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1F66996-4DFD-4301-D799-28224E672C6B}"/>
              </a:ext>
            </a:extLst>
          </p:cNvPr>
          <p:cNvSpPr>
            <a:spLocks noGrp="1"/>
          </p:cNvSpPr>
          <p:nvPr>
            <p:ph type="sldNum" sz="quarter" idx="4"/>
          </p:nvPr>
        </p:nvSpPr>
        <p:spPr/>
        <p:txBody>
          <a:bodyPr/>
          <a:lstStyle/>
          <a:p>
            <a:fld id="{0AEF9A4B-07C9-404C-9053-A3A2AC3AD5D6}" type="slidenum">
              <a:rPr lang="en-GB" smtClean="0"/>
              <a:pPr/>
              <a:t>29</a:t>
            </a:fld>
            <a:endParaRPr lang="en-GB" dirty="0"/>
          </a:p>
        </p:txBody>
      </p:sp>
      <p:sp>
        <p:nvSpPr>
          <p:cNvPr id="3" name="內容版面配置區 2">
            <a:extLst>
              <a:ext uri="{FF2B5EF4-FFF2-40B4-BE49-F238E27FC236}">
                <a16:creationId xmlns:a16="http://schemas.microsoft.com/office/drawing/2014/main" id="{77F86D21-4E00-45C5-65DF-64DF6DB90495}"/>
              </a:ext>
            </a:extLst>
          </p:cNvPr>
          <p:cNvSpPr>
            <a:spLocks noGrp="1"/>
          </p:cNvSpPr>
          <p:nvPr>
            <p:ph sz="quarter" idx="10"/>
          </p:nvPr>
        </p:nvSpPr>
        <p:spPr>
          <a:xfrm>
            <a:off x="323849" y="1007706"/>
            <a:ext cx="4292601" cy="3707363"/>
          </a:xfrm>
        </p:spPr>
        <p:txBody>
          <a:bodyPr/>
          <a:lstStyle/>
          <a:p>
            <a:r>
              <a:rPr lang="en-US" altLang="zh-TW" b="0" dirty="0"/>
              <a:t>Please see the sample code in the following path</a:t>
            </a:r>
          </a:p>
          <a:p>
            <a:pPr lvl="1"/>
            <a:r>
              <a:rPr lang="en-US" altLang="zh-TW" b="0" dirty="0"/>
              <a:t>${ADSP_PATH}/middleware/nne_model/sample/src/nne_sample_person_detect.cc</a:t>
            </a:r>
          </a:p>
          <a:p>
            <a:r>
              <a:rPr lang="en-US" altLang="zh-TW" b="0" dirty="0"/>
              <a:t>The start callback can be simply implemented by the NNE test helper functions (please see the </a:t>
            </a:r>
            <a:r>
              <a:rPr lang="en-US" altLang="zh-TW" b="0" dirty="0">
                <a:hlinkClick r:id="rId2" action="ppaction://hlinksldjump"/>
              </a:rPr>
              <a:t>page</a:t>
            </a:r>
            <a:r>
              <a:rPr lang="en-US" altLang="zh-TW" b="0" dirty="0"/>
              <a:t> for detail)</a:t>
            </a:r>
            <a:endParaRPr lang="zh-TW" altLang="en-US" b="0" dirty="0"/>
          </a:p>
        </p:txBody>
      </p:sp>
      <p:sp>
        <p:nvSpPr>
          <p:cNvPr id="4" name="標題 3">
            <a:extLst>
              <a:ext uri="{FF2B5EF4-FFF2-40B4-BE49-F238E27FC236}">
                <a16:creationId xmlns:a16="http://schemas.microsoft.com/office/drawing/2014/main" id="{18EBCE55-A5E1-5EBA-D8AA-34D1FB3C0267}"/>
              </a:ext>
            </a:extLst>
          </p:cNvPr>
          <p:cNvSpPr>
            <a:spLocks noGrp="1"/>
          </p:cNvSpPr>
          <p:nvPr>
            <p:ph type="title"/>
          </p:nvPr>
        </p:nvSpPr>
        <p:spPr/>
        <p:txBody>
          <a:bodyPr/>
          <a:lstStyle/>
          <a:p>
            <a:r>
              <a:rPr lang="en-US" altLang="zh-TW" dirty="0"/>
              <a:t>NNE sample (1) - Create a </a:t>
            </a:r>
            <a:r>
              <a:rPr lang="en-US" altLang="zh-TW" dirty="0" err="1"/>
              <a:t>nne_sample_handler</a:t>
            </a:r>
            <a:endParaRPr lang="zh-TW" altLang="en-US" dirty="0"/>
          </a:p>
        </p:txBody>
      </p:sp>
      <p:pic>
        <p:nvPicPr>
          <p:cNvPr id="8" name="圖片 7">
            <a:extLst>
              <a:ext uri="{FF2B5EF4-FFF2-40B4-BE49-F238E27FC236}">
                <a16:creationId xmlns:a16="http://schemas.microsoft.com/office/drawing/2014/main" id="{1FB91AD5-146A-0537-6A5C-4F6787034FF5}"/>
              </a:ext>
            </a:extLst>
          </p:cNvPr>
          <p:cNvPicPr>
            <a:picLocks noChangeAspect="1"/>
          </p:cNvPicPr>
          <p:nvPr/>
        </p:nvPicPr>
        <p:blipFill>
          <a:blip r:embed="rId3"/>
          <a:stretch>
            <a:fillRect/>
          </a:stretch>
        </p:blipFill>
        <p:spPr>
          <a:xfrm>
            <a:off x="5010150" y="966887"/>
            <a:ext cx="3592578" cy="3956050"/>
          </a:xfrm>
          <a:prstGeom prst="rect">
            <a:avLst/>
          </a:prstGeom>
        </p:spPr>
      </p:pic>
    </p:spTree>
    <p:extLst>
      <p:ext uri="{BB962C8B-B14F-4D97-AF65-F5344CB8AC3E}">
        <p14:creationId xmlns:p14="http://schemas.microsoft.com/office/powerpoint/2010/main" val="3961878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FED8F8E-2156-C7E4-04DF-86466B1CFD7D}"/>
              </a:ext>
            </a:extLst>
          </p:cNvPr>
          <p:cNvSpPr>
            <a:spLocks noGrp="1"/>
          </p:cNvSpPr>
          <p:nvPr>
            <p:ph type="sldNum" sz="quarter" idx="4"/>
          </p:nvPr>
        </p:nvSpPr>
        <p:spPr/>
        <p:txBody>
          <a:bodyPr/>
          <a:lstStyle/>
          <a:p>
            <a:fld id="{0AEF9A4B-07C9-404C-9053-A3A2AC3AD5D6}" type="slidenum">
              <a:rPr lang="en-GB" smtClean="0"/>
              <a:pPr/>
              <a:t>30</a:t>
            </a:fld>
            <a:endParaRPr lang="en-GB" dirty="0"/>
          </a:p>
        </p:txBody>
      </p:sp>
      <p:sp>
        <p:nvSpPr>
          <p:cNvPr id="3" name="內容版面配置區 2">
            <a:extLst>
              <a:ext uri="{FF2B5EF4-FFF2-40B4-BE49-F238E27FC236}">
                <a16:creationId xmlns:a16="http://schemas.microsoft.com/office/drawing/2014/main" id="{850942AA-DDDE-C861-19E6-5541778ED1C1}"/>
              </a:ext>
            </a:extLst>
          </p:cNvPr>
          <p:cNvSpPr>
            <a:spLocks noGrp="1"/>
          </p:cNvSpPr>
          <p:nvPr>
            <p:ph sz="quarter" idx="10"/>
          </p:nvPr>
        </p:nvSpPr>
        <p:spPr/>
        <p:txBody>
          <a:bodyPr/>
          <a:lstStyle/>
          <a:p>
            <a:r>
              <a:rPr lang="en-US" altLang="zh-TW" b="0" dirty="0"/>
              <a:t>Modify the following file to register the </a:t>
            </a:r>
            <a:r>
              <a:rPr lang="en-US" altLang="zh-TW" b="0" dirty="0" err="1"/>
              <a:t>nne</a:t>
            </a:r>
            <a:r>
              <a:rPr lang="en-US" altLang="zh-TW" b="0" dirty="0"/>
              <a:t> sample handler</a:t>
            </a:r>
          </a:p>
          <a:p>
            <a:pPr lvl="1"/>
            <a:r>
              <a:rPr lang="en-US" altLang="zh-TW" b="0" dirty="0"/>
              <a:t> ${ADSP_PATH}/middleware/</a:t>
            </a:r>
            <a:r>
              <a:rPr lang="en-US" altLang="zh-TW" b="0" dirty="0" err="1"/>
              <a:t>nne_model</a:t>
            </a:r>
            <a:r>
              <a:rPr lang="en-US" altLang="zh-TW" b="0" dirty="0"/>
              <a:t>/sample/</a:t>
            </a:r>
            <a:r>
              <a:rPr lang="en-US" altLang="zh-TW" b="0" dirty="0" err="1"/>
              <a:t>src</a:t>
            </a:r>
            <a:r>
              <a:rPr lang="en-US" altLang="zh-TW" b="0" dirty="0"/>
              <a:t>/</a:t>
            </a:r>
            <a:r>
              <a:rPr lang="en-US" altLang="zh-TW" b="0" dirty="0" err="1"/>
              <a:t>nne_sample_registration.c</a:t>
            </a:r>
            <a:endParaRPr lang="en-US" altLang="zh-TW" b="0" dirty="0"/>
          </a:p>
        </p:txBody>
      </p:sp>
      <p:sp>
        <p:nvSpPr>
          <p:cNvPr id="4" name="標題 3">
            <a:extLst>
              <a:ext uri="{FF2B5EF4-FFF2-40B4-BE49-F238E27FC236}">
                <a16:creationId xmlns:a16="http://schemas.microsoft.com/office/drawing/2014/main" id="{51855F45-AD3E-2B2A-5295-A1709200A806}"/>
              </a:ext>
            </a:extLst>
          </p:cNvPr>
          <p:cNvSpPr>
            <a:spLocks noGrp="1"/>
          </p:cNvSpPr>
          <p:nvPr>
            <p:ph type="title"/>
          </p:nvPr>
        </p:nvSpPr>
        <p:spPr/>
        <p:txBody>
          <a:bodyPr/>
          <a:lstStyle/>
          <a:p>
            <a:r>
              <a:rPr lang="en-US" altLang="zh-TW" dirty="0"/>
              <a:t>NNE sample (2) - Register the </a:t>
            </a:r>
            <a:r>
              <a:rPr lang="en-US" altLang="zh-TW" dirty="0" err="1"/>
              <a:t>nne_sample_handler</a:t>
            </a:r>
            <a:endParaRPr lang="zh-TW" altLang="en-US" dirty="0"/>
          </a:p>
        </p:txBody>
      </p:sp>
      <p:pic>
        <p:nvPicPr>
          <p:cNvPr id="6" name="圖片 5">
            <a:extLst>
              <a:ext uri="{FF2B5EF4-FFF2-40B4-BE49-F238E27FC236}">
                <a16:creationId xmlns:a16="http://schemas.microsoft.com/office/drawing/2014/main" id="{FE9BC236-44B7-D04A-B640-C58B7F632871}"/>
              </a:ext>
            </a:extLst>
          </p:cNvPr>
          <p:cNvPicPr>
            <a:picLocks noChangeAspect="1"/>
          </p:cNvPicPr>
          <p:nvPr/>
        </p:nvPicPr>
        <p:blipFill>
          <a:blip r:embed="rId2"/>
          <a:stretch>
            <a:fillRect/>
          </a:stretch>
        </p:blipFill>
        <p:spPr>
          <a:xfrm>
            <a:off x="2641599" y="2346251"/>
            <a:ext cx="3860801" cy="2008336"/>
          </a:xfrm>
          <a:prstGeom prst="rect">
            <a:avLst/>
          </a:prstGeom>
        </p:spPr>
      </p:pic>
    </p:spTree>
    <p:extLst>
      <p:ext uri="{BB962C8B-B14F-4D97-AF65-F5344CB8AC3E}">
        <p14:creationId xmlns:p14="http://schemas.microsoft.com/office/powerpoint/2010/main" val="3433503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FED8F8E-2156-C7E4-04DF-86466B1CFD7D}"/>
              </a:ext>
            </a:extLst>
          </p:cNvPr>
          <p:cNvSpPr>
            <a:spLocks noGrp="1"/>
          </p:cNvSpPr>
          <p:nvPr>
            <p:ph type="sldNum" sz="quarter" idx="4"/>
          </p:nvPr>
        </p:nvSpPr>
        <p:spPr/>
        <p:txBody>
          <a:bodyPr/>
          <a:lstStyle/>
          <a:p>
            <a:fld id="{0AEF9A4B-07C9-404C-9053-A3A2AC3AD5D6}" type="slidenum">
              <a:rPr lang="en-GB" smtClean="0"/>
              <a:pPr/>
              <a:t>31</a:t>
            </a:fld>
            <a:endParaRPr lang="en-GB" dirty="0"/>
          </a:p>
        </p:txBody>
      </p:sp>
      <p:sp>
        <p:nvSpPr>
          <p:cNvPr id="4" name="標題 3">
            <a:extLst>
              <a:ext uri="{FF2B5EF4-FFF2-40B4-BE49-F238E27FC236}">
                <a16:creationId xmlns:a16="http://schemas.microsoft.com/office/drawing/2014/main" id="{51855F45-AD3E-2B2A-5295-A1709200A806}"/>
              </a:ext>
            </a:extLst>
          </p:cNvPr>
          <p:cNvSpPr>
            <a:spLocks noGrp="1"/>
          </p:cNvSpPr>
          <p:nvPr>
            <p:ph type="title"/>
          </p:nvPr>
        </p:nvSpPr>
        <p:spPr/>
        <p:txBody>
          <a:bodyPr>
            <a:normAutofit/>
          </a:bodyPr>
          <a:lstStyle/>
          <a:p>
            <a:r>
              <a:rPr lang="en-US" altLang="zh-TW" dirty="0"/>
              <a:t>NNE sample (3) - Build </a:t>
            </a:r>
            <a:r>
              <a:rPr lang="en-US" altLang="zh-TW" dirty="0" err="1"/>
              <a:t>libmtnne_sample.a</a:t>
            </a:r>
            <a:endParaRPr lang="zh-TW" altLang="en-US" dirty="0"/>
          </a:p>
        </p:txBody>
      </p:sp>
      <p:sp>
        <p:nvSpPr>
          <p:cNvPr id="7" name="內容版面配置區 6">
            <a:extLst>
              <a:ext uri="{FF2B5EF4-FFF2-40B4-BE49-F238E27FC236}">
                <a16:creationId xmlns:a16="http://schemas.microsoft.com/office/drawing/2014/main" id="{C4440735-199D-AAEC-59BA-8137CA28E3F9}"/>
              </a:ext>
            </a:extLst>
          </p:cNvPr>
          <p:cNvSpPr>
            <a:spLocks noGrp="1"/>
          </p:cNvSpPr>
          <p:nvPr>
            <p:ph sz="quarter" idx="10"/>
          </p:nvPr>
        </p:nvSpPr>
        <p:spPr/>
        <p:txBody>
          <a:bodyPr/>
          <a:lstStyle/>
          <a:p>
            <a:r>
              <a:rPr lang="en-US" altLang="zh-TW" dirty="0"/>
              <a:t>Build</a:t>
            </a:r>
          </a:p>
          <a:p>
            <a:pPr lvl="1"/>
            <a:r>
              <a:rPr lang="en-US" altLang="zh-TW" dirty="0"/>
              <a:t>command: </a:t>
            </a:r>
          </a:p>
          <a:p>
            <a:pPr lvl="2"/>
            <a:r>
              <a:rPr lang="en-US" altLang="zh-TW" dirty="0"/>
              <a:t>make -f makefile_nne_sample.mk all </a:t>
            </a:r>
            <a:br>
              <a:rPr lang="en-US" altLang="zh-TW" dirty="0"/>
            </a:br>
            <a:r>
              <a:rPr lang="en-US" altLang="zh-TW" dirty="0"/>
              <a:t>ADSP_PROJECT=</a:t>
            </a:r>
            <a:r>
              <a:rPr lang="en-US" altLang="zh-TW" dirty="0" err="1">
                <a:solidFill>
                  <a:schemeClr val="accent4"/>
                </a:solidFill>
              </a:rPr>
              <a:t>mtXXXX</a:t>
            </a:r>
            <a:br>
              <a:rPr lang="en-US" altLang="zh-TW" dirty="0"/>
            </a:br>
            <a:r>
              <a:rPr lang="en-US" altLang="zh-TW" dirty="0"/>
              <a:t>XTENSA_TOOLS_VERSION=RI-2023.11-linux</a:t>
            </a:r>
            <a:br>
              <a:rPr lang="en-US" altLang="zh-TW" dirty="0"/>
            </a:br>
            <a:r>
              <a:rPr lang="en-US" altLang="zh-TW" dirty="0"/>
              <a:t>TFLM_BASE=${LOCAL_TFLM_PATH} </a:t>
            </a:r>
          </a:p>
          <a:p>
            <a:pPr lvl="2"/>
            <a:r>
              <a:rPr lang="en-US" altLang="zh-TW" dirty="0"/>
              <a:t>Example (DX-4): make -f makefile_nne_sample.mk all ADSP_PROJECT=mt6991 XTENSA_TOOLS_VERSION=RI-2023.11-linux TFLM_BASE=../v1_4_2/</a:t>
            </a:r>
            <a:r>
              <a:rPr lang="en-US" altLang="zh-TW" dirty="0" err="1"/>
              <a:t>dsp</a:t>
            </a:r>
            <a:r>
              <a:rPr lang="en-US" altLang="zh-TW" dirty="0"/>
              <a:t>/</a:t>
            </a:r>
            <a:r>
              <a:rPr lang="en-US" altLang="zh-TW" dirty="0" err="1"/>
              <a:t>tflm</a:t>
            </a:r>
            <a:r>
              <a:rPr lang="en-US" altLang="zh-TW" dirty="0"/>
              <a:t>/</a:t>
            </a:r>
            <a:r>
              <a:rPr lang="en-US" altLang="zh-TW" dirty="0" err="1"/>
              <a:t>tflite</a:t>
            </a:r>
            <a:r>
              <a:rPr lang="en-US" altLang="zh-TW" dirty="0"/>
              <a:t>-micro </a:t>
            </a:r>
          </a:p>
          <a:p>
            <a:pPr lvl="1"/>
            <a:r>
              <a:rPr lang="en-US" altLang="zh-TW" dirty="0"/>
              <a:t>Path: ${ADSP_PATH}/middleware/</a:t>
            </a:r>
            <a:r>
              <a:rPr lang="en-US" altLang="zh-TW" dirty="0" err="1"/>
              <a:t>nne_model</a:t>
            </a:r>
            <a:r>
              <a:rPr lang="en-US" altLang="zh-TW" dirty="0"/>
              <a:t>/sample</a:t>
            </a:r>
          </a:p>
          <a:p>
            <a:r>
              <a:rPr lang="en-US" altLang="zh-TW" dirty="0"/>
              <a:t>Output lib: </a:t>
            </a:r>
            <a:r>
              <a:rPr lang="en-US" altLang="zh-TW" b="0" dirty="0"/>
              <a:t>${ADSP_PATH}/middleware/</a:t>
            </a:r>
            <a:r>
              <a:rPr lang="en-US" altLang="zh-TW" b="0" dirty="0" err="1"/>
              <a:t>nne_model</a:t>
            </a:r>
            <a:r>
              <a:rPr lang="en-US" altLang="zh-TW" b="0" dirty="0"/>
              <a:t>/sample/</a:t>
            </a:r>
            <a:r>
              <a:rPr lang="en-US" altLang="zh-TW" dirty="0" err="1"/>
              <a:t>libmtnne_sample.a</a:t>
            </a:r>
            <a:endParaRPr lang="en-US" altLang="zh-TW" dirty="0"/>
          </a:p>
        </p:txBody>
      </p:sp>
    </p:spTree>
    <p:extLst>
      <p:ext uri="{BB962C8B-B14F-4D97-AF65-F5344CB8AC3E}">
        <p14:creationId xmlns:p14="http://schemas.microsoft.com/office/powerpoint/2010/main" val="259039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9A23E12-1AC8-4E25-8255-0C629F519015}"/>
              </a:ext>
            </a:extLst>
          </p:cNvPr>
          <p:cNvSpPr>
            <a:spLocks noGrp="1"/>
          </p:cNvSpPr>
          <p:nvPr>
            <p:ph type="sldNum" sz="quarter" idx="4"/>
          </p:nvPr>
        </p:nvSpPr>
        <p:spPr>
          <a:xfrm>
            <a:off x="8542339" y="4868937"/>
            <a:ext cx="277811" cy="108000"/>
          </a:xfrm>
        </p:spPr>
        <p:txBody>
          <a:bodyPr anchor="ctr">
            <a:normAutofit/>
          </a:bodyPr>
          <a:lstStyle/>
          <a:p>
            <a:pPr>
              <a:spcAft>
                <a:spcPts val="600"/>
              </a:spcAft>
            </a:pPr>
            <a:fld id="{0AEF9A4B-07C9-404C-9053-A3A2AC3AD5D6}" type="slidenum">
              <a:rPr lang="en-GB" smtClean="0"/>
              <a:pPr>
                <a:spcAft>
                  <a:spcPts val="600"/>
                </a:spcAft>
              </a:pPr>
              <a:t>32</a:t>
            </a:fld>
            <a:endParaRPr lang="en-GB"/>
          </a:p>
        </p:txBody>
      </p:sp>
      <p:sp>
        <p:nvSpPr>
          <p:cNvPr id="12" name="Content Placeholder 2">
            <a:extLst>
              <a:ext uri="{FF2B5EF4-FFF2-40B4-BE49-F238E27FC236}">
                <a16:creationId xmlns:a16="http://schemas.microsoft.com/office/drawing/2014/main" id="{7CAF4399-969E-AE03-7A1B-DCBB87B043B7}"/>
              </a:ext>
            </a:extLst>
          </p:cNvPr>
          <p:cNvSpPr>
            <a:spLocks noGrp="1"/>
          </p:cNvSpPr>
          <p:nvPr>
            <p:ph sz="quarter" idx="10"/>
          </p:nvPr>
        </p:nvSpPr>
        <p:spPr>
          <a:xfrm>
            <a:off x="323850" y="1007706"/>
            <a:ext cx="8496300" cy="3707363"/>
          </a:xfrm>
        </p:spPr>
        <p:txBody>
          <a:bodyPr>
            <a:normAutofit/>
          </a:bodyPr>
          <a:lstStyle/>
          <a:p>
            <a:r>
              <a:rPr lang="en-US" b="0" dirty="0"/>
              <a:t>After registering the </a:t>
            </a:r>
            <a:r>
              <a:rPr lang="en-US" b="0" dirty="0" err="1"/>
              <a:t>nne</a:t>
            </a:r>
            <a:r>
              <a:rPr lang="en-US" b="0" dirty="0"/>
              <a:t> sample handler, developers can test models with the following APIs</a:t>
            </a:r>
          </a:p>
        </p:txBody>
      </p:sp>
      <p:sp>
        <p:nvSpPr>
          <p:cNvPr id="4" name="標題 3">
            <a:extLst>
              <a:ext uri="{FF2B5EF4-FFF2-40B4-BE49-F238E27FC236}">
                <a16:creationId xmlns:a16="http://schemas.microsoft.com/office/drawing/2014/main" id="{FA7369A5-FA14-45AA-9E30-9BBEFC1BF332}"/>
              </a:ext>
            </a:extLst>
          </p:cNvPr>
          <p:cNvSpPr>
            <a:spLocks noGrp="1"/>
          </p:cNvSpPr>
          <p:nvPr>
            <p:ph type="title"/>
          </p:nvPr>
        </p:nvSpPr>
        <p:spPr>
          <a:xfrm>
            <a:off x="323850" y="177670"/>
            <a:ext cx="8218488" cy="720464"/>
          </a:xfrm>
        </p:spPr>
        <p:txBody>
          <a:bodyPr anchor="ctr">
            <a:normAutofit/>
          </a:bodyPr>
          <a:lstStyle/>
          <a:p>
            <a:r>
              <a:rPr lang="en-US" altLang="zh-TW" dirty="0"/>
              <a:t>NNE sample – Test </a:t>
            </a:r>
            <a:endParaRPr lang="zh-TW" altLang="en-US" dirty="0"/>
          </a:p>
        </p:txBody>
      </p:sp>
      <p:graphicFrame>
        <p:nvGraphicFramePr>
          <p:cNvPr id="3" name="內容版面配置區 4">
            <a:extLst>
              <a:ext uri="{FF2B5EF4-FFF2-40B4-BE49-F238E27FC236}">
                <a16:creationId xmlns:a16="http://schemas.microsoft.com/office/drawing/2014/main" id="{CC169309-893E-F4E5-4AD1-E3269688613D}"/>
              </a:ext>
            </a:extLst>
          </p:cNvPr>
          <p:cNvGraphicFramePr>
            <a:graphicFrameLocks/>
          </p:cNvGraphicFramePr>
          <p:nvPr>
            <p:extLst>
              <p:ext uri="{D42A27DB-BD31-4B8C-83A1-F6EECF244321}">
                <p14:modId xmlns:p14="http://schemas.microsoft.com/office/powerpoint/2010/main" val="1153220319"/>
              </p:ext>
            </p:extLst>
          </p:nvPr>
        </p:nvGraphicFramePr>
        <p:xfrm>
          <a:off x="92074" y="1749426"/>
          <a:ext cx="8959851" cy="2867660"/>
        </p:xfrm>
        <a:graphic>
          <a:graphicData uri="http://schemas.openxmlformats.org/drawingml/2006/table">
            <a:tbl>
              <a:tblPr firstRow="1" bandRow="1">
                <a:tableStyleId>{5C22544A-7EE6-4342-B048-85BDC9FD1C3A}</a:tableStyleId>
              </a:tblPr>
              <a:tblGrid>
                <a:gridCol w="2130425">
                  <a:extLst>
                    <a:ext uri="{9D8B030D-6E8A-4147-A177-3AD203B41FA5}">
                      <a16:colId xmlns:a16="http://schemas.microsoft.com/office/drawing/2014/main" val="3620699591"/>
                    </a:ext>
                  </a:extLst>
                </a:gridCol>
                <a:gridCol w="2276475">
                  <a:extLst>
                    <a:ext uri="{9D8B030D-6E8A-4147-A177-3AD203B41FA5}">
                      <a16:colId xmlns:a16="http://schemas.microsoft.com/office/drawing/2014/main" val="2206619992"/>
                    </a:ext>
                  </a:extLst>
                </a:gridCol>
                <a:gridCol w="4552951">
                  <a:extLst>
                    <a:ext uri="{9D8B030D-6E8A-4147-A177-3AD203B41FA5}">
                      <a16:colId xmlns:a16="http://schemas.microsoft.com/office/drawing/2014/main" val="1534618098"/>
                    </a:ext>
                  </a:extLst>
                </a:gridCol>
              </a:tblGrid>
              <a:tr h="139739">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78302425"/>
                  </a:ext>
                </a:extLst>
              </a:tr>
              <a:tr h="50292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t>run_all_nne_sample</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void (no argument)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void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no return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791121"/>
                  </a:ext>
                </a:extLst>
              </a:tr>
              <a:tr h="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705395"/>
                  </a:ext>
                </a:extLst>
              </a:tr>
              <a:tr h="370840">
                <a:tc vMerge="1">
                  <a:txBody>
                    <a:bodyPr/>
                    <a:lstStyle/>
                    <a:p>
                      <a:endParaRPr lang="zh-TW" altLang="en-US"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nne_sample.h</a:t>
                      </a:r>
                      <a:endParaRPr lang="en-US" altLang="zh-TW" sz="9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This API runs all the registered </a:t>
                      </a:r>
                      <a:r>
                        <a:rPr lang="en-US" altLang="zh-TW" sz="900" dirty="0" err="1"/>
                        <a:t>nne_sample_handlers</a:t>
                      </a:r>
                      <a:r>
                        <a:rPr lang="en-US" altLang="zh-TW" sz="900" dirty="0"/>
                        <a: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9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400731"/>
                  </a:ext>
                </a:extLst>
              </a:tr>
              <a:tr h="0">
                <a:tc>
                  <a:txBody>
                    <a:bodyPr/>
                    <a:lstStyle/>
                    <a:p>
                      <a:r>
                        <a:rPr lang="en-US" altLang="zh-TW" sz="1200" b="1" dirty="0">
                          <a:solidFill>
                            <a:schemeClr val="bg1"/>
                          </a:solidFill>
                        </a:rPr>
                        <a:t>API</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arguments</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sz="1200" b="1" dirty="0">
                          <a:solidFill>
                            <a:schemeClr val="bg1"/>
                          </a:solidFill>
                        </a:rPr>
                        <a:t>Return</a:t>
                      </a:r>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26411536"/>
                  </a:ext>
                </a:extLst>
              </a:tr>
              <a:tr h="39370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err="1"/>
                        <a:t>run_nne_sample</a:t>
                      </a:r>
                      <a:endParaRPr lang="en-US" altLang="zh-TW" sz="9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900" b="0" dirty="0"/>
                        <a:t>char *</a:t>
                      </a:r>
                      <a:r>
                        <a:rPr lang="en-US" altLang="zh-TW" sz="900" b="0" dirty="0" err="1">
                          <a:highlight>
                            <a:srgbClr val="FFFF00"/>
                          </a:highlight>
                        </a:rPr>
                        <a:t>nw_name</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type: void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Return: no return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945501"/>
                  </a:ext>
                </a:extLst>
              </a:tr>
              <a:tr h="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chemeClr val="bg1"/>
                          </a:solidFill>
                        </a:rPr>
                        <a:t>Description</a:t>
                      </a:r>
                      <a:r>
                        <a:rPr lang="en-US" altLang="zh-TW" sz="1200" b="0" dirty="0">
                          <a:solidFill>
                            <a:schemeClr val="bg1"/>
                          </a:solidFill>
                        </a:rPr>
                        <a:t> </a:t>
                      </a:r>
                      <a:endParaRPr lang="zh-TW" altLang="en-US" sz="1200" b="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TW" altLang="en-US" sz="1200" b="1"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679561"/>
                  </a:ext>
                </a:extLst>
              </a:tr>
              <a:tr h="370840">
                <a:tc vMerge="1">
                  <a:txBody>
                    <a:bodyPr/>
                    <a:lstStyle/>
                    <a:p>
                      <a:endParaRPr lang="en-US" altLang="zh-TW" sz="1200" b="1"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900" dirty="0"/>
                        <a:t>Defined in </a:t>
                      </a:r>
                      <a:r>
                        <a:rPr lang="en-US" altLang="zh-TW" sz="900" b="1" dirty="0" err="1"/>
                        <a:t>nne_sample.h</a:t>
                      </a:r>
                      <a:endParaRPr lang="en-US" altLang="zh-TW" sz="900" b="1" dirty="0"/>
                    </a:p>
                    <a:p>
                      <a:pPr marL="171450" indent="-171450">
                        <a:buFont typeface="Arial" panose="020B0604020202020204" pitchFamily="34" charset="0"/>
                        <a:buChar char="•"/>
                      </a:pPr>
                      <a:r>
                        <a:rPr lang="en-US" altLang="zh-TW" sz="900" dirty="0"/>
                        <a:t>This API runs specific </a:t>
                      </a:r>
                      <a:r>
                        <a:rPr lang="en-US" altLang="zh-TW" sz="900" dirty="0" err="1"/>
                        <a:t>nne_sample_handlers</a:t>
                      </a:r>
                      <a:r>
                        <a:rPr lang="en-US" altLang="zh-TW" sz="900" dirty="0"/>
                        <a:t> that have the same </a:t>
                      </a:r>
                      <a:r>
                        <a:rPr lang="en-US" altLang="zh-TW" sz="900" dirty="0" err="1"/>
                        <a:t>nw_name</a:t>
                      </a:r>
                      <a:r>
                        <a:rPr lang="en-US" altLang="zh-TW" sz="900" dirty="0"/>
                        <a:t> as the argument </a:t>
                      </a:r>
                      <a:r>
                        <a:rPr lang="en-US" altLang="zh-TW" sz="900" i="1" dirty="0" err="1">
                          <a:highlight>
                            <a:srgbClr val="FFFF00"/>
                          </a:highlight>
                        </a:rPr>
                        <a:t>nw_name</a:t>
                      </a:r>
                      <a:r>
                        <a:rPr lang="en-US" altLang="zh-TW" sz="900" i="1" dirty="0">
                          <a:highlight>
                            <a:srgbClr val="FFFF00"/>
                          </a:highlight>
                        </a:rPr>
                        <a:t> </a:t>
                      </a:r>
                      <a:r>
                        <a:rPr lang="en-US" altLang="zh-TW" sz="900" i="0" dirty="0"/>
                        <a:t>(the </a:t>
                      </a:r>
                      <a:r>
                        <a:rPr lang="en-US" altLang="zh-TW" sz="900" i="1" dirty="0" err="1">
                          <a:highlight>
                            <a:srgbClr val="FFFF00"/>
                          </a:highlight>
                        </a:rPr>
                        <a:t>nw_</a:t>
                      </a:r>
                      <a:r>
                        <a:rPr lang="en-US" altLang="zh-TW" sz="900" i="0" dirty="0" err="1">
                          <a:highlight>
                            <a:srgbClr val="FFFF00"/>
                          </a:highlight>
                        </a:rPr>
                        <a:t>name</a:t>
                      </a:r>
                      <a:r>
                        <a:rPr lang="en-US" altLang="zh-TW" sz="900" i="0" dirty="0">
                          <a:highlight>
                            <a:srgbClr val="FFFF00"/>
                          </a:highlight>
                        </a:rPr>
                        <a:t> </a:t>
                      </a:r>
                      <a:r>
                        <a:rPr lang="en-US" altLang="zh-TW" sz="900" i="0" dirty="0"/>
                        <a:t>is the same as the name defined in the model config)</a:t>
                      </a:r>
                      <a:r>
                        <a:rPr lang="en-US" altLang="zh-TW" sz="900" i="1" dirty="0"/>
                        <a:t>.</a:t>
                      </a:r>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sz="900" b="0" dirty="0">
                        <a:solidFill>
                          <a:schemeClr val="tx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537048"/>
                  </a:ext>
                </a:extLst>
              </a:tr>
            </a:tbl>
          </a:graphicData>
        </a:graphic>
      </p:graphicFrame>
    </p:spTree>
    <p:extLst>
      <p:ext uri="{BB962C8B-B14F-4D97-AF65-F5344CB8AC3E}">
        <p14:creationId xmlns:p14="http://schemas.microsoft.com/office/powerpoint/2010/main" val="2552546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3DB7FE5-8784-4243-8306-3609890FB5CB}"/>
              </a:ext>
            </a:extLst>
          </p:cNvPr>
          <p:cNvSpPr>
            <a:spLocks noGrp="1"/>
          </p:cNvSpPr>
          <p:nvPr>
            <p:ph type="sldNum" sz="quarter" idx="4"/>
          </p:nvPr>
        </p:nvSpPr>
        <p:spPr/>
        <p:txBody>
          <a:bodyPr/>
          <a:lstStyle/>
          <a:p>
            <a:fld id="{0AEF9A4B-07C9-404C-9053-A3A2AC3AD5D6}" type="slidenum">
              <a:rPr lang="en-GB" smtClean="0"/>
              <a:pPr/>
              <a:t>33</a:t>
            </a:fld>
            <a:endParaRPr lang="en-GB" dirty="0"/>
          </a:p>
        </p:txBody>
      </p:sp>
      <p:sp>
        <p:nvSpPr>
          <p:cNvPr id="3" name="內容版面配置區 2">
            <a:extLst>
              <a:ext uri="{FF2B5EF4-FFF2-40B4-BE49-F238E27FC236}">
                <a16:creationId xmlns:a16="http://schemas.microsoft.com/office/drawing/2014/main" id="{FBA362FE-FD89-4F6A-9395-D571507D0795}"/>
              </a:ext>
            </a:extLst>
          </p:cNvPr>
          <p:cNvSpPr>
            <a:spLocks noGrp="1"/>
          </p:cNvSpPr>
          <p:nvPr>
            <p:ph sz="quarter" idx="10"/>
          </p:nvPr>
        </p:nvSpPr>
        <p:spPr>
          <a:xfrm>
            <a:off x="323849" y="1036021"/>
            <a:ext cx="8218489" cy="3707363"/>
          </a:xfrm>
        </p:spPr>
        <p:txBody>
          <a:bodyPr/>
          <a:lstStyle/>
          <a:p>
            <a:r>
              <a:rPr lang="en-US" altLang="zh-TW" dirty="0"/>
              <a:t>Take Person Detect INT8 model as example:</a:t>
            </a:r>
            <a:endParaRPr lang="zh-TW" altLang="en-US" dirty="0"/>
          </a:p>
        </p:txBody>
      </p:sp>
      <p:sp>
        <p:nvSpPr>
          <p:cNvPr id="4" name="標題 3">
            <a:extLst>
              <a:ext uri="{FF2B5EF4-FFF2-40B4-BE49-F238E27FC236}">
                <a16:creationId xmlns:a16="http://schemas.microsoft.com/office/drawing/2014/main" id="{F6EB9897-4264-47EC-AEFC-F9C474A8393C}"/>
              </a:ext>
            </a:extLst>
          </p:cNvPr>
          <p:cNvSpPr>
            <a:spLocks noGrp="1"/>
          </p:cNvSpPr>
          <p:nvPr>
            <p:ph type="title"/>
          </p:nvPr>
        </p:nvSpPr>
        <p:spPr/>
        <p:txBody>
          <a:bodyPr/>
          <a:lstStyle/>
          <a:p>
            <a:r>
              <a:rPr lang="en-US" altLang="zh-TW" dirty="0"/>
              <a:t>Memory usage</a:t>
            </a:r>
            <a:endParaRPr lang="zh-TW" altLang="en-US" dirty="0"/>
          </a:p>
        </p:txBody>
      </p:sp>
      <p:graphicFrame>
        <p:nvGraphicFramePr>
          <p:cNvPr id="5" name="表格 5">
            <a:extLst>
              <a:ext uri="{FF2B5EF4-FFF2-40B4-BE49-F238E27FC236}">
                <a16:creationId xmlns:a16="http://schemas.microsoft.com/office/drawing/2014/main" id="{D2E729D1-EF68-4FD6-9A61-FC897385D264}"/>
              </a:ext>
            </a:extLst>
          </p:cNvPr>
          <p:cNvGraphicFramePr>
            <a:graphicFrameLocks noGrp="1"/>
          </p:cNvGraphicFramePr>
          <p:nvPr>
            <p:extLst>
              <p:ext uri="{D42A27DB-BD31-4B8C-83A1-F6EECF244321}">
                <p14:modId xmlns:p14="http://schemas.microsoft.com/office/powerpoint/2010/main" val="1509934732"/>
              </p:ext>
            </p:extLst>
          </p:nvPr>
        </p:nvGraphicFramePr>
        <p:xfrm>
          <a:off x="763728" y="1999279"/>
          <a:ext cx="7616543" cy="2108200"/>
        </p:xfrm>
        <a:graphic>
          <a:graphicData uri="http://schemas.openxmlformats.org/drawingml/2006/table">
            <a:tbl>
              <a:tblPr firstRow="1" bandRow="1">
                <a:tableStyleId>{5C22544A-7EE6-4342-B048-85BDC9FD1C3A}</a:tableStyleId>
              </a:tblPr>
              <a:tblGrid>
                <a:gridCol w="440122">
                  <a:extLst>
                    <a:ext uri="{9D8B030D-6E8A-4147-A177-3AD203B41FA5}">
                      <a16:colId xmlns:a16="http://schemas.microsoft.com/office/drawing/2014/main" val="1951120241"/>
                    </a:ext>
                  </a:extLst>
                </a:gridCol>
                <a:gridCol w="2502342">
                  <a:extLst>
                    <a:ext uri="{9D8B030D-6E8A-4147-A177-3AD203B41FA5}">
                      <a16:colId xmlns:a16="http://schemas.microsoft.com/office/drawing/2014/main" val="220486073"/>
                    </a:ext>
                  </a:extLst>
                </a:gridCol>
                <a:gridCol w="1477601">
                  <a:extLst>
                    <a:ext uri="{9D8B030D-6E8A-4147-A177-3AD203B41FA5}">
                      <a16:colId xmlns:a16="http://schemas.microsoft.com/office/drawing/2014/main" val="3419608842"/>
                    </a:ext>
                  </a:extLst>
                </a:gridCol>
                <a:gridCol w="2512567">
                  <a:extLst>
                    <a:ext uri="{9D8B030D-6E8A-4147-A177-3AD203B41FA5}">
                      <a16:colId xmlns:a16="http://schemas.microsoft.com/office/drawing/2014/main" val="3405315032"/>
                    </a:ext>
                  </a:extLst>
                </a:gridCol>
                <a:gridCol w="683911">
                  <a:extLst>
                    <a:ext uri="{9D8B030D-6E8A-4147-A177-3AD203B41FA5}">
                      <a16:colId xmlns:a16="http://schemas.microsoft.com/office/drawing/2014/main" val="2622570122"/>
                    </a:ext>
                  </a:extLst>
                </a:gridCol>
              </a:tblGrid>
              <a:tr h="370840">
                <a:tc>
                  <a:txBody>
                    <a:bodyPr/>
                    <a:lstStyle/>
                    <a:p>
                      <a:r>
                        <a:rPr lang="en-US" altLang="zh-TW" sz="1000" dirty="0"/>
                        <a:t>item</a:t>
                      </a:r>
                      <a:endParaRPr lang="zh-TW" altLang="en-US" sz="1000" dirty="0"/>
                    </a:p>
                  </a:txBody>
                  <a:tcPr/>
                </a:tc>
                <a:tc>
                  <a:txBody>
                    <a:bodyPr/>
                    <a:lstStyle/>
                    <a:p>
                      <a:r>
                        <a:rPr lang="en-US" altLang="zh-TW" sz="1000" dirty="0"/>
                        <a:t>description</a:t>
                      </a:r>
                      <a:endParaRPr lang="zh-TW" altLang="en-US" sz="1000" dirty="0"/>
                    </a:p>
                  </a:txBody>
                  <a:tcPr/>
                </a:tc>
                <a:tc>
                  <a:txBody>
                    <a:bodyPr/>
                    <a:lstStyle/>
                    <a:p>
                      <a:endParaRPr lang="zh-TW" altLang="en-US" sz="1000" dirty="0"/>
                    </a:p>
                  </a:txBody>
                  <a:tcPr/>
                </a:tc>
                <a:tc>
                  <a:txBody>
                    <a:bodyPr/>
                    <a:lstStyle/>
                    <a:p>
                      <a:r>
                        <a:rPr lang="en-US" altLang="zh-TW" sz="1000" dirty="0"/>
                        <a:t>Memory (Byte)</a:t>
                      </a:r>
                      <a:endParaRPr lang="zh-TW" alt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a:t>Memory (MB)</a:t>
                      </a:r>
                      <a:endParaRPr lang="zh-TW" altLang="en-US" sz="1000" dirty="0"/>
                    </a:p>
                  </a:txBody>
                  <a:tcPr/>
                </a:tc>
                <a:extLst>
                  <a:ext uri="{0D108BD9-81ED-4DB2-BD59-A6C34878D82A}">
                    <a16:rowId xmlns:a16="http://schemas.microsoft.com/office/drawing/2014/main" val="2521924282"/>
                  </a:ext>
                </a:extLst>
              </a:tr>
              <a:tr h="370840">
                <a:tc>
                  <a:txBody>
                    <a:bodyPr/>
                    <a:lstStyle/>
                    <a:p>
                      <a:r>
                        <a:rPr lang="en-US" altLang="zh-TW" sz="1000" dirty="0"/>
                        <a:t>1</a:t>
                      </a:r>
                      <a:endParaRPr lang="zh-TW" altLang="en-US" sz="1000" dirty="0"/>
                    </a:p>
                  </a:txBody>
                  <a:tcPr/>
                </a:tc>
                <a:tc>
                  <a:txBody>
                    <a:bodyPr/>
                    <a:lstStyle/>
                    <a:p>
                      <a:r>
                        <a:rPr lang="en-US" altLang="zh-TW" sz="1000" dirty="0"/>
                        <a:t>NNE Driver</a:t>
                      </a:r>
                      <a:endParaRPr lang="zh-TW" altLang="en-US" sz="1000" dirty="0"/>
                    </a:p>
                  </a:txBody>
                  <a:tcPr/>
                </a:tc>
                <a:tc>
                  <a:txBody>
                    <a:bodyPr/>
                    <a:lstStyle/>
                    <a:p>
                      <a:r>
                        <a:rPr lang="en-US" altLang="zh-TW" sz="1000" dirty="0"/>
                        <a:t>Fix size</a:t>
                      </a:r>
                      <a:endParaRPr lang="zh-TW" altLang="en-US" sz="1000" dirty="0"/>
                    </a:p>
                  </a:txBody>
                  <a:tcPr/>
                </a:tc>
                <a:tc>
                  <a:txBody>
                    <a:bodyPr/>
                    <a:lstStyle/>
                    <a:p>
                      <a:r>
                        <a:rPr lang="en-US" altLang="zh-TW" sz="1000" dirty="0"/>
                        <a:t>410624</a:t>
                      </a:r>
                      <a:endParaRPr lang="zh-TW" altLang="en-US" sz="1000" dirty="0"/>
                    </a:p>
                  </a:txBody>
                  <a:tcPr/>
                </a:tc>
                <a:tc>
                  <a:txBody>
                    <a:bodyPr/>
                    <a:lstStyle/>
                    <a:p>
                      <a:r>
                        <a:rPr lang="en-US" altLang="zh-TW" sz="1000" dirty="0"/>
                        <a:t>0.3916 MB</a:t>
                      </a:r>
                      <a:endParaRPr lang="zh-TW" altLang="en-US" sz="1000" dirty="0"/>
                    </a:p>
                  </a:txBody>
                  <a:tcPr/>
                </a:tc>
                <a:extLst>
                  <a:ext uri="{0D108BD9-81ED-4DB2-BD59-A6C34878D82A}">
                    <a16:rowId xmlns:a16="http://schemas.microsoft.com/office/drawing/2014/main" val="3473615334"/>
                  </a:ext>
                </a:extLst>
              </a:tr>
              <a:tr h="370840">
                <a:tc>
                  <a:txBody>
                    <a:bodyPr/>
                    <a:lstStyle/>
                    <a:p>
                      <a:r>
                        <a:rPr lang="en-US" altLang="zh-TW" sz="1000" dirty="0"/>
                        <a:t>2</a:t>
                      </a:r>
                      <a:endParaRPr lang="zh-TW" altLang="en-US" sz="1000" dirty="0"/>
                    </a:p>
                  </a:txBody>
                  <a:tcPr/>
                </a:tc>
                <a:tc>
                  <a:txBody>
                    <a:bodyPr/>
                    <a:lstStyle/>
                    <a:p>
                      <a:r>
                        <a:rPr lang="en-US" altLang="zh-TW" sz="1000" dirty="0"/>
                        <a:t>Model (person_detect_int8</a:t>
                      </a:r>
                      <a:r>
                        <a:rPr lang="en-US" altLang="zh-TW" sz="1000" dirty="0">
                          <a:solidFill>
                            <a:srgbClr val="FF0000"/>
                          </a:solidFill>
                        </a:rPr>
                        <a:t>_nne_custom</a:t>
                      </a:r>
                      <a:r>
                        <a:rPr lang="en-US" altLang="zh-TW" sz="1000" dirty="0"/>
                        <a:t>.tflite)</a:t>
                      </a:r>
                      <a:endParaRPr lang="zh-TW" alt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a:t>Size depends on the model</a:t>
                      </a:r>
                      <a:endParaRPr lang="zh-TW" altLang="en-US" sz="1000" dirty="0"/>
                    </a:p>
                  </a:txBody>
                  <a:tcPr/>
                </a:tc>
                <a:tc>
                  <a:txBody>
                    <a:bodyPr/>
                    <a:lstStyle/>
                    <a:p>
                      <a:r>
                        <a:rPr lang="en-US" altLang="zh-TW" sz="1000" dirty="0"/>
                        <a:t>357344 </a:t>
                      </a:r>
                    </a:p>
                    <a:p>
                      <a:r>
                        <a:rPr lang="en-US" altLang="zh-TW" sz="1000" dirty="0"/>
                        <a:t>(person_detect_int8.tflite size: 300568)</a:t>
                      </a:r>
                      <a:endParaRPr lang="zh-TW" altLang="en-US" sz="1000" dirty="0"/>
                    </a:p>
                  </a:txBody>
                  <a:tcPr/>
                </a:tc>
                <a:tc>
                  <a:txBody>
                    <a:bodyPr/>
                    <a:lstStyle/>
                    <a:p>
                      <a:r>
                        <a:rPr lang="en-US" altLang="zh-TW" sz="1000" dirty="0"/>
                        <a:t>0.3407 MB</a:t>
                      </a:r>
                      <a:endParaRPr lang="zh-TW" altLang="en-US" sz="1000" dirty="0"/>
                    </a:p>
                  </a:txBody>
                  <a:tcPr/>
                </a:tc>
                <a:extLst>
                  <a:ext uri="{0D108BD9-81ED-4DB2-BD59-A6C34878D82A}">
                    <a16:rowId xmlns:a16="http://schemas.microsoft.com/office/drawing/2014/main" val="2106025497"/>
                  </a:ext>
                </a:extLst>
              </a:tr>
              <a:tr h="370840">
                <a:tc>
                  <a:txBody>
                    <a:bodyPr/>
                    <a:lstStyle/>
                    <a:p>
                      <a:r>
                        <a:rPr lang="en-US" altLang="zh-TW" sz="1000" dirty="0"/>
                        <a:t>3</a:t>
                      </a:r>
                      <a:endParaRPr lang="zh-TW" altLang="en-US" sz="1000" dirty="0"/>
                    </a:p>
                  </a:txBody>
                  <a:tcPr/>
                </a:tc>
                <a:tc>
                  <a:txBody>
                    <a:bodyPr/>
                    <a:lstStyle/>
                    <a:p>
                      <a:r>
                        <a:rPr lang="en-US" altLang="zh-TW" sz="1000" dirty="0"/>
                        <a:t>Tensor arena</a:t>
                      </a:r>
                    </a:p>
                    <a:p>
                      <a:r>
                        <a:rPr lang="en-US" altLang="zh-TW" sz="1000" dirty="0"/>
                        <a:t>(TensorFlow Lite Micro</a:t>
                      </a:r>
                      <a:r>
                        <a:rPr lang="zh-TW" altLang="en-US" sz="1000" dirty="0"/>
                        <a:t>的</a:t>
                      </a:r>
                      <a:r>
                        <a:rPr lang="en-US" altLang="zh-TW" sz="1000" dirty="0"/>
                        <a:t>working buffer)</a:t>
                      </a:r>
                      <a:endParaRPr lang="zh-TW" alt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dirty="0"/>
                        <a:t>Size depends on the model</a:t>
                      </a:r>
                      <a:endParaRPr lang="zh-TW" altLang="en-US" sz="1000" dirty="0"/>
                    </a:p>
                    <a:p>
                      <a:endParaRPr lang="zh-TW" altLang="en-US" sz="1000" dirty="0"/>
                    </a:p>
                  </a:txBody>
                  <a:tcPr/>
                </a:tc>
                <a:tc>
                  <a:txBody>
                    <a:bodyPr/>
                    <a:lstStyle/>
                    <a:p>
                      <a:r>
                        <a:rPr lang="en-US" altLang="zh-TW" sz="1000" dirty="0"/>
                        <a:t>406528</a:t>
                      </a:r>
                      <a:endParaRPr lang="zh-TW" altLang="en-US" sz="1000" dirty="0"/>
                    </a:p>
                  </a:txBody>
                  <a:tcPr/>
                </a:tc>
                <a:tc>
                  <a:txBody>
                    <a:bodyPr/>
                    <a:lstStyle/>
                    <a:p>
                      <a:r>
                        <a:rPr lang="en-US" altLang="zh-TW" sz="1000" dirty="0"/>
                        <a:t>0.3876 MB</a:t>
                      </a:r>
                      <a:endParaRPr lang="zh-TW" altLang="en-US" sz="1000" dirty="0"/>
                    </a:p>
                  </a:txBody>
                  <a:tcPr/>
                </a:tc>
                <a:extLst>
                  <a:ext uri="{0D108BD9-81ED-4DB2-BD59-A6C34878D82A}">
                    <a16:rowId xmlns:a16="http://schemas.microsoft.com/office/drawing/2014/main" val="1728732631"/>
                  </a:ext>
                </a:extLst>
              </a:tr>
              <a:tr h="370840">
                <a:tc>
                  <a:txBody>
                    <a:bodyPr/>
                    <a:lstStyle/>
                    <a:p>
                      <a:endParaRPr lang="zh-TW" altLang="en-US" sz="1000" dirty="0"/>
                    </a:p>
                  </a:txBody>
                  <a:tcPr>
                    <a:solidFill>
                      <a:schemeClr val="tx2">
                        <a:lumMod val="40000"/>
                        <a:lumOff val="60000"/>
                      </a:schemeClr>
                    </a:solidFill>
                  </a:tcPr>
                </a:tc>
                <a:tc>
                  <a:txBody>
                    <a:bodyPr/>
                    <a:lstStyle/>
                    <a:p>
                      <a:r>
                        <a:rPr lang="en-US" altLang="zh-TW" sz="1000" dirty="0"/>
                        <a:t>Total</a:t>
                      </a:r>
                      <a:endParaRPr lang="zh-TW" altLang="en-US" sz="1000" dirty="0"/>
                    </a:p>
                  </a:txBody>
                  <a:tcPr>
                    <a:solidFill>
                      <a:schemeClr val="tx2">
                        <a:lumMod val="40000"/>
                        <a:lumOff val="60000"/>
                      </a:schemeClr>
                    </a:solidFill>
                  </a:tcPr>
                </a:tc>
                <a:tc>
                  <a:txBody>
                    <a:bodyPr/>
                    <a:lstStyle/>
                    <a:p>
                      <a:endParaRPr lang="zh-TW" altLang="en-US" sz="1000" dirty="0"/>
                    </a:p>
                  </a:txBody>
                  <a:tcPr>
                    <a:solidFill>
                      <a:schemeClr val="tx2">
                        <a:lumMod val="40000"/>
                        <a:lumOff val="60000"/>
                      </a:schemeClr>
                    </a:solidFill>
                  </a:tcPr>
                </a:tc>
                <a:tc>
                  <a:txBody>
                    <a:bodyPr/>
                    <a:lstStyle/>
                    <a:p>
                      <a:r>
                        <a:rPr lang="en-US" altLang="zh-TW" sz="1000" dirty="0"/>
                        <a:t>1174496</a:t>
                      </a:r>
                      <a:endParaRPr lang="zh-TW" altLang="en-US" sz="1000" dirty="0"/>
                    </a:p>
                  </a:txBody>
                  <a:tcPr>
                    <a:solidFill>
                      <a:schemeClr val="tx2">
                        <a:lumMod val="40000"/>
                        <a:lumOff val="60000"/>
                      </a:schemeClr>
                    </a:solidFill>
                  </a:tcPr>
                </a:tc>
                <a:tc>
                  <a:txBody>
                    <a:bodyPr/>
                    <a:lstStyle/>
                    <a:p>
                      <a:r>
                        <a:rPr lang="en-US" altLang="zh-TW" sz="1000" dirty="0"/>
                        <a:t>1.12 MB</a:t>
                      </a:r>
                      <a:endParaRPr lang="zh-TW" altLang="en-US" sz="1000" dirty="0"/>
                    </a:p>
                  </a:txBody>
                  <a:tcPr>
                    <a:solidFill>
                      <a:schemeClr val="tx2">
                        <a:lumMod val="40000"/>
                        <a:lumOff val="60000"/>
                      </a:schemeClr>
                    </a:solidFill>
                  </a:tcPr>
                </a:tc>
                <a:extLst>
                  <a:ext uri="{0D108BD9-81ED-4DB2-BD59-A6C34878D82A}">
                    <a16:rowId xmlns:a16="http://schemas.microsoft.com/office/drawing/2014/main" val="85130272"/>
                  </a:ext>
                </a:extLst>
              </a:tr>
            </a:tbl>
          </a:graphicData>
        </a:graphic>
      </p:graphicFrame>
    </p:spTree>
    <p:extLst>
      <p:ext uri="{BB962C8B-B14F-4D97-AF65-F5344CB8AC3E}">
        <p14:creationId xmlns:p14="http://schemas.microsoft.com/office/powerpoint/2010/main" val="409527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AD33C140-AF7E-A82B-1090-4ED5E4AA5F31}"/>
              </a:ext>
            </a:extLst>
          </p:cNvPr>
          <p:cNvSpPr>
            <a:spLocks noGrp="1"/>
          </p:cNvSpPr>
          <p:nvPr>
            <p:ph type="sldNum" sz="quarter" idx="4"/>
          </p:nvPr>
        </p:nvSpPr>
        <p:spPr/>
        <p:txBody>
          <a:bodyPr/>
          <a:lstStyle/>
          <a:p>
            <a:fld id="{0AEF9A4B-07C9-404C-9053-A3A2AC3AD5D6}" type="slidenum">
              <a:rPr lang="en-GB" smtClean="0"/>
              <a:pPr/>
              <a:t>34</a:t>
            </a:fld>
            <a:endParaRPr lang="en-GB" dirty="0"/>
          </a:p>
        </p:txBody>
      </p:sp>
      <p:sp>
        <p:nvSpPr>
          <p:cNvPr id="3" name="內容版面配置區 2">
            <a:extLst>
              <a:ext uri="{FF2B5EF4-FFF2-40B4-BE49-F238E27FC236}">
                <a16:creationId xmlns:a16="http://schemas.microsoft.com/office/drawing/2014/main" id="{FAF7BBDD-062C-1D9B-B8A5-47BC126E19D4}"/>
              </a:ext>
            </a:extLst>
          </p:cNvPr>
          <p:cNvSpPr>
            <a:spLocks noGrp="1"/>
          </p:cNvSpPr>
          <p:nvPr>
            <p:ph sz="quarter" idx="10"/>
          </p:nvPr>
        </p:nvSpPr>
        <p:spPr/>
        <p:txBody>
          <a:bodyPr/>
          <a:lstStyle/>
          <a:p>
            <a:r>
              <a:rPr lang="en-US" altLang="zh-TW" b="0" dirty="0"/>
              <a:t>How long does the initialization take?</a:t>
            </a:r>
          </a:p>
          <a:p>
            <a:pPr lvl="1"/>
            <a:r>
              <a:rPr lang="en-US" altLang="zh-TW" b="0" dirty="0"/>
              <a:t>The model initialization will be completed during ADSP boot time, and retrieving the initialized models using the MTK APIs will not take much time.</a:t>
            </a:r>
          </a:p>
          <a:p>
            <a:r>
              <a:rPr lang="en-US" altLang="zh-TW" b="0" dirty="0">
                <a:effectLst/>
              </a:rPr>
              <a:t>Does the model need to allocate another memory block to store?</a:t>
            </a:r>
          </a:p>
          <a:p>
            <a:pPr lvl="1"/>
            <a:r>
              <a:rPr lang="en-US" altLang="zh-TW" b="0" dirty="0" err="1">
                <a:effectLst/>
              </a:rPr>
              <a:t>TFLite</a:t>
            </a:r>
            <a:r>
              <a:rPr lang="en-US" altLang="zh-TW" b="0" dirty="0">
                <a:effectLst/>
              </a:rPr>
              <a:t> model is built in the ADSP</a:t>
            </a:r>
            <a:r>
              <a:rPr lang="en-US" altLang="zh-TW" b="0" dirty="0">
                <a:solidFill>
                  <a:srgbClr val="FDC030"/>
                </a:solidFill>
                <a:effectLst/>
              </a:rPr>
              <a:t> </a:t>
            </a:r>
            <a:r>
              <a:rPr lang="en-US" altLang="zh-TW" b="0" dirty="0">
                <a:effectLst/>
              </a:rPr>
              <a:t>image, so developers do not need to allocate memory for models</a:t>
            </a:r>
          </a:p>
          <a:p>
            <a:r>
              <a:rPr lang="en-US" altLang="zh-TW" b="0" dirty="0"/>
              <a:t>How to check if the NNE is active</a:t>
            </a:r>
            <a:r>
              <a:rPr lang="zh-TW" altLang="en-US" b="0" dirty="0"/>
              <a:t>？</a:t>
            </a:r>
            <a:endParaRPr lang="en-US" altLang="zh-TW" b="0" dirty="0"/>
          </a:p>
          <a:p>
            <a:pPr lvl="1"/>
            <a:r>
              <a:rPr lang="en-US" altLang="zh-TW" b="0" dirty="0"/>
              <a:t>If the following 2 lines are shown in the ADSP log, that means the NNE is active.</a:t>
            </a:r>
            <a:br>
              <a:rPr lang="zh-TW" altLang="en-US" b="0" dirty="0"/>
            </a:br>
            <a:r>
              <a:rPr lang="zh-TW" altLang="en-US" b="0" dirty="0"/>
              <a:t>     </a:t>
            </a:r>
            <a:r>
              <a:rPr lang="en-US" altLang="zh-TW" dirty="0"/>
              <a:t>[</a:t>
            </a:r>
            <a:r>
              <a:rPr lang="en-US" altLang="zh-TW" dirty="0" err="1"/>
              <a:t>wake_lock_FromISR</a:t>
            </a:r>
            <a:r>
              <a:rPr lang="en-US" altLang="zh-TW" dirty="0"/>
              <a:t>] lock by </a:t>
            </a:r>
            <a:r>
              <a:rPr lang="en-US" altLang="zh-TW" dirty="0" err="1"/>
              <a:t>nne</a:t>
            </a:r>
            <a:r>
              <a:rPr lang="en-US" altLang="zh-TW" b="0" dirty="0"/>
              <a:t> / </a:t>
            </a:r>
            <a:r>
              <a:rPr lang="en-US" altLang="zh-TW" dirty="0"/>
              <a:t>[</a:t>
            </a:r>
            <a:r>
              <a:rPr lang="en-US" altLang="zh-TW" dirty="0" err="1"/>
              <a:t>wake_unlock_FromISR</a:t>
            </a:r>
            <a:r>
              <a:rPr lang="en-US" altLang="zh-TW" dirty="0"/>
              <a:t>] unlock by </a:t>
            </a:r>
            <a:r>
              <a:rPr lang="en-US" altLang="zh-TW" dirty="0" err="1"/>
              <a:t>nne</a:t>
            </a:r>
            <a:endParaRPr lang="zh-TW" altLang="en-US" dirty="0"/>
          </a:p>
        </p:txBody>
      </p:sp>
      <p:sp>
        <p:nvSpPr>
          <p:cNvPr id="4" name="標題 3">
            <a:extLst>
              <a:ext uri="{FF2B5EF4-FFF2-40B4-BE49-F238E27FC236}">
                <a16:creationId xmlns:a16="http://schemas.microsoft.com/office/drawing/2014/main" id="{8F64DBC8-8543-43B5-A637-52D007DF0E8B}"/>
              </a:ext>
            </a:extLst>
          </p:cNvPr>
          <p:cNvSpPr>
            <a:spLocks noGrp="1"/>
          </p:cNvSpPr>
          <p:nvPr>
            <p:ph type="title"/>
          </p:nvPr>
        </p:nvSpPr>
        <p:spPr/>
        <p:txBody>
          <a:bodyPr/>
          <a:lstStyle/>
          <a:p>
            <a:r>
              <a:rPr lang="en-US" altLang="zh-TW" dirty="0"/>
              <a:t>Q&amp;A</a:t>
            </a:r>
            <a:r>
              <a:rPr lang="zh-TW" altLang="en-US" dirty="0"/>
              <a:t> </a:t>
            </a:r>
            <a:r>
              <a:rPr lang="en-US" altLang="zh-TW" dirty="0"/>
              <a:t>(1)</a:t>
            </a:r>
            <a:endParaRPr lang="zh-TW" altLang="en-US" dirty="0"/>
          </a:p>
        </p:txBody>
      </p:sp>
      <p:pic>
        <p:nvPicPr>
          <p:cNvPr id="8" name="圖片 7">
            <a:extLst>
              <a:ext uri="{FF2B5EF4-FFF2-40B4-BE49-F238E27FC236}">
                <a16:creationId xmlns:a16="http://schemas.microsoft.com/office/drawing/2014/main" id="{D58A02C2-8C8E-8D3D-1C85-D762FBB9ED6F}"/>
              </a:ext>
            </a:extLst>
          </p:cNvPr>
          <p:cNvPicPr>
            <a:picLocks noChangeAspect="1"/>
          </p:cNvPicPr>
          <p:nvPr/>
        </p:nvPicPr>
        <p:blipFill>
          <a:blip r:embed="rId2"/>
          <a:stretch>
            <a:fillRect/>
          </a:stretch>
        </p:blipFill>
        <p:spPr>
          <a:xfrm>
            <a:off x="2185654" y="3666919"/>
            <a:ext cx="4772691" cy="1476581"/>
          </a:xfrm>
          <a:prstGeom prst="rect">
            <a:avLst/>
          </a:prstGeom>
        </p:spPr>
      </p:pic>
    </p:spTree>
    <p:extLst>
      <p:ext uri="{BB962C8B-B14F-4D97-AF65-F5344CB8AC3E}">
        <p14:creationId xmlns:p14="http://schemas.microsoft.com/office/powerpoint/2010/main" val="134588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6EEFCFC-7E00-DA88-F0B7-3823DD39C1F9}"/>
              </a:ext>
            </a:extLst>
          </p:cNvPr>
          <p:cNvSpPr>
            <a:spLocks noGrp="1"/>
          </p:cNvSpPr>
          <p:nvPr>
            <p:ph type="sldNum" sz="quarter" idx="4"/>
          </p:nvPr>
        </p:nvSpPr>
        <p:spPr/>
        <p:txBody>
          <a:bodyPr/>
          <a:lstStyle/>
          <a:p>
            <a:fld id="{0AEF9A4B-07C9-404C-9053-A3A2AC3AD5D6}" type="slidenum">
              <a:rPr lang="en-GB" smtClean="0"/>
              <a:pPr/>
              <a:t>35</a:t>
            </a:fld>
            <a:endParaRPr lang="en-GB" dirty="0"/>
          </a:p>
        </p:txBody>
      </p:sp>
      <p:sp>
        <p:nvSpPr>
          <p:cNvPr id="3" name="內容版面配置區 2">
            <a:extLst>
              <a:ext uri="{FF2B5EF4-FFF2-40B4-BE49-F238E27FC236}">
                <a16:creationId xmlns:a16="http://schemas.microsoft.com/office/drawing/2014/main" id="{0B880CDC-6592-B0B1-EAA1-B55022BA389B}"/>
              </a:ext>
            </a:extLst>
          </p:cNvPr>
          <p:cNvSpPr>
            <a:spLocks noGrp="1"/>
          </p:cNvSpPr>
          <p:nvPr>
            <p:ph sz="quarter" idx="10"/>
          </p:nvPr>
        </p:nvSpPr>
        <p:spPr>
          <a:xfrm>
            <a:off x="323849" y="1007707"/>
            <a:ext cx="8218489" cy="814744"/>
          </a:xfrm>
        </p:spPr>
        <p:txBody>
          <a:bodyPr>
            <a:normAutofit fontScale="77500" lnSpcReduction="20000"/>
          </a:bodyPr>
          <a:lstStyle/>
          <a:p>
            <a:r>
              <a:rPr lang="en-US" altLang="zh-TW" b="0" dirty="0"/>
              <a:t>In the sample code, the initialization is done by obtaining the model through its name. How is this name configured?</a:t>
            </a:r>
          </a:p>
          <a:p>
            <a:pPr lvl="1"/>
            <a:r>
              <a:rPr lang="en-US" altLang="zh-TW" b="0" dirty="0"/>
              <a:t>The model name needs to match the 'name' field in the model's </a:t>
            </a:r>
            <a:r>
              <a:rPr lang="en-US" altLang="zh-TW" b="0" dirty="0" err="1"/>
              <a:t>cfg</a:t>
            </a:r>
            <a:r>
              <a:rPr lang="en-US" altLang="zh-TW" b="0" dirty="0"/>
              <a:t> file. For example, for the model 'person_detect_int8', its model name can be found in the 'name' field within the file networks/</a:t>
            </a:r>
            <a:r>
              <a:rPr lang="en-US" altLang="zh-TW" b="0" dirty="0" err="1"/>
              <a:t>nw_in</a:t>
            </a:r>
            <a:r>
              <a:rPr lang="en-US" altLang="zh-TW" b="0" dirty="0"/>
              <a:t>/configs/person_detect_int8.cfg.</a:t>
            </a:r>
          </a:p>
        </p:txBody>
      </p:sp>
      <p:sp>
        <p:nvSpPr>
          <p:cNvPr id="4" name="標題 3">
            <a:extLst>
              <a:ext uri="{FF2B5EF4-FFF2-40B4-BE49-F238E27FC236}">
                <a16:creationId xmlns:a16="http://schemas.microsoft.com/office/drawing/2014/main" id="{343B6F96-F4B9-4874-1885-2285CC23D44B}"/>
              </a:ext>
            </a:extLst>
          </p:cNvPr>
          <p:cNvSpPr>
            <a:spLocks noGrp="1"/>
          </p:cNvSpPr>
          <p:nvPr>
            <p:ph type="title"/>
          </p:nvPr>
        </p:nvSpPr>
        <p:spPr/>
        <p:txBody>
          <a:bodyPr/>
          <a:lstStyle/>
          <a:p>
            <a:r>
              <a:rPr lang="en-US" altLang="zh-TW" dirty="0"/>
              <a:t>Q&amp;A</a:t>
            </a:r>
            <a:r>
              <a:rPr lang="zh-TW" altLang="en-US" dirty="0"/>
              <a:t> </a:t>
            </a:r>
            <a:r>
              <a:rPr lang="en-US" altLang="zh-TW" dirty="0"/>
              <a:t>(2)</a:t>
            </a:r>
            <a:endParaRPr lang="zh-TW" altLang="en-US" dirty="0"/>
          </a:p>
        </p:txBody>
      </p:sp>
      <p:pic>
        <p:nvPicPr>
          <p:cNvPr id="6" name="圖片 5">
            <a:extLst>
              <a:ext uri="{FF2B5EF4-FFF2-40B4-BE49-F238E27FC236}">
                <a16:creationId xmlns:a16="http://schemas.microsoft.com/office/drawing/2014/main" id="{C635257F-E488-D0C3-D4A1-FADB07387859}"/>
              </a:ext>
            </a:extLst>
          </p:cNvPr>
          <p:cNvPicPr>
            <a:picLocks noChangeAspect="1"/>
          </p:cNvPicPr>
          <p:nvPr/>
        </p:nvPicPr>
        <p:blipFill>
          <a:blip r:embed="rId2"/>
          <a:stretch>
            <a:fillRect/>
          </a:stretch>
        </p:blipFill>
        <p:spPr>
          <a:xfrm>
            <a:off x="2862955" y="1822450"/>
            <a:ext cx="3141803" cy="3321050"/>
          </a:xfrm>
          <a:prstGeom prst="rect">
            <a:avLst/>
          </a:prstGeom>
        </p:spPr>
      </p:pic>
    </p:spTree>
    <p:extLst>
      <p:ext uri="{BB962C8B-B14F-4D97-AF65-F5344CB8AC3E}">
        <p14:creationId xmlns:p14="http://schemas.microsoft.com/office/powerpoint/2010/main" val="324125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E4654E1-CAFB-E8B0-B718-7CE08953E0FB}"/>
              </a:ext>
            </a:extLst>
          </p:cNvPr>
          <p:cNvSpPr>
            <a:spLocks noGrp="1"/>
          </p:cNvSpPr>
          <p:nvPr>
            <p:ph type="sldNum" sz="quarter" idx="4"/>
          </p:nvPr>
        </p:nvSpPr>
        <p:spPr/>
        <p:txBody>
          <a:bodyPr/>
          <a:lstStyle/>
          <a:p>
            <a:fld id="{0AEF9A4B-07C9-404C-9053-A3A2AC3AD5D6}" type="slidenum">
              <a:rPr lang="en-GB" smtClean="0"/>
              <a:pPr/>
              <a:t>36</a:t>
            </a:fld>
            <a:endParaRPr lang="en-GB" dirty="0"/>
          </a:p>
        </p:txBody>
      </p:sp>
      <p:sp>
        <p:nvSpPr>
          <p:cNvPr id="3" name="內容版面配置區 2">
            <a:extLst>
              <a:ext uri="{FF2B5EF4-FFF2-40B4-BE49-F238E27FC236}">
                <a16:creationId xmlns:a16="http://schemas.microsoft.com/office/drawing/2014/main" id="{89811C9A-8D3D-6A08-2A10-A3A528105D55}"/>
              </a:ext>
            </a:extLst>
          </p:cNvPr>
          <p:cNvSpPr>
            <a:spLocks noGrp="1"/>
          </p:cNvSpPr>
          <p:nvPr>
            <p:ph sz="quarter" idx="10"/>
          </p:nvPr>
        </p:nvSpPr>
        <p:spPr/>
        <p:txBody>
          <a:bodyPr/>
          <a:lstStyle/>
          <a:p>
            <a:r>
              <a:rPr lang="en-US" altLang="zh-TW" b="0" dirty="0"/>
              <a:t>The NNE simulation experiment has a slow inference speed, taking 14 minutes for a single sample.</a:t>
            </a:r>
          </a:p>
          <a:p>
            <a:pPr lvl="1"/>
            <a:r>
              <a:rPr lang="en-US" altLang="zh-TW" b="0" dirty="0"/>
              <a:t>The cache setting in HWCFG HiFi5_NNE_2023_11 bypasses the address range from 0x4000_0000 to 0x6000_0000, so the NNE simulation is run without caching and gets a worse performance.</a:t>
            </a:r>
          </a:p>
          <a:p>
            <a:pPr lvl="1"/>
            <a:r>
              <a:rPr lang="en-US" altLang="zh-TW" b="0" dirty="0"/>
              <a:t>The solution is to add the following settings to FDFLAGS in ${NNE_SDK}/test/</a:t>
            </a:r>
            <a:r>
              <a:rPr lang="en-US" altLang="zh-TW" b="0" dirty="0" err="1"/>
              <a:t>tflm</a:t>
            </a:r>
            <a:r>
              <a:rPr lang="en-US" altLang="zh-TW" b="0" dirty="0"/>
              <a:t>/</a:t>
            </a:r>
            <a:r>
              <a:rPr lang="en-US" altLang="zh-TW" b="0" dirty="0" err="1"/>
              <a:t>makefile_network_test</a:t>
            </a:r>
            <a:r>
              <a:rPr lang="en-US" altLang="zh-TW" b="0" dirty="0"/>
              <a:t>, which will set 0x4000_0000 to 0x6000_0000 as cacheable.</a:t>
            </a:r>
          </a:p>
          <a:p>
            <a:pPr lvl="2"/>
            <a:r>
              <a:rPr lang="en-US" altLang="zh-TW" b="1" dirty="0"/>
              <a:t>-</a:t>
            </a:r>
            <a:r>
              <a:rPr lang="en-US" altLang="zh-TW" b="1" dirty="0" err="1"/>
              <a:t>Wl</a:t>
            </a:r>
            <a:r>
              <a:rPr lang="en-US" altLang="zh-TW" b="1" dirty="0"/>
              <a:t>,--</a:t>
            </a:r>
            <a:r>
              <a:rPr lang="en-US" altLang="zh-TW" b="1" dirty="0" err="1"/>
              <a:t>defsym</a:t>
            </a:r>
            <a:r>
              <a:rPr lang="en-US" altLang="zh-TW" b="1" dirty="0"/>
              <a:t>=_</a:t>
            </a:r>
            <a:r>
              <a:rPr lang="en-US" altLang="zh-TW" b="1" dirty="0" err="1"/>
              <a:t>memmap_cacheattr_reset</a:t>
            </a:r>
            <a:r>
              <a:rPr lang="en-US" altLang="zh-TW" b="1" dirty="0"/>
              <a:t>=0x41111</a:t>
            </a:r>
            <a:r>
              <a:rPr lang="en-US" altLang="zh-TW" b="1" dirty="0">
                <a:solidFill>
                  <a:srgbClr val="FF0000"/>
                </a:solidFill>
              </a:rPr>
              <a:t>1</a:t>
            </a:r>
            <a:r>
              <a:rPr lang="en-US" altLang="zh-TW" b="1" dirty="0"/>
              <a:t>40</a:t>
            </a:r>
            <a:endParaRPr lang="zh-TW" altLang="en-US" b="1" dirty="0"/>
          </a:p>
        </p:txBody>
      </p:sp>
      <p:sp>
        <p:nvSpPr>
          <p:cNvPr id="4" name="標題 3">
            <a:extLst>
              <a:ext uri="{FF2B5EF4-FFF2-40B4-BE49-F238E27FC236}">
                <a16:creationId xmlns:a16="http://schemas.microsoft.com/office/drawing/2014/main" id="{F8E0633A-8A75-2D46-7511-DF71E9D91F03}"/>
              </a:ext>
            </a:extLst>
          </p:cNvPr>
          <p:cNvSpPr>
            <a:spLocks noGrp="1"/>
          </p:cNvSpPr>
          <p:nvPr>
            <p:ph type="title"/>
          </p:nvPr>
        </p:nvSpPr>
        <p:spPr/>
        <p:txBody>
          <a:bodyPr/>
          <a:lstStyle/>
          <a:p>
            <a:r>
              <a:rPr lang="en-US" altLang="zh-TW" dirty="0"/>
              <a:t>NNE</a:t>
            </a:r>
            <a:r>
              <a:rPr lang="zh-TW" altLang="en-US" dirty="0"/>
              <a:t> </a:t>
            </a:r>
            <a:r>
              <a:rPr lang="en-US" altLang="zh-TW" dirty="0"/>
              <a:t>simulation runs slowly</a:t>
            </a:r>
            <a:endParaRPr lang="zh-TW" altLang="en-US" dirty="0"/>
          </a:p>
        </p:txBody>
      </p:sp>
    </p:spTree>
    <p:extLst>
      <p:ext uri="{BB962C8B-B14F-4D97-AF65-F5344CB8AC3E}">
        <p14:creationId xmlns:p14="http://schemas.microsoft.com/office/powerpoint/2010/main" val="189498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2820DE9-87D6-DB91-AECB-A584CE94EF63}"/>
              </a:ext>
            </a:extLst>
          </p:cNvPr>
          <p:cNvSpPr>
            <a:spLocks noGrp="1"/>
          </p:cNvSpPr>
          <p:nvPr>
            <p:ph type="sldNum" sz="quarter" idx="4"/>
          </p:nvPr>
        </p:nvSpPr>
        <p:spPr/>
        <p:txBody>
          <a:bodyPr/>
          <a:lstStyle/>
          <a:p>
            <a:fld id="{0AEF9A4B-07C9-404C-9053-A3A2AC3AD5D6}" type="slidenum">
              <a:rPr lang="en-GB" smtClean="0"/>
              <a:pPr/>
              <a:t>37</a:t>
            </a:fld>
            <a:endParaRPr lang="en-GB" dirty="0"/>
          </a:p>
        </p:txBody>
      </p:sp>
      <p:sp>
        <p:nvSpPr>
          <p:cNvPr id="3" name="內容版面配置區 2">
            <a:extLst>
              <a:ext uri="{FF2B5EF4-FFF2-40B4-BE49-F238E27FC236}">
                <a16:creationId xmlns:a16="http://schemas.microsoft.com/office/drawing/2014/main" id="{243B2D4A-D10A-05CD-97D1-FE768203AA46}"/>
              </a:ext>
            </a:extLst>
          </p:cNvPr>
          <p:cNvSpPr>
            <a:spLocks noGrp="1"/>
          </p:cNvSpPr>
          <p:nvPr>
            <p:ph sz="quarter" idx="10"/>
          </p:nvPr>
        </p:nvSpPr>
        <p:spPr/>
        <p:txBody>
          <a:bodyPr/>
          <a:lstStyle/>
          <a:p>
            <a:r>
              <a:rPr lang="en-US" altLang="zh-TW" b="0" dirty="0"/>
              <a:t>ADSP encounters exception when copies data to input tensor.</a:t>
            </a:r>
          </a:p>
          <a:p>
            <a:pPr lvl="1"/>
            <a:r>
              <a:rPr lang="en-US" altLang="zh-TW" b="0" dirty="0"/>
              <a:t>This may be caused by missing C flags. Please check if the C flags in this </a:t>
            </a:r>
            <a:r>
              <a:rPr lang="en-US" altLang="zh-TW" b="0" dirty="0">
                <a:hlinkClick r:id="rId2" action="ppaction://hlinksldjump"/>
              </a:rPr>
              <a:t>page</a:t>
            </a:r>
            <a:r>
              <a:rPr lang="en-US" altLang="zh-TW" b="0" dirty="0"/>
              <a:t> are defined in the library build script.</a:t>
            </a:r>
          </a:p>
          <a:p>
            <a:pPr lvl="1"/>
            <a:r>
              <a:rPr lang="en-US" altLang="zh-TW" b="0" dirty="0"/>
              <a:t>Alternatively, developers can print the size of tensor using the following code</a:t>
            </a:r>
          </a:p>
          <a:p>
            <a:pPr lvl="2"/>
            <a:r>
              <a:rPr lang="en-US" altLang="zh-TW" sz="1200" b="1" dirty="0" err="1"/>
              <a:t>printf</a:t>
            </a:r>
            <a:r>
              <a:rPr lang="en-US" altLang="zh-TW" sz="1200" b="1" dirty="0"/>
              <a:t>("%s </a:t>
            </a:r>
            <a:r>
              <a:rPr lang="en-US" altLang="zh-TW" sz="1200" b="1" dirty="0" err="1"/>
              <a:t>sizeof</a:t>
            </a:r>
            <a:r>
              <a:rPr lang="en-US" altLang="zh-TW" sz="1200" b="1" dirty="0"/>
              <a:t>(</a:t>
            </a:r>
            <a:r>
              <a:rPr lang="en-US" altLang="zh-TW" sz="1200" b="1" dirty="0" err="1"/>
              <a:t>TfLiteTensor</a:t>
            </a:r>
            <a:r>
              <a:rPr lang="en-US" altLang="zh-TW" sz="1200" b="1" dirty="0"/>
              <a:t>):%d\n", __</a:t>
            </a:r>
            <a:r>
              <a:rPr lang="en-US" altLang="zh-TW" sz="1200" b="1" dirty="0" err="1"/>
              <a:t>func</a:t>
            </a:r>
            <a:r>
              <a:rPr lang="en-US" altLang="zh-TW" sz="1200" b="1" dirty="0"/>
              <a:t>__, </a:t>
            </a:r>
            <a:r>
              <a:rPr lang="en-US" altLang="zh-TW" sz="1200" b="1" dirty="0" err="1"/>
              <a:t>sizeof</a:t>
            </a:r>
            <a:r>
              <a:rPr lang="en-US" altLang="zh-TW" sz="1200" b="1" dirty="0"/>
              <a:t>(</a:t>
            </a:r>
            <a:r>
              <a:rPr lang="en-US" altLang="zh-TW" sz="1200" b="1" dirty="0" err="1"/>
              <a:t>TfLiteTensor</a:t>
            </a:r>
            <a:r>
              <a:rPr lang="en-US" altLang="zh-TW" sz="1200" b="1" dirty="0"/>
              <a:t>));</a:t>
            </a:r>
            <a:endParaRPr lang="en-US" altLang="zh-TW" dirty="0"/>
          </a:p>
          <a:p>
            <a:pPr lvl="2"/>
            <a:r>
              <a:rPr lang="en-US" altLang="zh-TW" dirty="0"/>
              <a:t>The correct size of </a:t>
            </a:r>
            <a:r>
              <a:rPr lang="en-US" altLang="zh-TW" dirty="0" err="1"/>
              <a:t>TfLiteTensor</a:t>
            </a:r>
            <a:r>
              <a:rPr lang="en-US" altLang="zh-TW" dirty="0"/>
              <a:t> is 40 bytes, If the size shown is 60 bytes, it means the C flags are not correctly added in the build script.</a:t>
            </a:r>
            <a:endParaRPr lang="zh-TW" altLang="en-US" dirty="0"/>
          </a:p>
        </p:txBody>
      </p:sp>
      <p:sp>
        <p:nvSpPr>
          <p:cNvPr id="4" name="標題 3">
            <a:extLst>
              <a:ext uri="{FF2B5EF4-FFF2-40B4-BE49-F238E27FC236}">
                <a16:creationId xmlns:a16="http://schemas.microsoft.com/office/drawing/2014/main" id="{A497A232-405B-397E-8C4F-D02933423BAA}"/>
              </a:ext>
            </a:extLst>
          </p:cNvPr>
          <p:cNvSpPr>
            <a:spLocks noGrp="1"/>
          </p:cNvSpPr>
          <p:nvPr>
            <p:ph type="title"/>
          </p:nvPr>
        </p:nvSpPr>
        <p:spPr/>
        <p:txBody>
          <a:bodyPr/>
          <a:lstStyle/>
          <a:p>
            <a:r>
              <a:rPr lang="en-US" altLang="zh-TW" dirty="0"/>
              <a:t>ADSP exception when copy data to tensor</a:t>
            </a:r>
            <a:endParaRPr lang="zh-TW" altLang="en-US" dirty="0"/>
          </a:p>
        </p:txBody>
      </p:sp>
    </p:spTree>
    <p:extLst>
      <p:ext uri="{BB962C8B-B14F-4D97-AF65-F5344CB8AC3E}">
        <p14:creationId xmlns:p14="http://schemas.microsoft.com/office/powerpoint/2010/main" val="329996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AFE1D39-5659-BA7A-DF1F-6B321EFE1412}"/>
              </a:ext>
            </a:extLst>
          </p:cNvPr>
          <p:cNvSpPr>
            <a:spLocks noGrp="1"/>
          </p:cNvSpPr>
          <p:nvPr>
            <p:ph type="sldNum" sz="quarter" idx="4"/>
          </p:nvPr>
        </p:nvSpPr>
        <p:spPr>
          <a:xfrm>
            <a:off x="8542339" y="4868937"/>
            <a:ext cx="277811" cy="108000"/>
          </a:xfrm>
        </p:spPr>
        <p:txBody>
          <a:bodyPr anchor="ctr">
            <a:normAutofit/>
          </a:bodyPr>
          <a:lstStyle/>
          <a:p>
            <a:pPr>
              <a:spcAft>
                <a:spcPts val="600"/>
              </a:spcAft>
            </a:pPr>
            <a:fld id="{0AEF9A4B-07C9-404C-9053-A3A2AC3AD5D6}" type="slidenum">
              <a:rPr lang="en-GB" smtClean="0"/>
              <a:pPr>
                <a:spcAft>
                  <a:spcPts val="600"/>
                </a:spcAft>
              </a:pPr>
              <a:t>38</a:t>
            </a:fld>
            <a:endParaRPr lang="en-GB"/>
          </a:p>
        </p:txBody>
      </p:sp>
      <p:sp>
        <p:nvSpPr>
          <p:cNvPr id="4" name="標題 3">
            <a:extLst>
              <a:ext uri="{FF2B5EF4-FFF2-40B4-BE49-F238E27FC236}">
                <a16:creationId xmlns:a16="http://schemas.microsoft.com/office/drawing/2014/main" id="{C68F6D35-8035-18CD-B0C0-9CDD53DC32DE}"/>
              </a:ext>
            </a:extLst>
          </p:cNvPr>
          <p:cNvSpPr>
            <a:spLocks noGrp="1"/>
          </p:cNvSpPr>
          <p:nvPr>
            <p:ph type="title"/>
          </p:nvPr>
        </p:nvSpPr>
        <p:spPr>
          <a:xfrm>
            <a:off x="323850" y="177670"/>
            <a:ext cx="8218488" cy="720464"/>
          </a:xfrm>
        </p:spPr>
        <p:txBody>
          <a:bodyPr anchor="ctr">
            <a:normAutofit/>
          </a:bodyPr>
          <a:lstStyle/>
          <a:p>
            <a:r>
              <a:rPr lang="en-US" altLang="zh-TW" dirty="0"/>
              <a:t>Build Error: header not found</a:t>
            </a:r>
            <a:endParaRPr lang="zh-TW" altLang="en-US" dirty="0"/>
          </a:p>
        </p:txBody>
      </p:sp>
      <p:sp>
        <p:nvSpPr>
          <p:cNvPr id="3" name="內容版面配置區 2">
            <a:extLst>
              <a:ext uri="{FF2B5EF4-FFF2-40B4-BE49-F238E27FC236}">
                <a16:creationId xmlns:a16="http://schemas.microsoft.com/office/drawing/2014/main" id="{3733315A-F929-7906-839D-6D9D67E75D1D}"/>
              </a:ext>
            </a:extLst>
          </p:cNvPr>
          <p:cNvSpPr>
            <a:spLocks noGrp="1"/>
          </p:cNvSpPr>
          <p:nvPr>
            <p:ph sz="quarter" idx="10"/>
          </p:nvPr>
        </p:nvSpPr>
        <p:spPr>
          <a:xfrm>
            <a:off x="323849" y="1007706"/>
            <a:ext cx="8218489" cy="3707363"/>
          </a:xfrm>
        </p:spPr>
        <p:txBody>
          <a:bodyPr/>
          <a:lstStyle/>
          <a:p>
            <a:r>
              <a:rPr lang="en-US" altLang="zh-TW" b="0" dirty="0"/>
              <a:t>The TFLM headers can not be found.</a:t>
            </a:r>
          </a:p>
          <a:p>
            <a:pPr lvl="1"/>
            <a:r>
              <a:rPr lang="en-US" altLang="zh-TW" b="0" dirty="0"/>
              <a:t>Please refer to ${NNE_SDK_PATH}/test/</a:t>
            </a:r>
            <a:r>
              <a:rPr lang="en-US" altLang="zh-TW" b="0" dirty="0" err="1"/>
              <a:t>tflm</a:t>
            </a:r>
            <a:r>
              <a:rPr lang="en-US" altLang="zh-TW" b="0" dirty="0"/>
              <a:t>/</a:t>
            </a:r>
            <a:r>
              <a:rPr lang="en-US" altLang="zh-TW" b="0" dirty="0" err="1"/>
              <a:t>makefile_network_test</a:t>
            </a:r>
            <a:r>
              <a:rPr lang="en-US" altLang="zh-TW" b="0" dirty="0"/>
              <a:t> to include the TensorFlow headers in the build script. Add the following snippet and include $(INCLUDES) in the build command.</a:t>
            </a:r>
          </a:p>
          <a:p>
            <a:pPr lvl="2"/>
            <a:r>
              <a:rPr lang="en-US" altLang="zh-TW" b="0" dirty="0"/>
              <a:t>Note: </a:t>
            </a:r>
            <a:r>
              <a:rPr lang="en-US" altLang="zh-TW" b="1" dirty="0"/>
              <a:t>TFLM_BASE</a:t>
            </a:r>
            <a:r>
              <a:rPr lang="en-US" altLang="zh-TW" b="0" dirty="0"/>
              <a:t> is the local TFLM path, which, in the case of the NNE SDK, will point to the path ${NNE_SDK_PATH}/</a:t>
            </a:r>
            <a:r>
              <a:rPr lang="en-US" altLang="zh-TW" b="0" dirty="0" err="1"/>
              <a:t>dsp</a:t>
            </a:r>
            <a:r>
              <a:rPr lang="en-US" altLang="zh-TW" b="0" dirty="0"/>
              <a:t>/</a:t>
            </a:r>
            <a:r>
              <a:rPr lang="en-US" altLang="zh-TW" b="0" dirty="0" err="1"/>
              <a:t>tflm</a:t>
            </a:r>
            <a:r>
              <a:rPr lang="en-US" altLang="zh-TW" b="0" dirty="0"/>
              <a:t>/</a:t>
            </a:r>
            <a:r>
              <a:rPr lang="en-US" altLang="zh-TW" b="0" dirty="0" err="1"/>
              <a:t>tflite</a:t>
            </a:r>
            <a:r>
              <a:rPr lang="en-US" altLang="zh-TW" b="0" dirty="0"/>
              <a:t>-micro.</a:t>
            </a:r>
          </a:p>
        </p:txBody>
      </p:sp>
      <p:pic>
        <p:nvPicPr>
          <p:cNvPr id="7" name="圖片 6">
            <a:extLst>
              <a:ext uri="{FF2B5EF4-FFF2-40B4-BE49-F238E27FC236}">
                <a16:creationId xmlns:a16="http://schemas.microsoft.com/office/drawing/2014/main" id="{CC63D31B-4B39-F8B5-E7DC-2A2067D574F6}"/>
              </a:ext>
            </a:extLst>
          </p:cNvPr>
          <p:cNvPicPr>
            <a:picLocks noChangeAspect="1"/>
          </p:cNvPicPr>
          <p:nvPr/>
        </p:nvPicPr>
        <p:blipFill>
          <a:blip r:embed="rId2"/>
          <a:stretch>
            <a:fillRect/>
          </a:stretch>
        </p:blipFill>
        <p:spPr>
          <a:xfrm>
            <a:off x="1672155" y="3004485"/>
            <a:ext cx="5799690" cy="1647084"/>
          </a:xfrm>
          <a:prstGeom prst="rect">
            <a:avLst/>
          </a:prstGeom>
        </p:spPr>
      </p:pic>
    </p:spTree>
    <p:extLst>
      <p:ext uri="{BB962C8B-B14F-4D97-AF65-F5344CB8AC3E}">
        <p14:creationId xmlns:p14="http://schemas.microsoft.com/office/powerpoint/2010/main" val="87122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1F82735-97A5-42EA-BFC6-7393B6A132D5}"/>
              </a:ext>
            </a:extLst>
          </p:cNvPr>
          <p:cNvSpPr>
            <a:spLocks noGrp="1"/>
          </p:cNvSpPr>
          <p:nvPr>
            <p:ph type="sldNum" sz="quarter" idx="4"/>
          </p:nvPr>
        </p:nvSpPr>
        <p:spPr/>
        <p:txBody>
          <a:bodyPr/>
          <a:lstStyle/>
          <a:p>
            <a:fld id="{0AEF9A4B-07C9-404C-9053-A3A2AC3AD5D6}" type="slidenum">
              <a:rPr lang="en-GB" smtClean="0"/>
              <a:pPr/>
              <a:t>39</a:t>
            </a:fld>
            <a:endParaRPr lang="en-GB" dirty="0"/>
          </a:p>
        </p:txBody>
      </p:sp>
      <p:sp>
        <p:nvSpPr>
          <p:cNvPr id="3" name="文字版面配置區 2">
            <a:extLst>
              <a:ext uri="{FF2B5EF4-FFF2-40B4-BE49-F238E27FC236}">
                <a16:creationId xmlns:a16="http://schemas.microsoft.com/office/drawing/2014/main" id="{BE00EF35-533B-407D-9A61-9738F5DD599B}"/>
              </a:ext>
            </a:extLst>
          </p:cNvPr>
          <p:cNvSpPr>
            <a:spLocks noGrp="1"/>
          </p:cNvSpPr>
          <p:nvPr>
            <p:ph type="body" sz="quarter" idx="10"/>
          </p:nvPr>
        </p:nvSpPr>
        <p:spPr>
          <a:xfrm>
            <a:off x="323850" y="1032588"/>
            <a:ext cx="6990449" cy="2999662"/>
          </a:xfrm>
        </p:spPr>
        <p:txBody>
          <a:bodyPr>
            <a:normAutofit fontScale="92500" lnSpcReduction="10000"/>
          </a:bodyPr>
          <a:lstStyle/>
          <a:p>
            <a:r>
              <a:rPr lang="en-US" altLang="zh-TW" b="0" dirty="0"/>
              <a:t>Encountered linker error while building HIFI5_SP</a:t>
            </a:r>
          </a:p>
          <a:p>
            <a:pPr lvl="1"/>
            <a:r>
              <a:rPr lang="en-US" altLang="zh-TW" b="0" dirty="0"/>
              <a:t>Error message:</a:t>
            </a:r>
            <a:r>
              <a:rPr lang="zh-TW" altLang="en-US" b="0" dirty="0"/>
              <a:t> </a:t>
            </a:r>
            <a:r>
              <a:rPr lang="en-US" altLang="zh-TW" b="0" dirty="0"/>
              <a:t>error</a:t>
            </a:r>
            <a:r>
              <a:rPr lang="zh-TW" altLang="en-US" b="0" dirty="0"/>
              <a:t> </a:t>
            </a:r>
            <a:r>
              <a:rPr lang="en-US" altLang="zh-TW" b="0" dirty="0"/>
              <a:t>adding</a:t>
            </a:r>
            <a:r>
              <a:rPr lang="zh-TW" altLang="en-US" b="0" dirty="0"/>
              <a:t> </a:t>
            </a:r>
            <a:r>
              <a:rPr lang="en-US" altLang="zh-TW" b="0" dirty="0"/>
              <a:t>symbols: file in wrong format.</a:t>
            </a:r>
          </a:p>
          <a:p>
            <a:pPr lvl="1"/>
            <a:r>
              <a:rPr lang="en-US" altLang="zh-TW" b="0" dirty="0"/>
              <a:t>If look at the generated .o files, you will find that they are not normal binaries but LLVM IR </a:t>
            </a:r>
            <a:r>
              <a:rPr lang="en-US" altLang="zh-TW" b="0" dirty="0" err="1"/>
              <a:t>bitcode</a:t>
            </a:r>
            <a:r>
              <a:rPr lang="en-US" altLang="zh-TW" b="0" dirty="0"/>
              <a:t>.</a:t>
            </a:r>
          </a:p>
          <a:p>
            <a:r>
              <a:rPr lang="en-US" altLang="zh-TW" b="0" dirty="0"/>
              <a:t>Root cause: The reason is that the build script includes "</a:t>
            </a:r>
            <a:r>
              <a:rPr lang="en-US" altLang="zh-TW" dirty="0"/>
              <a:t>-</a:t>
            </a:r>
            <a:r>
              <a:rPr lang="en-US" altLang="zh-TW" dirty="0" err="1"/>
              <a:t>flto</a:t>
            </a:r>
            <a:r>
              <a:rPr lang="en-US" altLang="zh-TW" b="0" dirty="0"/>
              <a:t>" in CFLAGS, which is a flag for linker to perform image optimization. Therefore, the compiled .o files will be in LLVM IR (Intermediate Representation).</a:t>
            </a:r>
          </a:p>
          <a:p>
            <a:r>
              <a:rPr lang="en-US" altLang="zh-TW" b="0" dirty="0"/>
              <a:t>Solution: remove the "-</a:t>
            </a:r>
            <a:r>
              <a:rPr lang="en-US" altLang="zh-TW" b="0" dirty="0" err="1"/>
              <a:t>flto</a:t>
            </a:r>
            <a:r>
              <a:rPr lang="en-US" altLang="zh-TW" b="0" dirty="0"/>
              <a:t>" flag in the library build script.</a:t>
            </a:r>
            <a:br>
              <a:rPr lang="en-US" altLang="zh-TW" b="0" dirty="0"/>
            </a:br>
            <a:endParaRPr lang="zh-TW" altLang="en-US" b="0" dirty="0"/>
          </a:p>
        </p:txBody>
      </p:sp>
      <p:sp>
        <p:nvSpPr>
          <p:cNvPr id="4" name="標題 3">
            <a:extLst>
              <a:ext uri="{FF2B5EF4-FFF2-40B4-BE49-F238E27FC236}">
                <a16:creationId xmlns:a16="http://schemas.microsoft.com/office/drawing/2014/main" id="{78EECEED-7AD9-45DB-86FC-C158C5768C52}"/>
              </a:ext>
            </a:extLst>
          </p:cNvPr>
          <p:cNvSpPr>
            <a:spLocks noGrp="1"/>
          </p:cNvSpPr>
          <p:nvPr>
            <p:ph type="title"/>
          </p:nvPr>
        </p:nvSpPr>
        <p:spPr/>
        <p:txBody>
          <a:bodyPr/>
          <a:lstStyle/>
          <a:p>
            <a:r>
              <a:rPr lang="en-US" altLang="zh-TW" dirty="0"/>
              <a:t>Link error with –</a:t>
            </a:r>
            <a:r>
              <a:rPr lang="en-US" altLang="zh-TW" dirty="0" err="1"/>
              <a:t>flto</a:t>
            </a:r>
            <a:r>
              <a:rPr lang="en-US" altLang="zh-TW" dirty="0"/>
              <a:t> flag</a:t>
            </a:r>
            <a:endParaRPr lang="zh-TW" altLang="en-US" dirty="0"/>
          </a:p>
        </p:txBody>
      </p:sp>
      <p:sp>
        <p:nvSpPr>
          <p:cNvPr id="13" name="文字版面配置區 2">
            <a:extLst>
              <a:ext uri="{FF2B5EF4-FFF2-40B4-BE49-F238E27FC236}">
                <a16:creationId xmlns:a16="http://schemas.microsoft.com/office/drawing/2014/main" id="{8D01CA09-6DA6-40DD-B07D-FF1E1EAC90AA}"/>
              </a:ext>
            </a:extLst>
          </p:cNvPr>
          <p:cNvSpPr txBox="1">
            <a:spLocks/>
          </p:cNvSpPr>
          <p:nvPr/>
        </p:nvSpPr>
        <p:spPr>
          <a:xfrm>
            <a:off x="323850" y="2325040"/>
            <a:ext cx="8218488" cy="803791"/>
          </a:xfrm>
          <a:prstGeom prst="rect">
            <a:avLst/>
          </a:prstGeom>
        </p:spPr>
        <p:txBody>
          <a:bodyPr vert="horz" lIns="91440" tIns="45720" rIns="91440" bIns="45720" rtlCol="0">
            <a:normAutofit/>
          </a:bodyPr>
          <a:lstStyle>
            <a:lvl1pPr marL="514350" indent="-514350" algn="l" defTabSz="914400" rtl="0" eaLnBrk="1" latinLnBrk="0" hangingPunct="1">
              <a:lnSpc>
                <a:spcPct val="90000"/>
              </a:lnSpc>
              <a:spcBef>
                <a:spcPts val="1200"/>
              </a:spcBef>
              <a:buFont typeface="Wingdings" panose="05000000000000000000" pitchFamily="2" charset="2"/>
              <a:buChar char="p"/>
              <a:defRPr lang="zh-TW" altLang="en-US" sz="2000" b="1" kern="1200" baseline="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b="0" dirty="0"/>
          </a:p>
        </p:txBody>
      </p:sp>
      <p:grpSp>
        <p:nvGrpSpPr>
          <p:cNvPr id="5" name="群組 4">
            <a:extLst>
              <a:ext uri="{FF2B5EF4-FFF2-40B4-BE49-F238E27FC236}">
                <a16:creationId xmlns:a16="http://schemas.microsoft.com/office/drawing/2014/main" id="{3A4C102F-6827-7256-94D2-046F6609E5E9}"/>
              </a:ext>
            </a:extLst>
          </p:cNvPr>
          <p:cNvGrpSpPr/>
          <p:nvPr/>
        </p:nvGrpSpPr>
        <p:grpSpPr>
          <a:xfrm>
            <a:off x="7314299" y="1198720"/>
            <a:ext cx="1505851" cy="2503330"/>
            <a:chOff x="6562722" y="2426796"/>
            <a:chExt cx="1726083" cy="2716704"/>
          </a:xfrm>
        </p:grpSpPr>
        <p:pic>
          <p:nvPicPr>
            <p:cNvPr id="6" name="圖片 5">
              <a:extLst>
                <a:ext uri="{FF2B5EF4-FFF2-40B4-BE49-F238E27FC236}">
                  <a16:creationId xmlns:a16="http://schemas.microsoft.com/office/drawing/2014/main" id="{877E4D4E-D5A4-6DEF-93F5-7F2A60FC84DB}"/>
                </a:ext>
              </a:extLst>
            </p:cNvPr>
            <p:cNvPicPr>
              <a:picLocks noChangeAspect="1"/>
            </p:cNvPicPr>
            <p:nvPr/>
          </p:nvPicPr>
          <p:blipFill>
            <a:blip r:embed="rId2"/>
            <a:stretch>
              <a:fillRect/>
            </a:stretch>
          </p:blipFill>
          <p:spPr>
            <a:xfrm>
              <a:off x="6562722" y="2426796"/>
              <a:ext cx="1726083" cy="2716704"/>
            </a:xfrm>
            <a:prstGeom prst="rect">
              <a:avLst/>
            </a:prstGeom>
          </p:spPr>
        </p:pic>
        <p:sp>
          <p:nvSpPr>
            <p:cNvPr id="7" name="矩形 6">
              <a:extLst>
                <a:ext uri="{FF2B5EF4-FFF2-40B4-BE49-F238E27FC236}">
                  <a16:creationId xmlns:a16="http://schemas.microsoft.com/office/drawing/2014/main" id="{B68D7CE7-4D78-62F2-7481-B0BD386AFFA6}"/>
                </a:ext>
              </a:extLst>
            </p:cNvPr>
            <p:cNvSpPr/>
            <p:nvPr/>
          </p:nvSpPr>
          <p:spPr>
            <a:xfrm>
              <a:off x="6615350" y="4965829"/>
              <a:ext cx="574860" cy="132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47166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9">
            <a:extLst>
              <a:ext uri="{FF2B5EF4-FFF2-40B4-BE49-F238E27FC236}">
                <a16:creationId xmlns:a16="http://schemas.microsoft.com/office/drawing/2014/main" id="{C4534A0C-3037-48A5-91C3-685E15E2F8D6}"/>
              </a:ext>
            </a:extLst>
          </p:cNvPr>
          <p:cNvSpPr txBox="1"/>
          <p:nvPr/>
        </p:nvSpPr>
        <p:spPr>
          <a:xfrm>
            <a:off x="1632931" y="2377914"/>
            <a:ext cx="4937760" cy="1816608"/>
          </a:xfrm>
          <a:prstGeom prst="rect">
            <a:avLst/>
          </a:prstGeom>
        </p:spPr>
        <p:txBody>
          <a:bodyPr wrap="square" lIns="0" tIns="0" rIns="0" bIns="0" rtlCol="0">
            <a:noAutofit/>
          </a:bodyPr>
          <a:lstStyle/>
          <a:p>
            <a:r>
              <a:rPr lang="en-US" altLang="zh-CN" sz="3200" b="1" dirty="0">
                <a:solidFill>
                  <a:schemeClr val="bg1"/>
                </a:solidFill>
                <a:latin typeface="+mn-lt"/>
                <a:ea typeface="Microsoft YaHei" panose="020B0503020204020204" pitchFamily="34" charset="-122"/>
              </a:rPr>
              <a:t>Thank</a:t>
            </a:r>
            <a:r>
              <a:rPr lang="en-US" altLang="zh-CN" sz="3200" b="1" baseline="0" dirty="0">
                <a:solidFill>
                  <a:schemeClr val="bg1"/>
                </a:solidFill>
                <a:latin typeface="+mn-lt"/>
                <a:ea typeface="Microsoft YaHei" panose="020B0503020204020204" pitchFamily="34" charset="-122"/>
              </a:rPr>
              <a:t> you</a:t>
            </a:r>
            <a:endParaRPr lang="en-US" altLang="zh-TW" sz="3200" b="1" dirty="0">
              <a:solidFill>
                <a:schemeClr val="bg1"/>
              </a:solidFill>
              <a:latin typeface="+mn-lt"/>
              <a:ea typeface="Microsoft YaHei" panose="020B0503020204020204" pitchFamily="34" charset="-122"/>
            </a:endParaRPr>
          </a:p>
        </p:txBody>
      </p:sp>
    </p:spTree>
    <p:extLst>
      <p:ext uri="{BB962C8B-B14F-4D97-AF65-F5344CB8AC3E}">
        <p14:creationId xmlns:p14="http://schemas.microsoft.com/office/powerpoint/2010/main" val="377083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Template" id="{9C6B977F-C0D9-430E-8799-E3053E76E68D}" vid="{914357AE-C0F4-4F70-8B2C-2A5F2B5CA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2.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2A53B7DB280546A20112FD2EF61E0F" ma:contentTypeVersion="8" ma:contentTypeDescription="Create a new document." ma:contentTypeScope="" ma:versionID="93dbae95c85826a351b64e5a9c00c7f1">
  <xsd:schema xmlns:xsd="http://www.w3.org/2001/XMLSchema" xmlns:xs="http://www.w3.org/2001/XMLSchema" xmlns:p="http://schemas.microsoft.com/office/2006/metadata/properties" xmlns:ns2="http://schemas.microsoft.com/sharepoint/v4" xmlns:ns3="8b8cf6ce-236f-4713-896e-b4ec346257bb" xmlns:ns4="58b0650e-828d-46c1-af00-111984e5092a" xmlns:ns5="7a58c3ed-4a22-4d08-9ddf-2c2b66cc6605" targetNamespace="http://schemas.microsoft.com/office/2006/metadata/properties" ma:root="true" ma:fieldsID="f8eeb43b36309ba801eb86731cfe2d05" ns2:_="" ns3:_="" ns4:_="" ns5:_="">
    <xsd:import namespace="http://schemas.microsoft.com/sharepoint/v4"/>
    <xsd:import namespace="8b8cf6ce-236f-4713-896e-b4ec346257bb"/>
    <xsd:import namespace="58b0650e-828d-46c1-af00-111984e5092a"/>
    <xsd:import namespace="7a58c3ed-4a22-4d08-9ddf-2c2b66cc6605"/>
    <xsd:element name="properties">
      <xsd:complexType>
        <xsd:sequence>
          <xsd:element name="documentManagement">
            <xsd:complexType>
              <xsd:all>
                <xsd:element ref="ns2:IconOverlay" minOccurs="0"/>
                <xsd:element ref="ns3:SharedWithUsers" minOccurs="0"/>
                <xsd:element ref="ns4:SharedWithDetails" minOccurs="0"/>
                <xsd:element ref="ns5:Sensi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cf6ce-236f-4713-896e-b4ec346257b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8b0650e-828d-46c1-af00-111984e5092a" elementFormDefault="qualified">
    <xsd:import namespace="http://schemas.microsoft.com/office/2006/documentManagement/types"/>
    <xsd:import namespace="http://schemas.microsoft.com/office/infopath/2007/PartnerControls"/>
    <xsd:element name="SharedWithDetails" ma:index="1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a58c3ed-4a22-4d08-9ddf-2c2b66cc6605" elementFormDefault="qualified">
    <xsd:import namespace="http://schemas.microsoft.com/office/2006/documentManagement/types"/>
    <xsd:import namespace="http://schemas.microsoft.com/office/infopath/2007/PartnerControls"/>
    <xsd:element name="Sensitivity" ma:index="11" nillable="true" ma:displayName="Sensitivity" ma:internalName="Sensitivi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Sensitivity xmlns="7a58c3ed-4a22-4d08-9ddf-2c2b66cc6605">Unclassified</Sensitivit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F29899-BFEB-419F-948D-CE9594C15256}"/>
</file>

<file path=customXml/itemProps2.xml><?xml version="1.0" encoding="utf-8"?>
<ds:datastoreItem xmlns:ds="http://schemas.openxmlformats.org/officeDocument/2006/customXml" ds:itemID="{1B290066-2FD5-4238-86DC-2E79CF94F98C}">
  <ds:schemaRefs>
    <ds:schemaRef ds:uri="http://purl.org/dc/elements/1.1/"/>
    <ds:schemaRef ds:uri="http://www.w3.org/XML/1998/namespace"/>
    <ds:schemaRef ds:uri="http://schemas.openxmlformats.org/package/2006/metadata/core-properties"/>
    <ds:schemaRef ds:uri="http://schemas.microsoft.com/sharepoint/v4"/>
    <ds:schemaRef ds:uri="http://purl.org/dc/terms/"/>
    <ds:schemaRef ds:uri="http://schemas.microsoft.com/office/2006/metadata/properties"/>
    <ds:schemaRef ds:uri="http://schemas.microsoft.com/office/2006/documentManagement/types"/>
    <ds:schemaRef ds:uri="http://purl.org/dc/dcmitype/"/>
    <ds:schemaRef ds:uri="http://schemas.microsoft.com/office/infopath/2007/PartnerControls"/>
    <ds:schemaRef ds:uri="58b0650e-828d-46c1-af00-111984e5092a"/>
    <ds:schemaRef ds:uri="8b8cf6ce-236f-4713-896e-b4ec346257bb"/>
  </ds:schemaRefs>
</ds:datastoreItem>
</file>

<file path=customXml/itemProps3.xml><?xml version="1.0" encoding="utf-8"?>
<ds:datastoreItem xmlns:ds="http://schemas.openxmlformats.org/officeDocument/2006/customXml" ds:itemID="{5045EA8B-AEFD-4CAB-A80B-5A2161D51A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MediaTek_Template</Template>
  <TotalTime>13827</TotalTime>
  <Words>4165</Words>
  <Application>Microsoft Office PowerPoint</Application>
  <PresentationFormat>如螢幕大小 (16:9)</PresentationFormat>
  <Paragraphs>452</Paragraphs>
  <Slides>40</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40</vt:i4>
      </vt:variant>
    </vt:vector>
  </HeadingPairs>
  <TitlesOfParts>
    <vt:vector size="47" baseType="lpstr">
      <vt:lpstr>Microsoft YaHei</vt:lpstr>
      <vt:lpstr>Riona Sans Regular</vt:lpstr>
      <vt:lpstr>Arial</vt:lpstr>
      <vt:lpstr>Calibri</vt:lpstr>
      <vt:lpstr>Calibri Light</vt:lpstr>
      <vt:lpstr>Wingdings</vt:lpstr>
      <vt:lpstr>1_MediaTek</vt:lpstr>
      <vt:lpstr>PowerPoint 簡報</vt:lpstr>
      <vt:lpstr>Agenda</vt:lpstr>
      <vt:lpstr>Introduction</vt:lpstr>
      <vt:lpstr>NNE related folder structure</vt:lpstr>
      <vt:lpstr>HiFi5 Structure with NNE</vt:lpstr>
      <vt:lpstr>PowerPoint 簡報</vt:lpstr>
      <vt:lpstr>NNE inference flow (2)</vt:lpstr>
      <vt:lpstr>Enable MTK NNE framework in HiFi5 DSP</vt:lpstr>
      <vt:lpstr>Developer note – C flags</vt:lpstr>
      <vt:lpstr>Developer note – NNE op resolver</vt:lpstr>
      <vt:lpstr>Developer note – NNE sample code</vt:lpstr>
      <vt:lpstr>NNE test helper APIs</vt:lpstr>
      <vt:lpstr>NNE test helper APIs (1)</vt:lpstr>
      <vt:lpstr>NNE test helper APIs (2)</vt:lpstr>
      <vt:lpstr>NNE test helper APIs (3)</vt:lpstr>
      <vt:lpstr>MTK NNE framework APIs</vt:lpstr>
      <vt:lpstr>MTK NNE framework APIs (1)</vt:lpstr>
      <vt:lpstr>MTK NNE framework APIs (2)</vt:lpstr>
      <vt:lpstr>Model deployment - Model config</vt:lpstr>
      <vt:lpstr>Ways to deploy models to ADSP</vt:lpstr>
      <vt:lpstr>#1 Copy all models from the NNE SDK</vt:lpstr>
      <vt:lpstr>#1 Copy all models from the NNE SDK  Step1. Place models into the NNE SDK</vt:lpstr>
      <vt:lpstr>#1 Copy all models from the NNE SDK  Step2. Run NNE SDK build</vt:lpstr>
      <vt:lpstr>#1 Copy all models from the NNE SDK Step3. Copy the produced models from the NNE SDK</vt:lpstr>
      <vt:lpstr>#2 Add models manually</vt:lpstr>
      <vt:lpstr>#2 Add models manually Step3. Modify the xa_network_model_data.c/.h manually</vt:lpstr>
      <vt:lpstr>#2 Add models manually Step3. Modify the xa_network_model_data.c/.h manually example</vt:lpstr>
      <vt:lpstr>NNE sample</vt:lpstr>
      <vt:lpstr>NNE sample (1) - Create a nne_sample_handler</vt:lpstr>
      <vt:lpstr>NNE sample (2) - Register the nne_sample_handler</vt:lpstr>
      <vt:lpstr>NNE sample (3) - Build libmtnne_sample.a</vt:lpstr>
      <vt:lpstr>NNE sample – Test </vt:lpstr>
      <vt:lpstr>Memory usage</vt:lpstr>
      <vt:lpstr>Q&amp;A (1)</vt:lpstr>
      <vt:lpstr>Q&amp;A (2)</vt:lpstr>
      <vt:lpstr>NNE simulation runs slowly</vt:lpstr>
      <vt:lpstr>ADSP exception when copy data to tensor</vt:lpstr>
      <vt:lpstr>Build Error: header not found</vt:lpstr>
      <vt:lpstr>Link error with –flto flag</vt:lpstr>
      <vt:lpstr>PowerPoint 簡報</vt:lpstr>
    </vt:vector>
  </TitlesOfParts>
  <Company>MediaTek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Jung-wei Chen (陳榮偉)</dc:creator>
  <cp:keywords/>
  <cp:lastModifiedBy>Jung-wei Chen (陳榮偉)</cp:lastModifiedBy>
  <cp:revision>120</cp:revision>
  <dcterms:created xsi:type="dcterms:W3CDTF">2023-11-16T03:18:32Z</dcterms:created>
  <dcterms:modified xsi:type="dcterms:W3CDTF">2024-07-16T15:13:48Z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0x010100FC2A53B7DB280546A20112FD2EF61E0F</vt:lpwstr>
  </property>
  <property fmtid="{D5CDD505-2E9C-101B-9397-08002B2CF9AE}" pid="3" name="ExpireDate">
    <vt:lpwstr>Permanent</vt:lpwstr>
  </property>
  <property fmtid="{D5CDD505-2E9C-101B-9397-08002B2CF9AE}" pid="4" name="Publisher">
    <vt:lpwstr>Carmen Kuo (郭建伶)</vt:lpwstr>
  </property>
  <property fmtid="{D5CDD505-2E9C-101B-9397-08002B2CF9AE}" pid="5" name="MSIP_Label_83bcef13-7cac-433f-ba1d-47a323951816_Enabled">
    <vt:lpwstr>true</vt:lpwstr>
  </property>
  <property fmtid="{D5CDD505-2E9C-101B-9397-08002B2CF9AE}" pid="6" name="MSIP_Label_83bcef13-7cac-433f-ba1d-47a323951816_SetDate">
    <vt:lpwstr>2023-11-16T04:23:42Z</vt:lpwstr>
  </property>
  <property fmtid="{D5CDD505-2E9C-101B-9397-08002B2CF9AE}" pid="7" name="MSIP_Label_83bcef13-7cac-433f-ba1d-47a323951816_Method">
    <vt:lpwstr>Privileged</vt:lpwstr>
  </property>
  <property fmtid="{D5CDD505-2E9C-101B-9397-08002B2CF9AE}" pid="8" name="MSIP_Label_83bcef13-7cac-433f-ba1d-47a323951816_Name">
    <vt:lpwstr>MTK_Unclassified</vt:lpwstr>
  </property>
  <property fmtid="{D5CDD505-2E9C-101B-9397-08002B2CF9AE}" pid="9" name="MSIP_Label_83bcef13-7cac-433f-ba1d-47a323951816_SiteId">
    <vt:lpwstr>a7687ede-7a6b-4ef6-bace-642f677fbe31</vt:lpwstr>
  </property>
  <property fmtid="{D5CDD505-2E9C-101B-9397-08002B2CF9AE}" pid="10" name="MSIP_Label_83bcef13-7cac-433f-ba1d-47a323951816_ActionId">
    <vt:lpwstr>ac551dd0-de48-4ed5-aabd-a60b86902a16</vt:lpwstr>
  </property>
  <property fmtid="{D5CDD505-2E9C-101B-9397-08002B2CF9AE}" pid="11" name="MSIP_Label_83bcef13-7cac-433f-ba1d-47a323951816_ContentBits">
    <vt:lpwstr>0</vt:lpwstr>
  </property>
</Properties>
</file>