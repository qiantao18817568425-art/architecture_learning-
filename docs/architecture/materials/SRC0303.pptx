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6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7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8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4" r:id="rId5"/>
    <p:sldMasterId id="2147483688" r:id="rId6"/>
    <p:sldMasterId id="2147483702" r:id="rId7"/>
    <p:sldMasterId id="2147483715" r:id="rId8"/>
    <p:sldMasterId id="2147483729" r:id="rId9"/>
    <p:sldMasterId id="2147483742" r:id="rId10"/>
    <p:sldMasterId id="2147483756" r:id="rId11"/>
    <p:sldMasterId id="2147483796" r:id="rId12"/>
  </p:sldMasterIdLst>
  <p:notesMasterIdLst>
    <p:notesMasterId r:id="rId44"/>
  </p:notesMasterIdLst>
  <p:sldIdLst>
    <p:sldId id="256" r:id="rId13"/>
    <p:sldId id="268" r:id="rId14"/>
    <p:sldId id="291" r:id="rId15"/>
    <p:sldId id="275" r:id="rId16"/>
    <p:sldId id="277" r:id="rId17"/>
    <p:sldId id="278" r:id="rId18"/>
    <p:sldId id="280" r:id="rId19"/>
    <p:sldId id="281" r:id="rId20"/>
    <p:sldId id="279" r:id="rId21"/>
    <p:sldId id="282" r:id="rId22"/>
    <p:sldId id="290" r:id="rId23"/>
    <p:sldId id="259" r:id="rId24"/>
    <p:sldId id="260" r:id="rId25"/>
    <p:sldId id="283" r:id="rId26"/>
    <p:sldId id="284" r:id="rId27"/>
    <p:sldId id="285" r:id="rId28"/>
    <p:sldId id="286" r:id="rId29"/>
    <p:sldId id="271" r:id="rId30"/>
    <p:sldId id="292" r:id="rId31"/>
    <p:sldId id="287" r:id="rId32"/>
    <p:sldId id="288" r:id="rId33"/>
    <p:sldId id="298" r:id="rId34"/>
    <p:sldId id="289" r:id="rId35"/>
    <p:sldId id="264" r:id="rId36"/>
    <p:sldId id="293" r:id="rId37"/>
    <p:sldId id="296" r:id="rId38"/>
    <p:sldId id="297" r:id="rId39"/>
    <p:sldId id="294" r:id="rId40"/>
    <p:sldId id="295" r:id="rId41"/>
    <p:sldId id="299" r:id="rId42"/>
    <p:sldId id="257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FF"/>
    <a:srgbClr val="FF9966"/>
    <a:srgbClr val="33CCCC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2857" autoAdjust="0"/>
  </p:normalViewPr>
  <p:slideViewPr>
    <p:cSldViewPr snapToGrid="0">
      <p:cViewPr varScale="1">
        <p:scale>
          <a:sx n="106" d="100"/>
          <a:sy n="106" d="100"/>
        </p:scale>
        <p:origin x="73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slide" Target="slides/slide27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openxmlformats.org/officeDocument/2006/relationships/slide" Target="slides/slide30.xml"/><Relationship Id="rId47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9" Type="http://schemas.openxmlformats.org/officeDocument/2006/relationships/slide" Target="slides/slide17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slide" Target="slides/slide28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slide" Target="slides/slide31.xml"/><Relationship Id="rId48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46" Type="http://schemas.openxmlformats.org/officeDocument/2006/relationships/viewProps" Target="viewProps.xml"/><Relationship Id="rId20" Type="http://schemas.openxmlformats.org/officeDocument/2006/relationships/slide" Target="slides/slide8.xml"/><Relationship Id="rId41" Type="http://schemas.openxmlformats.org/officeDocument/2006/relationships/slide" Target="slides/slide2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8D0796-DFC1-490C-A607-53707F7E1DA4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5077D9-6B9D-40E5-B8A4-AADB1B07A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67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077D9-6B9D-40E5-B8A4-AADB1B07A38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954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077D9-6B9D-40E5-B8A4-AADB1B07A38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546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077D9-6B9D-40E5-B8A4-AADB1B07A38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963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077D9-6B9D-40E5-B8A4-AADB1B07A38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270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077D9-6B9D-40E5-B8A4-AADB1B07A38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625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077D9-6B9D-40E5-B8A4-AADB1B07A38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03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typ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683" y="1539265"/>
            <a:ext cx="3161115" cy="584454"/>
          </a:xfrm>
          <a:prstGeom prst="rect">
            <a:avLst/>
          </a:prstGeom>
          <a:effectLst/>
        </p:spPr>
      </p:pic>
      <p:sp>
        <p:nvSpPr>
          <p:cNvPr id="6" name="Footer Placeholder 4"/>
          <p:cNvSpPr txBox="1">
            <a:spLocks/>
          </p:cNvSpPr>
          <p:nvPr/>
        </p:nvSpPr>
        <p:spPr>
          <a:xfrm>
            <a:off x="4792134" y="1097942"/>
            <a:ext cx="2150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>
                <a:solidFill>
                  <a:srgbClr val="69BE28"/>
                </a:solidFill>
              </a:rPr>
              <a:t>INTERNAL USE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4792133" y="3835403"/>
            <a:ext cx="6790267" cy="105833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pc="-150">
                <a:solidFill>
                  <a:srgbClr val="F3821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8" name="Title 8"/>
          <p:cNvSpPr>
            <a:spLocks noGrp="1"/>
          </p:cNvSpPr>
          <p:nvPr>
            <p:ph type="title"/>
          </p:nvPr>
        </p:nvSpPr>
        <p:spPr>
          <a:xfrm>
            <a:off x="4792133" y="1463067"/>
            <a:ext cx="6790267" cy="2372337"/>
          </a:xfr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pic>
        <p:nvPicPr>
          <p:cNvPr id="10" name="Picture 9" descr="pattern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07"/>
          <a:stretch/>
        </p:blipFill>
        <p:spPr>
          <a:xfrm>
            <a:off x="0" y="4893734"/>
            <a:ext cx="12192000" cy="196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477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 Slide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agline-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889" y="2484967"/>
            <a:ext cx="5418667" cy="1762760"/>
          </a:xfrm>
          <a:prstGeom prst="rect">
            <a:avLst/>
          </a:prstGeom>
        </p:spPr>
      </p:pic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3949348" y="6226176"/>
            <a:ext cx="3841749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Copyright © MediaTek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 Inc. </a:t>
            </a:r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All rights reserved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.</a:t>
            </a:r>
            <a:endParaRPr lang="en-US" sz="1000" dirty="0">
              <a:solidFill>
                <a:schemeClr val="tx2"/>
              </a:solidFill>
              <a:ea typeface="SimHei" charset="0"/>
              <a:cs typeface="Sim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803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2000"/>
            <a:ext cx="10972800" cy="1269800"/>
          </a:xfrm>
        </p:spPr>
        <p:txBody>
          <a:bodyPr t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866900"/>
            <a:ext cx="10972800" cy="428942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112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129818"/>
            <a:ext cx="10363200" cy="1362075"/>
          </a:xfrm>
        </p:spPr>
        <p:txBody>
          <a:bodyPr anchor="t">
            <a:normAutofit/>
          </a:bodyPr>
          <a:lstStyle>
            <a:lvl1pPr algn="l">
              <a:defRPr sz="3000" b="1" cap="all" spc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644" y="2619306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 i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701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44134"/>
            <a:ext cx="5384800" cy="4203367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800"/>
            </a:lvl1pPr>
            <a:lvl2pPr>
              <a:defRPr sz="24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44132"/>
            <a:ext cx="5384800" cy="420336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800"/>
            </a:lvl1pPr>
            <a:lvl2pPr>
              <a:defRPr sz="24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525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44133"/>
            <a:ext cx="5386917" cy="51646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60601"/>
            <a:ext cx="5386917" cy="375681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400"/>
            </a:lvl1pPr>
            <a:lvl2pPr>
              <a:defRPr sz="20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744133"/>
            <a:ext cx="5389033" cy="51646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260601"/>
            <a:ext cx="5389033" cy="375681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400"/>
            </a:lvl1pPr>
            <a:lvl2pPr>
              <a:defRPr sz="20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421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46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935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70039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3200"/>
            </a:lvl1pPr>
            <a:lvl2pPr>
              <a:defRPr sz="28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2"/>
            <a:ext cx="4011084" cy="45383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5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89717" y="4497344"/>
            <a:ext cx="7315200" cy="566739"/>
          </a:xfrm>
        </p:spPr>
        <p:txBody>
          <a:bodyPr anchor="b"/>
          <a:lstStyle>
            <a:lvl1pPr algn="l">
              <a:defRPr sz="2000" b="1" spc="0">
                <a:solidFill>
                  <a:schemeClr val="accent1"/>
                </a:solidFill>
              </a:defRPr>
            </a:lvl1pPr>
          </a:lstStyle>
          <a:p>
            <a:r>
              <a:rPr lang="sv-SE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3869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064082"/>
            <a:ext cx="73152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235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744134"/>
            <a:ext cx="10972800" cy="428948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00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69880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69880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386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47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2000"/>
            <a:ext cx="10972800" cy="1269800"/>
          </a:xfrm>
        </p:spPr>
        <p:txBody>
          <a:bodyPr t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866900"/>
            <a:ext cx="10972800" cy="42894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92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gradFill flip="none" rotWithShape="1">
          <a:gsLst>
            <a:gs pos="40000">
              <a:schemeClr val="tx1"/>
            </a:gs>
            <a:gs pos="0">
              <a:schemeClr val="bg2">
                <a:lumMod val="2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type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683" y="1539268"/>
            <a:ext cx="3161115" cy="584454"/>
          </a:xfrm>
          <a:prstGeom prst="rect">
            <a:avLst/>
          </a:prstGeom>
          <a:effectLst/>
        </p:spPr>
      </p:pic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4792133" y="3835403"/>
            <a:ext cx="6790267" cy="105833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pc="-15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7" name="Title 8"/>
          <p:cNvSpPr>
            <a:spLocks noGrp="1"/>
          </p:cNvSpPr>
          <p:nvPr>
            <p:ph type="title"/>
          </p:nvPr>
        </p:nvSpPr>
        <p:spPr>
          <a:xfrm>
            <a:off x="4792133" y="1463067"/>
            <a:ext cx="6790267" cy="2372337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pic>
        <p:nvPicPr>
          <p:cNvPr id="8" name="Picture 7" descr="pattern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07"/>
          <a:stretch/>
        </p:blipFill>
        <p:spPr>
          <a:xfrm>
            <a:off x="0" y="4893734"/>
            <a:ext cx="12192000" cy="196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3698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End Slide">
    <p:bg>
      <p:bgPr>
        <a:gradFill flip="none" rotWithShape="1">
          <a:gsLst>
            <a:gs pos="40000">
              <a:schemeClr val="tx1"/>
            </a:gs>
            <a:gs pos="0">
              <a:schemeClr val="bg2">
                <a:lumMod val="2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889" y="2484967"/>
            <a:ext cx="5418667" cy="1762760"/>
          </a:xfrm>
          <a:prstGeom prst="rect">
            <a:avLst/>
          </a:prstGeom>
        </p:spPr>
      </p:pic>
      <p:sp>
        <p:nvSpPr>
          <p:cNvPr id="10" name="Text Box 8"/>
          <p:cNvSpPr txBox="1">
            <a:spLocks noChangeArrowheads="1"/>
          </p:cNvSpPr>
          <p:nvPr userDrawn="1"/>
        </p:nvSpPr>
        <p:spPr bwMode="auto">
          <a:xfrm>
            <a:off x="3949348" y="6226176"/>
            <a:ext cx="3841749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Copyright © MediaTek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 Inc. </a:t>
            </a:r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All rights reserved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.</a:t>
            </a:r>
            <a:endParaRPr lang="en-US" sz="1000" dirty="0">
              <a:solidFill>
                <a:schemeClr val="tx2"/>
              </a:solidFill>
              <a:ea typeface="SimHei" charset="0"/>
              <a:cs typeface="Sim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80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2000"/>
            <a:ext cx="10972800" cy="1143000"/>
          </a:xfrm>
        </p:spPr>
        <p:txBody>
          <a:bodyPr tIns="0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10972800" cy="437303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5283200" y="6775451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/>
          </a:p>
          <a:p>
            <a:endParaRPr lang="en-US" sz="180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603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313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2906185"/>
            <a:ext cx="10363200" cy="150071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 spc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CLICK TO EDIT MASTER TEXT STYLES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378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43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43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1706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4585"/>
            <a:ext cx="5386917" cy="6413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5934"/>
            <a:ext cx="5386917" cy="39497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4585"/>
            <a:ext cx="5389033" cy="6413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5934"/>
            <a:ext cx="5389033" cy="39497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7907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8870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1966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3"/>
            <a:ext cx="4011084" cy="1162049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258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1"/>
            <a:ext cx="4011084" cy="4690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spc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751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89717" y="4800601"/>
            <a:ext cx="7315200" cy="567267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sv-SE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868"/>
            <a:ext cx="7315200" cy="8043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spc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6759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2"/>
            <a:ext cx="10972800" cy="452543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9643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5168"/>
            <a:ext cx="2743200" cy="585046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5168"/>
            <a:ext cx="8026400" cy="58504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6671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typ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683" y="1539265"/>
            <a:ext cx="3161115" cy="584454"/>
          </a:xfrm>
          <a:prstGeom prst="rect">
            <a:avLst/>
          </a:prstGeom>
          <a:effectLst/>
        </p:spPr>
      </p:pic>
      <p:sp>
        <p:nvSpPr>
          <p:cNvPr id="6" name="Footer Placeholder 4"/>
          <p:cNvSpPr txBox="1">
            <a:spLocks/>
          </p:cNvSpPr>
          <p:nvPr/>
        </p:nvSpPr>
        <p:spPr>
          <a:xfrm>
            <a:off x="4792134" y="1089475"/>
            <a:ext cx="2150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>
                <a:solidFill>
                  <a:srgbClr val="00A1DE"/>
                </a:solidFill>
              </a:rPr>
              <a:t>CONFIDENTIAL B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4792133" y="3835403"/>
            <a:ext cx="6790267" cy="105833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pc="-150">
                <a:solidFill>
                  <a:srgbClr val="F3821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8" name="Title 8"/>
          <p:cNvSpPr>
            <a:spLocks noGrp="1"/>
          </p:cNvSpPr>
          <p:nvPr>
            <p:ph type="title"/>
          </p:nvPr>
        </p:nvSpPr>
        <p:spPr>
          <a:xfrm>
            <a:off x="4792133" y="1463067"/>
            <a:ext cx="6790267" cy="2372337"/>
          </a:xfr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pic>
        <p:nvPicPr>
          <p:cNvPr id="10" name="Picture 9" descr="pattern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07"/>
          <a:stretch/>
        </p:blipFill>
        <p:spPr>
          <a:xfrm>
            <a:off x="0" y="4893734"/>
            <a:ext cx="12192000" cy="196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2663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 Slide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agline-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889" y="2484967"/>
            <a:ext cx="5418667" cy="1762760"/>
          </a:xfrm>
          <a:prstGeom prst="rect">
            <a:avLst/>
          </a:prstGeom>
        </p:spPr>
      </p:pic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3949348" y="6226176"/>
            <a:ext cx="3841749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Copyright © MediaTek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 Inc. </a:t>
            </a:r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All rights reserved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.</a:t>
            </a:r>
            <a:endParaRPr lang="en-US" sz="1000" dirty="0">
              <a:solidFill>
                <a:schemeClr val="tx2"/>
              </a:solidFill>
              <a:ea typeface="SimHei" charset="0"/>
              <a:cs typeface="Sim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6809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2001"/>
            <a:ext cx="10972800" cy="1134535"/>
          </a:xfrm>
        </p:spPr>
        <p:txBody>
          <a:bodyPr t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845733"/>
            <a:ext cx="10972800" cy="43317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0899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129818"/>
            <a:ext cx="10363200" cy="1362075"/>
          </a:xfrm>
        </p:spPr>
        <p:txBody>
          <a:bodyPr anchor="t">
            <a:normAutofit/>
          </a:bodyPr>
          <a:lstStyle>
            <a:lvl1pPr algn="l">
              <a:defRPr sz="3000" b="1" cap="all" spc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644" y="2619306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 i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3824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44134"/>
            <a:ext cx="5384800" cy="4203367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800"/>
            </a:lvl1pPr>
            <a:lvl2pPr>
              <a:defRPr sz="24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44132"/>
            <a:ext cx="5384800" cy="420336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800"/>
            </a:lvl1pPr>
            <a:lvl2pPr>
              <a:defRPr sz="24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0863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44133"/>
            <a:ext cx="5386917" cy="51646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60601"/>
            <a:ext cx="5386917" cy="375681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400"/>
            </a:lvl1pPr>
            <a:lvl2pPr>
              <a:defRPr sz="20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744133"/>
            <a:ext cx="5389033" cy="51646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260601"/>
            <a:ext cx="5389033" cy="375681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400"/>
            </a:lvl1pPr>
            <a:lvl2pPr>
              <a:defRPr sz="20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149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6279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4035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70039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3200"/>
            </a:lvl1pPr>
            <a:lvl2pPr>
              <a:defRPr sz="28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2"/>
            <a:ext cx="4011084" cy="45383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9197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89717" y="4497344"/>
            <a:ext cx="7315200" cy="566739"/>
          </a:xfrm>
        </p:spPr>
        <p:txBody>
          <a:bodyPr anchor="b"/>
          <a:lstStyle>
            <a:lvl1pPr algn="l">
              <a:defRPr sz="2000" b="1" spc="0">
                <a:solidFill>
                  <a:schemeClr val="accent1"/>
                </a:solidFill>
              </a:defRPr>
            </a:lvl1pPr>
          </a:lstStyle>
          <a:p>
            <a:r>
              <a:rPr lang="sv-SE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3869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064082"/>
            <a:ext cx="73152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028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744134"/>
            <a:ext cx="10972800" cy="428948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6558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69880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69880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738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2000"/>
            <a:ext cx="10972800" cy="1269800"/>
          </a:xfrm>
        </p:spPr>
        <p:txBody>
          <a:bodyPr t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866900"/>
            <a:ext cx="10972800" cy="42894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8572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gradFill flip="none" rotWithShape="1">
          <a:gsLst>
            <a:gs pos="40000">
              <a:schemeClr val="tx1"/>
            </a:gs>
            <a:gs pos="0">
              <a:schemeClr val="bg2">
                <a:lumMod val="2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typ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683" y="1539268"/>
            <a:ext cx="3161115" cy="584454"/>
          </a:xfrm>
          <a:prstGeom prst="rect">
            <a:avLst/>
          </a:prstGeom>
          <a:effectLst/>
        </p:spPr>
      </p:pic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4792134" y="1089475"/>
            <a:ext cx="2150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>
                <a:solidFill>
                  <a:srgbClr val="00A1DE"/>
                </a:solidFill>
              </a:rPr>
              <a:t>CONFIDENTIAL B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4792133" y="3835403"/>
            <a:ext cx="6790267" cy="105833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pc="-15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10" name="Title 8"/>
          <p:cNvSpPr>
            <a:spLocks noGrp="1"/>
          </p:cNvSpPr>
          <p:nvPr>
            <p:ph type="title"/>
          </p:nvPr>
        </p:nvSpPr>
        <p:spPr>
          <a:xfrm>
            <a:off x="4792133" y="1463067"/>
            <a:ext cx="6790267" cy="2372337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pic>
        <p:nvPicPr>
          <p:cNvPr id="11" name="Picture 10" descr="pattern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07"/>
          <a:stretch/>
        </p:blipFill>
        <p:spPr>
          <a:xfrm>
            <a:off x="0" y="4893734"/>
            <a:ext cx="12192000" cy="196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2354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End Slide">
    <p:bg>
      <p:bgPr>
        <a:gradFill flip="none" rotWithShape="1">
          <a:gsLst>
            <a:gs pos="40000">
              <a:schemeClr val="tx1"/>
            </a:gs>
            <a:gs pos="0">
              <a:schemeClr val="bg2">
                <a:lumMod val="2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889" y="2484967"/>
            <a:ext cx="5418667" cy="1762760"/>
          </a:xfrm>
          <a:prstGeom prst="rect">
            <a:avLst/>
          </a:prstGeom>
        </p:spPr>
      </p:pic>
      <p:sp>
        <p:nvSpPr>
          <p:cNvPr id="12" name="Text Box 8"/>
          <p:cNvSpPr txBox="1">
            <a:spLocks noChangeArrowheads="1"/>
          </p:cNvSpPr>
          <p:nvPr userDrawn="1"/>
        </p:nvSpPr>
        <p:spPr bwMode="auto">
          <a:xfrm>
            <a:off x="3949348" y="6226176"/>
            <a:ext cx="3841749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Copyright © MediaTek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 Inc. </a:t>
            </a:r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All rights reserved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.</a:t>
            </a:r>
            <a:endParaRPr lang="en-US" sz="1000" dirty="0">
              <a:solidFill>
                <a:schemeClr val="tx2"/>
              </a:solidFill>
              <a:ea typeface="SimHei" charset="0"/>
              <a:cs typeface="Sim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53483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2000"/>
            <a:ext cx="10972800" cy="1143000"/>
          </a:xfrm>
          <a:prstGeom prst="rect">
            <a:avLst/>
          </a:prstGeom>
        </p:spPr>
        <p:txBody>
          <a:bodyPr tIns="0" anchor="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15533"/>
            <a:ext cx="10972800" cy="46657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7434180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7113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764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313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2906185"/>
            <a:ext cx="10363200" cy="150071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 spc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7434180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7113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1396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43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43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7434180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7113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3976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4585"/>
            <a:ext cx="5386917" cy="6413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5934"/>
            <a:ext cx="5386917" cy="39497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4585"/>
            <a:ext cx="5389033" cy="6413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5934"/>
            <a:ext cx="5389033" cy="39497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7434180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7113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74064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7434180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7113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60771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7434180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7113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7930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3"/>
            <a:ext cx="4011084" cy="1162049"/>
          </a:xfrm>
          <a:prstGeom prst="rect">
            <a:avLst/>
          </a:prstGeo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258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1"/>
            <a:ext cx="4011084" cy="4690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spc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7434180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7113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3618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89717" y="4800601"/>
            <a:ext cx="7315200" cy="567267"/>
          </a:xfrm>
          <a:prstGeom prst="rect">
            <a:avLst/>
          </a:prstGeo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sv-SE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868"/>
            <a:ext cx="7315200" cy="8043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spc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7434180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7113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56579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2"/>
            <a:ext cx="10972800" cy="452543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7434180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7113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34390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5168"/>
            <a:ext cx="2743200" cy="5850467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5168"/>
            <a:ext cx="8026400" cy="58504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7434180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7113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20336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92133" y="3835403"/>
            <a:ext cx="6790267" cy="1058330"/>
          </a:xfrm>
        </p:spPr>
        <p:txBody>
          <a:bodyPr/>
          <a:lstStyle>
            <a:lvl1pPr marL="0" indent="0" algn="l">
              <a:lnSpc>
                <a:spcPct val="80000"/>
              </a:lnSpc>
              <a:buNone/>
              <a:defRPr spc="-150">
                <a:solidFill>
                  <a:srgbClr val="F3821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792133" y="1463067"/>
            <a:ext cx="6790267" cy="2372337"/>
          </a:xfr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pic>
        <p:nvPicPr>
          <p:cNvPr id="5" name="Picture 4" descr="Logotyp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683" y="1539265"/>
            <a:ext cx="3161115" cy="584454"/>
          </a:xfrm>
          <a:prstGeom prst="rect">
            <a:avLst/>
          </a:prstGeom>
          <a:effectLst/>
        </p:spPr>
      </p:pic>
      <p:sp>
        <p:nvSpPr>
          <p:cNvPr id="6" name="Footer Placeholder 4"/>
          <p:cNvSpPr txBox="1">
            <a:spLocks/>
          </p:cNvSpPr>
          <p:nvPr/>
        </p:nvSpPr>
        <p:spPr>
          <a:xfrm>
            <a:off x="4792134" y="1090519"/>
            <a:ext cx="2150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>
                <a:solidFill>
                  <a:srgbClr val="F3821E"/>
                </a:solidFill>
              </a:rPr>
              <a:t>CONFIDENTIAL A</a:t>
            </a:r>
          </a:p>
        </p:txBody>
      </p:sp>
      <p:pic>
        <p:nvPicPr>
          <p:cNvPr id="2" name="Picture 1" descr="pattern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07"/>
          <a:stretch/>
        </p:blipFill>
        <p:spPr>
          <a:xfrm>
            <a:off x="0" y="4893734"/>
            <a:ext cx="12192000" cy="196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0772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 Slide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agline-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889" y="2484967"/>
            <a:ext cx="5418667" cy="1762760"/>
          </a:xfrm>
          <a:prstGeom prst="rect">
            <a:avLst/>
          </a:prstGeom>
        </p:spPr>
      </p:pic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949348" y="6226176"/>
            <a:ext cx="3841749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Copyright © MediaTek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 Inc. </a:t>
            </a:r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All rights reserved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.</a:t>
            </a:r>
            <a:endParaRPr lang="en-US" sz="1000" dirty="0">
              <a:solidFill>
                <a:schemeClr val="tx2"/>
              </a:solidFill>
              <a:ea typeface="SimHei" charset="0"/>
              <a:cs typeface="Sim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04285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2001"/>
            <a:ext cx="10972800" cy="1134535"/>
          </a:xfrm>
        </p:spPr>
        <p:txBody>
          <a:bodyPr t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609600" y="1854201"/>
            <a:ext cx="10972800" cy="431440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77499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129818"/>
            <a:ext cx="10363200" cy="1362075"/>
          </a:xfrm>
        </p:spPr>
        <p:txBody>
          <a:bodyPr anchor="t">
            <a:normAutofit/>
          </a:bodyPr>
          <a:lstStyle>
            <a:lvl1pPr algn="l">
              <a:defRPr sz="3000" b="1" cap="all" spc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644" y="2619306"/>
            <a:ext cx="10363200" cy="1500187"/>
          </a:xfrm>
        </p:spPr>
        <p:txBody>
          <a:bodyPr anchor="b"/>
          <a:lstStyle>
            <a:lvl1pPr marL="0" indent="0">
              <a:buNone/>
              <a:defRPr sz="2000" b="1" i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39118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44134"/>
            <a:ext cx="5384800" cy="4203367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800"/>
            </a:lvl1pPr>
            <a:lvl2pPr>
              <a:defRPr sz="24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44132"/>
            <a:ext cx="5384800" cy="4203368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800"/>
            </a:lvl1pPr>
            <a:lvl2pPr>
              <a:defRPr sz="24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298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44133"/>
            <a:ext cx="5386917" cy="516468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60601"/>
            <a:ext cx="5386917" cy="3756811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400"/>
            </a:lvl1pPr>
            <a:lvl2pPr>
              <a:defRPr sz="20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744133"/>
            <a:ext cx="5389033" cy="516468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260601"/>
            <a:ext cx="5389033" cy="3756811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400"/>
            </a:lvl1pPr>
            <a:lvl2pPr>
              <a:defRPr sz="20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24862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882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3327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700391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3200"/>
            </a:lvl1pPr>
            <a:lvl2pPr>
              <a:defRPr sz="28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2"/>
            <a:ext cx="4011084" cy="453834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51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89717" y="4497344"/>
            <a:ext cx="7315200" cy="566739"/>
          </a:xfrm>
        </p:spPr>
        <p:txBody>
          <a:bodyPr anchor="b"/>
          <a:lstStyle>
            <a:lvl1pPr algn="l">
              <a:defRPr sz="2000" b="1" spc="0">
                <a:solidFill>
                  <a:schemeClr val="accent1"/>
                </a:solidFill>
              </a:defRPr>
            </a:lvl1pPr>
          </a:lstStyle>
          <a:p>
            <a:r>
              <a:rPr lang="sv-SE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386924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064082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4878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06622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69880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69880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79954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2000"/>
            <a:ext cx="10972800" cy="1269800"/>
          </a:xfrm>
        </p:spPr>
        <p:txBody>
          <a:bodyPr t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866900"/>
            <a:ext cx="10972800" cy="42894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44105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gradFill flip="none" rotWithShape="1">
          <a:gsLst>
            <a:gs pos="40000">
              <a:schemeClr val="tx1"/>
            </a:gs>
            <a:gs pos="0">
              <a:schemeClr val="bg2">
                <a:lumMod val="2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typ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683" y="1539268"/>
            <a:ext cx="3161115" cy="584454"/>
          </a:xfrm>
          <a:prstGeom prst="rect">
            <a:avLst/>
          </a:prstGeom>
          <a:effectLst/>
        </p:spPr>
      </p:pic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4792133" y="3835403"/>
            <a:ext cx="6790267" cy="105833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pc="-15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7" name="Title 8"/>
          <p:cNvSpPr>
            <a:spLocks noGrp="1"/>
          </p:cNvSpPr>
          <p:nvPr>
            <p:ph type="title"/>
          </p:nvPr>
        </p:nvSpPr>
        <p:spPr>
          <a:xfrm>
            <a:off x="4792133" y="1463067"/>
            <a:ext cx="6790267" cy="2372337"/>
          </a:xfr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4792134" y="1090519"/>
            <a:ext cx="2150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>
                <a:solidFill>
                  <a:schemeClr val="accent1"/>
                </a:solidFill>
              </a:rPr>
              <a:t>CONFIDENTIAL A</a:t>
            </a:r>
          </a:p>
        </p:txBody>
      </p:sp>
      <p:pic>
        <p:nvPicPr>
          <p:cNvPr id="10" name="Picture 9" descr="pattern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07"/>
          <a:stretch/>
        </p:blipFill>
        <p:spPr>
          <a:xfrm>
            <a:off x="0" y="4893734"/>
            <a:ext cx="12192000" cy="196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79023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End Slide">
    <p:bg>
      <p:bgPr>
        <a:gradFill flip="none" rotWithShape="1">
          <a:gsLst>
            <a:gs pos="40000">
              <a:schemeClr val="tx1"/>
            </a:gs>
            <a:gs pos="0">
              <a:schemeClr val="bg2">
                <a:lumMod val="2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889" y="2484967"/>
            <a:ext cx="5418667" cy="1762760"/>
          </a:xfrm>
          <a:prstGeom prst="rect">
            <a:avLst/>
          </a:prstGeom>
        </p:spPr>
      </p:pic>
      <p:sp>
        <p:nvSpPr>
          <p:cNvPr id="11" name="Text Box 8"/>
          <p:cNvSpPr txBox="1">
            <a:spLocks noChangeArrowheads="1"/>
          </p:cNvSpPr>
          <p:nvPr userDrawn="1"/>
        </p:nvSpPr>
        <p:spPr bwMode="auto">
          <a:xfrm>
            <a:off x="3949348" y="6226176"/>
            <a:ext cx="3841749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Copyright © MediaTek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 Inc. </a:t>
            </a:r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All rights reserved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.</a:t>
            </a:r>
            <a:endParaRPr lang="en-US" sz="1000" dirty="0">
              <a:solidFill>
                <a:schemeClr val="tx2"/>
              </a:solidFill>
              <a:ea typeface="SimHei" charset="0"/>
              <a:cs typeface="Sim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01486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2000"/>
            <a:ext cx="10972800" cy="1468966"/>
          </a:xfrm>
        </p:spPr>
        <p:txBody>
          <a:bodyPr tIns="0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71134"/>
            <a:ext cx="10972800" cy="42545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5283200" y="6775451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/>
          </a:p>
          <a:p>
            <a:endParaRPr lang="en-US" sz="180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09596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313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2906185"/>
            <a:ext cx="10363200" cy="150071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 spc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CLICK TO EDIT MASTER TEXT STYLES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12973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43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43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05107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4585"/>
            <a:ext cx="5386917" cy="6413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5934"/>
            <a:ext cx="5386917" cy="39497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4585"/>
            <a:ext cx="5389033" cy="6413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5934"/>
            <a:ext cx="5389033" cy="39497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85989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4901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17727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3"/>
            <a:ext cx="4011084" cy="1162049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258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1"/>
            <a:ext cx="4011084" cy="4690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spc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65039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89717" y="4800601"/>
            <a:ext cx="7315200" cy="567267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sv-SE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868"/>
            <a:ext cx="7315200" cy="8043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spc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03880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2"/>
            <a:ext cx="10972800" cy="452543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03888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5168"/>
            <a:ext cx="2743200" cy="585046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5168"/>
            <a:ext cx="8026400" cy="58504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11896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typ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683" y="1539265"/>
            <a:ext cx="3161115" cy="584454"/>
          </a:xfrm>
          <a:prstGeom prst="rect">
            <a:avLst/>
          </a:prstGeom>
          <a:effectLst/>
        </p:spPr>
      </p:pic>
      <p:sp>
        <p:nvSpPr>
          <p:cNvPr id="6" name="Footer Placeholder 4"/>
          <p:cNvSpPr txBox="1">
            <a:spLocks/>
          </p:cNvSpPr>
          <p:nvPr/>
        </p:nvSpPr>
        <p:spPr>
          <a:xfrm>
            <a:off x="4792134" y="1097942"/>
            <a:ext cx="2150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>
                <a:solidFill>
                  <a:srgbClr val="69BE28"/>
                </a:solidFill>
              </a:rPr>
              <a:t>INTERNAL USE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4792133" y="3835403"/>
            <a:ext cx="6790267" cy="105833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pc="-150">
                <a:solidFill>
                  <a:srgbClr val="F3821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8" name="Title 8"/>
          <p:cNvSpPr>
            <a:spLocks noGrp="1"/>
          </p:cNvSpPr>
          <p:nvPr>
            <p:ph type="title"/>
          </p:nvPr>
        </p:nvSpPr>
        <p:spPr>
          <a:xfrm>
            <a:off x="4792133" y="1463067"/>
            <a:ext cx="6790267" cy="2372337"/>
          </a:xfr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pic>
        <p:nvPicPr>
          <p:cNvPr id="10" name="Picture 9" descr="pattern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07"/>
          <a:stretch/>
        </p:blipFill>
        <p:spPr>
          <a:xfrm>
            <a:off x="0" y="4893734"/>
            <a:ext cx="12192000" cy="196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32328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 Slide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agline-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889" y="2484967"/>
            <a:ext cx="5418667" cy="1762760"/>
          </a:xfrm>
          <a:prstGeom prst="rect">
            <a:avLst/>
          </a:prstGeom>
        </p:spPr>
      </p:pic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3949348" y="6226176"/>
            <a:ext cx="3841749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Copyright © MediaTek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 Inc. </a:t>
            </a:r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All rights reserved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.</a:t>
            </a:r>
            <a:endParaRPr lang="en-US" sz="1000" dirty="0">
              <a:solidFill>
                <a:schemeClr val="tx2"/>
              </a:solidFill>
              <a:ea typeface="SimHei" charset="0"/>
              <a:cs typeface="Sim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48957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2000"/>
            <a:ext cx="10972800" cy="1269800"/>
          </a:xfrm>
        </p:spPr>
        <p:txBody>
          <a:bodyPr t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866900"/>
            <a:ext cx="10972800" cy="428942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48062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129818"/>
            <a:ext cx="10363200" cy="1362075"/>
          </a:xfrm>
        </p:spPr>
        <p:txBody>
          <a:bodyPr anchor="t">
            <a:normAutofit/>
          </a:bodyPr>
          <a:lstStyle>
            <a:lvl1pPr algn="l">
              <a:defRPr sz="3000" b="1" cap="all" spc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644" y="2619306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 i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341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44134"/>
            <a:ext cx="5384800" cy="4203367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800"/>
            </a:lvl1pPr>
            <a:lvl2pPr>
              <a:defRPr sz="24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44132"/>
            <a:ext cx="5384800" cy="420336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800"/>
            </a:lvl1pPr>
            <a:lvl2pPr>
              <a:defRPr sz="24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3005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44133"/>
            <a:ext cx="5386917" cy="51646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60601"/>
            <a:ext cx="5386917" cy="375681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400"/>
            </a:lvl1pPr>
            <a:lvl2pPr>
              <a:defRPr sz="20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744133"/>
            <a:ext cx="5389033" cy="51646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260601"/>
            <a:ext cx="5389033" cy="375681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400"/>
            </a:lvl1pPr>
            <a:lvl2pPr>
              <a:defRPr sz="20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08600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72516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1430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70039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3200"/>
            </a:lvl1pPr>
            <a:lvl2pPr>
              <a:defRPr sz="28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2"/>
            <a:ext cx="4011084" cy="45383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2892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89717" y="4497344"/>
            <a:ext cx="7315200" cy="566739"/>
          </a:xfrm>
        </p:spPr>
        <p:txBody>
          <a:bodyPr anchor="b"/>
          <a:lstStyle>
            <a:lvl1pPr algn="l">
              <a:defRPr sz="2000" b="1" spc="0">
                <a:solidFill>
                  <a:schemeClr val="accent1"/>
                </a:solidFill>
              </a:defRPr>
            </a:lvl1pPr>
          </a:lstStyle>
          <a:p>
            <a:r>
              <a:rPr lang="sv-SE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3869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064082"/>
            <a:ext cx="73152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39702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744134"/>
            <a:ext cx="10972800" cy="428948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80259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69880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69880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071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2000"/>
            <a:ext cx="10972800" cy="1269800"/>
          </a:xfrm>
        </p:spPr>
        <p:txBody>
          <a:bodyPr t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866900"/>
            <a:ext cx="10972800" cy="42894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7153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gradFill flip="none" rotWithShape="1">
          <a:gsLst>
            <a:gs pos="40000">
              <a:schemeClr val="tx1"/>
            </a:gs>
            <a:gs pos="0">
              <a:schemeClr val="bg2">
                <a:lumMod val="2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typ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683" y="1539268"/>
            <a:ext cx="3161115" cy="584454"/>
          </a:xfrm>
          <a:prstGeom prst="rect">
            <a:avLst/>
          </a:prstGeom>
          <a:effectLst/>
        </p:spPr>
      </p:pic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4792133" y="3835403"/>
            <a:ext cx="6790267" cy="105833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pc="-15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7" name="Title 8"/>
          <p:cNvSpPr>
            <a:spLocks noGrp="1"/>
          </p:cNvSpPr>
          <p:nvPr>
            <p:ph type="title"/>
          </p:nvPr>
        </p:nvSpPr>
        <p:spPr>
          <a:xfrm>
            <a:off x="4792133" y="1463067"/>
            <a:ext cx="6790267" cy="2372337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pic>
        <p:nvPicPr>
          <p:cNvPr id="8" name="Picture 7" descr="pattern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07"/>
          <a:stretch/>
        </p:blipFill>
        <p:spPr>
          <a:xfrm>
            <a:off x="0" y="4893734"/>
            <a:ext cx="12192000" cy="196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78351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End Slide">
    <p:bg>
      <p:bgPr>
        <a:gradFill flip="none" rotWithShape="1">
          <a:gsLst>
            <a:gs pos="40000">
              <a:schemeClr val="tx1"/>
            </a:gs>
            <a:gs pos="0">
              <a:schemeClr val="bg2">
                <a:lumMod val="2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889" y="2484967"/>
            <a:ext cx="5418667" cy="1762760"/>
          </a:xfrm>
          <a:prstGeom prst="rect">
            <a:avLst/>
          </a:prstGeom>
        </p:spPr>
      </p:pic>
      <p:sp>
        <p:nvSpPr>
          <p:cNvPr id="10" name="Text Box 8"/>
          <p:cNvSpPr txBox="1">
            <a:spLocks noChangeArrowheads="1"/>
          </p:cNvSpPr>
          <p:nvPr userDrawn="1"/>
        </p:nvSpPr>
        <p:spPr bwMode="auto">
          <a:xfrm>
            <a:off x="3949348" y="6226176"/>
            <a:ext cx="3841749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Copyright © MediaTek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 Inc. </a:t>
            </a:r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All rights reserved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.</a:t>
            </a:r>
            <a:endParaRPr lang="en-US" sz="1000" dirty="0">
              <a:solidFill>
                <a:schemeClr val="tx2"/>
              </a:solidFill>
              <a:ea typeface="SimHei" charset="0"/>
              <a:cs typeface="Sim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97841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2000"/>
            <a:ext cx="10972800" cy="1143000"/>
          </a:xfrm>
        </p:spPr>
        <p:txBody>
          <a:bodyPr tIns="0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10972800" cy="437303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5283200" y="6775451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/>
          </a:p>
          <a:p>
            <a:endParaRPr lang="en-US" sz="180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18302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313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2906185"/>
            <a:ext cx="10363200" cy="150071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 spc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CLICK TO EDIT MASTER TEXT STYLES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8744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43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43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10016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4585"/>
            <a:ext cx="5386917" cy="6413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5934"/>
            <a:ext cx="5386917" cy="39497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4585"/>
            <a:ext cx="5389033" cy="6413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5934"/>
            <a:ext cx="5389033" cy="39497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12306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67744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06153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3"/>
            <a:ext cx="4011084" cy="1162049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258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1"/>
            <a:ext cx="4011084" cy="4690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spc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01212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89717" y="4800601"/>
            <a:ext cx="7315200" cy="567267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sv-SE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868"/>
            <a:ext cx="7315200" cy="8043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spc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85696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2"/>
            <a:ext cx="10972800" cy="452543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5373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5168"/>
            <a:ext cx="2743200" cy="585046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5168"/>
            <a:ext cx="8026400" cy="58504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14949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92133" y="3835403"/>
            <a:ext cx="6790267" cy="1058330"/>
          </a:xfrm>
        </p:spPr>
        <p:txBody>
          <a:bodyPr/>
          <a:lstStyle>
            <a:lvl1pPr marL="0" indent="0" algn="l">
              <a:lnSpc>
                <a:spcPct val="80000"/>
              </a:lnSpc>
              <a:buNone/>
              <a:defRPr spc="-150">
                <a:solidFill>
                  <a:srgbClr val="F3821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792133" y="1463067"/>
            <a:ext cx="6790267" cy="2372337"/>
          </a:xfr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pic>
        <p:nvPicPr>
          <p:cNvPr id="5" name="Picture 4" descr="Logotyp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683" y="1539265"/>
            <a:ext cx="3161115" cy="584454"/>
          </a:xfrm>
          <a:prstGeom prst="rect">
            <a:avLst/>
          </a:prstGeom>
          <a:effectLst/>
        </p:spPr>
      </p:pic>
      <p:sp>
        <p:nvSpPr>
          <p:cNvPr id="6" name="Footer Placeholder 4"/>
          <p:cNvSpPr txBox="1">
            <a:spLocks/>
          </p:cNvSpPr>
          <p:nvPr/>
        </p:nvSpPr>
        <p:spPr>
          <a:xfrm>
            <a:off x="4792134" y="1090519"/>
            <a:ext cx="2150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>
                <a:solidFill>
                  <a:srgbClr val="F3821E"/>
                </a:solidFill>
              </a:rPr>
              <a:t>CONFIDENTIAL A</a:t>
            </a:r>
          </a:p>
        </p:txBody>
      </p:sp>
      <p:pic>
        <p:nvPicPr>
          <p:cNvPr id="2" name="Picture 1" descr="pattern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07"/>
          <a:stretch/>
        </p:blipFill>
        <p:spPr>
          <a:xfrm>
            <a:off x="0" y="4893734"/>
            <a:ext cx="12192000" cy="196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5440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 Slide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agline-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889" y="2484967"/>
            <a:ext cx="5418667" cy="1762760"/>
          </a:xfrm>
          <a:prstGeom prst="rect">
            <a:avLst/>
          </a:prstGeom>
        </p:spPr>
      </p:pic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949348" y="6226176"/>
            <a:ext cx="3841749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Copyright © MediaTek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 Inc. </a:t>
            </a:r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All rights reserved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.</a:t>
            </a:r>
            <a:endParaRPr lang="en-US" sz="1000" dirty="0">
              <a:solidFill>
                <a:schemeClr val="tx2"/>
              </a:solidFill>
              <a:ea typeface="SimHei" charset="0"/>
              <a:cs typeface="Sim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51325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2001"/>
            <a:ext cx="10972800" cy="1134535"/>
          </a:xfrm>
        </p:spPr>
        <p:txBody>
          <a:bodyPr t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609600" y="1854201"/>
            <a:ext cx="10972800" cy="431440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02658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129818"/>
            <a:ext cx="10363200" cy="1362075"/>
          </a:xfrm>
        </p:spPr>
        <p:txBody>
          <a:bodyPr anchor="t">
            <a:normAutofit/>
          </a:bodyPr>
          <a:lstStyle>
            <a:lvl1pPr algn="l">
              <a:defRPr sz="3000" b="1" cap="all" spc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644" y="2619306"/>
            <a:ext cx="10363200" cy="1500187"/>
          </a:xfrm>
        </p:spPr>
        <p:txBody>
          <a:bodyPr anchor="b"/>
          <a:lstStyle>
            <a:lvl1pPr marL="0" indent="0">
              <a:buNone/>
              <a:defRPr sz="2000" b="1" i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05032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44134"/>
            <a:ext cx="5384800" cy="4203367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800"/>
            </a:lvl1pPr>
            <a:lvl2pPr>
              <a:defRPr sz="24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44132"/>
            <a:ext cx="5384800" cy="4203368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800"/>
            </a:lvl1pPr>
            <a:lvl2pPr>
              <a:defRPr sz="24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53934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44133"/>
            <a:ext cx="5386917" cy="516468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60601"/>
            <a:ext cx="5386917" cy="3756811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400"/>
            </a:lvl1pPr>
            <a:lvl2pPr>
              <a:defRPr sz="20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744133"/>
            <a:ext cx="5389033" cy="516468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260601"/>
            <a:ext cx="5389033" cy="3756811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400"/>
            </a:lvl1pPr>
            <a:lvl2pPr>
              <a:defRPr sz="20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935437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67960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95437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700391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3200"/>
            </a:lvl1pPr>
            <a:lvl2pPr>
              <a:defRPr sz="28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2"/>
            <a:ext cx="4011084" cy="453834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587289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89717" y="4497344"/>
            <a:ext cx="7315200" cy="566739"/>
          </a:xfrm>
        </p:spPr>
        <p:txBody>
          <a:bodyPr anchor="b"/>
          <a:lstStyle>
            <a:lvl1pPr algn="l">
              <a:defRPr sz="2000" b="1" spc="0">
                <a:solidFill>
                  <a:schemeClr val="accent1"/>
                </a:solidFill>
              </a:defRPr>
            </a:lvl1pPr>
          </a:lstStyle>
          <a:p>
            <a:r>
              <a:rPr lang="sv-SE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386924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064082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446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207226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69880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69880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306382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2000"/>
            <a:ext cx="10972800" cy="1269800"/>
          </a:xfrm>
        </p:spPr>
        <p:txBody>
          <a:bodyPr t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866900"/>
            <a:ext cx="10972800" cy="42894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760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9.xml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8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Relationship Id="rId1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image" Target="../media/image2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10972800" cy="11345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 descr="Logotype.png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37" y="6361223"/>
            <a:ext cx="1014375" cy="190561"/>
          </a:xfrm>
          <a:prstGeom prst="rect">
            <a:avLst/>
          </a:prstGeom>
        </p:spPr>
      </p:pic>
      <p:sp>
        <p:nvSpPr>
          <p:cNvPr id="14" name="Footer Placeholder 4"/>
          <p:cNvSpPr txBox="1">
            <a:spLocks/>
          </p:cNvSpPr>
          <p:nvPr/>
        </p:nvSpPr>
        <p:spPr>
          <a:xfrm>
            <a:off x="1921934" y="6273801"/>
            <a:ext cx="2150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>
                <a:solidFill>
                  <a:srgbClr val="69BE28"/>
                </a:solidFill>
              </a:rPr>
              <a:t>INTERNAL USE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44134"/>
            <a:ext cx="10972800" cy="4289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8A6570-072E-BA9A-9640-879AAC5240F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261725" y="63500"/>
            <a:ext cx="9017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3664499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87" r:id="rId14"/>
  </p:sldLayoutIdLst>
  <p:txStyles>
    <p:titleStyle>
      <a:lvl1pPr algn="ctr" defTabSz="457200" rtl="0" eaLnBrk="1" latinLnBrk="0" hangingPunct="1">
        <a:lnSpc>
          <a:spcPct val="80000"/>
        </a:lnSpc>
        <a:spcBef>
          <a:spcPct val="0"/>
        </a:spcBef>
        <a:buNone/>
        <a:defRPr sz="4400" b="1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Font typeface="Lucida Grande"/>
        <a:buChar char="▪"/>
        <a:defRPr sz="32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Lucida Grande"/>
        <a:buChar char="▪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▪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/>
          <p:cNvSpPr txBox="1">
            <a:spLocks/>
          </p:cNvSpPr>
          <p:nvPr/>
        </p:nvSpPr>
        <p:spPr>
          <a:xfrm>
            <a:off x="1921934" y="6273801"/>
            <a:ext cx="2150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>
                <a:solidFill>
                  <a:schemeClr val="accent3"/>
                </a:solidFill>
              </a:rPr>
              <a:t>INTERNAL USE</a:t>
            </a:r>
          </a:p>
        </p:txBody>
      </p:sp>
      <p:pic>
        <p:nvPicPr>
          <p:cNvPr id="17" name="Picture 16" descr="Logotype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584831" y="6361222"/>
            <a:ext cx="1030680" cy="190561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8168"/>
            <a:ext cx="10972800" cy="4615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25389F9-CA44-5D79-9F34-A7075B07036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261725" y="63500"/>
            <a:ext cx="9017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1643196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b="1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SzPct val="100000"/>
        <a:buFont typeface="Lucida Grande"/>
        <a:buChar char="▪"/>
        <a:defRPr sz="3200" kern="1200" spc="-15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 spc="-15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Lucida Grande"/>
        <a:buChar char="▪"/>
        <a:defRPr sz="2400" kern="1200" spc="-15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spc="-15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▪"/>
        <a:defRPr sz="2000" kern="1200" spc="-15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10972800" cy="11345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 descr="Logotype.pn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37" y="6361223"/>
            <a:ext cx="1014375" cy="190561"/>
          </a:xfrm>
          <a:prstGeom prst="rect">
            <a:avLst/>
          </a:prstGeom>
        </p:spPr>
      </p:pic>
      <p:sp>
        <p:nvSpPr>
          <p:cNvPr id="14" name="Footer Placeholder 4"/>
          <p:cNvSpPr txBox="1">
            <a:spLocks/>
          </p:cNvSpPr>
          <p:nvPr/>
        </p:nvSpPr>
        <p:spPr>
          <a:xfrm>
            <a:off x="1921934" y="6273801"/>
            <a:ext cx="2150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>
                <a:solidFill>
                  <a:schemeClr val="accent2"/>
                </a:solidFill>
              </a:rPr>
              <a:t>CONFIDENTIAL B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44134"/>
            <a:ext cx="10972800" cy="4289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E4D188D-87F7-129D-9B89-FABC52A6667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261725" y="63500"/>
            <a:ext cx="9017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4092288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</p:sldLayoutIdLst>
  <p:txStyles>
    <p:titleStyle>
      <a:lvl1pPr algn="ctr" defTabSz="457200" rtl="0" eaLnBrk="1" latinLnBrk="0" hangingPunct="1">
        <a:lnSpc>
          <a:spcPct val="80000"/>
        </a:lnSpc>
        <a:spcBef>
          <a:spcPct val="0"/>
        </a:spcBef>
        <a:buNone/>
        <a:defRPr sz="4400" b="1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Font typeface="Lucida Grande"/>
        <a:buChar char="▪"/>
        <a:defRPr sz="32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SzPct val="100000"/>
        <a:buFont typeface="Lucida Grande"/>
        <a:buChar char="•"/>
        <a:defRPr sz="28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Lucida Grande"/>
        <a:buChar char="▪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Tx/>
        <a:buFont typeface="Arial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▪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4"/>
          <p:cNvSpPr txBox="1">
            <a:spLocks/>
          </p:cNvSpPr>
          <p:nvPr/>
        </p:nvSpPr>
        <p:spPr>
          <a:xfrm>
            <a:off x="1921934" y="6273801"/>
            <a:ext cx="2150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>
                <a:solidFill>
                  <a:srgbClr val="00A1DE"/>
                </a:solidFill>
              </a:rPr>
              <a:t>CONFIDENTIAL B</a:t>
            </a:r>
          </a:p>
        </p:txBody>
      </p:sp>
      <p:pic>
        <p:nvPicPr>
          <p:cNvPr id="15" name="Picture 14" descr="Logotyp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4831" y="6361222"/>
            <a:ext cx="1030680" cy="190561"/>
          </a:xfrm>
          <a:prstGeom prst="rect">
            <a:avLst/>
          </a:prstGeom>
        </p:spPr>
      </p:pic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10972800" cy="11345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6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44134"/>
            <a:ext cx="10972800" cy="4289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CC5CC9B-82F8-B4DB-186A-1DB8C2BEF45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261725" y="63500"/>
            <a:ext cx="9017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3704562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b="1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SzPct val="100000"/>
        <a:buFont typeface="Lucida Grande"/>
        <a:buChar char="▪"/>
        <a:defRPr sz="3200" kern="1200" spc="-15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 spc="-15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Lucida Grande"/>
        <a:buChar char="▪"/>
        <a:defRPr sz="2400" kern="1200" spc="-15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spc="-15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▪"/>
        <a:defRPr sz="2000" kern="1200" spc="-15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10972800" cy="11345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44134"/>
            <a:ext cx="10972800" cy="4289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rgbClr val="F3821E"/>
                </a:solidFill>
              </a:defRPr>
            </a:lvl1pPr>
          </a:lstStyle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Logotype.pn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37" y="6361223"/>
            <a:ext cx="1014375" cy="190561"/>
          </a:xfrm>
          <a:prstGeom prst="rect">
            <a:avLst/>
          </a:prstGeom>
        </p:spPr>
      </p:pic>
      <p:sp>
        <p:nvSpPr>
          <p:cNvPr id="9" name="Footer Placeholder 4"/>
          <p:cNvSpPr txBox="1">
            <a:spLocks/>
          </p:cNvSpPr>
          <p:nvPr/>
        </p:nvSpPr>
        <p:spPr>
          <a:xfrm>
            <a:off x="1921934" y="6273801"/>
            <a:ext cx="2150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>
                <a:solidFill>
                  <a:srgbClr val="F3821E"/>
                </a:solidFill>
              </a:rPr>
              <a:t>CONFIDENTIAL A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364AAF8-DF04-C7AE-B021-AB0DF4A7DBE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261725" y="63500"/>
            <a:ext cx="9017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1041256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</p:sldLayoutIdLst>
  <p:txStyles>
    <p:titleStyle>
      <a:lvl1pPr algn="ctr" defTabSz="457200" rtl="0" eaLnBrk="1" latinLnBrk="0" hangingPunct="1">
        <a:lnSpc>
          <a:spcPct val="80000"/>
        </a:lnSpc>
        <a:spcBef>
          <a:spcPct val="0"/>
        </a:spcBef>
        <a:buNone/>
        <a:defRPr sz="4400" b="1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Font typeface="Calibri Bold"/>
        <a:buChar char="▪"/>
        <a:defRPr sz="32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1"/>
        </a:buClr>
        <a:buFont typeface="Calibri Bold"/>
        <a:buChar char="•"/>
        <a:defRPr sz="28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Calibri Bold"/>
        <a:buChar char="▪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1"/>
        </a:buClr>
        <a:buFont typeface="Calibri Bold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1"/>
        </a:buClr>
        <a:buFont typeface="Calibri Bold"/>
        <a:buChar char="▪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4689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rgbClr val="F3821E"/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/>
          <p:cNvSpPr txBox="1">
            <a:spLocks/>
          </p:cNvSpPr>
          <p:nvPr/>
        </p:nvSpPr>
        <p:spPr>
          <a:xfrm>
            <a:off x="1921934" y="6273801"/>
            <a:ext cx="2150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>
                <a:solidFill>
                  <a:srgbClr val="F3821E"/>
                </a:solidFill>
              </a:rPr>
              <a:t>CONFIDENTIAL A</a:t>
            </a:r>
          </a:p>
        </p:txBody>
      </p:sp>
      <p:pic>
        <p:nvPicPr>
          <p:cNvPr id="18" name="Picture 17" descr="Logotyp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4831" y="6361222"/>
            <a:ext cx="1030680" cy="190561"/>
          </a:xfrm>
          <a:prstGeom prst="rect">
            <a:avLst/>
          </a:prstGeom>
        </p:spPr>
      </p:pic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44134"/>
            <a:ext cx="10972800" cy="4289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F93648C-B7CF-8F5C-4929-DB1CF3DE86A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261725" y="63500"/>
            <a:ext cx="9017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2567593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b="1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SzPct val="100000"/>
        <a:buFont typeface="Lucida Grande"/>
        <a:buChar char="▪"/>
        <a:defRPr sz="3200" kern="1200" spc="-15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bg1"/>
        </a:buClr>
        <a:buFont typeface="Arial"/>
        <a:buChar char="•"/>
        <a:defRPr sz="2800" kern="1200" spc="-15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Lucida Grande"/>
        <a:buChar char="▪"/>
        <a:defRPr sz="2400" kern="1200" spc="-15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Calibri Bold"/>
        <a:buChar char="•"/>
        <a:defRPr sz="2000" kern="1200" spc="-15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▪"/>
        <a:defRPr sz="2000" kern="1200" spc="-15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10972800" cy="11345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 descr="Logotype.pn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37" y="6361223"/>
            <a:ext cx="1014375" cy="190561"/>
          </a:xfrm>
          <a:prstGeom prst="rect">
            <a:avLst/>
          </a:prstGeom>
        </p:spPr>
      </p:pic>
      <p:sp>
        <p:nvSpPr>
          <p:cNvPr id="14" name="Footer Placeholder 4"/>
          <p:cNvSpPr txBox="1">
            <a:spLocks/>
          </p:cNvSpPr>
          <p:nvPr/>
        </p:nvSpPr>
        <p:spPr>
          <a:xfrm>
            <a:off x="1921934" y="6273801"/>
            <a:ext cx="2150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>
                <a:solidFill>
                  <a:srgbClr val="69BE28"/>
                </a:solidFill>
              </a:rPr>
              <a:t>INTERNAL USE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44134"/>
            <a:ext cx="10972800" cy="4289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E407ED3-1AE6-B76A-573D-A3DEBA6B21D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261725" y="63500"/>
            <a:ext cx="9017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4183800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</p:sldLayoutIdLst>
  <p:txStyles>
    <p:titleStyle>
      <a:lvl1pPr algn="ctr" defTabSz="457200" rtl="0" eaLnBrk="1" latinLnBrk="0" hangingPunct="1">
        <a:lnSpc>
          <a:spcPct val="80000"/>
        </a:lnSpc>
        <a:spcBef>
          <a:spcPct val="0"/>
        </a:spcBef>
        <a:buNone/>
        <a:defRPr sz="4400" b="1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Font typeface="Lucida Grande"/>
        <a:buChar char="▪"/>
        <a:defRPr sz="32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Lucida Grande"/>
        <a:buChar char="▪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▪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/>
          <p:cNvSpPr txBox="1">
            <a:spLocks/>
          </p:cNvSpPr>
          <p:nvPr/>
        </p:nvSpPr>
        <p:spPr>
          <a:xfrm>
            <a:off x="1921934" y="6273801"/>
            <a:ext cx="2150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>
                <a:solidFill>
                  <a:schemeClr val="accent3"/>
                </a:solidFill>
              </a:rPr>
              <a:t>INTERNAL USE</a:t>
            </a:r>
          </a:p>
        </p:txBody>
      </p:sp>
      <p:pic>
        <p:nvPicPr>
          <p:cNvPr id="17" name="Picture 16" descr="Logotyp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4831" y="6361222"/>
            <a:ext cx="1030680" cy="190561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8168"/>
            <a:ext cx="10972800" cy="4615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5D63AAC-0FBE-768D-C879-BE5B73016BB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261725" y="63500"/>
            <a:ext cx="9017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2162664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b="1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SzPct val="100000"/>
        <a:buFont typeface="Lucida Grande"/>
        <a:buChar char="▪"/>
        <a:defRPr sz="3200" kern="1200" spc="-15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 spc="-15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Lucida Grande"/>
        <a:buChar char="▪"/>
        <a:defRPr sz="2400" kern="1200" spc="-15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spc="-15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▪"/>
        <a:defRPr sz="2000" kern="1200" spc="-15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10972800" cy="11345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44134"/>
            <a:ext cx="10972800" cy="4289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32333" y="6278672"/>
            <a:ext cx="12365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fld id="{466F5787-C088-4338-8CAA-D9B8EF656670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67" y="6278672"/>
            <a:ext cx="4047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8912" y="6278672"/>
            <a:ext cx="1413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rgbClr val="F3821E"/>
                </a:solidFill>
              </a:defRPr>
            </a:lvl1pPr>
          </a:lstStyle>
          <a:p>
            <a:fld id="{1D2AD4B2-8138-4DC5-A1C6-DD4BC90D8E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Logotype.pn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37" y="6361223"/>
            <a:ext cx="1014375" cy="190561"/>
          </a:xfrm>
          <a:prstGeom prst="rect">
            <a:avLst/>
          </a:prstGeom>
        </p:spPr>
      </p:pic>
      <p:sp>
        <p:nvSpPr>
          <p:cNvPr id="9" name="Footer Placeholder 4"/>
          <p:cNvSpPr txBox="1">
            <a:spLocks/>
          </p:cNvSpPr>
          <p:nvPr/>
        </p:nvSpPr>
        <p:spPr>
          <a:xfrm>
            <a:off x="1921934" y="6273801"/>
            <a:ext cx="2150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>
                <a:solidFill>
                  <a:srgbClr val="F3821E"/>
                </a:solidFill>
              </a:rPr>
              <a:t>CONFIDENTIAL A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853898C-102B-5A66-7E86-08782374CE8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261725" y="63500"/>
            <a:ext cx="9017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4044190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</p:sldLayoutIdLst>
  <p:txStyles>
    <p:titleStyle>
      <a:lvl1pPr algn="ctr" defTabSz="457200" rtl="0" eaLnBrk="1" latinLnBrk="0" hangingPunct="1">
        <a:lnSpc>
          <a:spcPct val="80000"/>
        </a:lnSpc>
        <a:spcBef>
          <a:spcPct val="0"/>
        </a:spcBef>
        <a:buNone/>
        <a:defRPr sz="4400" b="1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Font typeface="Calibri Bold"/>
        <a:buChar char="▪"/>
        <a:defRPr sz="32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1"/>
        </a:buClr>
        <a:buFont typeface="Calibri Bold"/>
        <a:buChar char="•"/>
        <a:defRPr sz="28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Calibri Bold"/>
        <a:buChar char="▪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1"/>
        </a:buClr>
        <a:buFont typeface="Calibri Bold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1"/>
        </a:buClr>
        <a:buFont typeface="Calibri Bold"/>
        <a:buChar char="▪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4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GDB </a:t>
            </a:r>
            <a:r>
              <a:rPr lang="en-US" altLang="zh-TW" dirty="0"/>
              <a:t>T</a:t>
            </a:r>
            <a:r>
              <a:rPr lang="en-US" dirty="0"/>
              <a:t>ool for ADSP Guide</a:t>
            </a:r>
          </a:p>
        </p:txBody>
      </p:sp>
    </p:spTree>
    <p:extLst>
      <p:ext uri="{BB962C8B-B14F-4D97-AF65-F5344CB8AC3E}">
        <p14:creationId xmlns:p14="http://schemas.microsoft.com/office/powerpoint/2010/main" val="584026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Environment Setting</a:t>
            </a:r>
          </a:p>
          <a:p>
            <a:r>
              <a:rPr lang="en-US" dirty="0"/>
              <a:t>User Guide</a:t>
            </a:r>
          </a:p>
          <a:p>
            <a:r>
              <a:rPr lang="en-US" dirty="0"/>
              <a:t>[Options] SYS_ADSP_DUMP Memory Layout</a:t>
            </a:r>
          </a:p>
          <a:p>
            <a:r>
              <a:rPr lang="en-US" dirty="0"/>
              <a:t>Trouble Shooting</a:t>
            </a:r>
          </a:p>
        </p:txBody>
      </p:sp>
    </p:spTree>
    <p:extLst>
      <p:ext uri="{BB962C8B-B14F-4D97-AF65-F5344CB8AC3E}">
        <p14:creationId xmlns:p14="http://schemas.microsoft.com/office/powerpoint/2010/main" val="3168808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Environment Setting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User Guide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[Options] SYS_ADSP_DUMP Memory Layout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Trouble Shooting</a:t>
            </a:r>
          </a:p>
        </p:txBody>
      </p:sp>
    </p:spTree>
    <p:extLst>
      <p:ext uri="{BB962C8B-B14F-4D97-AF65-F5344CB8AC3E}">
        <p14:creationId xmlns:p14="http://schemas.microsoft.com/office/powerpoint/2010/main" val="498514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Setting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609600" y="1249680"/>
            <a:ext cx="10972800" cy="491892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Requirement: </a:t>
            </a:r>
          </a:p>
          <a:p>
            <a:pPr marL="914400" lvl="1" indent="-514350"/>
            <a:r>
              <a:rPr lang="en-US" sz="2000" dirty="0"/>
              <a:t>You </a:t>
            </a:r>
            <a:r>
              <a:rPr lang="en-US" sz="2000" dirty="0">
                <a:solidFill>
                  <a:srgbClr val="FF0000"/>
                </a:solidFill>
              </a:rPr>
              <a:t>“</a:t>
            </a:r>
            <a:r>
              <a:rPr lang="en-US" sz="2000" b="1" dirty="0">
                <a:solidFill>
                  <a:srgbClr val="FF0000"/>
                </a:solidFill>
              </a:rPr>
              <a:t>MUST</a:t>
            </a:r>
            <a:r>
              <a:rPr lang="en-US" sz="2000" dirty="0">
                <a:solidFill>
                  <a:srgbClr val="FF0000"/>
                </a:solidFill>
              </a:rPr>
              <a:t>”</a:t>
            </a:r>
            <a:r>
              <a:rPr lang="en-US" sz="2000" dirty="0"/>
              <a:t> install Python 3 on Linux server,  otherwise the python script would be fail.</a:t>
            </a:r>
          </a:p>
          <a:p>
            <a:pPr marL="914400" lvl="1" indent="-514350"/>
            <a:r>
              <a:rPr lang="en-US" sz="2000" dirty="0"/>
              <a:t>You </a:t>
            </a:r>
            <a:r>
              <a:rPr lang="en-US" sz="2000" dirty="0">
                <a:solidFill>
                  <a:srgbClr val="FF0000"/>
                </a:solidFill>
              </a:rPr>
              <a:t>“</a:t>
            </a:r>
            <a:r>
              <a:rPr lang="en-US" sz="2000" b="1" dirty="0">
                <a:solidFill>
                  <a:srgbClr val="FF0000"/>
                </a:solidFill>
              </a:rPr>
              <a:t>MUST</a:t>
            </a:r>
            <a:r>
              <a:rPr lang="en-US" sz="2000" dirty="0">
                <a:solidFill>
                  <a:srgbClr val="FF0000"/>
                </a:solidFill>
              </a:rPr>
              <a:t>”</a:t>
            </a:r>
            <a:r>
              <a:rPr lang="en-US" sz="2000" dirty="0"/>
              <a:t> get the </a:t>
            </a:r>
            <a:r>
              <a:rPr lang="en-US" sz="2000" dirty="0" err="1"/>
              <a:t>XtensaTool</a:t>
            </a:r>
            <a:r>
              <a:rPr lang="en-US" sz="2000" dirty="0"/>
              <a:t> which download from cadence.</a:t>
            </a:r>
          </a:p>
          <a:p>
            <a:pPr marL="914400" lvl="1" indent="-514350"/>
            <a:r>
              <a:rPr lang="en-US" sz="2000" dirty="0"/>
              <a:t>You </a:t>
            </a:r>
            <a:r>
              <a:rPr lang="en-US" sz="2000" dirty="0">
                <a:solidFill>
                  <a:srgbClr val="FF0000"/>
                </a:solidFill>
              </a:rPr>
              <a:t>“</a:t>
            </a:r>
            <a:r>
              <a:rPr lang="en-US" sz="2000" b="1" dirty="0">
                <a:solidFill>
                  <a:srgbClr val="FF0000"/>
                </a:solidFill>
              </a:rPr>
              <a:t>MUST</a:t>
            </a:r>
            <a:r>
              <a:rPr lang="en-US" sz="2000" dirty="0">
                <a:solidFill>
                  <a:srgbClr val="FF0000"/>
                </a:solidFill>
              </a:rPr>
              <a:t>”</a:t>
            </a:r>
            <a:r>
              <a:rPr lang="en-US" sz="2000" dirty="0"/>
              <a:t> get the license key for using </a:t>
            </a:r>
            <a:r>
              <a:rPr lang="en-US" sz="2000" dirty="0" err="1"/>
              <a:t>XtensaTool</a:t>
            </a:r>
            <a:r>
              <a:rPr lang="en-US" sz="2000" dirty="0"/>
              <a:t> </a:t>
            </a:r>
          </a:p>
          <a:p>
            <a:pPr marL="914400" lvl="1" indent="-514350"/>
            <a:r>
              <a:rPr lang="en-US" sz="2000" dirty="0"/>
              <a:t>You “</a:t>
            </a:r>
            <a:r>
              <a:rPr lang="en-US" sz="2000" b="1" dirty="0">
                <a:solidFill>
                  <a:srgbClr val="FF0000"/>
                </a:solidFill>
              </a:rPr>
              <a:t>MUST</a:t>
            </a:r>
            <a:r>
              <a:rPr lang="en-US" sz="2000" dirty="0"/>
              <a:t>” copy </a:t>
            </a:r>
            <a:r>
              <a:rPr lang="en-US" sz="2000" u="sng" dirty="0"/>
              <a:t>TOOL/GDB_DEBUG/</a:t>
            </a:r>
            <a:r>
              <a:rPr lang="en-US" sz="2000" u="sng" dirty="0" err="1"/>
              <a:t>hifi_debug_v</a:t>
            </a:r>
            <a:r>
              <a:rPr lang="en-US" sz="2000" u="sng" dirty="0" err="1">
                <a:solidFill>
                  <a:srgbClr val="0070C0"/>
                </a:solidFill>
              </a:rPr>
              <a:t>X</a:t>
            </a:r>
            <a:r>
              <a:rPr lang="en-US" sz="2000" u="sng" dirty="0" err="1"/>
              <a:t>p</a:t>
            </a:r>
            <a:r>
              <a:rPr lang="en-US" sz="2000" u="sng" dirty="0" err="1">
                <a:solidFill>
                  <a:srgbClr val="0070C0"/>
                </a:solidFill>
              </a:rPr>
              <a:t>X</a:t>
            </a:r>
            <a:r>
              <a:rPr lang="en-US" sz="2000" u="sng" dirty="0" err="1"/>
              <a:t>.tar.xz</a:t>
            </a:r>
            <a:r>
              <a:rPr lang="en-US" sz="2000" dirty="0"/>
              <a:t> to your Linux Server from </a:t>
            </a:r>
            <a:r>
              <a:rPr lang="en-US" sz="2000" dirty="0" err="1"/>
              <a:t>Aurisys</a:t>
            </a:r>
            <a:r>
              <a:rPr lang="en-US" sz="2000" dirty="0"/>
              <a:t> package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653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</a:t>
            </a:r>
            <a:r>
              <a:rPr lang="en-US" dirty="0" err="1"/>
              <a:t>XtensaTools</a:t>
            </a:r>
            <a:r>
              <a:rPr lang="en-US" dirty="0"/>
              <a:t> from IDE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342" y="1080548"/>
            <a:ext cx="8701315" cy="5427481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17701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License Key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609600" y="1854201"/>
            <a:ext cx="10972800" cy="106171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Please export the License Server Address before using the tool</a:t>
            </a:r>
          </a:p>
          <a:p>
            <a:pPr lvl="1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export XTENSAD_LICENSE_FILE=‘&lt;port&gt;@&lt;server&gt;'</a:t>
            </a:r>
          </a:p>
          <a:p>
            <a:endParaRPr 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522" y="3027680"/>
            <a:ext cx="6134956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29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 </a:t>
            </a:r>
            <a:r>
              <a:rPr lang="en-US" dirty="0" err="1"/>
              <a:t>hifi_debug_vXpX.tar.xz</a:t>
            </a:r>
            <a:r>
              <a:rPr lang="en-US" dirty="0"/>
              <a:t> on server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609600" y="1391920"/>
            <a:ext cx="10972800" cy="4776683"/>
          </a:xfrm>
        </p:spPr>
        <p:txBody>
          <a:bodyPr/>
          <a:lstStyle/>
          <a:p>
            <a:r>
              <a:rPr lang="en-US" dirty="0"/>
              <a:t>Decompress the Tool to </a:t>
            </a:r>
            <a:r>
              <a:rPr lang="en-US" dirty="0" err="1"/>
              <a:t>linux</a:t>
            </a:r>
            <a:r>
              <a:rPr lang="en-US" dirty="0"/>
              <a:t> server</a:t>
            </a:r>
          </a:p>
          <a:p>
            <a:pPr lvl="1"/>
            <a:r>
              <a:rPr lang="en-US" dirty="0"/>
              <a:t>tar </a:t>
            </a:r>
            <a:r>
              <a:rPr lang="en-US" dirty="0" err="1"/>
              <a:t>Jxvf</a:t>
            </a:r>
            <a:r>
              <a:rPr lang="en-US" dirty="0"/>
              <a:t> </a:t>
            </a:r>
            <a:r>
              <a:rPr lang="en-US" dirty="0" err="1"/>
              <a:t>hifi_debug_tool_v</a:t>
            </a:r>
            <a:r>
              <a:rPr lang="en-US" dirty="0" err="1">
                <a:solidFill>
                  <a:srgbClr val="0070C0"/>
                </a:solidFill>
              </a:rPr>
              <a:t>X</a:t>
            </a:r>
            <a:r>
              <a:rPr lang="en-US" dirty="0" err="1"/>
              <a:t>p</a:t>
            </a:r>
            <a:r>
              <a:rPr lang="en-US" dirty="0" err="1">
                <a:solidFill>
                  <a:srgbClr val="0070C0"/>
                </a:solidFill>
              </a:rPr>
              <a:t>X</a:t>
            </a:r>
            <a:r>
              <a:rPr lang="en-US" dirty="0" err="1"/>
              <a:t>.tar.xz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/>
          <a:srcRect t="4646"/>
          <a:stretch/>
        </p:blipFill>
        <p:spPr>
          <a:xfrm>
            <a:off x="1505267" y="2641599"/>
            <a:ext cx="5686425" cy="3642043"/>
          </a:xfrm>
          <a:prstGeom prst="rect">
            <a:avLst/>
          </a:prstGeom>
        </p:spPr>
      </p:pic>
      <p:sp>
        <p:nvSpPr>
          <p:cNvPr id="5" name="橢圓 4"/>
          <p:cNvSpPr/>
          <p:nvPr/>
        </p:nvSpPr>
        <p:spPr>
          <a:xfrm>
            <a:off x="3367941" y="6083883"/>
            <a:ext cx="172720" cy="14224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直線單箭頭接點 6"/>
          <p:cNvCxnSpPr>
            <a:stCxn id="5" idx="6"/>
            <a:endCxn id="8" idx="1"/>
          </p:cNvCxnSpPr>
          <p:nvPr/>
        </p:nvCxnSpPr>
        <p:spPr>
          <a:xfrm>
            <a:off x="3540661" y="6155003"/>
            <a:ext cx="1342106" cy="71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4882767" y="5995290"/>
            <a:ext cx="563727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b="1" dirty="0">
                <a:solidFill>
                  <a:srgbClr val="FF0000"/>
                </a:solidFill>
              </a:rPr>
              <a:t>!!! </a:t>
            </a:r>
            <a:r>
              <a:rPr lang="en-US" sz="2400" b="1" dirty="0">
                <a:solidFill>
                  <a:srgbClr val="FF0000"/>
                </a:solidFill>
              </a:rPr>
              <a:t>copy </a:t>
            </a:r>
            <a:r>
              <a:rPr lang="en-US" b="1" dirty="0" err="1">
                <a:solidFill>
                  <a:srgbClr val="FF0000"/>
                </a:solidFill>
              </a:rPr>
              <a:t>XtensaTool</a:t>
            </a:r>
            <a:r>
              <a:rPr lang="en-US" b="1" dirty="0">
                <a:solidFill>
                  <a:srgbClr val="FF0000"/>
                </a:solidFill>
              </a:rPr>
              <a:t> which download from cadence !!!</a:t>
            </a:r>
          </a:p>
        </p:txBody>
      </p:sp>
    </p:spTree>
    <p:extLst>
      <p:ext uri="{BB962C8B-B14F-4D97-AF65-F5344CB8AC3E}">
        <p14:creationId xmlns:p14="http://schemas.microsoft.com/office/powerpoint/2010/main" val="5695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432001"/>
            <a:ext cx="10972800" cy="716079"/>
          </a:xfrm>
        </p:spPr>
        <p:txBody>
          <a:bodyPr/>
          <a:lstStyle/>
          <a:p>
            <a:r>
              <a:rPr lang="en-US" dirty="0"/>
              <a:t>Auto setup by tool_setup.sh</a:t>
            </a:r>
          </a:p>
        </p:txBody>
      </p:sp>
      <p:sp>
        <p:nvSpPr>
          <p:cNvPr id="9" name="內容版面配置區 2"/>
          <p:cNvSpPr>
            <a:spLocks noGrp="1"/>
          </p:cNvSpPr>
          <p:nvPr>
            <p:ph sz="quarter" idx="13"/>
          </p:nvPr>
        </p:nvSpPr>
        <p:spPr>
          <a:xfrm>
            <a:off x="609600" y="1391920"/>
            <a:ext cx="10972800" cy="4776683"/>
          </a:xfrm>
        </p:spPr>
        <p:txBody>
          <a:bodyPr>
            <a:normAutofit/>
          </a:bodyPr>
          <a:lstStyle/>
          <a:p>
            <a:r>
              <a:rPr lang="en-US" sz="2400" dirty="0"/>
              <a:t>./tool_setup.sh</a:t>
            </a:r>
          </a:p>
          <a:p>
            <a:pPr lvl="1"/>
            <a:r>
              <a:rPr lang="en-US" sz="2000" dirty="0"/>
              <a:t>Show tools support information</a:t>
            </a:r>
          </a:p>
          <a:p>
            <a:r>
              <a:rPr lang="en-US" sz="2400" dirty="0"/>
              <a:t>./tool_setup.sh RI-2021.8</a:t>
            </a:r>
          </a:p>
          <a:p>
            <a:pPr lvl="1"/>
            <a:r>
              <a:rPr lang="en-US" sz="2000" dirty="0"/>
              <a:t>Ex: mt6985 is RI-2021.8, tool setup to RI-2021.8</a:t>
            </a:r>
          </a:p>
          <a:p>
            <a:pPr lvl="1"/>
            <a:r>
              <a:rPr lang="en-US" sz="2000" dirty="0"/>
              <a:t>Create soft link as previous folder structure</a:t>
            </a:r>
          </a:p>
          <a:p>
            <a:pPr lvl="1"/>
            <a:r>
              <a:rPr lang="en-US" sz="2000" dirty="0"/>
              <a:t>Fast-switch different </a:t>
            </a:r>
            <a:r>
              <a:rPr lang="en-US" sz="2000" dirty="0" err="1"/>
              <a:t>xtensatools</a:t>
            </a:r>
            <a:r>
              <a:rPr lang="en-US" sz="2000" dirty="0"/>
              <a:t> version by the script</a:t>
            </a:r>
          </a:p>
          <a:p>
            <a:endParaRPr lang="en-US" sz="2400" dirty="0"/>
          </a:p>
          <a:p>
            <a:endParaRPr lang="en-US" sz="2400" dirty="0"/>
          </a:p>
          <a:p>
            <a:pPr lvl="1"/>
            <a:endParaRPr lang="en-US" sz="2000" dirty="0"/>
          </a:p>
        </p:txBody>
      </p:sp>
      <p:grpSp>
        <p:nvGrpSpPr>
          <p:cNvPr id="14" name="群組 13"/>
          <p:cNvGrpSpPr/>
          <p:nvPr/>
        </p:nvGrpSpPr>
        <p:grpSpPr>
          <a:xfrm>
            <a:off x="1390834" y="3780261"/>
            <a:ext cx="8067675" cy="2286000"/>
            <a:chOff x="609600" y="4126443"/>
            <a:chExt cx="8067675" cy="2286000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4126443"/>
              <a:ext cx="8067675" cy="2286000"/>
            </a:xfrm>
            <a:prstGeom prst="rect">
              <a:avLst/>
            </a:prstGeom>
          </p:spPr>
        </p:pic>
        <p:cxnSp>
          <p:nvCxnSpPr>
            <p:cNvPr id="8" name="直線接點 7"/>
            <p:cNvCxnSpPr/>
            <p:nvPr/>
          </p:nvCxnSpPr>
          <p:spPr>
            <a:xfrm>
              <a:off x="3352800" y="5833323"/>
              <a:ext cx="87376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接點 10"/>
            <p:cNvCxnSpPr/>
            <p:nvPr/>
          </p:nvCxnSpPr>
          <p:spPr>
            <a:xfrm>
              <a:off x="5806440" y="5477723"/>
              <a:ext cx="57912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509520" y="5477723"/>
              <a:ext cx="84328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41201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圖片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218" y="2138854"/>
            <a:ext cx="6594462" cy="387647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Folder Structure (after tool_setup.sh)</a:t>
            </a:r>
          </a:p>
        </p:txBody>
      </p:sp>
      <p:sp>
        <p:nvSpPr>
          <p:cNvPr id="5" name="橢圓 4"/>
          <p:cNvSpPr/>
          <p:nvPr/>
        </p:nvSpPr>
        <p:spPr>
          <a:xfrm>
            <a:off x="4582160" y="2296258"/>
            <a:ext cx="172720" cy="142240"/>
          </a:xfrm>
          <a:prstGeom prst="ellipse">
            <a:avLst/>
          </a:prstGeom>
          <a:solidFill>
            <a:srgbClr val="FF996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橢圓 5"/>
          <p:cNvSpPr/>
          <p:nvPr/>
        </p:nvSpPr>
        <p:spPr>
          <a:xfrm>
            <a:off x="2976880" y="3100572"/>
            <a:ext cx="172720" cy="142240"/>
          </a:xfrm>
          <a:prstGeom prst="ellipse">
            <a:avLst/>
          </a:prstGeom>
          <a:solidFill>
            <a:srgbClr val="FF996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橢圓 6"/>
          <p:cNvSpPr/>
          <p:nvPr/>
        </p:nvSpPr>
        <p:spPr>
          <a:xfrm>
            <a:off x="3688080" y="4328158"/>
            <a:ext cx="172720" cy="142240"/>
          </a:xfrm>
          <a:prstGeom prst="ellipse">
            <a:avLst/>
          </a:prstGeom>
          <a:solidFill>
            <a:srgbClr val="FF996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直線單箭頭接點 9"/>
          <p:cNvCxnSpPr>
            <a:stCxn id="5" idx="6"/>
            <a:endCxn id="11" idx="1"/>
          </p:cNvCxnSpPr>
          <p:nvPr/>
        </p:nvCxnSpPr>
        <p:spPr>
          <a:xfrm flipV="1">
            <a:off x="4754880" y="1842642"/>
            <a:ext cx="1473199" cy="5247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6228079" y="1657976"/>
            <a:ext cx="293624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    Tool script for </a:t>
            </a:r>
            <a:r>
              <a:rPr lang="en-US" dirty="0" err="1"/>
              <a:t>adsp</a:t>
            </a:r>
            <a:r>
              <a:rPr lang="en-US" dirty="0"/>
              <a:t> debug</a:t>
            </a:r>
          </a:p>
        </p:txBody>
      </p:sp>
      <p:sp>
        <p:nvSpPr>
          <p:cNvPr id="16" name="文字方塊 15"/>
          <p:cNvSpPr txBox="1"/>
          <p:nvPr/>
        </p:nvSpPr>
        <p:spPr>
          <a:xfrm>
            <a:off x="153407" y="1621416"/>
            <a:ext cx="362103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Hwcfg</a:t>
            </a:r>
            <a:r>
              <a:rPr lang="en-US" dirty="0">
                <a:solidFill>
                  <a:schemeClr val="tx1"/>
                </a:solidFill>
              </a:rPr>
              <a:t> copy from </a:t>
            </a:r>
            <a:r>
              <a:rPr lang="en-US" dirty="0" err="1">
                <a:solidFill>
                  <a:schemeClr val="tx1"/>
                </a:solidFill>
              </a:rPr>
              <a:t>aurisys</a:t>
            </a:r>
            <a:r>
              <a:rPr lang="en-US" dirty="0">
                <a:solidFill>
                  <a:schemeClr val="tx1"/>
                </a:solidFill>
              </a:rPr>
              <a:t> package</a:t>
            </a:r>
          </a:p>
        </p:txBody>
      </p:sp>
      <p:cxnSp>
        <p:nvCxnSpPr>
          <p:cNvPr id="18" name="直線單箭頭接點 17"/>
          <p:cNvCxnSpPr>
            <a:stCxn id="6" idx="1"/>
            <a:endCxn id="16" idx="2"/>
          </p:cNvCxnSpPr>
          <p:nvPr/>
        </p:nvCxnSpPr>
        <p:spPr>
          <a:xfrm flipH="1" flipV="1">
            <a:off x="1963924" y="1990748"/>
            <a:ext cx="1038250" cy="11306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229607" y="5453289"/>
            <a:ext cx="291999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 err="1"/>
              <a:t>XtensaTool</a:t>
            </a:r>
            <a:r>
              <a:rPr lang="en-US" dirty="0"/>
              <a:t> from </a:t>
            </a:r>
            <a:r>
              <a:rPr lang="en-US" dirty="0" err="1"/>
              <a:t>cadance</a:t>
            </a:r>
            <a:endParaRPr lang="en-US" dirty="0"/>
          </a:p>
        </p:txBody>
      </p:sp>
      <p:cxnSp>
        <p:nvCxnSpPr>
          <p:cNvPr id="22" name="直線單箭頭接點 21"/>
          <p:cNvCxnSpPr>
            <a:stCxn id="7" idx="3"/>
            <a:endCxn id="20" idx="0"/>
          </p:cNvCxnSpPr>
          <p:nvPr/>
        </p:nvCxnSpPr>
        <p:spPr>
          <a:xfrm flipH="1">
            <a:off x="1689604" y="4449567"/>
            <a:ext cx="2023770" cy="10037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肘形接點 24"/>
          <p:cNvCxnSpPr/>
          <p:nvPr/>
        </p:nvCxnSpPr>
        <p:spPr>
          <a:xfrm rot="10800000" flipV="1">
            <a:off x="4938383" y="3070611"/>
            <a:ext cx="4225940" cy="1328667"/>
          </a:xfrm>
          <a:prstGeom prst="bentConnector3">
            <a:avLst>
              <a:gd name="adj1" fmla="val -8182"/>
            </a:avLst>
          </a:prstGeom>
          <a:ln>
            <a:solidFill>
              <a:schemeClr val="accent3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9473696" y="3550036"/>
            <a:ext cx="283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Soft link to </a:t>
            </a:r>
            <a:r>
              <a:rPr lang="en-US" dirty="0" err="1">
                <a:solidFill>
                  <a:srgbClr val="00B050"/>
                </a:solidFill>
              </a:rPr>
              <a:t>XtensaTools</a:t>
            </a:r>
            <a:r>
              <a:rPr lang="en-US" dirty="0">
                <a:solidFill>
                  <a:srgbClr val="00B050"/>
                </a:solidFill>
              </a:rPr>
              <a:t> path</a:t>
            </a:r>
          </a:p>
        </p:txBody>
      </p:sp>
      <p:cxnSp>
        <p:nvCxnSpPr>
          <p:cNvPr id="63" name="肘形接點 62"/>
          <p:cNvCxnSpPr/>
          <p:nvPr/>
        </p:nvCxnSpPr>
        <p:spPr>
          <a:xfrm rot="10800000">
            <a:off x="3688080" y="3212332"/>
            <a:ext cx="2661920" cy="1847348"/>
          </a:xfrm>
          <a:prstGeom prst="bentConnector3">
            <a:avLst>
              <a:gd name="adj1" fmla="val -27863"/>
            </a:avLst>
          </a:prstGeom>
          <a:ln>
            <a:solidFill>
              <a:srgbClr val="00B0F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文字方塊 64"/>
          <p:cNvSpPr txBox="1"/>
          <p:nvPr/>
        </p:nvSpPr>
        <p:spPr>
          <a:xfrm>
            <a:off x="7157842" y="4690349"/>
            <a:ext cx="283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Soft link to </a:t>
            </a:r>
            <a:r>
              <a:rPr lang="en-US" dirty="0" err="1">
                <a:solidFill>
                  <a:srgbClr val="00B0F0"/>
                </a:solidFill>
              </a:rPr>
              <a:t>hwcfg</a:t>
            </a:r>
            <a:r>
              <a:rPr lang="en-US" dirty="0">
                <a:solidFill>
                  <a:srgbClr val="00B0F0"/>
                </a:solidFill>
              </a:rPr>
              <a:t> path</a:t>
            </a:r>
          </a:p>
        </p:txBody>
      </p:sp>
    </p:spTree>
    <p:extLst>
      <p:ext uri="{BB962C8B-B14F-4D97-AF65-F5344CB8AC3E}">
        <p14:creationId xmlns:p14="http://schemas.microsoft.com/office/powerpoint/2010/main" val="3603861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</a:t>
            </a:r>
            <a:r>
              <a:rPr lang="en-US" dirty="0" err="1"/>
              <a:t>params</a:t>
            </a:r>
            <a:r>
              <a:rPr lang="en-US" dirty="0"/>
              <a:t> files to </a:t>
            </a:r>
            <a:r>
              <a:rPr lang="en-US" dirty="0" err="1"/>
              <a:t>XtensaTools</a:t>
            </a:r>
            <a:r>
              <a:rPr lang="en-US" dirty="0"/>
              <a:t>/</a:t>
            </a:r>
            <a:r>
              <a:rPr lang="en-US" dirty="0" err="1"/>
              <a:t>config</a:t>
            </a:r>
            <a:br>
              <a:rPr lang="en-US" dirty="0"/>
            </a:br>
            <a:endParaRPr 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62315"/>
            <a:ext cx="3495675" cy="5248275"/>
          </a:xfrm>
          <a:prstGeom prst="rect">
            <a:avLst/>
          </a:prstGeom>
        </p:spPr>
      </p:pic>
      <p:sp>
        <p:nvSpPr>
          <p:cNvPr id="5" name="右大括弧 4"/>
          <p:cNvSpPr/>
          <p:nvPr/>
        </p:nvSpPr>
        <p:spPr>
          <a:xfrm>
            <a:off x="3045041" y="1899821"/>
            <a:ext cx="133165" cy="138491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橢圓 9"/>
          <p:cNvSpPr/>
          <p:nvPr/>
        </p:nvSpPr>
        <p:spPr>
          <a:xfrm>
            <a:off x="3259388" y="2521159"/>
            <a:ext cx="172720" cy="142240"/>
          </a:xfrm>
          <a:prstGeom prst="ellipse">
            <a:avLst/>
          </a:prstGeom>
          <a:solidFill>
            <a:srgbClr val="FF996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肘形接點 11"/>
          <p:cNvCxnSpPr>
            <a:stCxn id="10" idx="6"/>
          </p:cNvCxnSpPr>
          <p:nvPr/>
        </p:nvCxnSpPr>
        <p:spPr>
          <a:xfrm flipH="1">
            <a:off x="2760955" y="2592279"/>
            <a:ext cx="671153" cy="2752078"/>
          </a:xfrm>
          <a:prstGeom prst="bentConnector4">
            <a:avLst>
              <a:gd name="adj1" fmla="val -200727"/>
              <a:gd name="adj2" fmla="val 1000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3074978" y="3546902"/>
            <a:ext cx="172720" cy="14224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橢圓 22"/>
          <p:cNvSpPr/>
          <p:nvPr/>
        </p:nvSpPr>
        <p:spPr>
          <a:xfrm>
            <a:off x="3074978" y="3958898"/>
            <a:ext cx="172720" cy="14224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肘形接點 24"/>
          <p:cNvCxnSpPr>
            <a:stCxn id="21" idx="6"/>
          </p:cNvCxnSpPr>
          <p:nvPr/>
        </p:nvCxnSpPr>
        <p:spPr>
          <a:xfrm flipH="1">
            <a:off x="2849732" y="3618022"/>
            <a:ext cx="397966" cy="2534203"/>
          </a:xfrm>
          <a:prstGeom prst="bentConnector4">
            <a:avLst>
              <a:gd name="adj1" fmla="val -501364"/>
              <a:gd name="adj2" fmla="val 100097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stCxn id="23" idx="6"/>
          </p:cNvCxnSpPr>
          <p:nvPr/>
        </p:nvCxnSpPr>
        <p:spPr>
          <a:xfrm>
            <a:off x="3247698" y="4030018"/>
            <a:ext cx="199012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 flipV="1">
            <a:off x="1358283" y="1802167"/>
            <a:ext cx="887767" cy="88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 flipV="1">
            <a:off x="1384916" y="4876245"/>
            <a:ext cx="887767" cy="88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1358283" y="3538024"/>
            <a:ext cx="887767" cy="887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 flipV="1">
            <a:off x="1358282" y="3907851"/>
            <a:ext cx="887767" cy="887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 flipV="1">
            <a:off x="1352961" y="5617074"/>
            <a:ext cx="887767" cy="887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856086" y="2478733"/>
            <a:ext cx="5796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Copy</a:t>
            </a:r>
            <a:r>
              <a:rPr lang="en-US" sz="2400" dirty="0">
                <a:solidFill>
                  <a:schemeClr val="accent4"/>
                </a:solidFill>
              </a:rPr>
              <a:t> </a:t>
            </a:r>
            <a:r>
              <a:rPr lang="en-US" dirty="0" err="1"/>
              <a:t>params</a:t>
            </a:r>
            <a:r>
              <a:rPr lang="en-US" dirty="0"/>
              <a:t> files to </a:t>
            </a:r>
            <a:r>
              <a:rPr lang="en-US" b="1" dirty="0">
                <a:solidFill>
                  <a:srgbClr val="FF0000"/>
                </a:solidFill>
              </a:rPr>
              <a:t>related version</a:t>
            </a:r>
            <a:r>
              <a:rPr lang="en-US" dirty="0"/>
              <a:t> of </a:t>
            </a:r>
            <a:r>
              <a:rPr lang="en-US" dirty="0" err="1"/>
              <a:t>XtensaTools</a:t>
            </a:r>
            <a:r>
              <a:rPr lang="en-US" dirty="0"/>
              <a:t>/</a:t>
            </a:r>
            <a:r>
              <a:rPr lang="en-US" dirty="0" err="1"/>
              <a:t>config</a:t>
            </a:r>
            <a:endParaRPr 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5237825" y="4842640"/>
            <a:ext cx="5796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Copy</a:t>
            </a:r>
            <a:r>
              <a:rPr lang="en-US" sz="2400" dirty="0">
                <a:solidFill>
                  <a:schemeClr val="accent4"/>
                </a:solidFill>
              </a:rPr>
              <a:t> </a:t>
            </a:r>
            <a:r>
              <a:rPr lang="en-US" dirty="0" err="1"/>
              <a:t>params</a:t>
            </a:r>
            <a:r>
              <a:rPr lang="en-US" dirty="0"/>
              <a:t> files to </a:t>
            </a:r>
            <a:r>
              <a:rPr lang="en-US" b="1" dirty="0">
                <a:solidFill>
                  <a:srgbClr val="FF0000"/>
                </a:solidFill>
              </a:rPr>
              <a:t>related version</a:t>
            </a:r>
            <a:r>
              <a:rPr lang="en-US" dirty="0"/>
              <a:t> of </a:t>
            </a:r>
            <a:r>
              <a:rPr lang="en-US" dirty="0" err="1"/>
              <a:t>XtensaTools</a:t>
            </a:r>
            <a:r>
              <a:rPr lang="en-US" dirty="0"/>
              <a:t>/</a:t>
            </a:r>
            <a:r>
              <a:rPr lang="en-US" dirty="0" err="1"/>
              <a:t>config</a:t>
            </a:r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F19E28B-721A-A854-9219-91F9730FE39A}"/>
              </a:ext>
            </a:extLst>
          </p:cNvPr>
          <p:cNvSpPr txBox="1"/>
          <p:nvPr/>
        </p:nvSpPr>
        <p:spPr>
          <a:xfrm>
            <a:off x="6563421" y="877649"/>
            <a:ext cx="3723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“Auto copy after hifi_debug_</a:t>
            </a:r>
            <a:r>
              <a:rPr lang="en-US" altLang="zh-TW" b="1" dirty="0">
                <a:solidFill>
                  <a:srgbClr val="0070C0"/>
                </a:solidFill>
              </a:rPr>
              <a:t>v5p3</a:t>
            </a:r>
            <a:r>
              <a:rPr lang="en-US" altLang="zh-TW" b="1" dirty="0"/>
              <a:t>”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646329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Environment Setting</a:t>
            </a:r>
          </a:p>
          <a:p>
            <a:r>
              <a:rPr lang="en-US" dirty="0"/>
              <a:t>User Guide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[Options] SYS_ADSP_DUMP Memory Layout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Trouble Shooting</a:t>
            </a:r>
          </a:p>
        </p:txBody>
      </p:sp>
    </p:spTree>
    <p:extLst>
      <p:ext uri="{BB962C8B-B14F-4D97-AF65-F5344CB8AC3E}">
        <p14:creationId xmlns:p14="http://schemas.microsoft.com/office/powerpoint/2010/main" val="1897423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usage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609600" y="1301578"/>
            <a:ext cx="10972800" cy="4854748"/>
          </a:xfrm>
        </p:spPr>
        <p:txBody>
          <a:bodyPr/>
          <a:lstStyle/>
          <a:p>
            <a:r>
              <a:rPr lang="en-US" sz="2400" dirty="0"/>
              <a:t>cd </a:t>
            </a:r>
            <a:r>
              <a:rPr lang="en-US" sz="2400" dirty="0" err="1"/>
              <a:t>hifi_debug</a:t>
            </a:r>
            <a:r>
              <a:rPr lang="en-US" sz="2400" dirty="0"/>
              <a:t>/</a:t>
            </a:r>
            <a:r>
              <a:rPr lang="en-US" sz="2400" dirty="0" err="1"/>
              <a:t>adsp_debug_tool</a:t>
            </a:r>
            <a:endParaRPr lang="en-US" sz="2400" dirty="0"/>
          </a:p>
          <a:p>
            <a:r>
              <a:rPr lang="en-US" sz="2400" dirty="0"/>
              <a:t>Put the correspond </a:t>
            </a:r>
            <a:r>
              <a:rPr lang="en-US" sz="2400" dirty="0" err="1"/>
              <a:t>hifi</a:t>
            </a:r>
            <a:r>
              <a:rPr lang="en-US" sz="2400" dirty="0" err="1">
                <a:solidFill>
                  <a:srgbClr val="00B0F0"/>
                </a:solidFill>
              </a:rPr>
              <a:t>X</a:t>
            </a:r>
            <a:r>
              <a:rPr lang="en-US" sz="2400" dirty="0" err="1"/>
              <a:t>_</a:t>
            </a:r>
            <a:r>
              <a:rPr lang="en-US" sz="2400" dirty="0" err="1">
                <a:solidFill>
                  <a:srgbClr val="00B0F0"/>
                </a:solidFill>
              </a:rPr>
              <a:t>X</a:t>
            </a:r>
            <a:r>
              <a:rPr lang="en-US" sz="2400" dirty="0" err="1"/>
              <a:t>.elf</a:t>
            </a:r>
            <a:r>
              <a:rPr lang="en-US" sz="2400" dirty="0"/>
              <a:t> and SYS_ADSP_DUMP</a:t>
            </a:r>
          </a:p>
          <a:p>
            <a:r>
              <a:rPr lang="en-US" sz="2400" dirty="0"/>
              <a:t>./debug_adsp.sh ${platform} ${</a:t>
            </a:r>
            <a:r>
              <a:rPr lang="en-US" sz="2400" dirty="0" err="1"/>
              <a:t>elf_path</a:t>
            </a:r>
            <a:r>
              <a:rPr lang="en-US" sz="2400" dirty="0"/>
              <a:t>}</a:t>
            </a:r>
          </a:p>
          <a:p>
            <a:r>
              <a:rPr lang="en-US" sz="2400" dirty="0"/>
              <a:t>Ex</a:t>
            </a:r>
          </a:p>
          <a:p>
            <a:pPr lvl="1"/>
            <a:r>
              <a:rPr lang="en-US" sz="2000" dirty="0"/>
              <a:t>./debug_adsp.sh mt6983 hifi3_a.elf           </a:t>
            </a:r>
            <a:r>
              <a:rPr lang="en-US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;# debug mt6983 </a:t>
            </a:r>
            <a:r>
              <a:rPr lang="en-US" sz="2000" dirty="0" err="1">
                <a:solidFill>
                  <a:schemeClr val="tx1">
                    <a:lumMod val="40000"/>
                    <a:lumOff val="60000"/>
                  </a:schemeClr>
                </a:solidFill>
              </a:rPr>
              <a:t>hifi</a:t>
            </a:r>
            <a:r>
              <a:rPr lang="en-US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 a</a:t>
            </a:r>
          </a:p>
          <a:p>
            <a:pPr lvl="1"/>
            <a:r>
              <a:rPr lang="en-US" sz="2000" dirty="0"/>
              <a:t>./debug_adsp.sh mt6983 hifi3_b.elf</a:t>
            </a:r>
            <a:r>
              <a:rPr lang="en-US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           ;# debug mt6983 </a:t>
            </a:r>
            <a:r>
              <a:rPr lang="en-US" sz="2000" dirty="0" err="1">
                <a:solidFill>
                  <a:schemeClr val="tx1">
                    <a:lumMod val="40000"/>
                    <a:lumOff val="60000"/>
                  </a:schemeClr>
                </a:solidFill>
              </a:rPr>
              <a:t>hifi</a:t>
            </a:r>
            <a:r>
              <a:rPr lang="en-US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 b</a:t>
            </a:r>
          </a:p>
          <a:p>
            <a:pPr lvl="1"/>
            <a:r>
              <a:rPr lang="en-US" sz="2000" dirty="0"/>
              <a:t>./debug_adsp.sh mt6985 hifi5_a.elf           </a:t>
            </a:r>
            <a:r>
              <a:rPr lang="en-US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;# debug mt6985 </a:t>
            </a:r>
            <a:r>
              <a:rPr lang="en-US" sz="2000" dirty="0" err="1">
                <a:solidFill>
                  <a:schemeClr val="tx1">
                    <a:lumMod val="40000"/>
                    <a:lumOff val="60000"/>
                  </a:schemeClr>
                </a:solidFill>
              </a:rPr>
              <a:t>hifi</a:t>
            </a:r>
            <a:r>
              <a:rPr lang="en-US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 a</a:t>
            </a:r>
          </a:p>
          <a:p>
            <a:pPr lvl="1"/>
            <a:r>
              <a:rPr lang="en-US" sz="2000" dirty="0"/>
              <a:t>./debug_adsp.sh mt6985 hifi5_b.elf           </a:t>
            </a:r>
            <a:r>
              <a:rPr lang="en-US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;# debug mt6985 </a:t>
            </a:r>
            <a:r>
              <a:rPr lang="en-US" sz="2000" dirty="0" err="1">
                <a:solidFill>
                  <a:schemeClr val="tx1">
                    <a:lumMod val="40000"/>
                    <a:lumOff val="60000"/>
                  </a:schemeClr>
                </a:solidFill>
              </a:rPr>
              <a:t>hifi</a:t>
            </a:r>
            <a:r>
              <a:rPr lang="en-US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 b</a:t>
            </a:r>
          </a:p>
          <a:p>
            <a:pPr lvl="1"/>
            <a:endParaRPr lang="en-US" sz="20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453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usage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891" y="999268"/>
            <a:ext cx="10284218" cy="5208890"/>
          </a:xfrm>
          <a:prstGeom prst="rect">
            <a:avLst/>
          </a:prstGeom>
        </p:spPr>
      </p:pic>
      <p:cxnSp>
        <p:nvCxnSpPr>
          <p:cNvPr id="5" name="直線接點 4"/>
          <p:cNvCxnSpPr/>
          <p:nvPr/>
        </p:nvCxnSpPr>
        <p:spPr>
          <a:xfrm>
            <a:off x="2840854" y="1145219"/>
            <a:ext cx="175777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5623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Examining the Stack</a:t>
            </a:r>
            <a:br>
              <a:rPr lang="en-US" b="0" dirty="0"/>
            </a:br>
            <a:endParaRPr 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82714" y="1284550"/>
            <a:ext cx="1005840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41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Examining the Data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788" y="1102655"/>
            <a:ext cx="10730514" cy="551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960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Examining the Memory</a:t>
            </a:r>
            <a:br>
              <a:rPr lang="en-US" b="0" dirty="0"/>
            </a:br>
            <a:endParaRPr 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87720" y="1430476"/>
            <a:ext cx="8143875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07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Examining Source Files or Assemble code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749247" y="1854200"/>
            <a:ext cx="869350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938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to other task and show </a:t>
            </a:r>
            <a:r>
              <a:rPr lang="en-US" dirty="0" err="1"/>
              <a:t>backtrace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1981200" y="1314450"/>
            <a:ext cx="8229600" cy="4841876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5" name="Picture 4" descr="image2018-5-22 16-18-57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56660" y="955192"/>
            <a:ext cx="7895208" cy="577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128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Environment Setting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User Guide</a:t>
            </a:r>
          </a:p>
          <a:p>
            <a:r>
              <a:rPr lang="en-US" dirty="0"/>
              <a:t>[Options] SYS_ADSP_DUMP Memory Layout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Trouble Shooting</a:t>
            </a:r>
          </a:p>
        </p:txBody>
      </p:sp>
    </p:spTree>
    <p:extLst>
      <p:ext uri="{BB962C8B-B14F-4D97-AF65-F5344CB8AC3E}">
        <p14:creationId xmlns:p14="http://schemas.microsoft.com/office/powerpoint/2010/main" val="1055978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[Options] SYS_ADSP_DUMP layout</a:t>
            </a:r>
            <a:br>
              <a:rPr lang="en-US" dirty="0"/>
            </a:b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609600" y="1402672"/>
            <a:ext cx="5063231" cy="4753654"/>
          </a:xfrm>
        </p:spPr>
        <p:txBody>
          <a:bodyPr/>
          <a:lstStyle/>
          <a:p>
            <a:r>
              <a:rPr lang="en-US" dirty="0"/>
              <a:t>Mt6985, Mt6886 :</a:t>
            </a:r>
          </a:p>
          <a:p>
            <a:pPr lvl="1"/>
            <a:r>
              <a:rPr lang="en-US" dirty="0"/>
              <a:t>Parse by dump header &amp; elf </a:t>
            </a:r>
          </a:p>
        </p:txBody>
      </p:sp>
      <p:sp>
        <p:nvSpPr>
          <p:cNvPr id="5" name="內容版面配置區 2"/>
          <p:cNvSpPr txBox="1">
            <a:spLocks/>
          </p:cNvSpPr>
          <p:nvPr/>
        </p:nvSpPr>
        <p:spPr>
          <a:xfrm>
            <a:off x="5878590" y="1402672"/>
            <a:ext cx="5063231" cy="4753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Calibri Bold"/>
              <a:buChar char="▪"/>
              <a:defRPr sz="32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Calibri Bold"/>
              <a:buChar char="•"/>
              <a:defRPr sz="2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Calibri Bold"/>
              <a:buChar char="▪"/>
              <a:defRPr sz="24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Calibri Bold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Calibri Bold"/>
              <a:buChar char="▪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Others legacy platform</a:t>
            </a:r>
          </a:p>
          <a:p>
            <a:pPr lvl="1"/>
            <a:r>
              <a:rPr lang="en-US" dirty="0"/>
              <a:t>Parse by Config.ini</a:t>
            </a:r>
          </a:p>
        </p:txBody>
      </p:sp>
      <p:grpSp>
        <p:nvGrpSpPr>
          <p:cNvPr id="12" name="群組 11"/>
          <p:cNvGrpSpPr/>
          <p:nvPr/>
        </p:nvGrpSpPr>
        <p:grpSpPr>
          <a:xfrm>
            <a:off x="6455037" y="2603161"/>
            <a:ext cx="4371975" cy="2352675"/>
            <a:chOff x="6384015" y="2672472"/>
            <a:chExt cx="4371975" cy="2352675"/>
          </a:xfrm>
        </p:grpSpPr>
        <p:pic>
          <p:nvPicPr>
            <p:cNvPr id="8" name="圖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84015" y="2672472"/>
              <a:ext cx="4371975" cy="2352675"/>
            </a:xfrm>
            <a:prstGeom prst="rect">
              <a:avLst/>
            </a:prstGeom>
          </p:spPr>
        </p:pic>
        <p:cxnSp>
          <p:nvCxnSpPr>
            <p:cNvPr id="10" name="直線接點 9"/>
            <p:cNvCxnSpPr/>
            <p:nvPr/>
          </p:nvCxnSpPr>
          <p:spPr>
            <a:xfrm>
              <a:off x="7847859" y="3329125"/>
              <a:ext cx="2396971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字方塊 14"/>
          <p:cNvSpPr txBox="1"/>
          <p:nvPr/>
        </p:nvSpPr>
        <p:spPr>
          <a:xfrm>
            <a:off x="6412053" y="5186749"/>
            <a:ext cx="473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Need to update “config.ini” if memory </a:t>
            </a:r>
            <a:r>
              <a:rPr lang="en-US" b="1" dirty="0" err="1">
                <a:solidFill>
                  <a:srgbClr val="FF0000"/>
                </a:solidFill>
              </a:rPr>
              <a:t>relayout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455" y="2603161"/>
            <a:ext cx="3990975" cy="2905125"/>
          </a:xfrm>
          <a:prstGeom prst="rect">
            <a:avLst/>
          </a:prstGeom>
        </p:spPr>
      </p:pic>
      <p:cxnSp>
        <p:nvCxnSpPr>
          <p:cNvPr id="16" name="直線接點 15"/>
          <p:cNvCxnSpPr/>
          <p:nvPr/>
        </p:nvCxnSpPr>
        <p:spPr>
          <a:xfrm>
            <a:off x="2789067" y="3259814"/>
            <a:ext cx="239697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2406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[Options 1] Parse by dump header </a:t>
            </a:r>
            <a:br>
              <a:rPr lang="en-US" dirty="0"/>
            </a:br>
            <a:endParaRPr lang="en-US" dirty="0"/>
          </a:p>
        </p:txBody>
      </p:sp>
      <p:sp>
        <p:nvSpPr>
          <p:cNvPr id="9" name="矩形 8"/>
          <p:cNvSpPr/>
          <p:nvPr/>
        </p:nvSpPr>
        <p:spPr>
          <a:xfrm>
            <a:off x="701337" y="1877542"/>
            <a:ext cx="8744504" cy="413264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955153260"/>
              </p:ext>
            </p:extLst>
          </p:nvPr>
        </p:nvGraphicFramePr>
        <p:xfrm>
          <a:off x="902565" y="2051566"/>
          <a:ext cx="8392357" cy="3708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98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8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6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Magic: 0xAD5BAD5B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Size: </a:t>
                      </a:r>
                      <a:r>
                        <a:rPr lang="en-US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0x6000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Name: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 err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cfg</a:t>
                      </a:r>
                      <a:endParaRPr lang="en-US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</a:t>
                      </a:r>
                      <a:r>
                        <a:rPr lang="en-US" baseline="0" dirty="0"/>
                        <a:t> dump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Magic: 0xAD5BAD5B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Size: </a:t>
                      </a:r>
                      <a:r>
                        <a:rPr lang="en-US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0x5000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Name: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cfg2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Mem</a:t>
                      </a:r>
                      <a:r>
                        <a:rPr lang="en-US" baseline="0" dirty="0"/>
                        <a:t> dump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Magic: 0xAD5BAD5B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Size: </a:t>
                      </a:r>
                      <a:r>
                        <a:rPr lang="en-US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0x9000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Name: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 err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itcm</a:t>
                      </a:r>
                      <a:endParaRPr lang="en-US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Mem</a:t>
                      </a:r>
                      <a:r>
                        <a:rPr lang="en-US" baseline="0" dirty="0"/>
                        <a:t> dump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Magic: 0xAD5BAD5B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Size: </a:t>
                      </a:r>
                      <a:r>
                        <a:rPr lang="en-US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0x8000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Name: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 err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dtcm</a:t>
                      </a:r>
                      <a:endParaRPr lang="en-US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Mem</a:t>
                      </a:r>
                      <a:r>
                        <a:rPr lang="en-US" baseline="0" dirty="0"/>
                        <a:t> dump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Magic: 0xAD5BAD5B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Size: </a:t>
                      </a:r>
                      <a:r>
                        <a:rPr lang="en-US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0x900000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Name: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 err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sysram</a:t>
                      </a:r>
                      <a:endParaRPr lang="en-US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Mem</a:t>
                      </a:r>
                      <a:r>
                        <a:rPr lang="en-US" baseline="0" dirty="0"/>
                        <a:t> dump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902565" y="5640851"/>
            <a:ext cx="563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……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609600" y="1508210"/>
            <a:ext cx="316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SYS_ADSP_DUMP Binary Layout</a:t>
            </a:r>
          </a:p>
        </p:txBody>
      </p:sp>
    </p:spTree>
    <p:extLst>
      <p:ext uri="{BB962C8B-B14F-4D97-AF65-F5344CB8AC3E}">
        <p14:creationId xmlns:p14="http://schemas.microsoft.com/office/powerpoint/2010/main" val="307141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[Options 1] Parse by dump header (2)</a:t>
            </a:r>
            <a:br>
              <a:rPr lang="en-US" dirty="0"/>
            </a:br>
            <a:endParaRPr 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11275"/>
            <a:ext cx="10734675" cy="78105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47" y="3340932"/>
            <a:ext cx="5286375" cy="1905000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514905" y="2971600"/>
            <a:ext cx="2610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gdb_cmd.txt</a:t>
            </a:r>
          </a:p>
        </p:txBody>
      </p:sp>
      <p:sp>
        <p:nvSpPr>
          <p:cNvPr id="9" name="弧形箭號 (左彎) 8"/>
          <p:cNvSpPr/>
          <p:nvPr/>
        </p:nvSpPr>
        <p:spPr>
          <a:xfrm>
            <a:off x="3124940" y="2167723"/>
            <a:ext cx="621437" cy="2346417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746377" y="2816588"/>
            <a:ext cx="5856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Parse section address by reading specific symbol from elf file</a:t>
            </a:r>
          </a:p>
        </p:txBody>
      </p:sp>
      <p:cxnSp>
        <p:nvCxnSpPr>
          <p:cNvPr id="12" name="直線接點 11"/>
          <p:cNvCxnSpPr/>
          <p:nvPr/>
        </p:nvCxnSpPr>
        <p:spPr>
          <a:xfrm>
            <a:off x="2148396" y="4216893"/>
            <a:ext cx="82562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2148396" y="4378171"/>
            <a:ext cx="82562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2300796" y="4530571"/>
            <a:ext cx="82562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086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[Options 2] Parse by Config.ini</a:t>
            </a:r>
            <a:br>
              <a:rPr lang="en-US" dirty="0"/>
            </a:br>
            <a:endParaRPr lang="en-US" dirty="0"/>
          </a:p>
        </p:txBody>
      </p:sp>
      <p:sp>
        <p:nvSpPr>
          <p:cNvPr id="4" name="矩形 3"/>
          <p:cNvSpPr/>
          <p:nvPr/>
        </p:nvSpPr>
        <p:spPr>
          <a:xfrm>
            <a:off x="310719" y="1701801"/>
            <a:ext cx="3808520" cy="2322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269846356"/>
              </p:ext>
            </p:extLst>
          </p:nvPr>
        </p:nvGraphicFramePr>
        <p:xfrm>
          <a:off x="511947" y="1875824"/>
          <a:ext cx="3367595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67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</a:t>
                      </a:r>
                      <a:r>
                        <a:rPr lang="en-US" baseline="0" dirty="0"/>
                        <a:t> dump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Mem</a:t>
                      </a:r>
                      <a:r>
                        <a:rPr lang="en-US" baseline="0" dirty="0"/>
                        <a:t> dump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Mem</a:t>
                      </a:r>
                      <a:r>
                        <a:rPr lang="en-US" baseline="0" dirty="0"/>
                        <a:t> dump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Mem</a:t>
                      </a:r>
                      <a:r>
                        <a:rPr lang="en-US" baseline="0" dirty="0"/>
                        <a:t> dump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Mem</a:t>
                      </a:r>
                      <a:r>
                        <a:rPr lang="en-US" baseline="0" dirty="0"/>
                        <a:t> dump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511947" y="3654476"/>
            <a:ext cx="563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……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218982" y="1332468"/>
            <a:ext cx="316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SYS_ADSP_DUMP Binary Layout</a:t>
            </a:r>
          </a:p>
        </p:txBody>
      </p:sp>
      <p:pic>
        <p:nvPicPr>
          <p:cNvPr id="8" name="內容版面配置區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09857" y="1295967"/>
            <a:ext cx="3371850" cy="5086350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82093" y="1295967"/>
            <a:ext cx="3590925" cy="3409950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218982" y="4429957"/>
            <a:ext cx="3521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./debug_adsp.sh </a:t>
            </a:r>
            <a:r>
              <a:rPr lang="en-US" b="1" dirty="0">
                <a:solidFill>
                  <a:srgbClr val="FF0000"/>
                </a:solidFill>
              </a:rPr>
              <a:t>mt6885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hifi3_a.elf</a:t>
            </a:r>
          </a:p>
        </p:txBody>
      </p:sp>
      <p:cxnSp>
        <p:nvCxnSpPr>
          <p:cNvPr id="12" name="直線單箭頭接點 11"/>
          <p:cNvCxnSpPr>
            <a:stCxn id="10" idx="3"/>
          </p:cNvCxnSpPr>
          <p:nvPr/>
        </p:nvCxnSpPr>
        <p:spPr>
          <a:xfrm>
            <a:off x="3740587" y="4614623"/>
            <a:ext cx="707126" cy="41901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 flipV="1">
            <a:off x="5734975" y="3373516"/>
            <a:ext cx="2574524" cy="18021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向下箭號 16"/>
          <p:cNvSpPr/>
          <p:nvPr/>
        </p:nvSpPr>
        <p:spPr>
          <a:xfrm>
            <a:off x="10218265" y="3436612"/>
            <a:ext cx="181232" cy="1178011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10151504" y="3588862"/>
            <a:ext cx="18941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SYS_ADSP_DUMP 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sequence</a:t>
            </a:r>
          </a:p>
        </p:txBody>
      </p:sp>
      <p:sp>
        <p:nvSpPr>
          <p:cNvPr id="19" name="文字方塊 18"/>
          <p:cNvSpPr txBox="1"/>
          <p:nvPr/>
        </p:nvSpPr>
        <p:spPr>
          <a:xfrm>
            <a:off x="7969318" y="4840291"/>
            <a:ext cx="411772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File: ./python3/Config.ini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CFG_HIFI3_SRAM_SIZE = SYS_DRAM</a:t>
            </a:r>
            <a:r>
              <a:rPr lang="en-US" sz="1400" dirty="0"/>
              <a:t>:</a:t>
            </a:r>
            <a:br>
              <a:rPr lang="en-US" sz="1400" dirty="0"/>
            </a:br>
            <a:r>
              <a:rPr lang="en-US" sz="1400" dirty="0"/>
              <a:t>should be the same configuration </a:t>
            </a:r>
            <a:r>
              <a:rPr lang="en-US" altLang="zh-TW" sz="1400" dirty="0"/>
              <a:t>at </a:t>
            </a:r>
            <a:r>
              <a:rPr lang="en-US" altLang="zh-TW" sz="1400" i="1" dirty="0">
                <a:solidFill>
                  <a:schemeClr val="accent1"/>
                </a:solidFill>
              </a:rPr>
              <a:t>platform.mk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i="1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[Remind] Generally if Memory optimization or increase heap, you must change the debug layout</a:t>
            </a:r>
          </a:p>
        </p:txBody>
      </p:sp>
    </p:spTree>
    <p:extLst>
      <p:ext uri="{BB962C8B-B14F-4D97-AF65-F5344CB8AC3E}">
        <p14:creationId xmlns:p14="http://schemas.microsoft.com/office/powerpoint/2010/main" val="37230875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(cont.)[Options 2] SYS_ADSP_DUMP Layout</a:t>
            </a:r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358734634"/>
              </p:ext>
            </p:extLst>
          </p:nvPr>
        </p:nvGraphicFramePr>
        <p:xfrm>
          <a:off x="164236" y="1343425"/>
          <a:ext cx="11277602" cy="44384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6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3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3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39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39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39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39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392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Version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600" b="1" u="none" strike="noStrike" dirty="0">
                          <a:effectLst/>
                        </a:rPr>
                        <a:t>V1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600" b="1" u="none" strike="noStrike" dirty="0">
                          <a:effectLst/>
                        </a:rPr>
                        <a:t>V2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600" b="1" u="none" strike="noStrike" dirty="0">
                          <a:effectLst/>
                        </a:rPr>
                        <a:t>V3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600" b="1" u="none" strike="noStrike" dirty="0">
                          <a:effectLst/>
                        </a:rPr>
                        <a:t>V4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5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Platform</a:t>
                      </a:r>
                      <a:br>
                        <a:rPr lang="en-US" sz="1600" b="1" u="none" strike="noStrike" dirty="0">
                          <a:effectLst/>
                        </a:rPr>
                      </a:br>
                      <a:r>
                        <a:rPr lang="en-US" sz="1600" b="1" u="none" strike="noStrike" dirty="0">
                          <a:effectLst/>
                        </a:rPr>
                        <a:t>[Android Version]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mt6779</a:t>
                      </a:r>
                      <a:br>
                        <a:rPr lang="en-US" sz="1600" u="none" strike="noStrike" dirty="0">
                          <a:effectLst/>
                        </a:rPr>
                      </a:br>
                      <a:r>
                        <a:rPr lang="en-US" sz="1600" u="none" strike="noStrike" dirty="0">
                          <a:effectLst/>
                        </a:rPr>
                        <a:t>mt6785 [Q]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mt6885</a:t>
                      </a:r>
                      <a:br>
                        <a:rPr lang="en-US" sz="1600" u="none" strike="noStrike" dirty="0">
                          <a:effectLst/>
                        </a:rPr>
                      </a:br>
                      <a:r>
                        <a:rPr lang="en-US" sz="1600" u="none" strike="noStrike" dirty="0">
                          <a:effectLst/>
                        </a:rPr>
                        <a:t>mt6873</a:t>
                      </a:r>
                    </a:p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mt6893</a:t>
                      </a:r>
                    </a:p>
                  </a:txBody>
                  <a:tcPr marL="72000" marR="72000" marT="8965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mt6853</a:t>
                      </a:r>
                    </a:p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mt6877</a:t>
                      </a:r>
                    </a:p>
                  </a:txBody>
                  <a:tcPr marL="72000" marR="72000" marT="8965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mt6785 [R]</a:t>
                      </a:r>
                      <a:br>
                        <a:rPr lang="en-US" sz="1600" u="none" strike="noStrike" dirty="0">
                          <a:effectLst/>
                        </a:rPr>
                      </a:br>
                      <a:r>
                        <a:rPr lang="en-US" sz="1600" u="none" strike="noStrike" dirty="0">
                          <a:effectLst/>
                        </a:rPr>
                        <a:t>mt</a:t>
                      </a:r>
                      <a:r>
                        <a:rPr lang="en-US" altLang="zh-TW" sz="1600" u="none" strike="noStrike" dirty="0">
                          <a:effectLst/>
                        </a:rPr>
                        <a:t>6781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2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File Size (Around)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14 MB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8 MB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10 MB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8 MB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259">
                <a:tc rowSpan="11"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Layout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Segment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Size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Segment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Size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Segment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Size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Segment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Size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2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ELF Header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8 KB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CFG_REG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24 KB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CFG_REG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24 KB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CFG_REG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64 KB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82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ITCM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36 KB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ITCM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36 KB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ITCM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36 KB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ITCM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36 KB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82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DTCM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32 KB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DTCM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32 KB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DTCM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32 KB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DTCM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32 KB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82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Temp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288 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SYS_DRAM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7 MB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SYS_DRAM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9 MB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SYS_DRAM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7 MB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82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CFG_REG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64 KB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CoreDump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1 KB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CoreDump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1 KB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CoreDump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1 KB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82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SYS_DRAM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7 MB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LOG_A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512 KB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LOG_A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512 KB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LOG_A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512 KB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82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 err="1">
                          <a:effectLst/>
                        </a:rPr>
                        <a:t>CoreDump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1 KB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LOG_B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512 KB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LOG_B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512 KB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LOG_B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512 KB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82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IPI_Buffer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5 MB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 rowSpan="3" gridSpan="2"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gridSpan="2"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 gridSpan="2"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82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LOG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2 MB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651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Reserved Memory</a:t>
                      </a:r>
                      <a:br>
                        <a:rPr lang="en-US" sz="16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*mt6779 only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9 MB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8965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11441838" y="3489529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…….</a:t>
            </a:r>
          </a:p>
        </p:txBody>
      </p:sp>
    </p:spTree>
    <p:extLst>
      <p:ext uri="{BB962C8B-B14F-4D97-AF65-F5344CB8AC3E}">
        <p14:creationId xmlns:p14="http://schemas.microsoft.com/office/powerpoint/2010/main" val="2702861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Environment Setting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User Guide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[Options] SYS_ADSP_DUMP Memory Layout</a:t>
            </a:r>
          </a:p>
          <a:p>
            <a:r>
              <a:rPr lang="en-US" dirty="0"/>
              <a:t>Trouble Shooting</a:t>
            </a:r>
          </a:p>
        </p:txBody>
      </p:sp>
    </p:spTree>
    <p:extLst>
      <p:ext uri="{BB962C8B-B14F-4D97-AF65-F5344CB8AC3E}">
        <p14:creationId xmlns:p14="http://schemas.microsoft.com/office/powerpoint/2010/main" val="995174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Error: </a:t>
            </a:r>
            <a:r>
              <a:rPr lang="en-US" dirty="0" err="1"/>
              <a:t>param</a:t>
            </a:r>
            <a:r>
              <a:rPr lang="en-US" dirty="0"/>
              <a:t> file not in </a:t>
            </a:r>
            <a:r>
              <a:rPr lang="en-US" dirty="0" err="1"/>
              <a:t>config</a:t>
            </a:r>
            <a:r>
              <a:rPr lang="en-US" dirty="0"/>
              <a:t> folder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0654"/>
            <a:ext cx="5962650" cy="2771775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541538" y="4367813"/>
            <a:ext cx="4554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Ans</a:t>
            </a:r>
            <a:r>
              <a:rPr lang="en-US" b="1" dirty="0"/>
              <a:t> : </a:t>
            </a:r>
            <a:r>
              <a:rPr lang="en-US" b="1" dirty="0">
                <a:hlinkClick r:id="rId3" action="ppaction://hlinksldjump"/>
              </a:rPr>
              <a:t>Copy </a:t>
            </a:r>
            <a:r>
              <a:rPr lang="en-US" b="1" dirty="0" err="1">
                <a:hlinkClick r:id="rId3" action="ppaction://hlinksldjump"/>
              </a:rPr>
              <a:t>params</a:t>
            </a:r>
            <a:r>
              <a:rPr lang="en-US" b="1" dirty="0">
                <a:hlinkClick r:id="rId3" action="ppaction://hlinksldjump"/>
              </a:rPr>
              <a:t> files to </a:t>
            </a:r>
            <a:r>
              <a:rPr lang="en-US" b="1" dirty="0" err="1">
                <a:hlinkClick r:id="rId3" action="ppaction://hlinksldjump"/>
              </a:rPr>
              <a:t>XtensaTools</a:t>
            </a:r>
            <a:r>
              <a:rPr lang="en-US" b="1" dirty="0">
                <a:hlinkClick r:id="rId3" action="ppaction://hlinksldjump"/>
              </a:rPr>
              <a:t>/</a:t>
            </a:r>
            <a:r>
              <a:rPr lang="en-US" b="1" dirty="0" err="1">
                <a:hlinkClick r:id="rId3" action="ppaction://hlinksldjump"/>
              </a:rPr>
              <a:t>config</a:t>
            </a:r>
            <a:r>
              <a:rPr lang="en-US" b="1" dirty="0">
                <a:hlinkClick r:id="rId3" action="ppaction://hlinksldjump"/>
              </a:rPr>
              <a:t>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652720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Error: </a:t>
            </a:r>
            <a:r>
              <a:rPr lang="en-US" dirty="0" err="1"/>
              <a:t>Configparser.NoSectionError</a:t>
            </a:r>
            <a:endParaRPr 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09600" y="1366667"/>
            <a:ext cx="6019800" cy="3248025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727969" y="4749553"/>
            <a:ext cx="41408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Ans</a:t>
            </a:r>
            <a:r>
              <a:rPr lang="en-US" dirty="0"/>
              <a:t>: </a:t>
            </a:r>
            <a:r>
              <a:rPr lang="en-US" dirty="0">
                <a:hlinkClick r:id="rId3" action="ppaction://hlinksldjump"/>
              </a:rPr>
              <a:t>[Options 2] Parse by Config.ini </a:t>
            </a:r>
            <a:endParaRPr lang="en-US" dirty="0"/>
          </a:p>
          <a:p>
            <a:endParaRPr lang="en-US" dirty="0"/>
          </a:p>
          <a:p>
            <a:r>
              <a:rPr lang="en-US" dirty="0"/>
              <a:t>Need add the platform layout of </a:t>
            </a:r>
            <a:r>
              <a:rPr lang="en-US" dirty="0" err="1"/>
              <a:t>mt</a:t>
            </a:r>
            <a:r>
              <a:rPr lang="en-US" dirty="0" err="1">
                <a:solidFill>
                  <a:srgbClr val="0070C0"/>
                </a:solidFill>
              </a:rPr>
              <a:t>xxxx</a:t>
            </a:r>
            <a:r>
              <a:rPr lang="en-US" dirty="0" err="1"/>
              <a:t>_</a:t>
            </a:r>
            <a:r>
              <a:rPr lang="en-US" dirty="0" err="1">
                <a:solidFill>
                  <a:srgbClr val="0070C0"/>
                </a:solidFill>
              </a:rPr>
              <a:t>x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9945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Error: could not load ISA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609600" y="1250519"/>
            <a:ext cx="10972800" cy="4314402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mtxxxx-params</a:t>
            </a:r>
            <a:r>
              <a:rPr lang="en-US" dirty="0"/>
              <a:t> path setting is wrong 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78" y="1981357"/>
            <a:ext cx="12022071" cy="3296609"/>
          </a:xfrm>
          <a:prstGeom prst="rect">
            <a:avLst/>
          </a:prstGeom>
        </p:spPr>
      </p:pic>
      <p:cxnSp>
        <p:nvCxnSpPr>
          <p:cNvPr id="7" name="直線接點 6"/>
          <p:cNvCxnSpPr/>
          <p:nvPr/>
        </p:nvCxnSpPr>
        <p:spPr>
          <a:xfrm>
            <a:off x="1873188" y="5175682"/>
            <a:ext cx="745724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61421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(cont.) Error: could not load ISA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6" y="2532310"/>
            <a:ext cx="12068081" cy="219357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09600" y="1151486"/>
            <a:ext cx="106384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Example: </a:t>
            </a:r>
            <a:r>
              <a:rPr lang="en-US" sz="2000" dirty="0" err="1"/>
              <a:t>mtXXXX-params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B050"/>
                </a:solidFill>
              </a:rPr>
              <a:t>Fix</a:t>
            </a:r>
            <a:r>
              <a:rPr lang="en-US" sz="1600" dirty="0"/>
              <a:t> </a:t>
            </a:r>
            <a:r>
              <a:rPr lang="en-US" sz="1600" dirty="0" err="1"/>
              <a:t>hwcfg</a:t>
            </a:r>
            <a:r>
              <a:rPr lang="en-US" sz="1600" dirty="0"/>
              <a:t> relative paths to the location of this file (</a:t>
            </a:r>
            <a:r>
              <a:rPr lang="en-US" sz="1600" dirty="0" err="1"/>
              <a:t>XtensaTools</a:t>
            </a:r>
            <a:r>
              <a:rPr lang="en-US" sz="1600" dirty="0"/>
              <a:t>/</a:t>
            </a:r>
            <a:r>
              <a:rPr lang="en-US" sz="1600" dirty="0" err="1"/>
              <a:t>config</a:t>
            </a:r>
            <a:r>
              <a:rPr lang="en-US" sz="1600" dirty="0"/>
              <a:t>/</a:t>
            </a:r>
            <a:r>
              <a:rPr lang="en-US" sz="1600" dirty="0" err="1"/>
              <a:t>mtxxxx-params</a:t>
            </a:r>
            <a:r>
              <a:rPr lang="en-US" sz="1600" dirty="0"/>
              <a:t>)</a:t>
            </a:r>
          </a:p>
        </p:txBody>
      </p:sp>
      <p:sp>
        <p:nvSpPr>
          <p:cNvPr id="7" name="矩形 6"/>
          <p:cNvSpPr/>
          <p:nvPr/>
        </p:nvSpPr>
        <p:spPr>
          <a:xfrm>
            <a:off x="97286" y="2408417"/>
            <a:ext cx="5672831" cy="244136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/>
          <p:cNvSpPr/>
          <p:nvPr/>
        </p:nvSpPr>
        <p:spPr>
          <a:xfrm>
            <a:off x="6259868" y="2408417"/>
            <a:ext cx="5672831" cy="24413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字方塊 8"/>
          <p:cNvSpPr txBox="1"/>
          <p:nvPr/>
        </p:nvSpPr>
        <p:spPr>
          <a:xfrm>
            <a:off x="4767309" y="2532310"/>
            <a:ext cx="877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Correct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10965667" y="2521685"/>
            <a:ext cx="8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Wrong</a:t>
            </a:r>
          </a:p>
        </p:txBody>
      </p:sp>
    </p:spTree>
    <p:extLst>
      <p:ext uri="{BB962C8B-B14F-4D97-AF65-F5344CB8AC3E}">
        <p14:creationId xmlns:p14="http://schemas.microsoft.com/office/powerpoint/2010/main" val="26203560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EFFD3A-42C1-4122-AC3F-BCAF8CDCE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Error: could not load ISA – port error</a:t>
            </a:r>
            <a:endParaRPr lang="zh-TW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DDA2283-0A11-48FC-AC36-1202D763DC06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438" y="1475294"/>
            <a:ext cx="6848475" cy="420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9BD07D2C-1D24-4806-8385-5BFCA05F2AE1}"/>
              </a:ext>
            </a:extLst>
          </p:cNvPr>
          <p:cNvCxnSpPr/>
          <p:nvPr/>
        </p:nvCxnSpPr>
        <p:spPr>
          <a:xfrm>
            <a:off x="5160438" y="5675819"/>
            <a:ext cx="314855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EDCD05A2-98D2-49F7-8400-CC02FC10DF9C}"/>
              </a:ext>
            </a:extLst>
          </p:cNvPr>
          <p:cNvSpPr txBox="1"/>
          <p:nvPr/>
        </p:nvSpPr>
        <p:spPr>
          <a:xfrm>
            <a:off x="505906" y="1475293"/>
            <a:ext cx="465453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b="1" i="0" dirty="0">
                <a:solidFill>
                  <a:srgbClr val="313131"/>
                </a:solidFill>
                <a:effectLst/>
                <a:latin typeface="Roboto Mono"/>
              </a:rPr>
              <a:t>Ping Specific Port using telnet:</a:t>
            </a:r>
          </a:p>
          <a:p>
            <a:pPr algn="l"/>
            <a:r>
              <a:rPr lang="en-US" altLang="zh-TW" dirty="0">
                <a:solidFill>
                  <a:srgbClr val="23282D"/>
                </a:solidFill>
                <a:latin typeface="Menlo"/>
              </a:rPr>
              <a:t>$ telnet &lt;</a:t>
            </a:r>
            <a:r>
              <a:rPr lang="en-US" altLang="zh-TW" dirty="0" err="1">
                <a:solidFill>
                  <a:srgbClr val="23282D"/>
                </a:solidFill>
                <a:latin typeface="Menlo"/>
              </a:rPr>
              <a:t>ip_address</a:t>
            </a:r>
            <a:r>
              <a:rPr lang="en-US" altLang="zh-TW" dirty="0">
                <a:solidFill>
                  <a:srgbClr val="23282D"/>
                </a:solidFill>
                <a:latin typeface="Menlo"/>
              </a:rPr>
              <a:t>&gt; &lt;</a:t>
            </a:r>
            <a:r>
              <a:rPr lang="en-US" altLang="zh-TW" dirty="0" err="1">
                <a:solidFill>
                  <a:srgbClr val="23282D"/>
                </a:solidFill>
                <a:latin typeface="Menlo"/>
              </a:rPr>
              <a:t>port_number</a:t>
            </a:r>
            <a:r>
              <a:rPr lang="en-US" altLang="zh-TW" dirty="0">
                <a:solidFill>
                  <a:srgbClr val="23282D"/>
                </a:solidFill>
                <a:latin typeface="Menlo"/>
              </a:rPr>
              <a:t>&gt;</a:t>
            </a:r>
          </a:p>
          <a:p>
            <a:pPr algn="l"/>
            <a:r>
              <a:rPr lang="en-US" altLang="zh-TW" b="0" i="0" dirty="0">
                <a:solidFill>
                  <a:srgbClr val="23282D"/>
                </a:solidFill>
                <a:effectLst/>
                <a:latin typeface="Menlo"/>
              </a:rPr>
              <a:t>$ telnet &lt;</a:t>
            </a:r>
            <a:r>
              <a:rPr lang="en-US" altLang="zh-TW" b="0" i="0" dirty="0" err="1">
                <a:solidFill>
                  <a:srgbClr val="23282D"/>
                </a:solidFill>
                <a:effectLst/>
                <a:latin typeface="Menlo"/>
              </a:rPr>
              <a:t>domain_name</a:t>
            </a:r>
            <a:r>
              <a:rPr lang="en-US" altLang="zh-TW" b="0" i="0" dirty="0">
                <a:solidFill>
                  <a:srgbClr val="23282D"/>
                </a:solidFill>
                <a:effectLst/>
                <a:latin typeface="Menlo"/>
              </a:rPr>
              <a:t>&gt; &lt;</a:t>
            </a:r>
            <a:r>
              <a:rPr lang="en-US" altLang="zh-TW" b="0" i="0" dirty="0" err="1">
                <a:solidFill>
                  <a:srgbClr val="23282D"/>
                </a:solidFill>
                <a:effectLst/>
                <a:latin typeface="Menlo"/>
              </a:rPr>
              <a:t>port_number</a:t>
            </a:r>
            <a:r>
              <a:rPr lang="en-US" altLang="zh-TW" b="0" i="0" dirty="0">
                <a:solidFill>
                  <a:srgbClr val="23282D"/>
                </a:solidFill>
                <a:effectLst/>
                <a:latin typeface="Menlo"/>
              </a:rPr>
              <a:t>&gt;</a:t>
            </a:r>
          </a:p>
          <a:p>
            <a:pPr algn="l"/>
            <a:endParaRPr lang="en-US" altLang="zh-TW" dirty="0">
              <a:solidFill>
                <a:srgbClr val="23282D"/>
              </a:solidFill>
              <a:latin typeface="Menlo"/>
            </a:endParaRPr>
          </a:p>
          <a:p>
            <a:pPr algn="l"/>
            <a:r>
              <a:rPr lang="en-US" altLang="zh-TW" b="1" dirty="0">
                <a:solidFill>
                  <a:srgbClr val="0070C0"/>
                </a:solidFill>
                <a:latin typeface="Menlo"/>
              </a:rPr>
              <a:t>If can’t ping the license server, please check the firewall setting or contact to IT for help</a:t>
            </a:r>
            <a:r>
              <a:rPr lang="en-US" altLang="zh-TW" b="1" i="0" dirty="0">
                <a:solidFill>
                  <a:srgbClr val="0070C0"/>
                </a:solidFill>
                <a:effectLst/>
                <a:latin typeface="Roboto Mono"/>
              </a:rPr>
              <a:t> </a:t>
            </a:r>
          </a:p>
          <a:p>
            <a:pPr algn="l"/>
            <a:endParaRPr lang="en-US" altLang="zh-TW" b="1" i="0" dirty="0">
              <a:solidFill>
                <a:srgbClr val="313131"/>
              </a:solidFill>
              <a:effectLst/>
              <a:latin typeface="Roboto Mono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A689F98-2B32-410F-8CD8-F77FC5B37A51}"/>
              </a:ext>
            </a:extLst>
          </p:cNvPr>
          <p:cNvSpPr txBox="1"/>
          <p:nvPr/>
        </p:nvSpPr>
        <p:spPr>
          <a:xfrm>
            <a:off x="505906" y="3390890"/>
            <a:ext cx="2032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hlinkClick r:id="rId3" action="ppaction://hlinksldjump"/>
              </a:rPr>
              <a:t>Ref: Set License Key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722165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2875632"/>
      </p:ext>
    </p:extLst>
  </p:cSld>
  <p:clrMapOvr>
    <a:masterClrMapping/>
  </p:clrMapOvr>
</p:sld>
</file>

<file path=ppt/theme/theme1.xml><?xml version="1.0" encoding="utf-8"?>
<a:theme xmlns:a="http://schemas.openxmlformats.org/drawingml/2006/main" name="MediaTek-Internal_Use">
  <a:themeElements>
    <a:clrScheme name="Custom 7">
      <a:dk1>
        <a:srgbClr val="353630"/>
      </a:dk1>
      <a:lt1>
        <a:sysClr val="window" lastClr="FFFFFF"/>
      </a:lt1>
      <a:dk2>
        <a:srgbClr val="999A94"/>
      </a:dk2>
      <a:lt2>
        <a:srgbClr val="F0F0F0"/>
      </a:lt2>
      <a:accent1>
        <a:srgbClr val="F39A1E"/>
      </a:accent1>
      <a:accent2>
        <a:srgbClr val="00A1DE"/>
      </a:accent2>
      <a:accent3>
        <a:srgbClr val="69BE28"/>
      </a:accent3>
      <a:accent4>
        <a:srgbClr val="D71F85"/>
      </a:accent4>
      <a:accent5>
        <a:srgbClr val="FED100"/>
      </a:accent5>
      <a:accent6>
        <a:srgbClr val="98DBFF"/>
      </a:accent6>
      <a:hlink>
        <a:srgbClr val="000000"/>
      </a:hlink>
      <a:folHlink>
        <a:srgbClr val="5A5A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MediaTek Color Palette">
      <a:dk1>
        <a:srgbClr val="353630"/>
      </a:dk1>
      <a:lt1>
        <a:sysClr val="window" lastClr="FFFFFF"/>
      </a:lt1>
      <a:dk2>
        <a:srgbClr val="999A94"/>
      </a:dk2>
      <a:lt2>
        <a:srgbClr val="F0F0F0"/>
      </a:lt2>
      <a:accent1>
        <a:srgbClr val="F3821E"/>
      </a:accent1>
      <a:accent2>
        <a:srgbClr val="00A1DE"/>
      </a:accent2>
      <a:accent3>
        <a:srgbClr val="69BE28"/>
      </a:accent3>
      <a:accent4>
        <a:srgbClr val="D71F85"/>
      </a:accent4>
      <a:accent5>
        <a:srgbClr val="FED100"/>
      </a:accent5>
      <a:accent6>
        <a:srgbClr val="98DBFF"/>
      </a:accent6>
      <a:hlink>
        <a:srgbClr val="000000"/>
      </a:hlink>
      <a:folHlink>
        <a:srgbClr val="5A5A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ediaTek-Confidential_B">
  <a:themeElements>
    <a:clrScheme name="Custom 6">
      <a:dk1>
        <a:srgbClr val="353630"/>
      </a:dk1>
      <a:lt1>
        <a:sysClr val="window" lastClr="FFFFFF"/>
      </a:lt1>
      <a:dk2>
        <a:srgbClr val="999A94"/>
      </a:dk2>
      <a:lt2>
        <a:srgbClr val="F0F0F0"/>
      </a:lt2>
      <a:accent1>
        <a:srgbClr val="F39A1E"/>
      </a:accent1>
      <a:accent2>
        <a:srgbClr val="00A1DE"/>
      </a:accent2>
      <a:accent3>
        <a:srgbClr val="69BE28"/>
      </a:accent3>
      <a:accent4>
        <a:srgbClr val="D71F85"/>
      </a:accent4>
      <a:accent5>
        <a:srgbClr val="FED100"/>
      </a:accent5>
      <a:accent6>
        <a:srgbClr val="98DBFF"/>
      </a:accent6>
      <a:hlink>
        <a:srgbClr val="000000"/>
      </a:hlink>
      <a:folHlink>
        <a:srgbClr val="5A5A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Custom Design">
  <a:themeElements>
    <a:clrScheme name="MediaTek Color Palette">
      <a:dk1>
        <a:srgbClr val="353630"/>
      </a:dk1>
      <a:lt1>
        <a:sysClr val="window" lastClr="FFFFFF"/>
      </a:lt1>
      <a:dk2>
        <a:srgbClr val="999A94"/>
      </a:dk2>
      <a:lt2>
        <a:srgbClr val="F0F0F0"/>
      </a:lt2>
      <a:accent1>
        <a:srgbClr val="F3821E"/>
      </a:accent1>
      <a:accent2>
        <a:srgbClr val="00A1DE"/>
      </a:accent2>
      <a:accent3>
        <a:srgbClr val="69BE28"/>
      </a:accent3>
      <a:accent4>
        <a:srgbClr val="D71F85"/>
      </a:accent4>
      <a:accent5>
        <a:srgbClr val="FED100"/>
      </a:accent5>
      <a:accent6>
        <a:srgbClr val="98DBFF"/>
      </a:accent6>
      <a:hlink>
        <a:srgbClr val="000000"/>
      </a:hlink>
      <a:folHlink>
        <a:srgbClr val="5A5A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MediaTek">
  <a:themeElements>
    <a:clrScheme name="Custom 5">
      <a:dk1>
        <a:srgbClr val="353630"/>
      </a:dk1>
      <a:lt1>
        <a:sysClr val="window" lastClr="FFFFFF"/>
      </a:lt1>
      <a:dk2>
        <a:srgbClr val="999A94"/>
      </a:dk2>
      <a:lt2>
        <a:srgbClr val="F0F0F0"/>
      </a:lt2>
      <a:accent1>
        <a:srgbClr val="F39A1E"/>
      </a:accent1>
      <a:accent2>
        <a:srgbClr val="00A1DE"/>
      </a:accent2>
      <a:accent3>
        <a:srgbClr val="69BE28"/>
      </a:accent3>
      <a:accent4>
        <a:srgbClr val="D71F85"/>
      </a:accent4>
      <a:accent5>
        <a:srgbClr val="FED100"/>
      </a:accent5>
      <a:accent6>
        <a:srgbClr val="98DBFF"/>
      </a:accent6>
      <a:hlink>
        <a:srgbClr val="000000"/>
      </a:hlink>
      <a:folHlink>
        <a:srgbClr val="5A5A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2_Custom Design">
  <a:themeElements>
    <a:clrScheme name="MediaTek Color Palette">
      <a:dk1>
        <a:srgbClr val="353630"/>
      </a:dk1>
      <a:lt1>
        <a:sysClr val="window" lastClr="FFFFFF"/>
      </a:lt1>
      <a:dk2>
        <a:srgbClr val="999A94"/>
      </a:dk2>
      <a:lt2>
        <a:srgbClr val="F0F0F0"/>
      </a:lt2>
      <a:accent1>
        <a:srgbClr val="F3821E"/>
      </a:accent1>
      <a:accent2>
        <a:srgbClr val="00A1DE"/>
      </a:accent2>
      <a:accent3>
        <a:srgbClr val="69BE28"/>
      </a:accent3>
      <a:accent4>
        <a:srgbClr val="D71F85"/>
      </a:accent4>
      <a:accent5>
        <a:srgbClr val="FED100"/>
      </a:accent5>
      <a:accent6>
        <a:srgbClr val="98DBFF"/>
      </a:accent6>
      <a:hlink>
        <a:srgbClr val="000000"/>
      </a:hlink>
      <a:folHlink>
        <a:srgbClr val="5A5A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1_MediaTek-Internal_Use">
  <a:themeElements>
    <a:clrScheme name="Custom 7">
      <a:dk1>
        <a:srgbClr val="353630"/>
      </a:dk1>
      <a:lt1>
        <a:sysClr val="window" lastClr="FFFFFF"/>
      </a:lt1>
      <a:dk2>
        <a:srgbClr val="999A94"/>
      </a:dk2>
      <a:lt2>
        <a:srgbClr val="F0F0F0"/>
      </a:lt2>
      <a:accent1>
        <a:srgbClr val="F39A1E"/>
      </a:accent1>
      <a:accent2>
        <a:srgbClr val="00A1DE"/>
      </a:accent2>
      <a:accent3>
        <a:srgbClr val="69BE28"/>
      </a:accent3>
      <a:accent4>
        <a:srgbClr val="D71F85"/>
      </a:accent4>
      <a:accent5>
        <a:srgbClr val="FED100"/>
      </a:accent5>
      <a:accent6>
        <a:srgbClr val="98DBFF"/>
      </a:accent6>
      <a:hlink>
        <a:srgbClr val="000000"/>
      </a:hlink>
      <a:folHlink>
        <a:srgbClr val="5A5A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3_Custom Design">
  <a:themeElements>
    <a:clrScheme name="MediaTek Color Palette">
      <a:dk1>
        <a:srgbClr val="353630"/>
      </a:dk1>
      <a:lt1>
        <a:sysClr val="window" lastClr="FFFFFF"/>
      </a:lt1>
      <a:dk2>
        <a:srgbClr val="999A94"/>
      </a:dk2>
      <a:lt2>
        <a:srgbClr val="F0F0F0"/>
      </a:lt2>
      <a:accent1>
        <a:srgbClr val="F3821E"/>
      </a:accent1>
      <a:accent2>
        <a:srgbClr val="00A1DE"/>
      </a:accent2>
      <a:accent3>
        <a:srgbClr val="69BE28"/>
      </a:accent3>
      <a:accent4>
        <a:srgbClr val="D71F85"/>
      </a:accent4>
      <a:accent5>
        <a:srgbClr val="FED100"/>
      </a:accent5>
      <a:accent6>
        <a:srgbClr val="98DBFF"/>
      </a:accent6>
      <a:hlink>
        <a:srgbClr val="000000"/>
      </a:hlink>
      <a:folHlink>
        <a:srgbClr val="5A5A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1_MediaTek">
  <a:themeElements>
    <a:clrScheme name="Custom 5">
      <a:dk1>
        <a:srgbClr val="353630"/>
      </a:dk1>
      <a:lt1>
        <a:sysClr val="window" lastClr="FFFFFF"/>
      </a:lt1>
      <a:dk2>
        <a:srgbClr val="999A94"/>
      </a:dk2>
      <a:lt2>
        <a:srgbClr val="F0F0F0"/>
      </a:lt2>
      <a:accent1>
        <a:srgbClr val="F39A1E"/>
      </a:accent1>
      <a:accent2>
        <a:srgbClr val="00A1DE"/>
      </a:accent2>
      <a:accent3>
        <a:srgbClr val="69BE28"/>
      </a:accent3>
      <a:accent4>
        <a:srgbClr val="D71F85"/>
      </a:accent4>
      <a:accent5>
        <a:srgbClr val="FED100"/>
      </a:accent5>
      <a:accent6>
        <a:srgbClr val="98DBFF"/>
      </a:accent6>
      <a:hlink>
        <a:srgbClr val="000000"/>
      </a:hlink>
      <a:folHlink>
        <a:srgbClr val="5A5A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2A53B7DB280546A20112FD2EF61E0F" ma:contentTypeVersion="8" ma:contentTypeDescription="Create a new document." ma:contentTypeScope="" ma:versionID="93dbae95c85826a351b64e5a9c00c7f1">
  <xsd:schema xmlns:xsd="http://www.w3.org/2001/XMLSchema" xmlns:xs="http://www.w3.org/2001/XMLSchema" xmlns:p="http://schemas.microsoft.com/office/2006/metadata/properties" xmlns:ns2="http://schemas.microsoft.com/sharepoint/v4" xmlns:ns3="8b8cf6ce-236f-4713-896e-b4ec346257bb" xmlns:ns4="58b0650e-828d-46c1-af00-111984e5092a" xmlns:ns5="7a58c3ed-4a22-4d08-9ddf-2c2b66cc6605" targetNamespace="http://schemas.microsoft.com/office/2006/metadata/properties" ma:root="true" ma:fieldsID="f8eeb43b36309ba801eb86731cfe2d05" ns2:_="" ns3:_="" ns4:_="" ns5:_="">
    <xsd:import namespace="http://schemas.microsoft.com/sharepoint/v4"/>
    <xsd:import namespace="8b8cf6ce-236f-4713-896e-b4ec346257bb"/>
    <xsd:import namespace="58b0650e-828d-46c1-af00-111984e5092a"/>
    <xsd:import namespace="7a58c3ed-4a22-4d08-9ddf-2c2b66cc6605"/>
    <xsd:element name="properties">
      <xsd:complexType>
        <xsd:sequence>
          <xsd:element name="documentManagement">
            <xsd:complexType>
              <xsd:all>
                <xsd:element ref="ns2:IconOverlay" minOccurs="0"/>
                <xsd:element ref="ns3:SharedWithUsers" minOccurs="0"/>
                <xsd:element ref="ns4:SharedWithDetails" minOccurs="0"/>
                <xsd:element ref="ns5:Sensi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8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8cf6ce-236f-4713-896e-b4ec346257bb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b0650e-828d-46c1-af00-111984e5092a" elementFormDefault="qualified">
    <xsd:import namespace="http://schemas.microsoft.com/office/2006/documentManagement/types"/>
    <xsd:import namespace="http://schemas.microsoft.com/office/infopath/2007/PartnerControls"/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58c3ed-4a22-4d08-9ddf-2c2b66cc6605" elementFormDefault="qualified">
    <xsd:import namespace="http://schemas.microsoft.com/office/2006/documentManagement/types"/>
    <xsd:import namespace="http://schemas.microsoft.com/office/infopath/2007/PartnerControls"/>
    <xsd:element name="Sensitivity" ma:index="11" nillable="true" ma:displayName="Sensitivity" ma:internalName="Sensitivit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Sensitivity xmlns="7a58c3ed-4a22-4d08-9ddf-2c2b66cc6605">Confidential C/No Encryption</Sensitivity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FEC30C-A98A-4FAE-B77F-17AEA1DB1B5D}"/>
</file>

<file path=customXml/itemProps2.xml><?xml version="1.0" encoding="utf-8"?>
<ds:datastoreItem xmlns:ds="http://schemas.openxmlformats.org/officeDocument/2006/customXml" ds:itemID="{FDF9DDE4-FE30-43EC-B842-B56585D1C418}">
  <ds:schemaRefs>
    <ds:schemaRef ds:uri="http://schemas.microsoft.com/office/2006/metadata/properties"/>
    <ds:schemaRef ds:uri="http://schemas.microsoft.com/sharepoint/v4"/>
    <ds:schemaRef ds:uri="http://purl.org/dc/terms/"/>
    <ds:schemaRef ds:uri="http://schemas.microsoft.com/office/2006/documentManagement/types"/>
    <ds:schemaRef ds:uri="8b8cf6ce-236f-4713-896e-b4ec346257bb"/>
    <ds:schemaRef ds:uri="http://purl.org/dc/elements/1.1/"/>
    <ds:schemaRef ds:uri="http://www.w3.org/XML/1998/namespace"/>
    <ds:schemaRef ds:uri="58b0650e-828d-46c1-af00-111984e5092a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0AD8D09-989E-47B6-9B74-996B61CF1C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MediaTek-Standard</Template>
  <TotalTime>15496</TotalTime>
  <Words>1071</Words>
  <Application>Microsoft Office PowerPoint</Application>
  <PresentationFormat>寬螢幕</PresentationFormat>
  <Paragraphs>241</Paragraphs>
  <Slides>31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9</vt:i4>
      </vt:variant>
      <vt:variant>
        <vt:lpstr>投影片標題</vt:lpstr>
      </vt:variant>
      <vt:variant>
        <vt:i4>31</vt:i4>
      </vt:variant>
    </vt:vector>
  </HeadingPairs>
  <TitlesOfParts>
    <vt:vector size="47" baseType="lpstr">
      <vt:lpstr>Lucida Grande</vt:lpstr>
      <vt:lpstr>Menlo</vt:lpstr>
      <vt:lpstr>Arial</vt:lpstr>
      <vt:lpstr>Calibri</vt:lpstr>
      <vt:lpstr>Calibri Bold</vt:lpstr>
      <vt:lpstr>Roboto Mono</vt:lpstr>
      <vt:lpstr>Wingdings</vt:lpstr>
      <vt:lpstr>MediaTek-Internal_Use</vt:lpstr>
      <vt:lpstr>Custom Design</vt:lpstr>
      <vt:lpstr>MediaTek-Confidential_B</vt:lpstr>
      <vt:lpstr>1_Custom Design</vt:lpstr>
      <vt:lpstr>MediaTek</vt:lpstr>
      <vt:lpstr>2_Custom Design</vt:lpstr>
      <vt:lpstr>1_MediaTek-Internal_Use</vt:lpstr>
      <vt:lpstr>3_Custom Design</vt:lpstr>
      <vt:lpstr>1_MediaTek</vt:lpstr>
      <vt:lpstr>GDB Tool for ADSP Guide</vt:lpstr>
      <vt:lpstr>Agenda</vt:lpstr>
      <vt:lpstr>Agenda</vt:lpstr>
      <vt:lpstr>Environment Setting </vt:lpstr>
      <vt:lpstr>Download XtensaTools from IDE</vt:lpstr>
      <vt:lpstr>Set License Key</vt:lpstr>
      <vt:lpstr>Tar hifi_debug_vXpX.tar.xz on server</vt:lpstr>
      <vt:lpstr>Auto setup by tool_setup.sh</vt:lpstr>
      <vt:lpstr>Folder Structure (after tool_setup.sh)</vt:lpstr>
      <vt:lpstr>Copy params files to XtensaTools/config </vt:lpstr>
      <vt:lpstr>Agenda</vt:lpstr>
      <vt:lpstr>Simple usage</vt:lpstr>
      <vt:lpstr>Simple usage</vt:lpstr>
      <vt:lpstr>Examining the Stack </vt:lpstr>
      <vt:lpstr>Examining the Data</vt:lpstr>
      <vt:lpstr>Examining the Memory </vt:lpstr>
      <vt:lpstr>Examining Source Files or Assemble code</vt:lpstr>
      <vt:lpstr>Switch to other task and show backtrace</vt:lpstr>
      <vt:lpstr>Agenda</vt:lpstr>
      <vt:lpstr>[Options] SYS_ADSP_DUMP layout </vt:lpstr>
      <vt:lpstr>[Options 1] Parse by dump header  </vt:lpstr>
      <vt:lpstr>[Options 1] Parse by dump header (2) </vt:lpstr>
      <vt:lpstr>[Options 2] Parse by Config.ini </vt:lpstr>
      <vt:lpstr>(cont.)[Options 2] SYS_ADSP_DUMP Layout</vt:lpstr>
      <vt:lpstr>Agenda</vt:lpstr>
      <vt:lpstr>Error: param file not in config folder</vt:lpstr>
      <vt:lpstr>Error: Configparser.NoSectionError</vt:lpstr>
      <vt:lpstr>Error: could not load ISA</vt:lpstr>
      <vt:lpstr>(cont.) Error: could not load ISA</vt:lpstr>
      <vt:lpstr>Error: could not load ISA – port error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Hifi3 debug tool v4.0</dc:title>
  <dc:creator>Chien-Wei Hsu (徐健維)</dc:creator>
  <cp:lastModifiedBy>Chien-Wei Hsu (徐健維)</cp:lastModifiedBy>
  <cp:revision>812</cp:revision>
  <dcterms:created xsi:type="dcterms:W3CDTF">2019-08-29T12:11:39Z</dcterms:created>
  <dcterms:modified xsi:type="dcterms:W3CDTF">2024-07-08T09:12:06Z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0x010100FC2A53B7DB280546A20112FD2EF61E0F</vt:lpwstr>
  </property>
  <property fmtid="{D5CDD505-2E9C-101B-9397-08002B2CF9AE}" pid="3" name="MSIP_Label_70e9e632-9c24-4e48-b9cc-72066e7cfd15_Enabled">
    <vt:lpwstr>true</vt:lpwstr>
  </property>
  <property fmtid="{D5CDD505-2E9C-101B-9397-08002B2CF9AE}" pid="4" name="MSIP_Label_70e9e632-9c24-4e48-b9cc-72066e7cfd15_SetDate">
    <vt:lpwstr>2024-07-08T08:42:09Z</vt:lpwstr>
  </property>
  <property fmtid="{D5CDD505-2E9C-101B-9397-08002B2CF9AE}" pid="5" name="MSIP_Label_70e9e632-9c24-4e48-b9cc-72066e7cfd15_Method">
    <vt:lpwstr>Privileged</vt:lpwstr>
  </property>
  <property fmtid="{D5CDD505-2E9C-101B-9397-08002B2CF9AE}" pid="6" name="MSIP_Label_70e9e632-9c24-4e48-b9cc-72066e7cfd15_Name">
    <vt:lpwstr>MTK_Confidential_C_Normal</vt:lpwstr>
  </property>
  <property fmtid="{D5CDD505-2E9C-101B-9397-08002B2CF9AE}" pid="7" name="MSIP_Label_70e9e632-9c24-4e48-b9cc-72066e7cfd15_SiteId">
    <vt:lpwstr>a7687ede-7a6b-4ef6-bace-642f677fbe31</vt:lpwstr>
  </property>
  <property fmtid="{D5CDD505-2E9C-101B-9397-08002B2CF9AE}" pid="8" name="MSIP_Label_70e9e632-9c24-4e48-b9cc-72066e7cfd15_ActionId">
    <vt:lpwstr>b042fd85-9130-47a1-b762-76e1d6d6f8e9</vt:lpwstr>
  </property>
  <property fmtid="{D5CDD505-2E9C-101B-9397-08002B2CF9AE}" pid="9" name="MSIP_Label_70e9e632-9c24-4e48-b9cc-72066e7cfd15_ContentBits">
    <vt:lpwstr>1</vt:lpwstr>
  </property>
  <property fmtid="{D5CDD505-2E9C-101B-9397-08002B2CF9AE}" pid="10" name="ClassificationContentMarkingHeaderLocations">
    <vt:lpwstr>MediaTek-Internal_Use:4\Custom Design:4\MediaTek-Confidential_B:4\1_Custom Design:3\MediaTek:10\2_Custom Design:4\1_MediaTek-Internal_Use:4\3_Custom Design:4\1_MediaTek:10</vt:lpwstr>
  </property>
  <property fmtid="{D5CDD505-2E9C-101B-9397-08002B2CF9AE}" pid="11" name="ClassificationContentMarkingHeaderText">
    <vt:lpwstr>Confidential C</vt:lpwstr>
  </property>
</Properties>
</file>