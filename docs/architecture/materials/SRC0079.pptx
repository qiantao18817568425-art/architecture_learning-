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66" r:id="rId3"/>
    <p:sldId id="692" r:id="rId4"/>
    <p:sldId id="742" r:id="rId5"/>
    <p:sldId id="738" r:id="rId6"/>
    <p:sldId id="739" r:id="rId7"/>
    <p:sldId id="740" r:id="rId8"/>
    <p:sldId id="741" r:id="rId9"/>
    <p:sldId id="376" r:id="rId10"/>
  </p:sldIdLst>
  <p:sldSz cx="24384000" cy="13716000"/>
  <p:notesSz cx="6858000" cy="9144000"/>
  <p:custDataLst>
    <p:tags r:id="rId16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5057" userDrawn="1">
          <p15:clr>
            <a:srgbClr val="A4A3A4"/>
          </p15:clr>
        </p15:guide>
        <p15:guide id="2" orient="horz" pos="5490" userDrawn="1">
          <p15:clr>
            <a:srgbClr val="A4A3A4"/>
          </p15:clr>
        </p15:guide>
        <p15:guide id="4" pos="13054" userDrawn="1">
          <p15:clr>
            <a:srgbClr val="A4A3A4"/>
          </p15:clr>
        </p15:guide>
        <p15:guide id="5" orient="horz" pos="3742" userDrawn="1">
          <p15:clr>
            <a:srgbClr val="A4A3A4"/>
          </p15:clr>
        </p15:guide>
        <p15:guide id="6" orient="horz" pos="6203" userDrawn="1">
          <p15:clr>
            <a:srgbClr val="A4A3A4"/>
          </p15:clr>
        </p15:guide>
        <p15:guide id="10" orient="horz" pos="6719" userDrawn="1">
          <p15:clr>
            <a:srgbClr val="A4A3A4"/>
          </p15:clr>
        </p15:guide>
        <p15:guide id="11" orient="horz" pos="2385" userDrawn="1">
          <p15:clr>
            <a:srgbClr val="A4A3A4"/>
          </p15:clr>
        </p15:guide>
        <p15:guide id="12" orient="horz" pos="3383" userDrawn="1">
          <p15:clr>
            <a:srgbClr val="A4A3A4"/>
          </p15:clr>
        </p15:guide>
        <p15:guide id="13" orient="horz" pos="7886" userDrawn="1">
          <p15:clr>
            <a:srgbClr val="A4A3A4"/>
          </p15:clr>
        </p15:guide>
        <p15:guide id="14" pos="9855" userDrawn="1">
          <p15:clr>
            <a:srgbClr val="A4A3A4"/>
          </p15:clr>
        </p15:guide>
        <p15:guide id="17" pos="5510" userDrawn="1">
          <p15:clr>
            <a:srgbClr val="A4A3A4"/>
          </p15:clr>
        </p15:guide>
        <p15:guide id="21" pos="6297" userDrawn="1">
          <p15:clr>
            <a:srgbClr val="A4A3A4"/>
          </p15:clr>
        </p15:guide>
        <p15:guide id="22" pos="1241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iaoqi" initials="CX" lastIdx="1" clrIdx="0"/>
  <p:cmAuthor id="2" name="Wang Haowei" initials="WH" lastIdx="1" clrIdx="1"/>
  <p:cmAuthor id="0" name="10006509" initials="1" lastIdx="34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" name="李楠10047711" initials="李楠10047711" lastIdx="7" clrIdx="2"/>
  <p:cmAuthor id="310" name="未知用户92" initials="" lastIdx="3" clrIdx="0"/>
  <p:cmAuthor id="4" name="Macy Jin" initials="MJ" lastIdx="1" clrIdx="3"/>
  <p:cmAuthor id="311" name="未知用户74" initials="" lastIdx="5" clrIdx="1"/>
  <p:cmAuthor id="5" name="10028312" initials="wjd" lastIdx="2" clrIdx="4"/>
  <p:cmAuthor id="312" name="未知用户75" initials="" lastIdx="8" clrIdx="0"/>
  <p:cmAuthor id="6" name="10019959" initials="1" lastIdx="33" clrIdx="0"/>
  <p:cmAuthor id="313" name="未知用户76" initials="" lastIdx="1" clrIdx="0"/>
  <p:cmAuthor id="7" name="00196605" initials="0" lastIdx="2" clrIdx="0"/>
  <p:cmAuthor id="314" name="未知用户77" initials="" lastIdx="8" clrIdx="0"/>
  <p:cmAuthor id="8" name="10087098" initials="1" lastIdx="1" clrIdx="7"/>
  <p:cmAuthor id="315" name="未知用户78" initials="" lastIdx="8" clrIdx="0"/>
  <p:cmAuthor id="9" name="DTAX Syxie" initials="syx" lastIdx="7" clrIdx="0"/>
  <p:cmAuthor id="316" name="未知用户79" initials="" lastIdx="1" clrIdx="0"/>
  <p:cmAuthor id="10" name="10011688" initials="LDH" lastIdx="1" clrIdx="9"/>
  <p:cmAuthor id="317" name="未知用户80" initials="" lastIdx="1" clrIdx="0"/>
  <p:cmAuthor id="11" name="Jeannette L Chu" initials="J" lastIdx="40" clrIdx="5"/>
  <p:cmAuthor id="318" name="Harry xu" initials="" lastIdx="1" clrIdx="0"/>
  <p:cmAuthor id="12" name="ZZ" initials="zhedlzhao" lastIdx="9" clrIdx="3"/>
  <p:cmAuthor id="319" name="未知用户27" initials="未" lastIdx="1" clrIdx="0"/>
  <p:cmAuthor id="13" name="袁博10101579" initials="袁" lastIdx="1" clrIdx="13"/>
  <p:cmAuthor id="320" name="未知用户35" initials="未" lastIdx="1" clrIdx="0"/>
  <p:cmAuthor id="14" name="Administrator" initials="A" lastIdx="15" clrIdx="0"/>
  <p:cmAuthor id="321" name="未知用户111" initials="未" lastIdx="1" clrIdx="1"/>
  <p:cmAuthor id="15" name="10025093" initials="1" lastIdx="51" clrIdx="14"/>
  <p:cmAuthor id="16" name="10078380" initials="1" lastIdx="1" clrIdx="15"/>
  <p:cmAuthor id="17" name="00035181" initials="0" lastIdx="1" clrIdx="16"/>
  <p:cmAuthor id="18" name="张燕" initials="MSOffice" lastIdx="1" clrIdx="17"/>
  <p:cmAuthor id="19" name="Saku Uchikawa" initials="S" lastIdx="11" clrIdx="0"/>
  <p:cmAuthor id="20" name="00065088" initials="0" lastIdx="2" clrIdx="19"/>
  <p:cmAuthor id="21" name="10066351" initials="1" lastIdx="2" clrIdx="0"/>
  <p:cmAuthor id="22" name="蔡建楠" initials="caijianna" lastIdx="15" clrIdx="17"/>
  <p:cmAuthor id="23" name="赵诚荣10027092" initials="赵" lastIdx="2" clrIdx="25"/>
  <p:cmAuthor id="24" name="李蕾00009994" initials="李" lastIdx="6" clrIdx="17"/>
  <p:cmAuthor id="25" name="86176" initials="8" lastIdx="1" clrIdx="24"/>
  <p:cmAuthor id="26" name="10270945" initials="1" lastIdx="2" clrIdx="25"/>
  <p:cmAuthor id="27" name="0045000519" initials="0" lastIdx="1" clrIdx="0"/>
  <p:cmAuthor id="28" name="Hou Yingfeng" initials="H" lastIdx="10" clrIdx="23"/>
  <p:cmAuthor id="29" name="10118178" initials="1" lastIdx="1" clrIdx="24"/>
  <p:cmAuthor id="30" name="10056791" initials="ZTE" lastIdx="1" clrIdx="29"/>
  <p:cmAuthor id="31" name="Author" initials="A" lastIdx="0" clrIdx="30"/>
  <p:cmAuthor id="287643681" name="殷格非" initials="殷" lastIdx="2" clrIdx="0"/>
  <p:cmAuthor id="32" name="10033224" initials="1" lastIdx="1" clrIdx="31"/>
  <p:cmAuthor id="287643682" name="z r" initials="zr" lastIdx="5" clrIdx="12"/>
  <p:cmAuthor id="33" name="610007" initials="6" lastIdx="0" clrIdx="32"/>
  <p:cmAuthor id="287643683" name="8310" initials="8" lastIdx="1" clrIdx="35"/>
  <p:cmAuthor id="34" name="Y Y" initials="YY" lastIdx="2" clrIdx="33"/>
  <p:cmAuthor id="287643684" name="Aqf" initials="A" lastIdx="1" clrIdx="36"/>
  <p:cmAuthor id="35" name="Xia Meng 00049798" initials="X" lastIdx="13" clrIdx="36"/>
  <p:cmAuthor id="36" name="关全全10258021" initials="关全全10258021" lastIdx="1" clrIdx="36"/>
  <p:cmAuthor id="37" name="齐晓虹10024015" initials="齐晓虹10024015" lastIdx="1" clrIdx="37"/>
  <p:cmAuthor id="38" name="赵欣" initials="zx" lastIdx="4" clrIdx="37"/>
  <p:cmAuthor id="39" name="10209970" initials="1" lastIdx="6" clrIdx="38"/>
  <p:cmAuthor id="40" name="10133177" initials="1" lastIdx="1" clrIdx="39"/>
  <p:cmAuthor id="41" name="10072453" initials="1" lastIdx="1" clrIdx="40"/>
  <p:cmAuthor id="42" name="未知的使用者77" initials="" lastIdx="1" clrIdx="0"/>
  <p:cmAuthor id="43" name="未知的使用者92" initials="" lastIdx="1" clrIdx="0"/>
  <p:cmAuthor id="44" name="未知的使用者78" initials="" lastIdx="5" clrIdx="1"/>
  <p:cmAuthor id="45" name="10319231" initials="1" lastIdx="3" clrIdx="44"/>
  <p:cmAuthor id="46" name="未知的使用者79" initials="" lastIdx="0" clrIdx="1"/>
  <p:cmAuthor id="47" name="未知用户107" initials="" lastIdx="1" clrIdx="0"/>
  <p:cmAuthor id="48" name="未知的使用者80" initials="" lastIdx="0" clrIdx="0"/>
  <p:cmAuthor id="49" name="未知用户51" initials="" lastIdx="1" clrIdx="1"/>
  <p:cmAuthor id="50" name="未知的使用者82" initials="" lastIdx="1" clrIdx="0"/>
  <p:cmAuthor id="52" name="未知的使用者83" initials="" lastIdx="1" clrIdx="0"/>
  <p:cmAuthor id="191251535" name="沈霄雷" initials="沈" lastIdx="833089" clrIdx="0"/>
  <p:cmAuthor id="53" name="未知的使用者118" initials="" lastIdx="1" clrIdx="0"/>
  <p:cmAuthor id="54" name="未知的使用者84" initials="" lastIdx="1" clrIdx="1"/>
  <p:cmAuthor id="55" name="未知的使用者70" initials="" lastIdx="1" clrIdx="0"/>
  <p:cmAuthor id="56" name="未知的使用者85" initials="" lastIdx="1" clrIdx="0"/>
  <p:cmAuthor id="57" name="未知的使用者40" initials="" lastIdx="1" clrIdx="0"/>
  <p:cmAuthor id="58" name="未知的使用者87" initials="" lastIdx="1" clrIdx="0"/>
  <p:cmAuthor id="59" name="曾红" initials="" lastIdx="0" clrIdx="0"/>
  <p:cmAuthor id="60" name="未知的使用者90" initials="" lastIdx="8" clrIdx="0"/>
  <p:cmAuthor id="61" name="未知的使用者29" initials="" lastIdx="1" clrIdx="0"/>
  <p:cmAuthor id="62" name="未知的使用者91" initials="" lastIdx="1" clrIdx="0"/>
  <p:cmAuthor id="63" name="未知的使用者98" initials="" lastIdx="1" clrIdx="0"/>
  <p:cmAuthor id="64" name="CHRISYU" initials="" lastIdx="1" clrIdx="0"/>
  <p:cmAuthor id="65" name="未知的使用者113" initials="" lastIdx="1" clrIdx="2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Sky123.Org" initials="" lastIdx="1" clrIdx="0"/>
  <p:cmAuthor id="76" name="陈驹洲" initials="A" lastIdx="1" clrIdx="25"/>
  <p:cmAuthor id="77" name="elfinhsu" initials="" lastIdx="1" clrIdx="0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1" name="未知用户19" initials="" lastIdx="1" clrIdx="0"/>
  <p:cmAuthor id="122" name="周宏達JerryChou" initials="" lastIdx="6" clrIdx="2"/>
  <p:cmAuthor id="124" name="未知用户7" initials="" lastIdx="1" clrIdx="0"/>
  <p:cmAuthor id="125" name="未知的使用者56" initials="" lastIdx="1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2000" name="李婧宜_YBferYVR" initials="authorId_1217247658" lastIdx="0" clrIdx="0"/>
  <p:cmAuthor id="159" name="未知用户82" initials="" lastIdx="1" clrIdx="0"/>
  <p:cmAuthor id="2001" name=" " initials="" lastIdx="1" clrIdx="6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691587970" name="小延魔法师" initials="小" lastIdx="1126286" clrIdx="0"/>
  <p:cmAuthor id="167" name="未知用户106" initials="未" lastIdx="1" clrIdx="0"/>
  <p:cmAuthor id="168" name="未知用户116" initials="" lastIdx="1" clrIdx="1"/>
  <p:cmAuthor id="691587971" name="李苗苗00086641" initials="李苗苗00086641" lastIdx="5" clrIdx="50"/>
  <p:cmAuthor id="169" name="未知的使用者150" initials="未" lastIdx="1" clrIdx="0"/>
  <p:cmAuthor id="691587972" name="NTKO" initials="H" lastIdx="2" clrIdx="45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394525608" name="仇怿俊" initials="仇" lastIdx="0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1411827" name="黄晓平" initials="黄" lastIdx="0" clrIdx="0"/>
  <p:cmAuthor id="241" name="未知的使用者63" initials="" lastIdx="1" clrIdx="0"/>
  <p:cmAuthor id="242" name="未知的使用者64" initials="" lastIdx="3" clrIdx="1"/>
  <p:cmAuthor id="1411828" name="徐琳00159163" initials="徐琳00159163" lastIdx="1" clrIdx="37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353158055" name="韩雨" initials="韩" lastIdx="0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78" name="武敏" initials="武" lastIdx="2" clrIdx="8"/>
  <p:cmAuthor id="91" name="Zhao Jing" initials="Z" lastIdx="4" clrIdx="2"/>
  <p:cmAuthor id="191251536" name="MA YOU" initials="MY" lastIdx="1" clrIdx="23"/>
  <p:cmAuthor id="2002" name="song manyi" initials="sm" lastIdx="4" clrIdx="19"/>
  <p:cmAuthor id="2003" name="梁鹏" initials="u" lastIdx="1" clrIdx="35"/>
  <p:cmAuthor id="2004" name="范 斌" initials="范" lastIdx="1" clrIdx="36"/>
  <p:cmAuthor id="1483810881" name="WPS_1679281038" initials="W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73258F"/>
    <a:srgbClr val="C3FBFE"/>
    <a:srgbClr val="98C5DA"/>
    <a:srgbClr val="00749D"/>
    <a:srgbClr val="3461AE"/>
    <a:srgbClr val="A9DAEB"/>
    <a:srgbClr val="2A87A8"/>
    <a:srgbClr val="9BCAF2"/>
    <a:srgbClr val="DE0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82ECD3D-1945-4520-8095-2EB78ED77919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00749D"/>
              </a:solidFill>
              <a:prstDash val="solid"/>
            </a:ln>
          </a:left>
          <a:right>
            <a:ln w="9525" cmpd="sng">
              <a:solidFill>
                <a:srgbClr val="00749D"/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rgbClr val="00749D">
              <a:alpha val="25000"/>
              <a:lumMod val="40000"/>
              <a:lumOff val="60000"/>
            </a:srgbClr>
          </a:solidFill>
        </a:fill>
      </a:tcStyle>
    </a:band2H>
    <a:band1V>
      <a:tcTxStyle/>
      <a:tcStyle>
        <a:tcBdr/>
        <a:fill>
          <a:solidFill>
            <a:srgbClr val="00749D">
              <a:alpha val="25000"/>
              <a:lumMod val="40000"/>
              <a:lumOff val="60000"/>
            </a:srgb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00749D"/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00749D">
              <a:alpha val="40000"/>
              <a:lumMod val="40000"/>
              <a:lumOff val="6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00749D"/>
              </a:solidFill>
              <a:prstDash val="solid"/>
            </a:ln>
          </a:left>
          <a:right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00749D">
              <a:alpha val="40000"/>
              <a:lumMod val="40000"/>
              <a:lumOff val="60000"/>
            </a:srgbClr>
          </a:solidFill>
        </a:fill>
      </a:tcStyle>
    </a:firstCol>
    <a:lastRow>
      <a:tcTxStyle b="on">
        <a:fontRef idx="none">
          <a:srgbClr val="00749D"/>
        </a:fontRef>
      </a:tcTxStyle>
      <a:tcStyle>
        <a:tcBdr>
          <a:left>
            <a:ln w="9525" cmpd="sng">
              <a:solidFill>
                <a:srgbClr val="00749D"/>
              </a:solidFill>
              <a:prstDash val="solid"/>
            </a:ln>
          </a:left>
          <a:right>
            <a:ln w="9525" cmpd="sng">
              <a:solidFill>
                <a:srgbClr val="00749D"/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00749D"/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00749D"/>
        </a:fontRef>
      </a:tcTxStyle>
      <a:tcStyle>
        <a:tcBdr>
          <a:left>
            <a:ln w="9525" cmpd="sng">
              <a:solidFill>
                <a:srgbClr val="00749D"/>
              </a:solidFill>
              <a:prstDash val="solid"/>
            </a:ln>
          </a:left>
          <a:right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00749D"/>
              </a:solidFill>
              <a:prstDash val="solid"/>
            </a:ln>
          </a:left>
          <a:right>
            <a:ln w="9525" cmpd="sng">
              <a:solidFill>
                <a:srgbClr val="00749D"/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00749D"/>
          </a:solidFill>
        </a:fill>
      </a:tcStyle>
    </a:firstRow>
    <a:neCell>
      <a:tcTxStyle/>
      <a:tcStyle>
        <a:tcBdr>
          <a:left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00749D"/>
              </a:solidFill>
              <a:prstDash val="solid"/>
            </a:ln>
          </a:right>
          <a:top>
            <a:ln w="9525" cmpd="sng">
              <a:solidFill>
                <a:srgbClr val="00749D"/>
              </a:solidFill>
              <a:prstDash val="solid"/>
            </a:ln>
          </a:top>
          <a:bottom>
            <a:ln w="9525" cmpd="sng">
              <a:solidFill>
                <a:srgbClr val="00749D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0" autoAdjust="0"/>
    <p:restoredTop sz="91492" autoAdjust="0"/>
  </p:normalViewPr>
  <p:slideViewPr>
    <p:cSldViewPr showGuides="1">
      <p:cViewPr varScale="1">
        <p:scale>
          <a:sx n="36" d="100"/>
          <a:sy n="36" d="100"/>
        </p:scale>
        <p:origin x="893" y="58"/>
      </p:cViewPr>
      <p:guideLst>
        <p:guide orient="horz" pos="5057"/>
        <p:guide orient="horz" pos="5490"/>
        <p:guide pos="13054"/>
        <p:guide orient="horz" pos="3742"/>
        <p:guide orient="horz" pos="6203"/>
        <p:guide orient="horz" pos="6719"/>
        <p:guide orient="horz" pos="2385"/>
        <p:guide orient="horz" pos="3383"/>
        <p:guide orient="horz" pos="7886"/>
        <p:guide pos="9855"/>
        <p:guide pos="5510"/>
        <p:guide pos="6297"/>
        <p:guide pos="1241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3082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9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3" name="lan.png" descr="lan.png"/>
          <p:cNvPicPr>
            <a:picLocks noChangeAspect="1"/>
          </p:cNvPicPr>
          <p:nvPr userDrawn="1"/>
        </p:nvPicPr>
        <p:blipFill>
          <a:blip r:embed="rId2">
            <a:alphaModFix amt="8471"/>
          </a:blip>
          <a:stretch>
            <a:fillRect/>
          </a:stretch>
        </p:blipFill>
        <p:spPr>
          <a:xfrm>
            <a:off x="0" y="615408"/>
            <a:ext cx="8626129" cy="227396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" name="图像" descr="图像"/>
          <p:cNvPicPr>
            <a:picLocks noChangeAspect="1"/>
          </p:cNvPicPr>
          <p:nvPr userDrawn="1"/>
        </p:nvPicPr>
        <p:blipFill>
          <a:blip r:embed="rId3">
            <a:alphaModFix amt="12174"/>
          </a:blip>
          <a:srcRect l="66781" b="2225"/>
          <a:stretch>
            <a:fillRect/>
          </a:stretch>
        </p:blipFill>
        <p:spPr>
          <a:xfrm rot="16200000" flipH="1">
            <a:off x="14359472" y="-5724263"/>
            <a:ext cx="4415454" cy="1578254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318792" y="1203822"/>
            <a:ext cx="12413655" cy="1333698"/>
          </a:xfr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kumimoji="0" lang="zh-CN" altLang="en-US" sz="8000" spc="0" normalizeH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fontAlgn="auto" hangingPunct="0">
              <a:lnSpc>
                <a:spcPct val="100000"/>
              </a:lnSpc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-3649760" y="1694555"/>
            <a:ext cx="2154436" cy="698949"/>
          </a:xfrm>
          <a:prstGeom prst="rect">
            <a:avLst/>
          </a:prstGeom>
          <a:solidFill>
            <a:srgbClr val="DAE2F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-3649760" y="2395947"/>
            <a:ext cx="2154436" cy="698949"/>
          </a:xfrm>
          <a:prstGeom prst="rect">
            <a:avLst/>
          </a:prstGeom>
          <a:solidFill>
            <a:srgbClr val="89AAF5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3649760" y="3094896"/>
            <a:ext cx="2154436" cy="698949"/>
          </a:xfrm>
          <a:prstGeom prst="rect">
            <a:avLst/>
          </a:prstGeom>
          <a:solidFill>
            <a:srgbClr val="07318F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3649760" y="3793845"/>
            <a:ext cx="2154436" cy="698949"/>
          </a:xfrm>
          <a:prstGeom prst="rect">
            <a:avLst/>
          </a:prstGeom>
          <a:solidFill>
            <a:srgbClr val="FFC847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3649760" y="4492794"/>
            <a:ext cx="2154436" cy="698949"/>
          </a:xfrm>
          <a:prstGeom prst="rect">
            <a:avLst/>
          </a:prstGeom>
          <a:solidFill>
            <a:srgbClr val="C2962F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幻灯片副标题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61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2" name="660384004_1290x1720.jpg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章节标题</a:t>
            </a:r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89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议程副标题</a:t>
            </a:r>
          </a:p>
        </p:txBody>
      </p:sp>
      <p:sp>
        <p:nvSpPr>
          <p:cNvPr id="90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说明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7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事实信息</a:t>
            </a:r>
          </a:p>
        </p:txBody>
      </p:sp>
      <p:sp>
        <p:nvSpPr>
          <p:cNvPr id="10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属性</a:t>
            </a:r>
          </a:p>
        </p:txBody>
      </p:sp>
      <p:sp>
        <p:nvSpPr>
          <p:cNvPr id="116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“著名引文”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图像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图像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图像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图像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3" hasCustomPrompt="1"/>
            <p:custDataLst>
              <p:tags r:id="rId2"/>
            </p:custDataLst>
          </p:nvPr>
        </p:nvSpPr>
        <p:spPr>
          <a:xfrm>
            <a:off x="10646151" y="6997200"/>
            <a:ext cx="13714730" cy="1650668"/>
          </a:xfrm>
        </p:spPr>
        <p:txBody>
          <a:bodyPr vert="horz" wrap="square" lIns="0" tIns="0" rIns="0" bIns="0" rtlCol="0">
            <a:normAutofit lnSpcReduction="10000"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72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1828800" indent="0" algn="ctr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80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3657600" indent="0" algn="ctr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None/>
              <a:defRPr sz="7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5486400" indent="0" algn="ctr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None/>
              <a:defRPr sz="64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7315200" indent="0" algn="ctr" defTabSz="914400" rtl="0" eaLnBrk="1" fontAlgn="auto" latinLnBrk="0" hangingPunct="1">
              <a:lnSpc>
                <a:spcPct val="130000"/>
              </a:lnSpc>
              <a:spcBef>
                <a:spcPct val="2000"/>
              </a:spcBef>
              <a:spcAft>
                <a:spcPts val="1000"/>
              </a:spcAft>
              <a:buFont typeface="Arial" panose="020B0604020202020204" pitchFamily="34" charset="0"/>
              <a:buNone/>
              <a:defRPr sz="64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9144000" indent="0" algn="ctr" defTabSz="914400" rtl="0" eaLnBrk="1" latinLnBrk="0" hangingPunct="1">
              <a:lnSpc>
                <a:spcPct val="90000"/>
              </a:lnSpc>
              <a:spcBef>
                <a:spcPct val="402000"/>
              </a:spcBef>
              <a:buFont typeface="Arial" panose="020B0604020202020204" pitchFamily="34" charset="0"/>
              <a:buNone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972800" indent="0" algn="ctr" defTabSz="914400" rtl="0" eaLnBrk="1" latinLnBrk="0" hangingPunct="1">
              <a:lnSpc>
                <a:spcPct val="90000"/>
              </a:lnSpc>
              <a:spcBef>
                <a:spcPct val="402000"/>
              </a:spcBef>
              <a:buFont typeface="Arial" panose="020B0604020202020204" pitchFamily="34" charset="0"/>
              <a:buNone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801600" indent="0" algn="ctr" defTabSz="914400" rtl="0" eaLnBrk="1" latinLnBrk="0" hangingPunct="1">
              <a:lnSpc>
                <a:spcPct val="90000"/>
              </a:lnSpc>
              <a:spcBef>
                <a:spcPct val="402000"/>
              </a:spcBef>
              <a:buFont typeface="Arial" panose="020B0604020202020204" pitchFamily="34" charset="0"/>
              <a:buNone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630400" indent="0" algn="ctr" defTabSz="914400" rtl="0" eaLnBrk="1" latinLnBrk="0" hangingPunct="1">
              <a:lnSpc>
                <a:spcPct val="90000"/>
              </a:lnSpc>
              <a:spcBef>
                <a:spcPct val="402000"/>
              </a:spcBef>
              <a:buFont typeface="Arial" panose="020B0604020202020204" pitchFamily="34" charset="0"/>
              <a:buNone/>
              <a:defRPr sz="6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dirty="0">
                <a:sym typeface="+mn-ea"/>
              </a:rPr>
              <a:t>单击此处编辑副标题</a:t>
            </a:r>
            <a:endParaRPr dirty="0">
              <a:sym typeface="+mn-ea"/>
            </a:endParaRPr>
          </a:p>
        </p:txBody>
      </p:sp>
      <p:sp>
        <p:nvSpPr>
          <p:cNvPr id="8" name="标题 3"/>
          <p:cNvSpPr>
            <a:spLocks noGrp="1"/>
          </p:cNvSpPr>
          <p:nvPr>
            <p:ph type="ctrTitle" idx="2" hasCustomPrompt="1"/>
            <p:custDataLst>
              <p:tags r:id="rId3"/>
            </p:custDataLst>
          </p:nvPr>
        </p:nvSpPr>
        <p:spPr>
          <a:xfrm>
            <a:off x="10646151" y="5045210"/>
            <a:ext cx="13716000" cy="1691640"/>
          </a:xfrm>
        </p:spPr>
        <p:txBody>
          <a:bodyPr vert="horz" wrap="square" lIns="0" tIns="0" rIns="0" bIns="0" rtlCol="0" anchor="b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9600" b="1" i="0" u="none" strike="noStrike" kern="1200" cap="none" spc="5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版面配置區 1"/>
          <p:cNvSpPr>
            <a:spLocks noGrp="1"/>
          </p:cNvSpPr>
          <p:nvPr>
            <p:ph type="title"/>
          </p:nvPr>
        </p:nvSpPr>
        <p:spPr>
          <a:xfrm>
            <a:off x="1234016" y="609750"/>
            <a:ext cx="21915968" cy="19212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lnSpc>
                <a:spcPct val="12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0676028" y="1446908"/>
            <a:ext cx="2496000" cy="626446"/>
          </a:xfrm>
          <a:prstGeom prst="rect">
            <a:avLst/>
          </a:prstGeom>
        </p:spPr>
      </p:pic>
      <p:sp>
        <p:nvSpPr>
          <p:cNvPr id="6" name="文字預留位置 5"/>
          <p:cNvSpPr>
            <a:spLocks noGrp="1"/>
          </p:cNvSpPr>
          <p:nvPr>
            <p:ph type="body" sz="quarter" idx="10" hasCustomPrompt="1"/>
          </p:nvPr>
        </p:nvSpPr>
        <p:spPr>
          <a:xfrm>
            <a:off x="1231902" y="2349676"/>
            <a:ext cx="21915966" cy="8043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000" b="0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zh-TW" altLang="en-US" dirty="0"/>
              <a:t>編輯母片文字樣式</a:t>
            </a:r>
            <a:endParaRPr kumimoji="1" lang="zh-TW" altLang="en-US" dirty="0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16800" y="1216800"/>
            <a:ext cx="21938400" cy="1411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216800" y="2858400"/>
            <a:ext cx="10684800" cy="7632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216800" y="3708000"/>
            <a:ext cx="10684800" cy="87912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2471500" y="2843458"/>
            <a:ext cx="10684800" cy="7632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2471500" y="3708000"/>
            <a:ext cx="10684800" cy="87912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1224000" y="12628800"/>
            <a:ext cx="5400000" cy="6336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8232000" y="12628800"/>
            <a:ext cx="7920000" cy="633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vmlDrawing" Target="../drawings/vmlDrawing1.vml"/><Relationship Id="rId24" Type="http://schemas.openxmlformats.org/officeDocument/2006/relationships/image" Target="../media/image4.emf"/><Relationship Id="rId23" Type="http://schemas.openxmlformats.org/officeDocument/2006/relationships/oleObject" Target="../embeddings/oleObject1.bin"/><Relationship Id="rId22" Type="http://schemas.openxmlformats.org/officeDocument/2006/relationships/tags" Target="../tags/tag1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2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23" imgW="8255" imgH="8255" progId="TCLayout.ActiveDocument.1">
                  <p:embed/>
                </p:oleObj>
              </mc:Choice>
              <mc:Fallback>
                <p:oleObj name="think-cell 幻灯片" r:id="rId23" imgW="8255" imgH="8255" progId="TCLayout.ActiveDocument.1">
                  <p:embed/>
                  <p:pic>
                    <p:nvPicPr>
                      <p:cNvPr id="0" name="图片 2072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image" Target="../media/image9.png"/><Relationship Id="rId7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tags" Target="../tags/tag13.xm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9.xml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3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 descr="WPS图片-抠图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2905" y="161566"/>
            <a:ext cx="4507230" cy="2014855"/>
          </a:xfrm>
          <a:prstGeom prst="rect">
            <a:avLst/>
          </a:prstGeom>
        </p:spPr>
      </p:pic>
      <p:pic>
        <p:nvPicPr>
          <p:cNvPr id="65" name="图层 1.png" descr="图层 1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0258481" y="377466"/>
            <a:ext cx="3644858" cy="96083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5"/>
          <a:srcRect l="100000" t="68294" r="-749" b="28548"/>
          <a:stretch>
            <a:fillRect/>
          </a:stretch>
        </p:blipFill>
        <p:spPr>
          <a:xfrm>
            <a:off x="26866215" y="9998514"/>
            <a:ext cx="146591" cy="6179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31" h="973">
                <a:moveTo>
                  <a:pt x="24" y="0"/>
                </a:moveTo>
                <a:lnTo>
                  <a:pt x="231" y="917"/>
                </a:lnTo>
                <a:lnTo>
                  <a:pt x="187" y="928"/>
                </a:lnTo>
                <a:cubicBezTo>
                  <a:pt x="155" y="936"/>
                  <a:pt x="123" y="943"/>
                  <a:pt x="91" y="951"/>
                </a:cubicBezTo>
                <a:lnTo>
                  <a:pt x="0" y="973"/>
                </a:lnTo>
                <a:lnTo>
                  <a:pt x="0" y="7"/>
                </a:lnTo>
                <a:lnTo>
                  <a:pt x="24" y="0"/>
                </a:lnTo>
                <a:close/>
              </a:path>
            </a:pathLst>
          </a:cu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6"/>
          <a:srcRect l="-25952" t="6780" r="100000" b="64770"/>
          <a:stretch>
            <a:fillRect/>
          </a:stretch>
        </p:blipFill>
        <p:spPr>
          <a:xfrm>
            <a:off x="5783580" y="-1998980"/>
            <a:ext cx="5767705" cy="632272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083" h="9957">
                <a:moveTo>
                  <a:pt x="0" y="0"/>
                </a:moveTo>
                <a:lnTo>
                  <a:pt x="9083" y="0"/>
                </a:lnTo>
                <a:lnTo>
                  <a:pt x="9083" y="9957"/>
                </a:lnTo>
                <a:lnTo>
                  <a:pt x="8931" y="9894"/>
                </a:lnTo>
                <a:cubicBezTo>
                  <a:pt x="6033" y="8689"/>
                  <a:pt x="3097" y="7698"/>
                  <a:pt x="75" y="7198"/>
                </a:cubicBezTo>
                <a:lnTo>
                  <a:pt x="0" y="7186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5" name="图片 4" descr="图片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57108" b="15355"/>
          <a:stretch>
            <a:fillRect/>
          </a:stretch>
        </p:blipFill>
        <p:spPr>
          <a:xfrm flipH="1">
            <a:off x="-1905" y="0"/>
            <a:ext cx="10465435" cy="13771245"/>
          </a:xfrm>
          <a:prstGeom prst="rect">
            <a:avLst/>
          </a:prstGeom>
        </p:spPr>
      </p:pic>
      <p:sp>
        <p:nvSpPr>
          <p:cNvPr id="7" name="平行四边形 6"/>
          <p:cNvSpPr/>
          <p:nvPr/>
        </p:nvSpPr>
        <p:spPr>
          <a:xfrm>
            <a:off x="8520430" y="2465705"/>
            <a:ext cx="20339050" cy="8500745"/>
          </a:xfrm>
          <a:prstGeom prst="parallelogram">
            <a:avLst>
              <a:gd name="adj" fmla="val 45514"/>
            </a:avLst>
          </a:prstGeom>
          <a:solidFill>
            <a:srgbClr val="00749D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平行四边形 7"/>
          <p:cNvSpPr/>
          <p:nvPr>
            <p:custDataLst>
              <p:tags r:id="rId9"/>
            </p:custDataLst>
          </p:nvPr>
        </p:nvSpPr>
        <p:spPr>
          <a:xfrm>
            <a:off x="5718175" y="5274310"/>
            <a:ext cx="20339050" cy="8500745"/>
          </a:xfrm>
          <a:prstGeom prst="parallelogram">
            <a:avLst>
              <a:gd name="adj" fmla="val 45514"/>
            </a:avLst>
          </a:prstGeom>
          <a:solidFill>
            <a:srgbClr val="00749D">
              <a:alpha val="50000"/>
            </a:srgb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8" name="掌锐电子"/>
          <p:cNvSpPr txBox="1">
            <a:spLocks noGrp="1"/>
          </p:cNvSpPr>
          <p:nvPr>
            <p:ph type="ctrTitle"/>
            <p:custDataLst>
              <p:tags r:id="rId10"/>
            </p:custDataLst>
          </p:nvPr>
        </p:nvSpPr>
        <p:spPr>
          <a:xfrm>
            <a:off x="13681710" y="3117215"/>
            <a:ext cx="10459085" cy="2355215"/>
          </a:xfrm>
          <a:prstGeom prst="rect">
            <a:avLst/>
          </a:prstGeom>
        </p:spPr>
        <p:txBody>
          <a:bodyPr/>
          <a:lstStyle>
            <a:lvl1pPr>
              <a:defRPr sz="12800" spc="-256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r"/>
            <a:r>
              <a:rPr sz="10700" dirty="0" err="1">
                <a:solidFill>
                  <a:schemeClr val="bg1"/>
                </a:solidFill>
              </a:rPr>
              <a:t>掌锐电子</a:t>
            </a:r>
            <a:endParaRPr sz="10700" dirty="0" err="1">
              <a:solidFill>
                <a:schemeClr val="bg1"/>
              </a:solidFill>
            </a:endParaRPr>
          </a:p>
        </p:txBody>
      </p:sp>
      <p:pic>
        <p:nvPicPr>
          <p:cNvPr id="9" name="图层 1.png" descr="图层 1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136370" y="3700626"/>
            <a:ext cx="4507230" cy="11880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" name="图片 10" descr="WPS图片-抠图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464780" y="17145"/>
            <a:ext cx="3723005" cy="166433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255"/>
            <a:ext cx="8625840" cy="22738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0277" y="665758"/>
            <a:ext cx="10261600" cy="1086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>
                <a:sym typeface="+mn-ea"/>
              </a:rPr>
              <a:t>一，软件开发培训</a:t>
            </a:r>
            <a:r>
              <a:rPr>
                <a:sym typeface="+mn-ea"/>
              </a:rPr>
              <a:t>计划</a:t>
            </a:r>
            <a:endParaRPr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23085" y="2897505"/>
            <a:ext cx="7642225" cy="30968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>
                <a:sym typeface="Helvetica Neue"/>
              </a:rPr>
              <a:t>1.</a:t>
            </a:r>
            <a:r>
              <a:rPr lang="zh-CN" altLang="en-US" sz="4000">
                <a:sym typeface="Helvetica Neue"/>
              </a:rPr>
              <a:t>基础开发培训</a:t>
            </a:r>
            <a:endParaRPr kumimoji="0" lang="zh-CN" altLang="en-US" sz="40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>
                <a:sym typeface="Helvetica Neue"/>
              </a:rPr>
              <a:t>2.</a:t>
            </a:r>
            <a:r>
              <a:rPr lang="zh-CN" altLang="en-US" sz="4000">
                <a:sym typeface="Helvetica Neue"/>
              </a:rPr>
              <a:t>平台方案培训</a:t>
            </a:r>
            <a:endParaRPr kumimoji="0" lang="zh-CN" altLang="en-US" sz="40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000">
                <a:sym typeface="Helvetica Neue"/>
              </a:rPr>
              <a:t>3.</a:t>
            </a:r>
            <a:r>
              <a:rPr lang="zh-CN" altLang="en-US" sz="4000">
                <a:sym typeface="Helvetica Neue"/>
              </a:rPr>
              <a:t>经典案例分享</a:t>
            </a:r>
            <a:endParaRPr kumimoji="0" lang="zh-CN" altLang="en-US" sz="40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255"/>
            <a:ext cx="8625840" cy="22738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0277" y="665758"/>
            <a:ext cx="10261600" cy="1086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>
                <a:sym typeface="+mn-ea"/>
              </a:rPr>
              <a:t>一，软件开发培训</a:t>
            </a:r>
            <a:r>
              <a:rPr>
                <a:sym typeface="+mn-ea"/>
              </a:rPr>
              <a:t>计划</a:t>
            </a:r>
            <a:endParaRPr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030605" y="1737360"/>
          <a:ext cx="19349085" cy="11953240"/>
        </p:xfrm>
        <a:graphic>
          <a:graphicData uri="http://schemas.openxmlformats.org/drawingml/2006/table">
            <a:tbl>
              <a:tblPr firstRow="1" bandRow="1">
                <a:tableStyleId>{582ECD3D-1945-4520-8095-2EB78ED77919}</a:tableStyleId>
              </a:tblPr>
              <a:tblGrid>
                <a:gridCol w="2979420"/>
                <a:gridCol w="5711825"/>
                <a:gridCol w="5713730"/>
                <a:gridCol w="1788795"/>
                <a:gridCol w="3155315"/>
              </a:tblGrid>
              <a:tr h="382270"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Helvetica Neue (正文)" charset="0"/>
                          <a:cs typeface="Helvetica Neue (正文)" charset="0"/>
                        </a:rPr>
                        <a:t>基础开发</a:t>
                      </a:r>
                      <a:r>
                        <a:rPr lang="zh-CN" altLang="en-US">
                          <a:latin typeface="Helvetica Neue (正文)" charset="0"/>
                          <a:cs typeface="Helvetica Neue (正文)" charset="0"/>
                        </a:rPr>
                        <a:t>培训</a:t>
                      </a:r>
                      <a:endParaRPr lang="zh-CN" altLang="en-US">
                        <a:latin typeface="Helvetica Neue (正文)" charset="0"/>
                        <a:cs typeface="Helvetica Neue (正文)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培训模块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一级目录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二级</a:t>
                      </a: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目录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培训周期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82270">
                <a:tc rowSpan="3">
                  <a:txBody>
                    <a:bodyPr/>
                    <a:p>
                      <a:pPr algn="l" fontAlgn="ctr" latinLnBrk="0"/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一、 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Bootloader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fontAlgn="ctr" latinLnBrk="0"/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1.1 code path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0.1</a:t>
                      </a: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100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1.2 lk2 log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开关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</a:t>
                      </a: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227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1.3 lk to kernel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简单时序图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1000">
                <a:tc rowSpan="2"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二、 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Yocto Kernel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fontAlgn="ctr" latinLnBrk="0">
                        <a:buNone/>
                      </a:pPr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2.1 config &amp; dts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32740">
                <a:tc vMerge="1">
                  <a:tcPr marL="0" marR="0" marT="0" marB="0" anchor="ctr" anchorCtr="0"/>
                </a:tc>
                <a:tc rowSpan="2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增加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ko driver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流程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2"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0">
                <a:tc rowSpan="3"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三、 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Android Kernel</a:t>
                      </a:r>
                      <a:endParaRPr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  <a:p>
                      <a:pPr algn="l" fontAlgn="ctr" latinLnBrk="0">
                        <a:buNone/>
                      </a:pP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 vMerge="1">
                  <a:tcPr/>
                </a:tc>
                <a:tc vMerge="1">
                  <a:tcPr/>
                </a:tc>
              </a:tr>
              <a:tr h="381635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3.1 config&amp;dts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1148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增加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ko driver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流程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572135">
                <a:tc rowSpan="3">
                  <a:txBody>
                    <a:bodyPr/>
                    <a:p>
                      <a:pPr algn="l" fontAlgn="ctr" latinLnBrk="0"/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四、 Yocto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增加一个应用流程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包括自启动以及相关属性配置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227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4.2 YOCTO SDK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应用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100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4.3 ivi-shell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0.5h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2270"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五、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Android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5.1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原生代码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0.5</a:t>
                      </a: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81635">
                <a:tc rowSpan="5">
                  <a:txBody>
                    <a:bodyPr/>
                    <a:p>
                      <a:pPr algn="l" fontAlgn="ctr" latinLnBrk="0"/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六、 谦川</a:t>
                      </a:r>
                      <a:r>
                        <a:rPr lang="en-US" altLang="zh-CN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SDK</a:t>
                      </a:r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物理中断统计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(irq_count)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0.1h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60325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各个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上瞬时正在运行的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的信息 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(pcpu_attr)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各个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在一段时间内的负载 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(top)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0.2h</a:t>
                      </a:r>
                      <a:endParaRPr lang="en-US" altLang="zh-CN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498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6.4 vcpu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累计运行时间 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(vcpu_exec_accum)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6.5 vmexit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原因统计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(vcpu_exit_reason)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NA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572770">
                <a:tc rowSpan="9">
                  <a:txBody>
                    <a:bodyPr/>
                    <a:p>
                      <a:pPr algn="l" fontAlgn="ctr" latinLnBrk="0">
                        <a:buNone/>
                      </a:pPr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七、 系统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  <a:p>
                      <a:pPr algn="l" fontAlgn="ctr" latinLnBrk="0">
                        <a:buNone/>
                      </a:pPr>
                      <a:endParaRPr lang="en-US" altLang="zh-CN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 rowSpan="2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 bring up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流程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开机流程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0.1h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安全启动流程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目录结构介绍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7.2.1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代码结构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编译、下载、烧录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</a:t>
                      </a:r>
                      <a:endParaRPr 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7.4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系统虚拟化框架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</a:t>
                      </a:r>
                      <a:endParaRPr 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4345">
                <a:tc vMerge="1">
                  <a:tcPr/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内存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7.5.1 OS size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控制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内存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layout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查询内存信息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473710">
                <a:tc vMerge="1">
                  <a:tcPr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7.5.4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新增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reserved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255"/>
            <a:ext cx="8625840" cy="22738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0277" y="665758"/>
            <a:ext cx="10261600" cy="1086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>
                <a:sym typeface="+mn-ea"/>
              </a:rPr>
              <a:t>一，软件开发培训</a:t>
            </a:r>
            <a:r>
              <a:rPr>
                <a:sym typeface="+mn-ea"/>
              </a:rPr>
              <a:t>计划</a:t>
            </a:r>
            <a:endParaRPr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920750" y="1807210"/>
          <a:ext cx="21363305" cy="11704320"/>
        </p:xfrm>
        <a:graphic>
          <a:graphicData uri="http://schemas.openxmlformats.org/drawingml/2006/table">
            <a:tbl>
              <a:tblPr firstRow="1" bandRow="1">
                <a:tableStyleId>{582ECD3D-1945-4520-8095-2EB78ED77919}</a:tableStyleId>
              </a:tblPr>
              <a:tblGrid>
                <a:gridCol w="3289300"/>
                <a:gridCol w="3990340"/>
                <a:gridCol w="6757670"/>
                <a:gridCol w="5346700"/>
                <a:gridCol w="1979295"/>
              </a:tblGrid>
              <a:tr h="365760">
                <a:tc gridSpan="4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基础开发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培训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219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培训模块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一级目录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二级目录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培训周期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rowSpan="30">
                  <a:txBody>
                    <a:bodyPr/>
                    <a:p>
                      <a:pPr algn="l" fontAlgn="ctr" latinLnBrk="0"/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七、 系统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 rowSpan="3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7.6 partition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7.6.1 parititon layout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0.2h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7.6.2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如何新增一个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partition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7.6.3 partition debug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3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7.7 OS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间通信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7.7.1 SOS &amp; UOS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间通信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7.7.2 UOS &amp; UOS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间通信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7.7.3 MCU &amp; 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间通信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7.8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外设通信协议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7.8.1 SPI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7.8.2 I2C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7.8.3 UART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7.8.4 GPIO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3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7.9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保活机制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7.9.1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进程保活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7.9.2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系统保活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7.9.3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控制虚拟机状态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7.10 misc debug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7.10.1 log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【抓取，分析】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7.10.2 adb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【连接，切换】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7.10.3 sos uos console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切换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7.10.4 android yocto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通过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console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数据交互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2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7.11 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7.11.1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虚拟机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7.11.2 Nebula CPU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调度策略配置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中断配置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</a:t>
                      </a:r>
                      <a:endParaRPr 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7.13 STR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7.13.1 STR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机制概要说明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7.13.2 STR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框架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7.13.3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控制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guest os suspend/resume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7.13.4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调试方法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7.14 OS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间内存共享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7.14.1 Vdmabuf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7.15 OS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内进程间内存共享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7.15.1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通过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Binder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机制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rowSpan="3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7.16 debug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入口办法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7.16.1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串口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log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入手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7.16.2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从问题种类选择合适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debug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工具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7.16.3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基础器件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debug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65760"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7.17 dmabuf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7.17.1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接口介绍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0.2h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255"/>
            <a:ext cx="8625840" cy="22738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0277" y="665758"/>
            <a:ext cx="10261600" cy="1086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>
                <a:sym typeface="+mn-ea"/>
              </a:rPr>
              <a:t>一，软件开发培训</a:t>
            </a:r>
            <a:r>
              <a:rPr>
                <a:sym typeface="+mn-ea"/>
              </a:rPr>
              <a:t>计划</a:t>
            </a:r>
            <a:endParaRPr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920750" y="1807210"/>
          <a:ext cx="21452840" cy="11927840"/>
        </p:xfrm>
        <a:graphic>
          <a:graphicData uri="http://schemas.openxmlformats.org/drawingml/2006/table">
            <a:tbl>
              <a:tblPr firstRow="1" bandRow="1">
                <a:tableStyleId>{582ECD3D-1945-4520-8095-2EB78ED77919}</a:tableStyleId>
              </a:tblPr>
              <a:tblGrid>
                <a:gridCol w="3303270"/>
                <a:gridCol w="4006850"/>
                <a:gridCol w="6786245"/>
                <a:gridCol w="5368925"/>
                <a:gridCol w="1987550"/>
              </a:tblGrid>
              <a:tr h="372745">
                <a:tc gridSpan="5"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基础开发</a:t>
                      </a: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</a:rPr>
                        <a:t>培训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27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培训模块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一级目录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二级目录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培训周期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备注</a:t>
                      </a: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rowSpan="30">
                  <a:txBody>
                    <a:bodyPr/>
                    <a:p>
                      <a:pPr algn="l" fontAlgn="ctr" latinLnBrk="0"/>
                      <a:r>
                        <a:rPr lang="zh-CN" altLang="en-US" sz="180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八、 模块</a:t>
                      </a:r>
                      <a:endParaRPr lang="zh-CN" altLang="en-US" sz="180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 Display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8.1.1 Display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总览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1.5H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8.1.2 Configuration / Customization Guideline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8.1.3 Debug Tips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8.1.4 Troubleshooting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5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8.2 Camera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8.2.1 camera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虚拟化概念介绍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1.5H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8.2.2 camera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虚拟化框架介绍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8.2.3 camera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主要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code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8.2.4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配置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客制化指南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8.2.5 Debug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手段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5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8.3 thermal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8.3.1 Architecture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5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1.5H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8.3.2 Thermal sensor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8.3.3 Linux thermal framework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8.3.4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配置文件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8.3.5 thermal debug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8.4 virtio_input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8.4.1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虚拟化框架介绍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1.5H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8.4.2 Input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数据传输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8.4.3 input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快速开发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8.4.4 input debug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3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8.5 Audio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8.5.1 Audio AFE HW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8.5.2 Audio HAL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8.5.3 Audio Virtualization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4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8.6 secure boot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8.6.1 sign flow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1.5H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8.6.2 verify flow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8.6.3 key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8.6.4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常用的配置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2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 optee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8.7.1 optee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8.7.2 optee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应用开发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rowSpan="3"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8.8 OTA</a:t>
                      </a:r>
                      <a:endParaRPr lang="en-US" altLang="zh-CN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8.8.1 OTA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简介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latin typeface="宋体" panose="02010600030101010101" pitchFamily="2" charset="-122"/>
                          <a:ea typeface="宋体" panose="02010600030101010101" pitchFamily="2" charset="-122"/>
                          <a:cs typeface="Helvetica Neue (正文)" charset="0"/>
                          <a:sym typeface="+mn-ea"/>
                        </a:rPr>
                        <a:t>1.5H</a:t>
                      </a:r>
                      <a:endParaRPr lang="en-US" altLang="zh-CN" sz="1800">
                        <a:latin typeface="宋体" panose="02010600030101010101" pitchFamily="2" charset="-122"/>
                        <a:ea typeface="宋体" panose="02010600030101010101" pitchFamily="2" charset="-122"/>
                        <a:cs typeface="Helvetica Neue (正文)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8.8.2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如何编译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Hypervisor OTA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升级包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  <a:tr h="372745">
                <a:tc vMerge="1">
                  <a:tcPr marL="0" marR="0" marT="0" marB="0" anchor="ctr" anchorCtr="0"/>
                </a:tc>
                <a:tc vMerge="1">
                  <a:tcPr marL="0" marR="0" marT="0" marB="0" anchor="ctr" anchorCtr="0"/>
                </a:tc>
                <a:tc>
                  <a:txBody>
                    <a:bodyPr/>
                    <a:p>
                      <a:pPr algn="l" fontAlgn="ctr" latinLnBrk="0"/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8.8.3 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如何进行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Hypervisor OTA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升级</a:t>
                      </a:r>
                      <a:endParaRPr lang="zh-CN" altLang="en-US" sz="18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255"/>
            <a:ext cx="8625840" cy="22738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0277" y="665758"/>
            <a:ext cx="10261600" cy="1086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>
                <a:sym typeface="+mn-ea"/>
              </a:rPr>
              <a:t>一，软件开发培训</a:t>
            </a:r>
            <a:r>
              <a:rPr>
                <a:sym typeface="+mn-ea"/>
              </a:rPr>
              <a:t>计划</a:t>
            </a:r>
            <a:endParaRPr>
              <a:sym typeface="+mn-ea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2470785" y="2465705"/>
          <a:ext cx="18175605" cy="10582910"/>
        </p:xfrm>
        <a:graphic>
          <a:graphicData uri="http://schemas.openxmlformats.org/drawingml/2006/table">
            <a:tbl>
              <a:tblPr firstRow="1" bandRow="1">
                <a:tableStyleId>{582ECD3D-1945-4520-8095-2EB78ED77919}</a:tableStyleId>
              </a:tblPr>
              <a:tblGrid>
                <a:gridCol w="6058535"/>
                <a:gridCol w="6058535"/>
                <a:gridCol w="6058535"/>
              </a:tblGrid>
              <a:tr h="918845"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sz="4000"/>
                        <a:t>平台课题方案培训</a:t>
                      </a:r>
                      <a:endParaRPr lang="zh-CN" altLang="en-US" sz="40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培训模块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培训周期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备注</a:t>
                      </a:r>
                      <a:endParaRPr lang="zh-CN" altLang="en-US" sz="2800"/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3OS STR</a:t>
                      </a:r>
                      <a:r>
                        <a:rPr lang="zh-CN" altLang="en-US" sz="2800"/>
                        <a:t>方案</a:t>
                      </a:r>
                      <a:r>
                        <a:rPr lang="zh-CN" altLang="en-US" sz="2800"/>
                        <a:t>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3H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68897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蓝牙架构</a:t>
                      </a:r>
                      <a:r>
                        <a:rPr lang="zh-CN" altLang="en-US" sz="2800"/>
                        <a:t>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705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SurfaceFlinger</a:t>
                      </a:r>
                      <a:r>
                        <a:rPr lang="zh-CN" altLang="en-US" sz="2800"/>
                        <a:t>相关</a:t>
                      </a:r>
                      <a:r>
                        <a:rPr lang="en-US" altLang="zh-CN" sz="2800"/>
                        <a:t>dbug</a:t>
                      </a:r>
                      <a:r>
                        <a:rPr lang="zh-CN" altLang="en-US" sz="2800"/>
                        <a:t>方法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Audio</a:t>
                      </a:r>
                      <a:r>
                        <a:rPr lang="zh-CN" altLang="en-US" sz="2800"/>
                        <a:t>方案</a:t>
                      </a:r>
                      <a:r>
                        <a:rPr lang="zh-CN" altLang="en-US" sz="2800"/>
                        <a:t>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常用日志</a:t>
                      </a:r>
                      <a:r>
                        <a:rPr lang="zh-CN" altLang="en-US" sz="2800"/>
                        <a:t>说明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Tbox</a:t>
                      </a:r>
                      <a:r>
                        <a:rPr lang="zh-CN" altLang="en-US" sz="2800"/>
                        <a:t>系统方案分享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MT8676_EVS</a:t>
                      </a:r>
                      <a:r>
                        <a:rPr lang="zh-CN" altLang="en-US" sz="2800"/>
                        <a:t>介绍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显示方案分享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ECALL</a:t>
                      </a:r>
                      <a:r>
                        <a:rPr lang="zh-CN" altLang="en-US" sz="2800"/>
                        <a:t>平台化方案分享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  <a:tr h="9188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通信设计分享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255"/>
            <a:ext cx="8625840" cy="22738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0277" y="665758"/>
            <a:ext cx="10261600" cy="10864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marL="0" marR="0" indent="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8000" b="1" i="0" u="none" strike="noStrike" cap="none" spc="0" normalizeH="0" baseline="0">
                <a:ln>
                  <a:noFill/>
                </a:ln>
                <a:solidFill>
                  <a:srgbClr val="0731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defRPr>
            </a:lvl1pPr>
            <a:lvl2pPr marL="0" marR="0" indent="457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400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>
                <a:sym typeface="+mn-ea"/>
              </a:rPr>
              <a:t>一，软件开发培训</a:t>
            </a:r>
            <a:r>
              <a:rPr>
                <a:sym typeface="+mn-ea"/>
              </a:rPr>
              <a:t>计划</a:t>
            </a:r>
            <a:endParaRPr>
              <a:sym typeface="+mn-ea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2182495" y="2321560"/>
          <a:ext cx="19637375" cy="10514965"/>
        </p:xfrm>
        <a:graphic>
          <a:graphicData uri="http://schemas.openxmlformats.org/drawingml/2006/table">
            <a:tbl>
              <a:tblPr firstRow="1" bandRow="1">
                <a:tableStyleId>{582ECD3D-1945-4520-8095-2EB78ED77919}</a:tableStyleId>
              </a:tblPr>
              <a:tblGrid>
                <a:gridCol w="6893560"/>
                <a:gridCol w="6197600"/>
                <a:gridCol w="6546215"/>
              </a:tblGrid>
              <a:tr h="822325">
                <a:tc gridSpan="3">
                  <a:txBody>
                    <a:bodyPr/>
                    <a:p>
                      <a:pPr>
                        <a:buNone/>
                      </a:pPr>
                      <a:r>
                        <a:rPr lang="zh-CN" altLang="en-US" sz="4000"/>
                        <a:t>经典案例总结分享</a:t>
                      </a:r>
                      <a:endParaRPr lang="zh-CN" altLang="en-US" sz="400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774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培训课题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培训周期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时间</a:t>
                      </a:r>
                      <a:endParaRPr lang="zh-CN" altLang="en-US" sz="2800"/>
                    </a:p>
                  </a:txBody>
                  <a:tcPr/>
                </a:tc>
              </a:tr>
              <a:tr h="7727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android</a:t>
                      </a:r>
                      <a:r>
                        <a:rPr lang="zh-CN" altLang="en-US" sz="2800"/>
                        <a:t>起不来可以做哪些分析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3H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85661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内核崩溃</a:t>
                      </a:r>
                      <a:r>
                        <a:rPr lang="en-US" altLang="zh-CN" sz="2800"/>
                        <a:t>DB</a:t>
                      </a:r>
                      <a:r>
                        <a:rPr lang="zh-CN" altLang="en-US" sz="2800"/>
                        <a:t>解析和系统起不来分析方法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3H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797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vehicle</a:t>
                      </a:r>
                      <a:r>
                        <a:rPr lang="zh-CN" altLang="en-US" sz="2800"/>
                        <a:t>方案及实施分享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黑屏死机问题经验分享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607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黑画面</a:t>
                      </a:r>
                      <a:r>
                        <a:rPr lang="en-US" altLang="zh-CN" sz="2800"/>
                        <a:t>/</a:t>
                      </a:r>
                      <a:r>
                        <a:rPr lang="zh-CN" altLang="en-US" sz="2800"/>
                        <a:t>花屏</a:t>
                      </a:r>
                      <a:r>
                        <a:rPr lang="en-US" altLang="zh-CN" sz="2800"/>
                        <a:t>/</a:t>
                      </a:r>
                      <a:r>
                        <a:rPr lang="zh-CN" altLang="en-US" sz="2800"/>
                        <a:t>闪屏</a:t>
                      </a:r>
                      <a:r>
                        <a:rPr lang="en-US" altLang="zh-CN" sz="2800"/>
                        <a:t>/</a:t>
                      </a:r>
                      <a:r>
                        <a:rPr lang="zh-CN" altLang="en-US" sz="2800"/>
                        <a:t>卡顿问题经验分享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DVR</a:t>
                      </a:r>
                      <a:r>
                        <a:rPr lang="zh-CN" altLang="en-US" sz="2800"/>
                        <a:t>问题经验分享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音视频解码常见问题和分析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启动时间优化案例分享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11080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TBOX</a:t>
                      </a:r>
                      <a:r>
                        <a:rPr lang="zh-CN" altLang="en-US" sz="2800"/>
                        <a:t>无网络案例分享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  <a:p>
                      <a:pPr>
                        <a:buNone/>
                      </a:pPr>
                      <a:endParaRPr lang="zh-CN" altLang="en-US" sz="2800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STR</a:t>
                      </a:r>
                      <a:r>
                        <a:rPr lang="zh-CN" altLang="en-US" sz="2800"/>
                        <a:t>问题分析树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CPU</a:t>
                      </a:r>
                      <a:r>
                        <a:rPr lang="zh-CN" altLang="en-US" sz="2800"/>
                        <a:t>的分配策略及实施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3H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按客户需求约定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2" imgW="8255" imgH="8255" progId="TCLayout.ActiveDocument.1">
                  <p:embed/>
                </p:oleObj>
              </mc:Choice>
              <mc:Fallback>
                <p:oleObj name="think-cell 幻灯片" r:id="rId2" imgW="8255" imgH="8255" progId="TCLayout.ActiveDocument.1">
                  <p:embed/>
                  <p:pic>
                    <p:nvPicPr>
                      <p:cNvPr id="0" name="图片 718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" name="矩形"/>
          <p:cNvSpPr/>
          <p:nvPr/>
        </p:nvSpPr>
        <p:spPr>
          <a:xfrm>
            <a:off x="-36673" y="-49397"/>
            <a:ext cx="24457346" cy="13814794"/>
          </a:xfrm>
          <a:prstGeom prst="rect">
            <a:avLst/>
          </a:prstGeom>
          <a:solidFill>
            <a:srgbClr val="01779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0" name="www.pvetec.com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>
            <a:lvl1pPr defTabSz="825500">
              <a:defRPr sz="3600" b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</a:lstStyle>
          <a:p>
            <a:r>
              <a:rPr dirty="0">
                <a:solidFill>
                  <a:schemeClr val="bg1"/>
                </a:solidFill>
              </a:rPr>
              <a:t>www.pvetec.com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41" name="图层 1.png" descr="图层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440" y="1889125"/>
            <a:ext cx="4753610" cy="12528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42" name="图像" descr="图像"/>
          <p:cNvPicPr>
            <a:picLocks noChangeAspect="1"/>
          </p:cNvPicPr>
          <p:nvPr/>
        </p:nvPicPr>
        <p:blipFill>
          <a:blip r:embed="rId5">
            <a:alphaModFix amt="57616"/>
          </a:blip>
          <a:srcRect b="38361"/>
          <a:stretch>
            <a:fillRect/>
          </a:stretch>
        </p:blipFill>
        <p:spPr>
          <a:xfrm>
            <a:off x="5890414" y="3799889"/>
            <a:ext cx="13292328" cy="99496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3" name="感谢观看"/>
          <p:cNvSpPr txBox="1">
            <a:spLocks noGrp="1"/>
          </p:cNvSpPr>
          <p:nvPr>
            <p:ph type="ctrTitle"/>
          </p:nvPr>
        </p:nvSpPr>
        <p:spPr>
          <a:xfrm>
            <a:off x="8735695" y="5129530"/>
            <a:ext cx="7912100" cy="2795905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12800" spc="-256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en-US" dirty="0"/>
              <a:t>Thank You</a:t>
            </a:r>
            <a:endParaRPr lang="en-US" dirty="0"/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4240_1*b*1"/>
  <p:tag name="KSO_WM_TEMPLATE_CATEGORY" val="custom"/>
  <p:tag name="KSO_WM_TEMPLATE_INDEX" val="20214240"/>
  <p:tag name="KSO_WM_UNIT_LAYERLEVEL" val="1"/>
  <p:tag name="KSO_WM_TAG_VERSION" val="1.0"/>
  <p:tag name="KSO_WM_BEAUTIFY_FLAG" val="#wm#"/>
  <p:tag name="KSO_WM_UNIT_PRESET_TEXT" val="单击此处添加副标题内容"/>
  <p:tag name="KSO_WM_UNIT_DEFAULT_FONT" val="14;18;2"/>
  <p:tag name="KSO_WM_UNIT_BLOCK" val="0"/>
  <p:tag name="KSO_WM_UNIT_DEC_AREA_ID" val="895c891634f6406fa3bff31724cfdcf8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0504de22d9474138a16a30caa3142002"/>
  <p:tag name="KSO_WM_UNIT_TEXT_FILL_FORE_SCHEMECOLOR_INDEX_BRIGHTNESS" val="0.35"/>
  <p:tag name="KSO_WM_UNIT_TEXT_FILL_FORE_SCHEMECOLOR_INDEX" val="13"/>
  <p:tag name="KSO_WM_UNIT_TEXT_FILL_TYPE" val="1"/>
  <p:tag name="KSO_WM_TEMPLATE_ASSEMBLE_XID" val="5fbb773f9532eafaafcf5228"/>
  <p:tag name="KSO_WM_TEMPLATE_ASSEMBLE_GROUPID" val="5fa3651b9babe8ec16f203bd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4240_1*a*1"/>
  <p:tag name="KSO_WM_TEMPLATE_CATEGORY" val="custom"/>
  <p:tag name="KSO_WM_TEMPLATE_INDEX" val="20214240"/>
  <p:tag name="KSO_WM_UNIT_LAYERLEVEL" val="1"/>
  <p:tag name="KSO_WM_TAG_VERSION" val="1.0"/>
  <p:tag name="KSO_WM_BEAUTIFY_FLAG" val="#wm#"/>
  <p:tag name="KSO_WM_UNIT_PRESET_TEXT" val="单击添加大标题"/>
  <p:tag name="KSO_WM_UNIT_DEFAULT_FONT" val="40;56;4"/>
  <p:tag name="KSO_WM_UNIT_BLOCK" val="0"/>
  <p:tag name="KSO_WM_UNIT_DEC_AREA_ID" val="25ecc9c8581c40e19355bfaa15ef96eb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0504de22d9474138a16a30caa3142002"/>
  <p:tag name="KSO_WM_UNIT_TEXT_FILL_FORE_SCHEMECOLOR_INDEX_BRIGHTNESS" val="0.15"/>
  <p:tag name="KSO_WM_UNIT_TEXT_FILL_FORE_SCHEMECOLOR_INDEX" val="13"/>
  <p:tag name="KSO_WM_UNIT_TEXT_FILL_TYPE" val="1"/>
  <p:tag name="KSO_WM_TEMPLATE_ASSEMBLE_XID" val="5fbb773f9532eafaafcf5228"/>
  <p:tag name="KSO_WM_TEMPLATE_ASSEMBLE_GROUPID" val="5fa3651b9babe8ec16f203bd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TABLE_ENDDRAG_ORIGIN_RECT" val="1523*941"/>
  <p:tag name="TABLE_ENDDRAG_RECT" val="81*136*1523*941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TABLE_ENDDRAG_ORIGIN_RECT" val="1257*770"/>
  <p:tag name="TABLE_ENDDRAG_RECT" val="194*194*1257*770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TABLE_ENDDRAG_ORIGIN_RECT" val="1546*827"/>
  <p:tag name="TABLE_ENDDRAG_RECT" val="200*194*1546*827"/>
</p:tagLst>
</file>

<file path=ppt/tags/tag28.xml><?xml version="1.0" encoding="utf-8"?>
<p:tagLst xmlns:p="http://schemas.openxmlformats.org/presentationml/2006/main">
  <p:tag name="THINKCELLSHAPEDONOTDELETE" val="thinkcellActiveDocDoNotDelete"/>
</p:tagLst>
</file>

<file path=ppt/tags/tag29.xml><?xml version="1.0" encoding="utf-8"?>
<p:tagLst xmlns:p="http://schemas.openxmlformats.org/presentationml/2006/main">
  <p:tag name="COMMONDATA" val="eyJoZGlkIjoiZjVhNGJiMWVmZTg4ZjFhYWZhYWFiMzBkODkwYWRkZmUifQ=="/>
  <p:tag name="THINKCELLUNDODONOTDELETE" val="0"/>
  <p:tag name="commondata" val="eyJoZGlkIjoiYjA2YjI1MDcxOTM1NjgzYWNjNGMwNTI0ZDEwYTI2NDAifQ=="/>
  <p:tag name="resource_record_key" val="{&quot;29&quot;:[50053052]}"/>
</p:tagLst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3882</Words>
  <Application>WPS 演示</Application>
  <PresentationFormat>自定义</PresentationFormat>
  <Paragraphs>936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Helvetica Neue</vt:lpstr>
      <vt:lpstr>Helvetica Neue Medium</vt:lpstr>
      <vt:lpstr>微软雅黑</vt:lpstr>
      <vt:lpstr>Arial</vt:lpstr>
      <vt:lpstr>华文楷体</vt:lpstr>
      <vt:lpstr>Helvetica Neue (正文)</vt:lpstr>
      <vt:lpstr>Segoe Print</vt:lpstr>
      <vt:lpstr>Wingdings</vt:lpstr>
      <vt:lpstr>Arial Unicode MS</vt:lpstr>
      <vt:lpstr>Calibri</vt:lpstr>
      <vt:lpstr>Helvetica Neue</vt:lpstr>
      <vt:lpstr>21_BasicWhite</vt:lpstr>
      <vt:lpstr>TCLayout.ActiveDocument.1</vt:lpstr>
      <vt:lpstr>TCLayout.ActiveDocument.1</vt:lpstr>
      <vt:lpstr>掌锐电子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掌锐电子</dc:title>
  <dc:creator>Sean Tang</dc:creator>
  <cp:lastModifiedBy>郭向超</cp:lastModifiedBy>
  <cp:revision>823</cp:revision>
  <dcterms:created xsi:type="dcterms:W3CDTF">2021-08-19T01:54:00Z</dcterms:created>
  <dcterms:modified xsi:type="dcterms:W3CDTF">2025-11-04T07:31:52Z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4E3B492DE25648CAA893A288C9DDC4F7_13</vt:lpwstr>
  </property>
  <property fmtid="{D5CDD505-2E9C-101B-9397-08002B2CF9AE}" pid="3" name="KSOProductBuildVer">
    <vt:lpwstr>2052-12.1.0.22529</vt:lpwstr>
  </property>
</Properties>
</file>