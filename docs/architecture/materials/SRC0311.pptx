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2" r:id="rId5"/>
  </p:sldMasterIdLst>
  <p:notesMasterIdLst>
    <p:notesMasterId r:id="rId43"/>
  </p:notesMasterIdLst>
  <p:handoutMasterIdLst>
    <p:handoutMasterId r:id="rId44"/>
  </p:handoutMasterIdLst>
  <p:sldIdLst>
    <p:sldId id="256" r:id="rId6"/>
    <p:sldId id="262" r:id="rId7"/>
    <p:sldId id="263" r:id="rId8"/>
    <p:sldId id="297" r:id="rId9"/>
    <p:sldId id="264" r:id="rId10"/>
    <p:sldId id="298" r:id="rId11"/>
    <p:sldId id="299" r:id="rId12"/>
    <p:sldId id="271" r:id="rId13"/>
    <p:sldId id="272" r:id="rId14"/>
    <p:sldId id="273" r:id="rId15"/>
    <p:sldId id="275" r:id="rId16"/>
    <p:sldId id="276" r:id="rId17"/>
    <p:sldId id="293" r:id="rId18"/>
    <p:sldId id="294" r:id="rId19"/>
    <p:sldId id="296" r:id="rId20"/>
    <p:sldId id="278" r:id="rId21"/>
    <p:sldId id="277" r:id="rId22"/>
    <p:sldId id="279" r:id="rId23"/>
    <p:sldId id="266" r:id="rId24"/>
    <p:sldId id="284" r:id="rId25"/>
    <p:sldId id="285" r:id="rId26"/>
    <p:sldId id="286" r:id="rId27"/>
    <p:sldId id="268" r:id="rId28"/>
    <p:sldId id="269" r:id="rId29"/>
    <p:sldId id="300" r:id="rId30"/>
    <p:sldId id="282" r:id="rId31"/>
    <p:sldId id="270" r:id="rId32"/>
    <p:sldId id="302" r:id="rId33"/>
    <p:sldId id="303" r:id="rId34"/>
    <p:sldId id="304" r:id="rId35"/>
    <p:sldId id="305" r:id="rId36"/>
    <p:sldId id="301" r:id="rId37"/>
    <p:sldId id="265" r:id="rId38"/>
    <p:sldId id="280" r:id="rId39"/>
    <p:sldId id="283" r:id="rId40"/>
    <p:sldId id="281" r:id="rId41"/>
    <p:sldId id="287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right" id="{8F19EB6F-DE0B-3043-9220-FF90A9B8DE39}">
          <p14:sldIdLst>
            <p14:sldId id="256"/>
            <p14:sldId id="262"/>
          </p14:sldIdLst>
        </p14:section>
        <p14:section name="Basic Function" id="{9A8C4DB7-84B1-4AC4-B5AB-D4A0C61E777A}">
          <p14:sldIdLst>
            <p14:sldId id="263"/>
            <p14:sldId id="297"/>
            <p14:sldId id="264"/>
            <p14:sldId id="298"/>
            <p14:sldId id="299"/>
            <p14:sldId id="271"/>
            <p14:sldId id="272"/>
            <p14:sldId id="273"/>
            <p14:sldId id="275"/>
          </p14:sldIdLst>
        </p14:section>
        <p14:section name="System SW debug" id="{540EE2E9-64DF-4B6E-A84A-DD0E40CFA570}">
          <p14:sldIdLst>
            <p14:sldId id="276"/>
            <p14:sldId id="293"/>
            <p14:sldId id="294"/>
            <p14:sldId id="296"/>
            <p14:sldId id="278"/>
            <p14:sldId id="277"/>
            <p14:sldId id="279"/>
            <p14:sldId id="266"/>
            <p14:sldId id="284"/>
            <p14:sldId id="285"/>
            <p14:sldId id="286"/>
            <p14:sldId id="268"/>
            <p14:sldId id="269"/>
            <p14:sldId id="300"/>
            <p14:sldId id="282"/>
            <p14:sldId id="270"/>
            <p14:sldId id="302"/>
            <p14:sldId id="303"/>
            <p14:sldId id="304"/>
            <p14:sldId id="305"/>
          </p14:sldIdLst>
        </p14:section>
        <p14:section name="System Image debug" id="{6A9B127D-7997-4FEE-841B-C883871B62BF}">
          <p14:sldIdLst>
            <p14:sldId id="301"/>
          </p14:sldIdLst>
        </p14:section>
        <p14:section name="Audio Related debug" id="{5537491A-B3C6-43FA-8812-B110E30D40F6}">
          <p14:sldIdLst>
            <p14:sldId id="265"/>
            <p14:sldId id="280"/>
            <p14:sldId id="283"/>
            <p14:sldId id="281"/>
            <p14:sldId id="287"/>
          </p14:sldIdLst>
        </p14:section>
        <p14:section name="Appendix" id="{F7B36A12-5542-445E-B1C6-616A688BD80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ien-Wei Hsu (徐健維)" initials="CH(" lastIdx="2" clrIdx="0">
    <p:extLst>
      <p:ext uri="{19B8F6BF-5375-455C-9EA6-DF929625EA0E}">
        <p15:presenceInfo xmlns:p15="http://schemas.microsoft.com/office/powerpoint/2012/main" userId="S-1-5-21-1711831044-1024940897-1435325219-9392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90" autoAdjust="0"/>
    <p:restoredTop sz="74078" autoAdjust="0"/>
  </p:normalViewPr>
  <p:slideViewPr>
    <p:cSldViewPr snapToGrid="0" snapToObjects="1">
      <p:cViewPr varScale="1">
        <p:scale>
          <a:sx n="86" d="100"/>
          <a:sy n="86" d="100"/>
        </p:scale>
        <p:origin x="208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1-07T10:43:32.297" idx="1">
    <p:pos x="2943" y="1660"/>
    <p:text>if PC not run into exception, useless</p:text>
    <p:extLst>
      <p:ext uri="{C676402C-5697-4E1C-873F-D02D1690AC5C}">
        <p15:threadingInfo xmlns:p15="http://schemas.microsoft.com/office/powerpoint/2012/main" timeZoneBias="-480"/>
      </p:ext>
    </p:extLst>
  </p:cm>
  <p:cm authorId="1" dt="2019-01-07T10:49:05.999" idx="2">
    <p:pos x="2950" y="2381"/>
    <p:text>use split_coredump, Backtrace(maybe not accuracy), View all data , adsp log</p:text>
    <p:extLst>
      <p:ext uri="{C676402C-5697-4E1C-873F-D02D1690AC5C}">
        <p15:threadingInfo xmlns:p15="http://schemas.microsoft.com/office/powerpoint/2012/main" timeZoneBias="-4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3C0EF-2B70-1E48-AAF4-38D0D60449B7}" type="datetimeFigureOut">
              <a:rPr lang="en-US" smtClean="0"/>
              <a:pPr/>
              <a:t>10/8/2020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E9E92-CACA-7641-8DB3-7C90210B1D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115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2DFA7-3CB6-2C4B-A973-ECD2AB5618B3}" type="datetimeFigureOut">
              <a:rPr lang="en-US" smtClean="0"/>
              <a:pPr/>
              <a:t>10/8/2020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A2320-C23A-B148-88B1-360D5FA97C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907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77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99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OCD</a:t>
            </a:r>
            <a:r>
              <a:rPr lang="en-US" baseline="0" dirty="0" smtClean="0"/>
              <a:t> manager </a:t>
            </a:r>
            <a:r>
              <a:rPr lang="zh-TW" altLang="en-US" baseline="0" dirty="0" smtClean="0"/>
              <a:t>找不到</a:t>
            </a:r>
            <a:r>
              <a:rPr lang="en-US" altLang="zh-TW" baseline="0" dirty="0" smtClean="0"/>
              <a:t>controller : hifi3 CPU reset</a:t>
            </a:r>
            <a:r>
              <a:rPr lang="zh-TW" altLang="en-US" baseline="0" dirty="0" smtClean="0"/>
              <a:t>需要放掉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01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'B' - Blocked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'R' - Ready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'D' - Deleted (waiting clean up)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'S' - Suspended, or Blocked without a timeout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00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5813DE-6C59-44B4-829F-164FBEAB5BE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80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14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program counter (PC) holds the address of the next instruction to execute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 : processor state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63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46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[N1] If the version before RG-2018.9 , do the below flow.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path “\RG-2018.9-win32\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XtensaTools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\share\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gdb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\python”, copy folder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FreeRTOS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folder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“\RG-2017.6-win32\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XtensaTools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\share\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gdb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\python”.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folder “C:\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xtensa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XtDevTools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\install\tools\RG-2018.9-win32\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XtensaTools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\share\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gdb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\python\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thread_aware_rtos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copy the file __init__.py and replace the same file in folder “C:\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usr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xtensa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XtDevTools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\install\tools\RG-2017.6-win32\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XtensaTools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\share\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gdb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\python\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thread_aware_rtos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the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xt-gdb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session again.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73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42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60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 err="1" smtClean="0"/>
              <a:t>Buf</a:t>
            </a:r>
            <a:r>
              <a:rPr lang="en-US" altLang="zh-TW" dirty="0" smtClean="0"/>
              <a:t> Address need 128byte aligned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9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 err="1" smtClean="0"/>
              <a:t>Buf</a:t>
            </a:r>
            <a:r>
              <a:rPr lang="en-US" altLang="zh-TW" dirty="0" smtClean="0"/>
              <a:t> Address need 128byte aligned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095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enum</a:t>
            </a:r>
            <a:r>
              <a:rPr lang="en-US" dirty="0" smtClean="0"/>
              <a:t> { /* </a:t>
            </a:r>
            <a:r>
              <a:rPr lang="en-US" dirty="0" err="1" smtClean="0"/>
              <a:t>audio_ipi_msg_data_t</a:t>
            </a:r>
            <a:r>
              <a:rPr lang="en-US" dirty="0" smtClean="0"/>
              <a:t> */</a:t>
            </a:r>
          </a:p>
          <a:p>
            <a:r>
              <a:rPr lang="en-US" dirty="0" smtClean="0"/>
              <a:t>	AUDIO_IPI_MSG_ONLY,</a:t>
            </a:r>
          </a:p>
          <a:p>
            <a:r>
              <a:rPr lang="en-US" dirty="0" smtClean="0"/>
              <a:t>	AUDIO_IPI_PAYLOAD,</a:t>
            </a:r>
          </a:p>
          <a:p>
            <a:r>
              <a:rPr lang="en-US" dirty="0" smtClean="0"/>
              <a:t>	AUDIO_IPI_DMA,</a:t>
            </a:r>
          </a:p>
          <a:p>
            <a:r>
              <a:rPr lang="en-US" dirty="0" smtClean="0"/>
              <a:t>};</a:t>
            </a:r>
          </a:p>
          <a:p>
            <a:endParaRPr lang="en-US" dirty="0" smtClean="0"/>
          </a:p>
          <a:p>
            <a:r>
              <a:rPr lang="en-US" dirty="0" err="1" smtClean="0"/>
              <a:t>enum</a:t>
            </a:r>
            <a:r>
              <a:rPr lang="en-US" dirty="0" smtClean="0"/>
              <a:t> { /* </a:t>
            </a:r>
            <a:r>
              <a:rPr lang="en-US" dirty="0" err="1" smtClean="0"/>
              <a:t>audio_ipi_msg_ack_t</a:t>
            </a:r>
            <a:r>
              <a:rPr lang="en-US" dirty="0" smtClean="0"/>
              <a:t> */</a:t>
            </a:r>
          </a:p>
          <a:p>
            <a:r>
              <a:rPr lang="en-US" dirty="0" smtClean="0"/>
              <a:t>	/* bypass </a:t>
            </a:r>
            <a:r>
              <a:rPr lang="en-US" dirty="0" err="1" smtClean="0"/>
              <a:t>ack</a:t>
            </a:r>
            <a:r>
              <a:rPr lang="en-US" dirty="0" smtClean="0"/>
              <a:t>, but still send to audio queue */</a:t>
            </a:r>
          </a:p>
          <a:p>
            <a:r>
              <a:rPr lang="en-US" dirty="0" smtClean="0"/>
              <a:t>	AUDIO_IPI_MSG_BYPASS_ACK    = 0,</a:t>
            </a:r>
          </a:p>
          <a:p>
            <a:endParaRPr lang="en-US" dirty="0" smtClean="0"/>
          </a:p>
          <a:p>
            <a:r>
              <a:rPr lang="en-US" dirty="0" smtClean="0"/>
              <a:t>	/* need </a:t>
            </a:r>
            <a:r>
              <a:rPr lang="en-US" dirty="0" err="1" smtClean="0"/>
              <a:t>ack</a:t>
            </a:r>
            <a:r>
              <a:rPr lang="en-US" dirty="0" smtClean="0"/>
              <a:t>, and block in audio queue until </a:t>
            </a:r>
            <a:r>
              <a:rPr lang="en-US" dirty="0" err="1" smtClean="0"/>
              <a:t>ack</a:t>
            </a:r>
            <a:r>
              <a:rPr lang="en-US" dirty="0" smtClean="0"/>
              <a:t> back */</a:t>
            </a:r>
          </a:p>
          <a:p>
            <a:r>
              <a:rPr lang="en-US" dirty="0" smtClean="0"/>
              <a:t>	AUDIO_IPI_MSG_NEED_ACK      = 1,</a:t>
            </a:r>
          </a:p>
          <a:p>
            <a:r>
              <a:rPr lang="en-US" dirty="0" smtClean="0"/>
              <a:t>	AUDIO_IPI_MSG_ACK_BACK      = 2,</a:t>
            </a:r>
          </a:p>
          <a:p>
            <a:endParaRPr lang="en-US" dirty="0" smtClean="0"/>
          </a:p>
          <a:p>
            <a:r>
              <a:rPr lang="en-US" dirty="0" smtClean="0"/>
              <a:t>	/* bypass audio queue, but still send to </a:t>
            </a:r>
            <a:r>
              <a:rPr lang="en-US" dirty="0" err="1" smtClean="0"/>
              <a:t>ipc</a:t>
            </a:r>
            <a:r>
              <a:rPr lang="en-US" dirty="0" smtClean="0"/>
              <a:t> queue */</a:t>
            </a:r>
          </a:p>
          <a:p>
            <a:r>
              <a:rPr lang="en-US" dirty="0" smtClean="0"/>
              <a:t>	AUDIO_IPI_MSG_DIRECT_SEND   = 3,</a:t>
            </a:r>
          </a:p>
          <a:p>
            <a:endParaRPr lang="en-US" dirty="0" smtClean="0"/>
          </a:p>
          <a:p>
            <a:r>
              <a:rPr lang="en-US" dirty="0" smtClean="0"/>
              <a:t>	AUDIO_IPI_MSG_CANCELED      = 8</a:t>
            </a:r>
          </a:p>
          <a:p>
            <a:r>
              <a:rPr lang="en-US" dirty="0" smtClean="0"/>
              <a:t>};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286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enum</a:t>
            </a:r>
            <a:r>
              <a:rPr lang="en-US" dirty="0" smtClean="0"/>
              <a:t> { /* </a:t>
            </a:r>
            <a:r>
              <a:rPr lang="en-US" dirty="0" err="1" smtClean="0"/>
              <a:t>audio_ipi_msg_data_t</a:t>
            </a:r>
            <a:r>
              <a:rPr lang="en-US" dirty="0" smtClean="0"/>
              <a:t> */</a:t>
            </a:r>
          </a:p>
          <a:p>
            <a:r>
              <a:rPr lang="en-US" dirty="0" smtClean="0"/>
              <a:t>	AUDIO_IPI_MSG_ONLY,</a:t>
            </a:r>
          </a:p>
          <a:p>
            <a:r>
              <a:rPr lang="en-US" dirty="0" smtClean="0"/>
              <a:t>	AUDIO_IPI_PAYLOAD,</a:t>
            </a:r>
          </a:p>
          <a:p>
            <a:r>
              <a:rPr lang="en-US" dirty="0" smtClean="0"/>
              <a:t>	AUDIO_IPI_DMA,</a:t>
            </a:r>
          </a:p>
          <a:p>
            <a:r>
              <a:rPr lang="en-US" dirty="0" smtClean="0"/>
              <a:t>};</a:t>
            </a:r>
          </a:p>
          <a:p>
            <a:endParaRPr lang="en-US" dirty="0" smtClean="0"/>
          </a:p>
          <a:p>
            <a:r>
              <a:rPr lang="en-US" dirty="0" err="1" smtClean="0"/>
              <a:t>enum</a:t>
            </a:r>
            <a:r>
              <a:rPr lang="en-US" dirty="0" smtClean="0"/>
              <a:t> { /* </a:t>
            </a:r>
            <a:r>
              <a:rPr lang="en-US" dirty="0" err="1" smtClean="0"/>
              <a:t>audio_ipi_msg_ack_t</a:t>
            </a:r>
            <a:r>
              <a:rPr lang="en-US" dirty="0" smtClean="0"/>
              <a:t> */</a:t>
            </a:r>
          </a:p>
          <a:p>
            <a:r>
              <a:rPr lang="en-US" dirty="0" smtClean="0"/>
              <a:t>	/* bypass </a:t>
            </a:r>
            <a:r>
              <a:rPr lang="en-US" dirty="0" err="1" smtClean="0"/>
              <a:t>ack</a:t>
            </a:r>
            <a:r>
              <a:rPr lang="en-US" dirty="0" smtClean="0"/>
              <a:t>, but still send to audio queue */</a:t>
            </a:r>
          </a:p>
          <a:p>
            <a:r>
              <a:rPr lang="en-US" dirty="0" smtClean="0"/>
              <a:t>	AUDIO_IPI_MSG_BYPASS_ACK    = 0,</a:t>
            </a:r>
          </a:p>
          <a:p>
            <a:endParaRPr lang="en-US" dirty="0" smtClean="0"/>
          </a:p>
          <a:p>
            <a:r>
              <a:rPr lang="en-US" dirty="0" smtClean="0"/>
              <a:t>	/* need </a:t>
            </a:r>
            <a:r>
              <a:rPr lang="en-US" dirty="0" err="1" smtClean="0"/>
              <a:t>ack</a:t>
            </a:r>
            <a:r>
              <a:rPr lang="en-US" dirty="0" smtClean="0"/>
              <a:t>, and block in audio queue until </a:t>
            </a:r>
            <a:r>
              <a:rPr lang="en-US" dirty="0" err="1" smtClean="0"/>
              <a:t>ack</a:t>
            </a:r>
            <a:r>
              <a:rPr lang="en-US" dirty="0" smtClean="0"/>
              <a:t> back */</a:t>
            </a:r>
          </a:p>
          <a:p>
            <a:r>
              <a:rPr lang="en-US" dirty="0" smtClean="0"/>
              <a:t>	AUDIO_IPI_MSG_NEED_ACK      = 1,</a:t>
            </a:r>
          </a:p>
          <a:p>
            <a:r>
              <a:rPr lang="en-US" dirty="0" smtClean="0"/>
              <a:t>	AUDIO_IPI_MSG_ACK_BACK      = 2,</a:t>
            </a:r>
          </a:p>
          <a:p>
            <a:endParaRPr lang="en-US" dirty="0" smtClean="0"/>
          </a:p>
          <a:p>
            <a:r>
              <a:rPr lang="en-US" dirty="0" smtClean="0"/>
              <a:t>	/* bypass audio queue, but still send to </a:t>
            </a:r>
            <a:r>
              <a:rPr lang="en-US" dirty="0" err="1" smtClean="0"/>
              <a:t>ipc</a:t>
            </a:r>
            <a:r>
              <a:rPr lang="en-US" dirty="0" smtClean="0"/>
              <a:t> queue */</a:t>
            </a:r>
          </a:p>
          <a:p>
            <a:r>
              <a:rPr lang="en-US" dirty="0" smtClean="0"/>
              <a:t>	AUDIO_IPI_MSG_DIRECT_SEND   = 3,</a:t>
            </a:r>
          </a:p>
          <a:p>
            <a:endParaRPr lang="en-US" dirty="0" smtClean="0"/>
          </a:p>
          <a:p>
            <a:r>
              <a:rPr lang="en-US" dirty="0" smtClean="0"/>
              <a:t>	AUDIO_IPI_MSG_CANCELED      = 8</a:t>
            </a:r>
          </a:p>
          <a:p>
            <a:r>
              <a:rPr lang="en-US" dirty="0" smtClean="0"/>
              <a:t>};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415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/>
              <a:t>DUMP_RINGBUG     </a:t>
            </a:r>
            <a:endParaRPr lang="en-US" dirty="0" smtClean="0"/>
          </a:p>
          <a:p>
            <a:r>
              <a:rPr lang="en-US" dirty="0" smtClean="0"/>
              <a:t>__FUNCTION__, \</a:t>
            </a:r>
          </a:p>
          <a:p>
            <a:r>
              <a:rPr lang="en-US" dirty="0" smtClean="0"/>
              <a:t>                  description, \</a:t>
            </a:r>
          </a:p>
          <a:p>
            <a:r>
              <a:rPr lang="en-US" dirty="0" smtClean="0"/>
              <a:t>                  (</a:t>
            </a:r>
            <a:r>
              <a:rPr lang="en-US" dirty="0" err="1" smtClean="0"/>
              <a:t>rb</a:t>
            </a:r>
            <a:r>
              <a:rPr lang="en-US" dirty="0" smtClean="0"/>
              <a:t>)-&gt;base, \</a:t>
            </a:r>
          </a:p>
          <a:p>
            <a:r>
              <a:rPr lang="en-US" dirty="0" smtClean="0"/>
              <a:t>                  (</a:t>
            </a:r>
            <a:r>
              <a:rPr lang="en-US" dirty="0" err="1" smtClean="0"/>
              <a:t>rb</a:t>
            </a:r>
            <a:r>
              <a:rPr lang="en-US" dirty="0" smtClean="0"/>
              <a:t>)-&gt;read, \</a:t>
            </a:r>
          </a:p>
          <a:p>
            <a:r>
              <a:rPr lang="en-US" dirty="0" smtClean="0"/>
              <a:t>                  (</a:t>
            </a:r>
            <a:r>
              <a:rPr lang="en-US" dirty="0" err="1" smtClean="0"/>
              <a:t>rb</a:t>
            </a:r>
            <a:r>
              <a:rPr lang="en-US" dirty="0" smtClean="0"/>
              <a:t>)-&gt;write, \</a:t>
            </a:r>
          </a:p>
          <a:p>
            <a:r>
              <a:rPr lang="en-US" dirty="0" smtClean="0"/>
              <a:t>                  (</a:t>
            </a:r>
            <a:r>
              <a:rPr lang="en-US" dirty="0" err="1" smtClean="0"/>
              <a:t>rb</a:t>
            </a:r>
            <a:r>
              <a:rPr lang="en-US" dirty="0" smtClean="0"/>
              <a:t>)-&gt;size, \</a:t>
            </a:r>
          </a:p>
          <a:p>
            <a:r>
              <a:rPr lang="en-US" dirty="0" smtClean="0"/>
              <a:t>                  </a:t>
            </a:r>
            <a:r>
              <a:rPr lang="en-US" dirty="0" err="1" smtClean="0"/>
              <a:t>audio_ringbuf_count</a:t>
            </a:r>
            <a:r>
              <a:rPr lang="en-US" dirty="0" smtClean="0"/>
              <a:t>(</a:t>
            </a:r>
            <a:r>
              <a:rPr lang="en-US" dirty="0" err="1" smtClean="0"/>
              <a:t>rb</a:t>
            </a:r>
            <a:r>
              <a:rPr lang="en-US" dirty="0" smtClean="0"/>
              <a:t>), \</a:t>
            </a:r>
          </a:p>
          <a:p>
            <a:r>
              <a:rPr lang="en-US" dirty="0" smtClean="0"/>
              <a:t>                  </a:t>
            </a:r>
            <a:r>
              <a:rPr lang="en-US" dirty="0" err="1" smtClean="0"/>
              <a:t>audio_ringbuf_free_space</a:t>
            </a:r>
            <a:r>
              <a:rPr lang="en-US" dirty="0" smtClean="0"/>
              <a:t>(</a:t>
            </a:r>
            <a:r>
              <a:rPr lang="en-US" dirty="0" err="1" smtClean="0"/>
              <a:t>rb</a:t>
            </a:r>
            <a:r>
              <a:rPr lang="en-US" dirty="0" smtClean="0"/>
              <a:t>), \</a:t>
            </a:r>
          </a:p>
          <a:p>
            <a:r>
              <a:rPr lang="en-US" dirty="0" smtClean="0"/>
              <a:t>                  count</a:t>
            </a:r>
          </a:p>
          <a:p>
            <a:r>
              <a:rPr lang="en-US" dirty="0" smtClean="0"/>
              <a:t>-------------------------</a:t>
            </a:r>
          </a:p>
          <a:p>
            <a:r>
              <a:rPr lang="en-US" dirty="0" err="1" smtClean="0"/>
              <a:t>Datacount</a:t>
            </a:r>
            <a:r>
              <a:rPr lang="en-US" dirty="0" smtClean="0"/>
              <a:t> :</a:t>
            </a:r>
          </a:p>
          <a:p>
            <a:r>
              <a:rPr lang="en-US" dirty="0" smtClean="0"/>
              <a:t>R==W</a:t>
            </a:r>
          </a:p>
          <a:p>
            <a:r>
              <a:rPr lang="en-US" dirty="0" smtClean="0"/>
              <a:t>R &gt; W</a:t>
            </a:r>
          </a:p>
          <a:p>
            <a:r>
              <a:rPr lang="en-US" dirty="0" smtClean="0"/>
              <a:t>W&gt;R</a:t>
            </a:r>
          </a:p>
          <a:p>
            <a:r>
              <a:rPr lang="en-US" dirty="0" smtClean="0"/>
              <a:t>Assert:</a:t>
            </a:r>
          </a:p>
          <a:p>
            <a:r>
              <a:rPr lang="en-US" dirty="0" smtClean="0"/>
              <a:t>R&lt;Base R</a:t>
            </a:r>
            <a:r>
              <a:rPr lang="en-US" altLang="zh-TW" dirty="0" smtClean="0"/>
              <a:t>&gt;End</a:t>
            </a:r>
            <a:endParaRPr lang="en-US" dirty="0" smtClean="0"/>
          </a:p>
          <a:p>
            <a:r>
              <a:rPr lang="en-US" dirty="0" smtClean="0"/>
              <a:t>W&lt;</a:t>
            </a:r>
            <a:r>
              <a:rPr lang="en-US" baseline="0" dirty="0" smtClean="0"/>
              <a:t> Base W &gt;End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555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[I][DMA] </a:t>
            </a:r>
            <a:r>
              <a:rPr lang="en-US" dirty="0" err="1" smtClean="0"/>
              <a:t>init_audio_ipi_dma</a:t>
            </a:r>
            <a:r>
              <a:rPr lang="en-US" dirty="0" smtClean="0"/>
              <a:t>(), </a:t>
            </a:r>
            <a:r>
              <a:rPr lang="en-US" dirty="0" err="1" smtClean="0"/>
              <a:t>dma</a:t>
            </a:r>
            <a:r>
              <a:rPr lang="en-US" dirty="0" smtClean="0"/>
              <a:t> 0x6a700000, </a:t>
            </a:r>
            <a:r>
              <a:rPr lang="en-US" dirty="0" err="1" smtClean="0"/>
              <a:t>phy</a:t>
            </a:r>
            <a:r>
              <a:rPr lang="en-US" dirty="0" smtClean="0"/>
              <a:t> 0x6a700000/0x6a700000, </a:t>
            </a:r>
            <a:r>
              <a:rPr lang="en-US" dirty="0" err="1" smtClean="0"/>
              <a:t>sz</a:t>
            </a:r>
            <a:r>
              <a:rPr lang="en-US" dirty="0" smtClean="0"/>
              <a:t> 0x500000, checksum 10880/10880, offset 11008</a:t>
            </a:r>
          </a:p>
          <a:p>
            <a:endParaRPr lang="en-US" dirty="0" smtClean="0"/>
          </a:p>
          <a:p>
            <a:r>
              <a:rPr lang="en-US" dirty="0" smtClean="0"/>
              <a:t>LOG_F("%s, offset: 0x%x, size: 0x%x" \</a:t>
            </a:r>
          </a:p>
          <a:p>
            <a:r>
              <a:rPr lang="en-US" dirty="0" smtClean="0"/>
              <a:t>                  ", </a:t>
            </a:r>
            <a:r>
              <a:rPr lang="en-US" dirty="0" err="1" smtClean="0"/>
              <a:t>read_idx</a:t>
            </a:r>
            <a:r>
              <a:rPr lang="en-US" dirty="0" smtClean="0"/>
              <a:t>: 0x%x, </a:t>
            </a:r>
            <a:r>
              <a:rPr lang="en-US" dirty="0" err="1" smtClean="0"/>
              <a:t>write_idx</a:t>
            </a:r>
            <a:r>
              <a:rPr lang="en-US" dirty="0" smtClean="0"/>
              <a:t>: 0x%x" \</a:t>
            </a:r>
          </a:p>
          <a:p>
            <a:r>
              <a:rPr lang="en-US" dirty="0" smtClean="0"/>
              <a:t>                  ", </a:t>
            </a:r>
            <a:r>
              <a:rPr lang="en-US" dirty="0" err="1" smtClean="0"/>
              <a:t>region_data_count</a:t>
            </a:r>
            <a:r>
              <a:rPr lang="en-US" dirty="0" smtClean="0"/>
              <a:t>: 0x%x, count: %u", \</a:t>
            </a:r>
          </a:p>
          <a:p>
            <a:r>
              <a:rPr lang="en-US" dirty="0" smtClean="0"/>
              <a:t>                  description, \</a:t>
            </a:r>
          </a:p>
          <a:p>
            <a:r>
              <a:rPr lang="en-US" dirty="0" smtClean="0"/>
              <a:t>                  (</a:t>
            </a:r>
            <a:r>
              <a:rPr lang="en-US" dirty="0" err="1" smtClean="0"/>
              <a:t>p_region</a:t>
            </a:r>
            <a:r>
              <a:rPr lang="en-US" dirty="0" smtClean="0"/>
              <a:t>)-&gt;offset, \</a:t>
            </a:r>
          </a:p>
          <a:p>
            <a:r>
              <a:rPr lang="en-US" dirty="0" smtClean="0"/>
              <a:t>                  (</a:t>
            </a:r>
            <a:r>
              <a:rPr lang="en-US" dirty="0" err="1" smtClean="0"/>
              <a:t>p_region</a:t>
            </a:r>
            <a:r>
              <a:rPr lang="en-US" dirty="0" smtClean="0"/>
              <a:t>)-&gt;size, \</a:t>
            </a:r>
          </a:p>
          <a:p>
            <a:r>
              <a:rPr lang="en-US" dirty="0" smtClean="0"/>
              <a:t>                  (</a:t>
            </a:r>
            <a:r>
              <a:rPr lang="en-US" dirty="0" err="1" smtClean="0"/>
              <a:t>p_region</a:t>
            </a:r>
            <a:r>
              <a:rPr lang="en-US" dirty="0" smtClean="0"/>
              <a:t>)-&gt;</a:t>
            </a:r>
            <a:r>
              <a:rPr lang="en-US" dirty="0" err="1" smtClean="0"/>
              <a:t>read_idx</a:t>
            </a:r>
            <a:r>
              <a:rPr lang="en-US" dirty="0" smtClean="0"/>
              <a:t>, \</a:t>
            </a:r>
          </a:p>
          <a:p>
            <a:r>
              <a:rPr lang="en-US" dirty="0" smtClean="0"/>
              <a:t>                  (</a:t>
            </a:r>
            <a:r>
              <a:rPr lang="en-US" dirty="0" err="1" smtClean="0"/>
              <a:t>p_region</a:t>
            </a:r>
            <a:r>
              <a:rPr lang="en-US" dirty="0" smtClean="0"/>
              <a:t>)-&gt;</a:t>
            </a:r>
            <a:r>
              <a:rPr lang="en-US" dirty="0" err="1" smtClean="0"/>
              <a:t>write_idx</a:t>
            </a:r>
            <a:r>
              <a:rPr lang="en-US" dirty="0" smtClean="0"/>
              <a:t>, \</a:t>
            </a:r>
          </a:p>
          <a:p>
            <a:r>
              <a:rPr lang="en-US" dirty="0" smtClean="0"/>
              <a:t>                  </a:t>
            </a:r>
            <a:r>
              <a:rPr lang="en-US" dirty="0" err="1" smtClean="0"/>
              <a:t>audio_region_data_count</a:t>
            </a:r>
            <a:r>
              <a:rPr lang="en-US" dirty="0" smtClean="0"/>
              <a:t>(</a:t>
            </a:r>
            <a:r>
              <a:rPr lang="en-US" dirty="0" err="1" smtClean="0"/>
              <a:t>p_region</a:t>
            </a:r>
            <a:r>
              <a:rPr lang="en-US" dirty="0" smtClean="0"/>
              <a:t>), \</a:t>
            </a:r>
          </a:p>
          <a:p>
            <a:r>
              <a:rPr lang="en-US" dirty="0" smtClean="0"/>
              <a:t>                  count); \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2320-C23A-B148-88B1-360D5FA97CA7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06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12" y="1539265"/>
            <a:ext cx="2370836" cy="584454"/>
          </a:xfrm>
          <a:prstGeom prst="rect">
            <a:avLst/>
          </a:prstGeom>
          <a:effectLst/>
        </p:spPr>
      </p:pic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3594100" y="1097941"/>
            <a:ext cx="1612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rgbClr val="69BE28"/>
                </a:solidFill>
              </a:rPr>
              <a:t>INTERNAL USE</a:t>
            </a:r>
            <a:endParaRPr lang="en-US" altLang="zh-TW" sz="800" b="1" dirty="0">
              <a:solidFill>
                <a:srgbClr val="69BE28"/>
              </a:solidFill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594100" y="3835403"/>
            <a:ext cx="5092700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rgbClr val="F382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372337"/>
          </a:xfr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10" name="Picture 9" descr="pattern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3"/>
            <a:ext cx="9144000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15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">
    <p:bg>
      <p:bgPr>
        <a:gradFill flip="none" rotWithShape="1">
          <a:gsLst>
            <a:gs pos="40000">
              <a:schemeClr val="bg1"/>
            </a:gs>
            <a:gs pos="0">
              <a:schemeClr val="bg1">
                <a:lumMod val="9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agline-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667" y="2484967"/>
            <a:ext cx="4064000" cy="1762760"/>
          </a:xfrm>
          <a:prstGeom prst="rect">
            <a:avLst/>
          </a:prstGeom>
        </p:spPr>
      </p:pic>
      <p:sp>
        <p:nvSpPr>
          <p:cNvPr id="11" name="Text Box 8"/>
          <p:cNvSpPr txBox="1">
            <a:spLocks noChangeArrowheads="1"/>
          </p:cNvSpPr>
          <p:nvPr userDrawn="1"/>
        </p:nvSpPr>
        <p:spPr bwMode="auto">
          <a:xfrm>
            <a:off x="2962011" y="6226175"/>
            <a:ext cx="28813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129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1269800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57200" y="1866900"/>
            <a:ext cx="8229600" cy="428942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936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29817"/>
            <a:ext cx="7772400" cy="1362075"/>
          </a:xfrm>
        </p:spPr>
        <p:txBody>
          <a:bodyPr anchor="t">
            <a:normAutofit/>
          </a:bodyPr>
          <a:lstStyle>
            <a:lvl1pPr algn="l">
              <a:defRPr sz="3000" b="1" cap="all" spc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3233" y="2619305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19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44133"/>
            <a:ext cx="4038600" cy="4203367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44132"/>
            <a:ext cx="4038600" cy="420336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800"/>
            </a:lvl1pPr>
            <a:lvl2pPr>
              <a:defRPr sz="24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51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44133"/>
            <a:ext cx="4040188" cy="5164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60600"/>
            <a:ext cx="4040188" cy="375681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744133"/>
            <a:ext cx="4041775" cy="51646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260600"/>
            <a:ext cx="4041775" cy="375681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2400"/>
            </a:lvl1pPr>
            <a:lvl2pPr>
              <a:defRPr sz="20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56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7003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Wingdings" charset="2"/>
              <a:buChar char="§"/>
              <a:defRPr sz="3200"/>
            </a:lvl1pPr>
            <a:lvl2pPr>
              <a:defRPr sz="2800"/>
            </a:lvl2pPr>
            <a:lvl3pPr marL="1143000" indent="-228600">
              <a:buClr>
                <a:schemeClr val="accent1"/>
              </a:buClr>
              <a:buFont typeface="Wingdings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538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2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497343"/>
            <a:ext cx="5486400" cy="566739"/>
          </a:xfrm>
        </p:spPr>
        <p:txBody>
          <a:bodyPr anchor="b"/>
          <a:lstStyle>
            <a:lvl1pPr algn="l">
              <a:defRPr sz="2000" b="1" spc="0">
                <a:solidFill>
                  <a:schemeClr val="accent1"/>
                </a:solidFill>
              </a:defRPr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86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064081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4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744133"/>
            <a:ext cx="8229600" cy="428948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47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6988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69880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/>
          <a:lstStyle/>
          <a:p>
            <a:fld id="{3E54FAAE-D303-1440-B1E5-D1AB6CEFDB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55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1269800"/>
          </a:xfrm>
        </p:spPr>
        <p:txBody>
          <a:bodyPr t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5"/>
            <a:ext cx="927434" cy="365125"/>
          </a:xfrm>
          <a:prstGeom prst="rect">
            <a:avLst/>
          </a:prstGeom>
        </p:spPr>
        <p:txBody>
          <a:bodyPr/>
          <a:lstStyle/>
          <a:p>
            <a:fld id="{3B700EBD-134C-447E-8B60-9508152B75ED}" type="datetimeFigureOut">
              <a:rPr lang="en-US" smtClean="0"/>
              <a:pPr/>
              <a:t>10/8/2020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2" y="6278675"/>
            <a:ext cx="3035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5"/>
            <a:ext cx="1060116" cy="365125"/>
          </a:xfrm>
          <a:prstGeom prst="rect">
            <a:avLst/>
          </a:prstGeom>
        </p:spPr>
        <p:txBody>
          <a:bodyPr/>
          <a:lstStyle/>
          <a:p>
            <a:fld id="{E18BA02F-DC02-4FBA-A679-92BC6588374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57200" y="1866900"/>
            <a:ext cx="8229600" cy="4289426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6380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typ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12" y="1539268"/>
            <a:ext cx="2370836" cy="584454"/>
          </a:xfrm>
          <a:prstGeom prst="rect">
            <a:avLst/>
          </a:prstGeom>
          <a:effectLst/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594100" y="3835403"/>
            <a:ext cx="5092700" cy="105833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pc="-15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 smtClean="0"/>
              <a:t>Click to edit Master subtitle style</a:t>
            </a:r>
            <a:endParaRPr lang="en-US" dirty="0"/>
          </a:p>
        </p:txBody>
      </p:sp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3594100" y="1463066"/>
            <a:ext cx="5092700" cy="237233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b="1" spc="-150">
                <a:solidFill>
                  <a:schemeClr val="bg1"/>
                </a:solidFill>
              </a:defRPr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pic>
        <p:nvPicPr>
          <p:cNvPr id="8" name="Picture 7" descr="pattern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7"/>
          <a:stretch/>
        </p:blipFill>
        <p:spPr>
          <a:xfrm>
            <a:off x="0" y="4893733"/>
            <a:ext cx="9144000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996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End Slide">
    <p:bg>
      <p:bgPr>
        <a:gradFill flip="none" rotWithShape="1">
          <a:gsLst>
            <a:gs pos="40000">
              <a:schemeClr val="tx1"/>
            </a:gs>
            <a:gs pos="0">
              <a:schemeClr val="bg2">
                <a:lumMod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667" y="2484967"/>
            <a:ext cx="4064000" cy="1762760"/>
          </a:xfrm>
          <a:prstGeom prst="rect">
            <a:avLst/>
          </a:prstGeom>
        </p:spPr>
      </p:pic>
      <p:sp>
        <p:nvSpPr>
          <p:cNvPr id="10" name="Text Box 8"/>
          <p:cNvSpPr txBox="1">
            <a:spLocks noChangeArrowheads="1"/>
          </p:cNvSpPr>
          <p:nvPr userDrawn="1"/>
        </p:nvSpPr>
        <p:spPr bwMode="auto">
          <a:xfrm>
            <a:off x="2962011" y="6226175"/>
            <a:ext cx="288131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Copyright © MediaTek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 Inc. </a:t>
            </a:r>
            <a:r>
              <a:rPr lang="en-US" sz="1000" dirty="0">
                <a:solidFill>
                  <a:schemeClr val="tx2"/>
                </a:solidFill>
                <a:ea typeface="SimHei" charset="0"/>
                <a:cs typeface="SimHei" charset="0"/>
              </a:rPr>
              <a:t>All rights reserved</a:t>
            </a:r>
            <a:r>
              <a:rPr lang="en-US" altLang="zh-TW" sz="1000" dirty="0">
                <a:solidFill>
                  <a:schemeClr val="tx2"/>
                </a:solidFill>
                <a:ea typeface="SimHei" charset="0"/>
                <a:cs typeface="SimHei" charset="0"/>
              </a:rPr>
              <a:t>.</a:t>
            </a:r>
            <a:endParaRPr lang="en-US" sz="1000" dirty="0">
              <a:solidFill>
                <a:schemeClr val="tx2"/>
              </a:solidFill>
              <a:ea typeface="SimHei" charset="0"/>
              <a:cs typeface="Sim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405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1143000"/>
          </a:xfrm>
        </p:spPr>
        <p:txBody>
          <a:bodyPr tIns="0"/>
          <a:lstStyle/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03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v-SE" dirty="0" smtClean="0"/>
              <a:t>Click to edit Master text styles</a:t>
            </a:r>
          </a:p>
          <a:p>
            <a:pPr lvl="1"/>
            <a:r>
              <a:rPr lang="sv-SE" dirty="0" smtClean="0"/>
              <a:t>Second level</a:t>
            </a:r>
          </a:p>
          <a:p>
            <a:pPr lvl="2"/>
            <a:r>
              <a:rPr lang="sv-SE" dirty="0" smtClean="0"/>
              <a:t>Third level</a:t>
            </a:r>
          </a:p>
          <a:p>
            <a:pPr lvl="3"/>
            <a:r>
              <a:rPr lang="sv-SE" dirty="0" smtClean="0"/>
              <a:t>Fourth level</a:t>
            </a:r>
          </a:p>
          <a:p>
            <a:pPr lvl="4"/>
            <a:r>
              <a:rPr lang="sv-SE" dirty="0" smtClean="0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3962400" y="6775450"/>
            <a:ext cx="184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371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185"/>
            <a:ext cx="7772400" cy="15007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 spc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dirty="0" smtClean="0"/>
              <a:t>CLICK TO EDIT MASTER TEXT STYLES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9311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43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2139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4584"/>
            <a:ext cx="4040188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934"/>
            <a:ext cx="4040188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4584"/>
            <a:ext cx="4041775" cy="641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 spc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5934"/>
            <a:ext cx="4041775" cy="39497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7682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617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177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2"/>
            <a:ext cx="3008313" cy="1162049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258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05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638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7267"/>
          </a:xfrm>
        </p:spPr>
        <p:txBody>
          <a:bodyPr anchor="b"/>
          <a:lstStyle>
            <a:lvl1pPr algn="l">
              <a:defRPr sz="2000" b="1" spc="0"/>
            </a:lvl1pPr>
          </a:lstStyle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3833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867"/>
            <a:ext cx="5486400" cy="8043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spc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5952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43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9384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167"/>
            <a:ext cx="2057400" cy="5850467"/>
          </a:xfrm>
        </p:spPr>
        <p:txBody>
          <a:bodyPr vert="eaVert"/>
          <a:lstStyle/>
          <a:p>
            <a:r>
              <a:rPr lang="sv-S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167"/>
            <a:ext cx="6019800" cy="58504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sv-SE" smtClean="0"/>
              <a:t>Click to edit Master text styles</a:t>
            </a:r>
          </a:p>
          <a:p>
            <a:pPr lvl="1"/>
            <a:r>
              <a:rPr lang="sv-SE" smtClean="0"/>
              <a:t>Second level</a:t>
            </a:r>
          </a:p>
          <a:p>
            <a:pPr lvl="2"/>
            <a:r>
              <a:rPr lang="sv-SE" smtClean="0"/>
              <a:t>Third level</a:t>
            </a:r>
          </a:p>
          <a:p>
            <a:pPr lvl="3"/>
            <a:r>
              <a:rPr lang="sv-SE" smtClean="0"/>
              <a:t>Fourth level</a:t>
            </a:r>
          </a:p>
          <a:p>
            <a:pPr lvl="4"/>
            <a:r>
              <a:rPr lang="sv-SE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56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8229600" cy="113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Logotype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2" y="6361222"/>
            <a:ext cx="760781" cy="190561"/>
          </a:xfrm>
          <a:prstGeom prst="rect">
            <a:avLst/>
          </a:prstGeom>
        </p:spPr>
      </p:pic>
      <p:sp>
        <p:nvSpPr>
          <p:cNvPr id="14" name="Footer Placeholder 4"/>
          <p:cNvSpPr txBox="1">
            <a:spLocks/>
          </p:cNvSpPr>
          <p:nvPr/>
        </p:nvSpPr>
        <p:spPr>
          <a:xfrm>
            <a:off x="1441450" y="6273800"/>
            <a:ext cx="1612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rgbClr val="69BE28"/>
                </a:solidFill>
              </a:rPr>
              <a:t>INTERNAL USE</a:t>
            </a:r>
            <a:endParaRPr lang="en-US" altLang="zh-TW" sz="800" b="1" dirty="0">
              <a:solidFill>
                <a:srgbClr val="69BE28"/>
              </a:solidFill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44133"/>
            <a:ext cx="8229600" cy="4289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8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8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457200" rtl="0" eaLnBrk="1" latinLnBrk="0" hangingPunct="1">
        <a:lnSpc>
          <a:spcPct val="80000"/>
        </a:lnSpc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32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dirty="0" smtClean="0"/>
              <a:t>Click to edit Master title style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6699250" y="6278671"/>
            <a:ext cx="9274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3950" y="6278671"/>
            <a:ext cx="303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US" altLang="zh-TW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684" y="6278671"/>
            <a:ext cx="1060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3E54FAAE-D303-1440-B1E5-D1AB6CEFDB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/>
          <p:cNvSpPr txBox="1">
            <a:spLocks/>
          </p:cNvSpPr>
          <p:nvPr/>
        </p:nvSpPr>
        <p:spPr>
          <a:xfrm>
            <a:off x="1441450" y="6273800"/>
            <a:ext cx="1612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800" b="1" dirty="0" smtClean="0">
                <a:solidFill>
                  <a:schemeClr val="accent3"/>
                </a:solidFill>
              </a:rPr>
              <a:t>INTERNAL USE</a:t>
            </a:r>
            <a:endParaRPr lang="en-US" altLang="zh-TW" sz="800" b="1" dirty="0">
              <a:solidFill>
                <a:schemeClr val="accent3"/>
              </a:solidFill>
            </a:endParaRPr>
          </a:p>
        </p:txBody>
      </p:sp>
      <p:pic>
        <p:nvPicPr>
          <p:cNvPr id="17" name="Picture 16" descr="Logotyp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623" y="6361221"/>
            <a:ext cx="773010" cy="190561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8167"/>
            <a:ext cx="8229600" cy="461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 smtClean="0"/>
              <a:t>Click to edit Master text styles</a:t>
            </a:r>
          </a:p>
          <a:p>
            <a:pPr lvl="1"/>
            <a:r>
              <a:rPr lang="sv-SE" dirty="0" smtClean="0"/>
              <a:t>Second level</a:t>
            </a:r>
          </a:p>
          <a:p>
            <a:pPr lvl="2"/>
            <a:r>
              <a:rPr lang="sv-SE" dirty="0" smtClean="0"/>
              <a:t>Third level</a:t>
            </a:r>
          </a:p>
          <a:p>
            <a:pPr lvl="3"/>
            <a:r>
              <a:rPr lang="sv-SE" dirty="0" smtClean="0"/>
              <a:t>Fourth level</a:t>
            </a:r>
          </a:p>
          <a:p>
            <a:pPr lvl="4"/>
            <a:r>
              <a:rPr lang="sv-SE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7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 spc="-15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SzPct val="100000"/>
        <a:buFont typeface="Lucida Grande"/>
        <a:buChar char="▪"/>
        <a:defRPr sz="3200" kern="1200" spc="-15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 spc="-15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▪"/>
        <a:defRPr sz="2400" kern="1200" spc="-15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▪"/>
        <a:defRPr sz="2000" kern="1200" spc="-15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23.xml"/><Relationship Id="rId18" Type="http://schemas.openxmlformats.org/officeDocument/2006/relationships/slide" Target="slide34.xml"/><Relationship Id="rId3" Type="http://schemas.openxmlformats.org/officeDocument/2006/relationships/slide" Target="slide3.xml"/><Relationship Id="rId21" Type="http://schemas.openxmlformats.org/officeDocument/2006/relationships/slide" Target="slide36.xml"/><Relationship Id="rId7" Type="http://schemas.openxmlformats.org/officeDocument/2006/relationships/slide" Target="slide12.xml"/><Relationship Id="rId12" Type="http://schemas.openxmlformats.org/officeDocument/2006/relationships/slide" Target="slide19.xml"/><Relationship Id="rId17" Type="http://schemas.openxmlformats.org/officeDocument/2006/relationships/slide" Target="slide33.xml"/><Relationship Id="rId2" Type="http://schemas.openxmlformats.org/officeDocument/2006/relationships/notesSlide" Target="../notesSlides/notesSlide1.xml"/><Relationship Id="rId16" Type="http://schemas.openxmlformats.org/officeDocument/2006/relationships/slide" Target="slide32.xml"/><Relationship Id="rId20" Type="http://schemas.openxmlformats.org/officeDocument/2006/relationships/slide" Target="slide37.xml"/><Relationship Id="rId1" Type="http://schemas.openxmlformats.org/officeDocument/2006/relationships/slideLayout" Target="../slideLayouts/slideLayout3.xml"/><Relationship Id="rId6" Type="http://schemas.openxmlformats.org/officeDocument/2006/relationships/slide" Target="slide8.xml"/><Relationship Id="rId11" Type="http://schemas.openxmlformats.org/officeDocument/2006/relationships/slide" Target="slide18.xml"/><Relationship Id="rId5" Type="http://schemas.openxmlformats.org/officeDocument/2006/relationships/slide" Target="slide7.xml"/><Relationship Id="rId15" Type="http://schemas.openxmlformats.org/officeDocument/2006/relationships/slide" Target="slide30.xml"/><Relationship Id="rId10" Type="http://schemas.openxmlformats.org/officeDocument/2006/relationships/slide" Target="slide17.xml"/><Relationship Id="rId19" Type="http://schemas.openxmlformats.org/officeDocument/2006/relationships/slide" Target="slide35.xml"/><Relationship Id="rId4" Type="http://schemas.openxmlformats.org/officeDocument/2006/relationships/slide" Target="slide5.xml"/><Relationship Id="rId9" Type="http://schemas.openxmlformats.org/officeDocument/2006/relationships/slide" Target="slide16.xml"/><Relationship Id="rId14" Type="http://schemas.openxmlformats.org/officeDocument/2006/relationships/slide" Target="slide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400" dirty="0" smtClean="0"/>
              <a:t>2019/1/7</a:t>
            </a: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Hifi3 Debugging Tools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730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7441"/>
            <a:ext cx="8229600" cy="1269800"/>
          </a:xfrm>
        </p:spPr>
        <p:txBody>
          <a:bodyPr>
            <a:normAutofit/>
          </a:bodyPr>
          <a:lstStyle/>
          <a:p>
            <a:r>
              <a:rPr lang="en-US" dirty="0" smtClean="0"/>
              <a:t>Debug Items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189571" y="860788"/>
            <a:ext cx="8798312" cy="5783008"/>
          </a:xfrm>
        </p:spPr>
        <p:txBody>
          <a:bodyPr>
            <a:normAutofit fontScale="40000" lnSpcReduction="20000"/>
          </a:bodyPr>
          <a:lstStyle/>
          <a:p>
            <a:r>
              <a:rPr lang="en-US" sz="3800" dirty="0" smtClean="0">
                <a:hlinkClick r:id="rId3" action="ppaction://hlinksldjump"/>
              </a:rPr>
              <a:t>Basic function</a:t>
            </a:r>
            <a:endParaRPr lang="en-US" sz="3800" dirty="0" smtClean="0"/>
          </a:p>
          <a:p>
            <a:pPr lvl="1"/>
            <a:r>
              <a:rPr lang="en-US" sz="2900" dirty="0" smtClean="0">
                <a:hlinkClick r:id="rId3" action="ppaction://hlinksldjump"/>
              </a:rPr>
              <a:t>UART</a:t>
            </a:r>
            <a:r>
              <a:rPr lang="en-US" sz="2900" dirty="0" smtClean="0"/>
              <a:t> </a:t>
            </a:r>
            <a:r>
              <a:rPr lang="en-US" sz="2900" dirty="0" smtClean="0">
                <a:solidFill>
                  <a:srgbClr val="FF0000"/>
                </a:solidFill>
              </a:rPr>
              <a:t>(useful!)</a:t>
            </a:r>
            <a:endParaRPr lang="en-US" sz="2900" dirty="0" smtClean="0"/>
          </a:p>
          <a:p>
            <a:pPr lvl="1"/>
            <a:r>
              <a:rPr lang="en-US" sz="2900" dirty="0" smtClean="0">
                <a:hlinkClick r:id="rId4" action="ppaction://hlinksldjump"/>
              </a:rPr>
              <a:t>Logger</a:t>
            </a:r>
            <a:r>
              <a:rPr lang="en-US" sz="2900" dirty="0" smtClean="0"/>
              <a:t> </a:t>
            </a:r>
            <a:r>
              <a:rPr lang="en-US" sz="2900" dirty="0" smtClean="0">
                <a:solidFill>
                  <a:srgbClr val="FF0000"/>
                </a:solidFill>
              </a:rPr>
              <a:t>(useful!)</a:t>
            </a:r>
            <a:endParaRPr lang="en-US" sz="2900" dirty="0" smtClean="0"/>
          </a:p>
          <a:p>
            <a:pPr lvl="1"/>
            <a:r>
              <a:rPr lang="en-US" sz="2900" dirty="0" smtClean="0">
                <a:hlinkClick r:id="rId5" action="ppaction://hlinksldjump"/>
              </a:rPr>
              <a:t>CFGREG Dump</a:t>
            </a:r>
            <a:endParaRPr lang="en-US" sz="2900" dirty="0" smtClean="0"/>
          </a:p>
          <a:p>
            <a:pPr lvl="1"/>
            <a:r>
              <a:rPr lang="en-US" sz="2900" dirty="0" smtClean="0">
                <a:hlinkClick r:id="rId6" action="ppaction://hlinksldjump"/>
              </a:rPr>
              <a:t>ADSP JTAG</a:t>
            </a:r>
            <a:endParaRPr lang="en-US" sz="2900" dirty="0" smtClean="0"/>
          </a:p>
          <a:p>
            <a:r>
              <a:rPr lang="en-US" sz="3800" dirty="0" smtClean="0">
                <a:hlinkClick r:id="rId7" action="ppaction://hlinksldjump"/>
              </a:rPr>
              <a:t>System SW debug</a:t>
            </a:r>
            <a:endParaRPr lang="en-US" sz="3800" dirty="0" smtClean="0"/>
          </a:p>
          <a:p>
            <a:pPr lvl="1"/>
            <a:r>
              <a:rPr lang="en-US" sz="3400" dirty="0" smtClean="0"/>
              <a:t>Monitor</a:t>
            </a:r>
          </a:p>
          <a:p>
            <a:pPr lvl="2"/>
            <a:r>
              <a:rPr lang="en-US" sz="2900" dirty="0" smtClean="0">
                <a:hlinkClick r:id="rId7" action="ppaction://hlinksldjump"/>
              </a:rPr>
              <a:t>Task monitor</a:t>
            </a:r>
            <a:r>
              <a:rPr lang="en-US" sz="2900" dirty="0" smtClean="0"/>
              <a:t> </a:t>
            </a:r>
            <a:r>
              <a:rPr lang="en-US" sz="2900" dirty="0" smtClean="0">
                <a:solidFill>
                  <a:srgbClr val="FF0000"/>
                </a:solidFill>
              </a:rPr>
              <a:t>(useful!)</a:t>
            </a:r>
            <a:endParaRPr lang="en-US" sz="2900" dirty="0" smtClean="0"/>
          </a:p>
          <a:p>
            <a:pPr lvl="2"/>
            <a:r>
              <a:rPr lang="en-US" sz="2900" dirty="0" smtClean="0">
                <a:hlinkClick r:id="rId8" action="ppaction://hlinksldjump"/>
              </a:rPr>
              <a:t>Heap Management Tool</a:t>
            </a:r>
            <a:endParaRPr lang="en-US" sz="2900" dirty="0" smtClean="0"/>
          </a:p>
          <a:p>
            <a:pPr lvl="2"/>
            <a:r>
              <a:rPr lang="en-US" sz="2900" dirty="0" smtClean="0">
                <a:hlinkClick r:id="rId9" action="ppaction://hlinksldjump"/>
              </a:rPr>
              <a:t>Timestamps</a:t>
            </a:r>
            <a:endParaRPr lang="en-US" sz="2900" dirty="0" smtClean="0"/>
          </a:p>
          <a:p>
            <a:pPr lvl="1"/>
            <a:r>
              <a:rPr lang="en-US" sz="3400" dirty="0" smtClean="0"/>
              <a:t>Assert</a:t>
            </a:r>
          </a:p>
          <a:p>
            <a:pPr lvl="2"/>
            <a:r>
              <a:rPr lang="en-US" sz="2900" dirty="0" smtClean="0">
                <a:hlinkClick r:id="rId10" action="ppaction://hlinksldjump"/>
              </a:rPr>
              <a:t>Exception Handler</a:t>
            </a:r>
            <a:r>
              <a:rPr lang="en-US" sz="2900" dirty="0" smtClean="0"/>
              <a:t> </a:t>
            </a:r>
            <a:r>
              <a:rPr lang="en-US" sz="2900" dirty="0" smtClean="0">
                <a:solidFill>
                  <a:srgbClr val="FF0000"/>
                </a:solidFill>
              </a:rPr>
              <a:t>(useful!)</a:t>
            </a:r>
            <a:endParaRPr lang="en-US" sz="2900" dirty="0" smtClean="0"/>
          </a:p>
          <a:p>
            <a:pPr lvl="2"/>
            <a:r>
              <a:rPr lang="en-US" sz="2900" dirty="0" smtClean="0">
                <a:hlinkClick r:id="rId11" action="ppaction://hlinksldjump"/>
              </a:rPr>
              <a:t>Stack overflow / </a:t>
            </a:r>
            <a:r>
              <a:rPr lang="en-US" sz="2900" dirty="0" err="1" smtClean="0">
                <a:hlinkClick r:id="rId11" action="ppaction://hlinksldjump"/>
              </a:rPr>
              <a:t>Malloc</a:t>
            </a:r>
            <a:r>
              <a:rPr lang="en-US" sz="2900" dirty="0" smtClean="0">
                <a:hlinkClick r:id="rId11" action="ppaction://hlinksldjump"/>
              </a:rPr>
              <a:t> failed hook</a:t>
            </a:r>
            <a:endParaRPr lang="en-US" sz="2900" dirty="0" smtClean="0"/>
          </a:p>
          <a:p>
            <a:pPr lvl="1"/>
            <a:r>
              <a:rPr lang="en-US" sz="3400" dirty="0" smtClean="0"/>
              <a:t>Dump</a:t>
            </a:r>
          </a:p>
          <a:p>
            <a:pPr lvl="2"/>
            <a:r>
              <a:rPr lang="en-US" sz="2900" dirty="0" smtClean="0">
                <a:hlinkClick r:id="rId12" action="ppaction://hlinksldjump"/>
              </a:rPr>
              <a:t>TRAX</a:t>
            </a:r>
            <a:endParaRPr lang="en-US" sz="2900" dirty="0" smtClean="0"/>
          </a:p>
          <a:p>
            <a:pPr lvl="2"/>
            <a:r>
              <a:rPr lang="en-US" sz="2900" dirty="0" smtClean="0">
                <a:solidFill>
                  <a:srgbClr val="FF0000"/>
                </a:solidFill>
                <a:hlinkClick r:id="rId13" action="ppaction://hlinksldjump"/>
              </a:rPr>
              <a:t>XT-GDB Dump</a:t>
            </a:r>
            <a:r>
              <a:rPr lang="en-US" sz="2900" dirty="0" smtClean="0">
                <a:solidFill>
                  <a:srgbClr val="FF0000"/>
                </a:solidFill>
              </a:rPr>
              <a:t> (useful!)</a:t>
            </a:r>
          </a:p>
          <a:p>
            <a:pPr lvl="2"/>
            <a:r>
              <a:rPr lang="en-US" sz="2900" dirty="0">
                <a:hlinkClick r:id="rId14" action="ppaction://hlinksldjump"/>
              </a:rPr>
              <a:t>Debug Dump </a:t>
            </a:r>
            <a:r>
              <a:rPr lang="en-US" sz="2900" dirty="0" smtClean="0">
                <a:hlinkClick r:id="rId14" action="ppaction://hlinksldjump"/>
              </a:rPr>
              <a:t>type</a:t>
            </a:r>
            <a:r>
              <a:rPr lang="en-US" sz="2900" dirty="0" smtClean="0"/>
              <a:t> </a:t>
            </a:r>
            <a:r>
              <a:rPr lang="en-US" sz="2900" dirty="0">
                <a:solidFill>
                  <a:srgbClr val="FF0000"/>
                </a:solidFill>
              </a:rPr>
              <a:t>(useful</a:t>
            </a:r>
            <a:r>
              <a:rPr lang="en-US" sz="2900" dirty="0" smtClean="0">
                <a:solidFill>
                  <a:srgbClr val="FF0000"/>
                </a:solidFill>
              </a:rPr>
              <a:t>!)</a:t>
            </a:r>
            <a:endParaRPr lang="en-US" sz="2900" dirty="0" smtClean="0"/>
          </a:p>
          <a:p>
            <a:pPr lvl="2"/>
            <a:r>
              <a:rPr lang="en-US" sz="3000" dirty="0">
                <a:hlinkClick r:id="rId15" action="ppaction://hlinksldjump"/>
              </a:rPr>
              <a:t>Debug </a:t>
            </a:r>
            <a:r>
              <a:rPr lang="en-US" sz="3000" dirty="0" smtClean="0">
                <a:hlinkClick r:id="rId15" action="ppaction://hlinksldjump"/>
              </a:rPr>
              <a:t>Command </a:t>
            </a:r>
            <a:r>
              <a:rPr lang="en-US" sz="2900" dirty="0" smtClean="0">
                <a:solidFill>
                  <a:srgbClr val="FF0000"/>
                </a:solidFill>
              </a:rPr>
              <a:t>(useful!)</a:t>
            </a:r>
          </a:p>
          <a:p>
            <a:r>
              <a:rPr lang="en-US" sz="3700" dirty="0" smtClean="0">
                <a:hlinkClick r:id="rId16" action="ppaction://hlinksldjump"/>
              </a:rPr>
              <a:t>System </a:t>
            </a:r>
            <a:r>
              <a:rPr lang="en-US" sz="3700" dirty="0" err="1" smtClean="0">
                <a:hlinkClick r:id="rId16" action="ppaction://hlinksldjump"/>
              </a:rPr>
              <a:t>img</a:t>
            </a:r>
            <a:r>
              <a:rPr lang="en-US" sz="3700" dirty="0" smtClean="0">
                <a:hlinkClick r:id="rId16" action="ppaction://hlinksldjump"/>
              </a:rPr>
              <a:t> debug</a:t>
            </a:r>
            <a:endParaRPr lang="en-US" sz="3700" dirty="0" smtClean="0"/>
          </a:p>
          <a:p>
            <a:pPr lvl="1"/>
            <a:r>
              <a:rPr lang="en-US" sz="3300" dirty="0" err="1" smtClean="0">
                <a:hlinkClick r:id="rId16" action="ppaction://hlinksldjump"/>
              </a:rPr>
              <a:t>xt-objdump</a:t>
            </a:r>
            <a:endParaRPr lang="en-US" sz="3300" dirty="0" smtClean="0"/>
          </a:p>
          <a:p>
            <a:r>
              <a:rPr lang="en-US" sz="3800" dirty="0" smtClean="0">
                <a:hlinkClick r:id="rId17" action="ppaction://hlinksldjump"/>
              </a:rPr>
              <a:t>Audio Related</a:t>
            </a:r>
            <a:endParaRPr lang="en-US" sz="3800" dirty="0" smtClean="0"/>
          </a:p>
          <a:p>
            <a:pPr lvl="1"/>
            <a:r>
              <a:rPr lang="en-US" sz="3400" dirty="0" smtClean="0">
                <a:hlinkClick r:id="rId17" action="ppaction://hlinksldjump"/>
              </a:rPr>
              <a:t>Audio PCM Dump</a:t>
            </a:r>
            <a:r>
              <a:rPr lang="en-US" sz="3400" dirty="0" smtClean="0"/>
              <a:t> </a:t>
            </a:r>
            <a:r>
              <a:rPr lang="en-US" sz="3000" dirty="0" smtClean="0">
                <a:solidFill>
                  <a:srgbClr val="FF0000"/>
                </a:solidFill>
              </a:rPr>
              <a:t>(useful!)</a:t>
            </a:r>
            <a:endParaRPr lang="en-US" sz="3400" dirty="0" smtClean="0"/>
          </a:p>
          <a:p>
            <a:pPr lvl="1"/>
            <a:r>
              <a:rPr lang="en-US" sz="3400" dirty="0" smtClean="0">
                <a:hlinkClick r:id="rId18" action="ppaction://hlinksldjump"/>
              </a:rPr>
              <a:t>Audio Utilities</a:t>
            </a:r>
            <a:endParaRPr lang="en-US" sz="3400" dirty="0" smtClean="0"/>
          </a:p>
          <a:p>
            <a:pPr lvl="2"/>
            <a:r>
              <a:rPr lang="en-US" sz="2900" dirty="0" smtClean="0">
                <a:hlinkClick r:id="rId18" action="ppaction://hlinksldjump"/>
              </a:rPr>
              <a:t>HEAP : AUDIO_CHECK(</a:t>
            </a:r>
            <a:r>
              <a:rPr lang="en-US" sz="2900" dirty="0" err="1" smtClean="0">
                <a:hlinkClick r:id="rId18" action="ppaction://hlinksldjump"/>
              </a:rPr>
              <a:t>ptr</a:t>
            </a:r>
            <a:r>
              <a:rPr lang="en-US" sz="2900" dirty="0" smtClean="0">
                <a:hlinkClick r:id="rId18" action="ppaction://hlinksldjump"/>
              </a:rPr>
              <a:t>)</a:t>
            </a:r>
            <a:endParaRPr lang="en-US" sz="2900" dirty="0" smtClean="0"/>
          </a:p>
          <a:p>
            <a:pPr lvl="2"/>
            <a:r>
              <a:rPr lang="en-US" sz="2900" dirty="0" smtClean="0">
                <a:hlinkClick r:id="rId18" action="ppaction://hlinksldjump"/>
              </a:rPr>
              <a:t>LOCK : MTK_AUDIO_LOCK_ENABLE_TRACE</a:t>
            </a:r>
            <a:endParaRPr lang="en-US" sz="2900" dirty="0" smtClean="0"/>
          </a:p>
          <a:p>
            <a:pPr lvl="2"/>
            <a:r>
              <a:rPr lang="en-US" sz="2900" dirty="0" smtClean="0">
                <a:hlinkClick r:id="rId19" action="ppaction://hlinksldjump"/>
              </a:rPr>
              <a:t>AUDIO IPI : </a:t>
            </a:r>
            <a:r>
              <a:rPr lang="en-US" sz="2900" dirty="0" err="1" smtClean="0">
                <a:hlinkClick r:id="rId19" action="ppaction://hlinksldjump"/>
              </a:rPr>
              <a:t>print_msg_info</a:t>
            </a:r>
            <a:endParaRPr lang="en-US" sz="2900" dirty="0" smtClean="0"/>
          </a:p>
          <a:p>
            <a:pPr lvl="2"/>
            <a:r>
              <a:rPr lang="en-US" sz="2900" dirty="0" smtClean="0">
                <a:hlinkClick r:id="rId20" action="ppaction://hlinksldjump"/>
              </a:rPr>
              <a:t>IPI DMA :  DUMP_REGION</a:t>
            </a:r>
            <a:endParaRPr lang="en-US" sz="2900" dirty="0" smtClean="0"/>
          </a:p>
          <a:p>
            <a:pPr lvl="2"/>
            <a:r>
              <a:rPr lang="en-US" sz="2900" dirty="0" smtClean="0">
                <a:hlinkClick r:id="rId21" action="ppaction://hlinksldjump"/>
              </a:rPr>
              <a:t>RINGBUF SW: DUMP_RINGBUG</a:t>
            </a:r>
            <a:endParaRPr lang="en-US" sz="2900" dirty="0" smtClean="0"/>
          </a:p>
          <a:p>
            <a:pPr lvl="2"/>
            <a:r>
              <a:rPr lang="en-US" sz="2900" dirty="0" smtClean="0">
                <a:hlinkClick r:id="rId21" action="ppaction://hlinksldjump"/>
              </a:rPr>
              <a:t>RINGBUF HW dump function</a:t>
            </a:r>
            <a:endParaRPr lang="en-US" sz="29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function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074323"/>
            <a:ext cx="8686800" cy="4289426"/>
          </a:xfrm>
        </p:spPr>
        <p:txBody>
          <a:bodyPr/>
          <a:lstStyle/>
          <a:p>
            <a:r>
              <a:rPr lang="en-US" sz="2800" b="1" dirty="0" err="1" smtClean="0"/>
              <a:t>Uart</a:t>
            </a:r>
            <a:endParaRPr lang="en-US" sz="2800" b="1" dirty="0" smtClean="0"/>
          </a:p>
          <a:p>
            <a:pPr lvl="1"/>
            <a:r>
              <a:rPr lang="en-US" sz="2000" dirty="0" smtClean="0"/>
              <a:t>uart2 : 921600</a:t>
            </a:r>
          </a:p>
          <a:p>
            <a:pPr lvl="1"/>
            <a:r>
              <a:rPr lang="en-US" sz="2000" dirty="0" smtClean="0">
                <a:solidFill>
                  <a:srgbClr val="0070C0"/>
                </a:solidFill>
              </a:rPr>
              <a:t>CFG_UART_SUPPORT = yes (default =no for performance)</a:t>
            </a:r>
          </a:p>
          <a:p>
            <a:pPr lvl="1"/>
            <a:r>
              <a:rPr lang="en-US" altLang="zh-TW" sz="2000" dirty="0" smtClean="0"/>
              <a:t>align kernel timestamp </a:t>
            </a:r>
          </a:p>
          <a:p>
            <a:pPr lvl="2"/>
            <a:r>
              <a:rPr lang="en-US" altLang="zh-TW" sz="1800" dirty="0" smtClean="0">
                <a:solidFill>
                  <a:srgbClr val="0070C0"/>
                </a:solidFill>
              </a:rPr>
              <a:t> </a:t>
            </a:r>
            <a:r>
              <a:rPr lang="en-US" altLang="zh-TW" sz="1600" dirty="0" smtClean="0">
                <a:solidFill>
                  <a:srgbClr val="0070C0"/>
                </a:solidFill>
              </a:rPr>
              <a:t>CFG_KERNEL_TIMESTAMP_SUPPORT =yes</a:t>
            </a:r>
            <a:endParaRPr lang="en-US" altLang="zh-TW" sz="1800" dirty="0" smtClean="0">
              <a:solidFill>
                <a:srgbClr val="0070C0"/>
              </a:solidFill>
            </a:endParaRPr>
          </a:p>
          <a:p>
            <a:pPr lvl="1"/>
            <a:r>
              <a:rPr lang="en-US" sz="2000" dirty="0" smtClean="0"/>
              <a:t>print AP suspend info </a:t>
            </a:r>
          </a:p>
          <a:p>
            <a:pPr lvl="2"/>
            <a:r>
              <a:rPr lang="en-US" sz="1600" dirty="0" smtClean="0"/>
              <a:t>use </a:t>
            </a:r>
            <a:r>
              <a:rPr lang="en-US" sz="1600" dirty="0" err="1" smtClean="0"/>
              <a:t>freeRTOS</a:t>
            </a:r>
            <a:r>
              <a:rPr lang="en-US" sz="1600" dirty="0" smtClean="0"/>
              <a:t> tick to continue timestamp, timestamp will retrograde after AP resume.</a:t>
            </a:r>
            <a:endParaRPr 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7967" y="3723534"/>
            <a:ext cx="4638897" cy="2856464"/>
          </a:xfrm>
          <a:prstGeom prst="rect">
            <a:avLst/>
          </a:prstGeom>
          <a:noFill/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074322"/>
            <a:ext cx="7921256" cy="5204349"/>
          </a:xfrm>
        </p:spPr>
        <p:txBody>
          <a:bodyPr>
            <a:normAutofit fontScale="92500" lnSpcReduction="10000"/>
          </a:bodyPr>
          <a:lstStyle/>
          <a:p>
            <a:r>
              <a:rPr lang="en-US" sz="3000" b="1" dirty="0" err="1" smtClean="0"/>
              <a:t>Uart</a:t>
            </a:r>
            <a:endParaRPr lang="en-US" sz="3000" b="1" dirty="0" smtClean="0"/>
          </a:p>
          <a:p>
            <a:r>
              <a:rPr lang="en-US" sz="2200" dirty="0" smtClean="0"/>
              <a:t>With </a:t>
            </a:r>
            <a:r>
              <a:rPr lang="en-US" sz="2200" dirty="0" err="1" smtClean="0"/>
              <a:t>printf</a:t>
            </a:r>
            <a:r>
              <a:rPr lang="en-US" sz="2200" dirty="0" smtClean="0"/>
              <a:t> function, </a:t>
            </a:r>
            <a:r>
              <a:rPr lang="en-US" sz="2200" b="1" dirty="0" smtClean="0"/>
              <a:t>AUD_LOG_V will not print log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sz="2000" b="1" dirty="0" smtClean="0"/>
              <a:t> </a:t>
            </a:r>
            <a:r>
              <a:rPr lang="en-US" sz="2200" b="1" dirty="0" smtClean="0"/>
              <a:t>Runtime disable/enable </a:t>
            </a:r>
            <a:r>
              <a:rPr lang="en-US" sz="2200" b="1" dirty="0" err="1" smtClean="0"/>
              <a:t>uart</a:t>
            </a:r>
            <a:r>
              <a:rPr lang="en-US" sz="2200" b="1" dirty="0" smtClean="0"/>
              <a:t> output</a:t>
            </a:r>
            <a:r>
              <a:rPr lang="en-US" sz="2200" dirty="0" smtClean="0"/>
              <a:t> (ADSP should be active to received command)</a:t>
            </a:r>
            <a:endParaRPr lang="en-US" sz="2200" b="1" dirty="0" smtClean="0"/>
          </a:p>
          <a:p>
            <a:pPr>
              <a:buNone/>
            </a:pPr>
            <a:r>
              <a:rPr lang="en-US" sz="2000" dirty="0" smtClean="0"/>
              <a:t>	</a:t>
            </a:r>
            <a:br>
              <a:rPr lang="en-US" sz="2000" dirty="0" smtClean="0"/>
            </a:br>
            <a:r>
              <a:rPr lang="en-US" sz="2000" dirty="0" err="1" smtClean="0"/>
              <a:t>adb</a:t>
            </a:r>
            <a:r>
              <a:rPr lang="en-US" sz="2000" dirty="0" smtClean="0"/>
              <a:t> shell "echo 1 &gt; /sys/class/misc/</a:t>
            </a:r>
            <a:r>
              <a:rPr lang="en-US" sz="2000" dirty="0" err="1" smtClean="0"/>
              <a:t>adsp</a:t>
            </a:r>
            <a:r>
              <a:rPr lang="en-US" sz="2000" dirty="0" smtClean="0"/>
              <a:t>/</a:t>
            </a:r>
            <a:r>
              <a:rPr lang="en-US" sz="2000" dirty="0" err="1" smtClean="0"/>
              <a:t>adsp_uart_switch</a:t>
            </a:r>
            <a:r>
              <a:rPr lang="en-US" sz="2000" dirty="0" smtClean="0"/>
              <a:t>"  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adb</a:t>
            </a:r>
            <a:r>
              <a:rPr lang="en-US" sz="2000" dirty="0" smtClean="0"/>
              <a:t> shell "echo 0 &gt; /sys/class/misc/</a:t>
            </a:r>
            <a:r>
              <a:rPr lang="en-US" sz="2000" dirty="0" err="1" smtClean="0"/>
              <a:t>adsp</a:t>
            </a:r>
            <a:r>
              <a:rPr lang="en-US" sz="2000" dirty="0" smtClean="0"/>
              <a:t>/</a:t>
            </a:r>
            <a:r>
              <a:rPr lang="en-US" sz="2000" dirty="0" err="1" smtClean="0"/>
              <a:t>adsp_uart_switch</a:t>
            </a:r>
            <a:r>
              <a:rPr lang="en-US" sz="2000" dirty="0" smtClean="0"/>
              <a:t>"  </a:t>
            </a:r>
          </a:p>
          <a:p>
            <a:endParaRPr lang="en-US" sz="2000" dirty="0" smtClean="0"/>
          </a:p>
          <a:p>
            <a:endParaRPr lang="en-US" sz="2800" b="1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86047" y="2115879"/>
          <a:ext cx="6096000" cy="203835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smtClean="0"/>
                        <a:t>System print</a:t>
                      </a:r>
                      <a:endParaRPr lang="en-US" b="0" dirty="0"/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smtClean="0"/>
                        <a:t>Audio Feature print</a:t>
                      </a:r>
                      <a:endParaRPr lang="en-US" b="0" dirty="0"/>
                    </a:p>
                  </a:txBody>
                  <a:tcPr marL="95250" marR="95250" marT="66675" marB="66675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PRINTF_D</a:t>
                      </a:r>
                      <a:endParaRPr lang="en-US" b="0" dirty="0"/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AUD_LOG_D</a:t>
                      </a:r>
                      <a:endParaRPr lang="en-US" b="0"/>
                    </a:p>
                  </a:txBody>
                  <a:tcPr marL="95250" marR="95250" marT="66675" marB="66675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PRINTF_I</a:t>
                      </a:r>
                      <a:endParaRPr lang="en-US" b="0" dirty="0"/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AUD_LOG_I</a:t>
                      </a:r>
                      <a:endParaRPr lang="en-US" b="0"/>
                    </a:p>
                  </a:txBody>
                  <a:tcPr marL="95250" marR="95250" marT="66675" marB="66675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PRINTF_W</a:t>
                      </a:r>
                      <a:endParaRPr lang="en-US" b="0" dirty="0"/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AUD_LOG_W</a:t>
                      </a:r>
                      <a:endParaRPr lang="en-US" b="0"/>
                    </a:p>
                  </a:txBody>
                  <a:tcPr marL="95250" marR="95250" marT="66675" marB="66675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PRINTF_E</a:t>
                      </a:r>
                      <a:endParaRPr lang="en-US" b="0"/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AUD_LOG_E</a:t>
                      </a:r>
                      <a:endParaRPr lang="en-US" b="0" dirty="0"/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97172"/>
            <a:ext cx="8229600" cy="4289426"/>
          </a:xfrm>
        </p:spPr>
        <p:txBody>
          <a:bodyPr/>
          <a:lstStyle/>
          <a:p>
            <a:r>
              <a:rPr lang="en-US" sz="2800" b="1" dirty="0" smtClean="0"/>
              <a:t>ADSP Logger</a:t>
            </a:r>
          </a:p>
          <a:p>
            <a:pPr lvl="1"/>
            <a:r>
              <a:rPr lang="en-US" sz="2000" dirty="0" smtClean="0"/>
              <a:t>Linked in </a:t>
            </a:r>
            <a:r>
              <a:rPr lang="en-US" sz="2000" dirty="0" err="1" smtClean="0"/>
              <a:t>MTKlogger</a:t>
            </a:r>
            <a:endParaRPr lang="en-US" sz="2000" dirty="0" smtClean="0"/>
          </a:p>
          <a:p>
            <a:pPr lvl="1"/>
            <a:r>
              <a:rPr lang="en-US" sz="2000" dirty="0" smtClean="0"/>
              <a:t>/</a:t>
            </a:r>
            <a:r>
              <a:rPr lang="en-US" sz="2000" dirty="0" err="1" smtClean="0"/>
              <a:t>sdcard</a:t>
            </a:r>
            <a:r>
              <a:rPr lang="en-US" sz="2000" dirty="0" smtClean="0"/>
              <a:t>/</a:t>
            </a:r>
            <a:r>
              <a:rPr lang="en-US" sz="2000" dirty="0" err="1" smtClean="0"/>
              <a:t>mtklog</a:t>
            </a:r>
            <a:r>
              <a:rPr lang="en-US" sz="2000" dirty="0" smtClean="0"/>
              <a:t>/</a:t>
            </a:r>
            <a:r>
              <a:rPr lang="en-US" sz="2000" dirty="0" err="1" smtClean="0"/>
              <a:t>mobilelog</a:t>
            </a:r>
            <a:r>
              <a:rPr lang="en-US" sz="2000" dirty="0" smtClean="0"/>
              <a:t>/</a:t>
            </a:r>
            <a:r>
              <a:rPr lang="en-US" sz="2000" dirty="0" err="1" smtClean="0"/>
              <a:t>adsp_log_xxx</a:t>
            </a:r>
            <a:r>
              <a:rPr lang="en-US" sz="2000" dirty="0" smtClean="0"/>
              <a:t>_</a:t>
            </a:r>
          </a:p>
          <a:p>
            <a:pPr lvl="1">
              <a:buNone/>
            </a:pPr>
            <a:endParaRPr lang="en-US" sz="2000" dirty="0" smtClean="0"/>
          </a:p>
          <a:p>
            <a:r>
              <a:rPr lang="en-US" altLang="zh-TW" sz="2800" b="1" dirty="0" smtClean="0"/>
              <a:t>ADSP</a:t>
            </a:r>
            <a:r>
              <a:rPr lang="zh-TW" altLang="en-US" sz="2800" b="1" dirty="0" smtClean="0"/>
              <a:t> </a:t>
            </a:r>
            <a:r>
              <a:rPr lang="en-US" altLang="zh-TW" sz="2800" b="1" dirty="0" smtClean="0"/>
              <a:t>EE</a:t>
            </a:r>
            <a:r>
              <a:rPr lang="zh-TW" altLang="en-US" sz="2800" b="1" dirty="0" smtClean="0"/>
              <a:t> </a:t>
            </a:r>
            <a:r>
              <a:rPr lang="en-US" altLang="zh-TW" sz="2800" b="1" dirty="0" smtClean="0"/>
              <a:t>log</a:t>
            </a:r>
          </a:p>
          <a:p>
            <a:pPr lvl="1"/>
            <a:r>
              <a:rPr lang="en-US" altLang="zh-TW" sz="2000" dirty="0" smtClean="0"/>
              <a:t>Triggered by user </a:t>
            </a:r>
            <a:r>
              <a:rPr lang="en-US" altLang="zh-TW" sz="2000" dirty="0" err="1" smtClean="0"/>
              <a:t>cmd</a:t>
            </a:r>
            <a:r>
              <a:rPr lang="en-US" altLang="zh-TW" sz="2000" dirty="0" smtClean="0"/>
              <a:t> </a:t>
            </a:r>
          </a:p>
          <a:p>
            <a:pPr lvl="2"/>
            <a:r>
              <a:rPr lang="en-US" sz="1600" dirty="0" smtClean="0"/>
              <a:t>/sys/class/misc/</a:t>
            </a:r>
            <a:r>
              <a:rPr lang="en-US" sz="1600" dirty="0" err="1" smtClean="0"/>
              <a:t>adsp</a:t>
            </a:r>
            <a:r>
              <a:rPr lang="en-US" sz="1600" dirty="0" smtClean="0"/>
              <a:t> # </a:t>
            </a:r>
            <a:r>
              <a:rPr lang="en-US" sz="1600" b="1" dirty="0" smtClean="0"/>
              <a:t>cat </a:t>
            </a:r>
            <a:r>
              <a:rPr lang="en-US" sz="1600" b="1" dirty="0" err="1" smtClean="0"/>
              <a:t>adsp_A_db_test</a:t>
            </a:r>
            <a:r>
              <a:rPr lang="en-US" sz="1600" dirty="0" smtClean="0"/>
              <a:t> </a:t>
            </a:r>
          </a:p>
          <a:p>
            <a:pPr lvl="1"/>
            <a:r>
              <a:rPr lang="en-US" altLang="zh-TW" sz="2000" dirty="0" smtClean="0"/>
              <a:t>Triggered by system exception (</a:t>
            </a:r>
            <a:r>
              <a:rPr lang="en-US" altLang="zh-TW" sz="2000" dirty="0" smtClean="0">
                <a:solidFill>
                  <a:srgbClr val="0070C0"/>
                </a:solidFill>
              </a:rPr>
              <a:t>EE &amp; Kernel API</a:t>
            </a:r>
            <a:r>
              <a:rPr lang="en-US" altLang="zh-TW" sz="2000" dirty="0" smtClean="0"/>
              <a:t>)</a:t>
            </a:r>
          </a:p>
          <a:p>
            <a:pPr lvl="2"/>
            <a:r>
              <a:rPr lang="en-US" sz="1600" dirty="0" smtClean="0"/>
              <a:t>SYS_ADSP_DUMP in db file</a:t>
            </a:r>
            <a:endParaRPr lang="en-US" sz="16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951469"/>
          <a:ext cx="8548584" cy="46669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68573"/>
                <a:gridCol w="1068573"/>
                <a:gridCol w="1068573"/>
                <a:gridCol w="1068573"/>
                <a:gridCol w="1068573"/>
                <a:gridCol w="1068573"/>
                <a:gridCol w="1068573"/>
                <a:gridCol w="1068573"/>
              </a:tblGrid>
              <a:tr h="4666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dirty="0"/>
                        <a:t>ELF header</a:t>
                      </a:r>
                      <a:endParaRPr lang="en-US" sz="1050" b="1" dirty="0">
                        <a:solidFill>
                          <a:srgbClr val="333333"/>
                        </a:solidFill>
                      </a:endParaRPr>
                    </a:p>
                  </a:txBody>
                  <a:tcPr marL="95250" marR="142875" marT="66675" marB="6667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dirty="0"/>
                        <a:t>ITCM</a:t>
                      </a:r>
                      <a:endParaRPr lang="en-US" sz="1050" b="1" dirty="0">
                        <a:solidFill>
                          <a:srgbClr val="333333"/>
                        </a:solidFill>
                      </a:endParaRPr>
                    </a:p>
                  </a:txBody>
                  <a:tcPr marL="95250" marR="142875" marT="66675" marB="6667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dirty="0"/>
                        <a:t>DTCM</a:t>
                      </a:r>
                      <a:endParaRPr lang="en-US" sz="1050" b="1" dirty="0">
                        <a:solidFill>
                          <a:srgbClr val="333333"/>
                        </a:solidFill>
                      </a:endParaRPr>
                    </a:p>
                  </a:txBody>
                  <a:tcPr marL="95250" marR="142875" marT="66675" marB="6667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dirty="0"/>
                        <a:t>reserved</a:t>
                      </a:r>
                      <a:endParaRPr lang="en-US" sz="1050" b="1" dirty="0">
                        <a:solidFill>
                          <a:srgbClr val="333333"/>
                        </a:solidFill>
                      </a:endParaRPr>
                    </a:p>
                  </a:txBody>
                  <a:tcPr marL="95250" marR="142875" marT="66675" marB="6667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dirty="0"/>
                        <a:t>hifi3 </a:t>
                      </a:r>
                      <a:r>
                        <a:rPr lang="en-US" sz="1050" dirty="0" err="1"/>
                        <a:t>cfgreg</a:t>
                      </a:r>
                      <a:endParaRPr lang="en-US" sz="1050" b="1" dirty="0">
                        <a:solidFill>
                          <a:srgbClr val="333333"/>
                        </a:solidFill>
                      </a:endParaRPr>
                    </a:p>
                  </a:txBody>
                  <a:tcPr marL="95250" marR="142875" marT="66675" marB="6667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dirty="0"/>
                        <a:t>dram(system)</a:t>
                      </a:r>
                      <a:endParaRPr lang="en-US" sz="1050" b="1" dirty="0">
                        <a:solidFill>
                          <a:srgbClr val="333333"/>
                        </a:solidFill>
                      </a:endParaRPr>
                    </a:p>
                  </a:txBody>
                  <a:tcPr marL="95250" marR="142875" marT="66675" marB="6667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dirty="0"/>
                        <a:t>hifi3 core </a:t>
                      </a:r>
                      <a:r>
                        <a:rPr lang="en-US" sz="1050" dirty="0" err="1"/>
                        <a:t>reg</a:t>
                      </a:r>
                      <a:endParaRPr lang="en-US" sz="1050" b="1" dirty="0">
                        <a:solidFill>
                          <a:srgbClr val="333333"/>
                        </a:solidFill>
                      </a:endParaRPr>
                    </a:p>
                  </a:txBody>
                  <a:tcPr marL="95250" marR="142875" marT="66675" marB="6667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dirty="0" smtClean="0"/>
                        <a:t>Dram</a:t>
                      </a:r>
                    </a:p>
                    <a:p>
                      <a:pPr algn="ctr" fontAlgn="t"/>
                      <a:r>
                        <a:rPr lang="en-US" sz="1050" dirty="0" smtClean="0"/>
                        <a:t>(</a:t>
                      </a:r>
                      <a:r>
                        <a:rPr lang="en-US" sz="1050" dirty="0"/>
                        <a:t>shared </a:t>
                      </a:r>
                      <a:r>
                        <a:rPr lang="en-US" sz="1050" dirty="0" err="1"/>
                        <a:t>mem</a:t>
                      </a:r>
                      <a:r>
                        <a:rPr lang="en-US" sz="1050" dirty="0"/>
                        <a:t>)</a:t>
                      </a:r>
                      <a:endParaRPr lang="en-US" sz="1050" b="1" dirty="0">
                        <a:solidFill>
                          <a:srgbClr val="333333"/>
                        </a:solidFill>
                      </a:endParaRPr>
                    </a:p>
                  </a:txBody>
                  <a:tcPr marL="95250" marR="142875" marT="66675" marB="66675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52806" y="5479997"/>
            <a:ext cx="21840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/>
              <a:t>SYS_ADSP_DUMP composition </a:t>
            </a:r>
            <a:endParaRPr lang="en-US"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97172"/>
            <a:ext cx="8686800" cy="4289426"/>
          </a:xfrm>
        </p:spPr>
        <p:txBody>
          <a:bodyPr/>
          <a:lstStyle/>
          <a:p>
            <a:r>
              <a:rPr lang="en-US" altLang="zh-TW" sz="2800" b="1" dirty="0" smtClean="0"/>
              <a:t>ADSP</a:t>
            </a:r>
            <a:r>
              <a:rPr lang="zh-TW" altLang="en-US" sz="2800" b="1" dirty="0" smtClean="0"/>
              <a:t> </a:t>
            </a:r>
            <a:r>
              <a:rPr lang="en-US" altLang="zh-TW" sz="2800" b="1" dirty="0" smtClean="0"/>
              <a:t>EE</a:t>
            </a:r>
            <a:r>
              <a:rPr lang="zh-TW" altLang="en-US" sz="2800" b="1" dirty="0" smtClean="0"/>
              <a:t> </a:t>
            </a:r>
            <a:r>
              <a:rPr lang="en-US" altLang="zh-TW" sz="2800" b="1" dirty="0" smtClean="0"/>
              <a:t>Format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"</a:t>
            </a:r>
            <a:r>
              <a:rPr lang="en-US" sz="2000" dirty="0" err="1" smtClean="0"/>
              <a:t>aud_pla</a:t>
            </a:r>
            <a:r>
              <a:rPr lang="en-US" sz="2000" dirty="0" smtClean="0"/>
              <a:t>":  the name of Hifi3 task in which exception is happened.  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If the exception is caused by ASSERT, the filename and line information will be shown in </a:t>
            </a:r>
            <a:r>
              <a:rPr lang="en-US" sz="2000" dirty="0" err="1" smtClean="0"/>
              <a:t>aee</a:t>
            </a:r>
            <a:r>
              <a:rPr lang="en-US" sz="2000" dirty="0" smtClean="0"/>
              <a:t> screen and __</a:t>
            </a:r>
            <a:r>
              <a:rPr lang="en-US" sz="2000" dirty="0" err="1" smtClean="0"/>
              <a:t>exp_main.txt</a:t>
            </a:r>
            <a:r>
              <a:rPr lang="en-US" sz="2000" dirty="0" smtClean="0"/>
              <a:t> in db.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 smtClean="0"/>
              <a:t> </a:t>
            </a:r>
            <a:r>
              <a:rPr lang="en-US" sz="2000" dirty="0" smtClean="0"/>
              <a:t>SYS_ADSP_DUMP can see the ADSP Last Log</a:t>
            </a:r>
            <a:endParaRPr lang="en-US" altLang="zh-TW" sz="20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1738" y="3639800"/>
            <a:ext cx="6284945" cy="272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351" y="96214"/>
            <a:ext cx="4282445" cy="2122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903767"/>
            <a:ext cx="8229600" cy="5252559"/>
          </a:xfrm>
        </p:spPr>
        <p:txBody>
          <a:bodyPr/>
          <a:lstStyle/>
          <a:p>
            <a:r>
              <a:rPr lang="en-US" sz="2800" b="1" dirty="0" smtClean="0"/>
              <a:t>ADSP CFGREG dump</a:t>
            </a:r>
          </a:p>
          <a:p>
            <a:r>
              <a:rPr lang="en-US" sz="2000" dirty="0" smtClean="0"/>
              <a:t>Runtime check Hifi3 </a:t>
            </a:r>
            <a:r>
              <a:rPr lang="en-US" sz="2000" dirty="0" err="1" smtClean="0"/>
              <a:t>config</a:t>
            </a:r>
            <a:r>
              <a:rPr lang="en-US" sz="2000" dirty="0" smtClean="0"/>
              <a:t> register</a:t>
            </a:r>
          </a:p>
          <a:p>
            <a:pPr lvl="1"/>
            <a:r>
              <a:rPr lang="en-US" sz="1600" b="1" dirty="0" err="1" smtClean="0"/>
              <a:t>adb</a:t>
            </a:r>
            <a:r>
              <a:rPr lang="en-US" sz="1600" b="1" dirty="0" smtClean="0"/>
              <a:t> shell cat /sys/class/misc/</a:t>
            </a:r>
            <a:r>
              <a:rPr lang="en-US" sz="1600" b="1" dirty="0" err="1" smtClean="0"/>
              <a:t>adsp</a:t>
            </a:r>
            <a:r>
              <a:rPr lang="en-US" sz="1600" b="1" dirty="0" smtClean="0"/>
              <a:t>/</a:t>
            </a:r>
            <a:r>
              <a:rPr lang="en-US" sz="1600" b="1" dirty="0" err="1" smtClean="0"/>
              <a:t>adsp_A_reg_status</a:t>
            </a:r>
            <a:endParaRPr lang="en-US" sz="1600" b="1" dirty="0" smtClean="0"/>
          </a:p>
          <a:p>
            <a:r>
              <a:rPr lang="en-US" sz="2000" dirty="0" smtClean="0"/>
              <a:t>All the Hifi3 </a:t>
            </a:r>
            <a:r>
              <a:rPr lang="en-US" sz="2000" dirty="0" err="1" smtClean="0"/>
              <a:t>config</a:t>
            </a:r>
            <a:r>
              <a:rPr lang="en-US" sz="2000" dirty="0" smtClean="0"/>
              <a:t> register will be dumped</a:t>
            </a:r>
          </a:p>
          <a:p>
            <a:pPr>
              <a:buNone/>
            </a:pPr>
            <a:r>
              <a:rPr lang="en-US" sz="2000" dirty="0" smtClean="0"/>
              <a:t>	to SYS_ADSP_DUMP in </a:t>
            </a:r>
            <a:r>
              <a:rPr lang="en-US" sz="2000" dirty="0" err="1" smtClean="0"/>
              <a:t>aee</a:t>
            </a:r>
            <a:r>
              <a:rPr lang="en-US" sz="2000" dirty="0" smtClean="0"/>
              <a:t> db file when</a:t>
            </a:r>
          </a:p>
          <a:p>
            <a:pPr>
              <a:buNone/>
            </a:pPr>
            <a:r>
              <a:rPr lang="en-US" sz="2000" dirty="0" smtClean="0"/>
              <a:t>	 AEE exception is triggered by Hifi3 WDT.</a:t>
            </a:r>
          </a:p>
          <a:p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/>
            </a:r>
            <a:br>
              <a:rPr lang="en-US" sz="2000" dirty="0" smtClean="0"/>
            </a:b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28522" y="2408345"/>
            <a:ext cx="3780018" cy="3870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123950"/>
            <a:ext cx="8229600" cy="4289426"/>
          </a:xfrm>
        </p:spPr>
        <p:txBody>
          <a:bodyPr/>
          <a:lstStyle/>
          <a:p>
            <a:r>
              <a:rPr lang="en-US" sz="2800" b="1" dirty="0" smtClean="0"/>
              <a:t>ADSP JTAG (Currently only available at EVB board )</a:t>
            </a:r>
          </a:p>
          <a:p>
            <a:r>
              <a:rPr lang="en-US" sz="2000" dirty="0" smtClean="0"/>
              <a:t>JTAG HW setup (Use Flyswatter2 as ADSP JTAG)</a:t>
            </a:r>
          </a:p>
          <a:p>
            <a:pPr lvl="1"/>
            <a:r>
              <a:rPr lang="en-US" sz="1600" dirty="0" smtClean="0"/>
              <a:t>EVB need Rework, please find corresponding SA</a:t>
            </a:r>
          </a:p>
          <a:p>
            <a:pPr lvl="1"/>
            <a:r>
              <a:rPr lang="en-US" sz="1600" dirty="0" smtClean="0"/>
              <a:t>Set GPIO to ADSP_JTAG Mode for JTAG </a:t>
            </a:r>
          </a:p>
          <a:p>
            <a:endParaRPr lang="en-US" dirty="0" smtClean="0"/>
          </a:p>
        </p:txBody>
      </p:sp>
      <p:pic>
        <p:nvPicPr>
          <p:cNvPr id="6" name="Picture 5" descr="EVBset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787" y="2647950"/>
            <a:ext cx="5641839" cy="4171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148317"/>
            <a:ext cx="8229600" cy="50080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JTAG SW setup</a:t>
            </a:r>
          </a:p>
          <a:p>
            <a:pPr lvl="1"/>
            <a:r>
              <a:rPr lang="en-US" sz="1600" dirty="0" err="1" smtClean="0"/>
              <a:t>Xplorer</a:t>
            </a:r>
            <a:r>
              <a:rPr lang="en-US" sz="1600" b="1" dirty="0" smtClean="0"/>
              <a:t> </a:t>
            </a:r>
            <a:r>
              <a:rPr lang="en-US" sz="1600" dirty="0" smtClean="0"/>
              <a:t>Download  and installed </a:t>
            </a:r>
            <a:r>
              <a:rPr lang="en-US" sz="1600" dirty="0" err="1" smtClean="0"/>
              <a:t>Xtensa</a:t>
            </a:r>
            <a:r>
              <a:rPr lang="en-US" sz="1600" dirty="0" smtClean="0"/>
              <a:t> OCD Daemon 12.0.6</a:t>
            </a:r>
          </a:p>
          <a:p>
            <a:pPr lvl="1"/>
            <a:r>
              <a:rPr lang="en-US" sz="1600" dirty="0" smtClean="0"/>
              <a:t>Set Debug Target Configuration</a:t>
            </a:r>
          </a:p>
          <a:p>
            <a:pPr lvl="1"/>
            <a:endParaRPr lang="en-US" sz="1400" dirty="0" smtClean="0"/>
          </a:p>
        </p:txBody>
      </p:sp>
      <p:pic>
        <p:nvPicPr>
          <p:cNvPr id="5" name="Picture 4" descr="DebugOC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347" y="2124638"/>
            <a:ext cx="6370011" cy="45518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362075"/>
            <a:ext cx="8229600" cy="4794251"/>
          </a:xfrm>
        </p:spPr>
        <p:txBody>
          <a:bodyPr>
            <a:normAutofit/>
          </a:bodyPr>
          <a:lstStyle/>
          <a:p>
            <a:pPr lvl="1"/>
            <a:r>
              <a:rPr lang="en-US" sz="1600" dirty="0" smtClean="0"/>
              <a:t>Set Debug Configuration</a:t>
            </a:r>
          </a:p>
          <a:p>
            <a:pPr lvl="1"/>
            <a:endParaRPr lang="en-US" sz="1400" dirty="0" smtClean="0"/>
          </a:p>
        </p:txBody>
      </p:sp>
      <p:pic>
        <p:nvPicPr>
          <p:cNvPr id="7" name="Picture 6" descr="debugOC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722" y="1701800"/>
            <a:ext cx="6606255" cy="47636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362075"/>
            <a:ext cx="8229600" cy="4794251"/>
          </a:xfrm>
        </p:spPr>
        <p:txBody>
          <a:bodyPr>
            <a:normAutofit/>
          </a:bodyPr>
          <a:lstStyle/>
          <a:p>
            <a:pPr lvl="1"/>
            <a:r>
              <a:rPr lang="en-US" sz="1600" dirty="0" smtClean="0"/>
              <a:t>Debug window</a:t>
            </a:r>
          </a:p>
          <a:p>
            <a:pPr lvl="1"/>
            <a:endParaRPr lang="en-US" sz="1400" dirty="0" smtClean="0"/>
          </a:p>
        </p:txBody>
      </p:sp>
      <p:pic>
        <p:nvPicPr>
          <p:cNvPr id="6" name="Content Placeholder 4" descr="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7479"/>
            <a:ext cx="8229600" cy="426826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95825" y="2114550"/>
            <a:ext cx="304800" cy="161925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75181" y="2114550"/>
            <a:ext cx="304800" cy="161925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81423" y="2266950"/>
            <a:ext cx="1020725" cy="161925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SW debug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1" indent="-342900">
              <a:buClr>
                <a:schemeClr val="accent1"/>
              </a:buClr>
              <a:buFont typeface="Lucida Grande"/>
              <a:buChar char="▪"/>
            </a:pPr>
            <a:r>
              <a:rPr lang="en-US" b="1" dirty="0" smtClean="0">
                <a:solidFill>
                  <a:sysClr val="windowText" lastClr="000000"/>
                </a:solidFill>
              </a:rPr>
              <a:t>TASK Monitor</a:t>
            </a:r>
          </a:p>
          <a:p>
            <a:pPr marL="742950" lvl="2" indent="-342900"/>
            <a:r>
              <a:rPr lang="en-US" dirty="0" smtClean="0">
                <a:solidFill>
                  <a:sysClr val="windowText" lastClr="000000"/>
                </a:solidFill>
              </a:rPr>
              <a:t>Total Heap status</a:t>
            </a:r>
          </a:p>
          <a:p>
            <a:pPr marL="742950" lvl="2" indent="-342900"/>
            <a:r>
              <a:rPr lang="en-US" dirty="0" smtClean="0">
                <a:solidFill>
                  <a:sysClr val="windowText" lastClr="000000"/>
                </a:solidFill>
              </a:rPr>
              <a:t>Task status</a:t>
            </a:r>
          </a:p>
          <a:p>
            <a:pPr marL="1200150" lvl="3" indent="-342900"/>
            <a:r>
              <a:rPr lang="en-US" sz="1800" dirty="0" smtClean="0">
                <a:solidFill>
                  <a:sysClr val="windowText" lastClr="000000"/>
                </a:solidFill>
              </a:rPr>
              <a:t>State</a:t>
            </a:r>
            <a:endParaRPr lang="en-US" dirty="0" smtClean="0">
              <a:solidFill>
                <a:sysClr val="windowText" lastClr="000000"/>
              </a:solidFill>
            </a:endParaRPr>
          </a:p>
          <a:p>
            <a:pPr lvl="2"/>
            <a:r>
              <a:rPr lang="en-US" sz="1050" dirty="0" smtClean="0"/>
              <a:t>'B' - Blocked</a:t>
            </a:r>
          </a:p>
          <a:p>
            <a:pPr lvl="2"/>
            <a:r>
              <a:rPr lang="en-US" sz="1050" dirty="0" smtClean="0"/>
              <a:t>'R' - Ready</a:t>
            </a:r>
          </a:p>
          <a:p>
            <a:pPr lvl="2"/>
            <a:r>
              <a:rPr lang="en-US" sz="1050" dirty="0" smtClean="0"/>
              <a:t>'D' - Deleted (waiting clean up)</a:t>
            </a:r>
          </a:p>
          <a:p>
            <a:pPr lvl="2"/>
            <a:r>
              <a:rPr lang="en-US" sz="1050" dirty="0" smtClean="0"/>
              <a:t>'S' - Suspended, or Blocked without a timeout</a:t>
            </a:r>
          </a:p>
          <a:p>
            <a:pPr marL="1257300" lvl="5" indent="-342900">
              <a:buFont typeface="Lucida Grande"/>
              <a:buChar char="▪"/>
            </a:pPr>
            <a:r>
              <a:rPr lang="en-US" sz="1800" dirty="0" smtClean="0">
                <a:solidFill>
                  <a:sysClr val="windowText" lastClr="000000"/>
                </a:solidFill>
              </a:rPr>
              <a:t>Stack</a:t>
            </a:r>
          </a:p>
          <a:p>
            <a:pPr lvl="2"/>
            <a:r>
              <a:rPr lang="en-US" sz="1200" dirty="0" smtClean="0"/>
              <a:t>The lower number the less free space.</a:t>
            </a:r>
          </a:p>
          <a:p>
            <a:endParaRPr lang="en-US" sz="1800" dirty="0" smtClean="0"/>
          </a:p>
          <a:p>
            <a:pPr lvl="1"/>
            <a:endParaRPr lang="en-US" sz="1000" dirty="0" smtClean="0"/>
          </a:p>
          <a:p>
            <a:pPr marL="1200150" lvl="3" indent="-342900"/>
            <a:endParaRPr lang="en-US" dirty="0" smtClean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3189" y="1962060"/>
            <a:ext cx="4898912" cy="431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flipV="1">
            <a:off x="3487479" y="2147778"/>
            <a:ext cx="914400" cy="446566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457200" y="1210962"/>
            <a:ext cx="8229600" cy="4945364"/>
          </a:xfrm>
        </p:spPr>
        <p:txBody>
          <a:bodyPr>
            <a:normAutofit/>
          </a:bodyPr>
          <a:lstStyle/>
          <a:p>
            <a:r>
              <a:rPr lang="en-US" sz="3300" b="1" dirty="0" smtClean="0"/>
              <a:t>Heap Memory Management Tool</a:t>
            </a:r>
          </a:p>
          <a:p>
            <a:r>
              <a:rPr lang="en-US" sz="2400" dirty="0" smtClean="0"/>
              <a:t>Extend from </a:t>
            </a:r>
            <a:r>
              <a:rPr lang="en-US" sz="2400" dirty="0" err="1" smtClean="0"/>
              <a:t>FreeRTOS</a:t>
            </a:r>
            <a:r>
              <a:rPr lang="en-US" sz="2400" dirty="0" smtClean="0"/>
              <a:t> (heap_4.c </a:t>
            </a:r>
            <a:r>
              <a:rPr lang="en-US" sz="2400" dirty="0"/>
              <a:t>only)</a:t>
            </a:r>
            <a:endParaRPr lang="en-US" sz="2400" dirty="0" smtClean="0"/>
          </a:p>
          <a:p>
            <a:r>
              <a:rPr lang="en-US" sz="2400" dirty="0" smtClean="0">
                <a:solidFill>
                  <a:srgbClr val="0070C0"/>
                </a:solidFill>
              </a:rPr>
              <a:t>Feature 1: </a:t>
            </a:r>
            <a:r>
              <a:rPr lang="en-US" sz="2400" dirty="0">
                <a:solidFill>
                  <a:srgbClr val="0070C0"/>
                </a:solidFill>
              </a:rPr>
              <a:t>Monitor heap memory </a:t>
            </a:r>
            <a:r>
              <a:rPr lang="en-US" sz="2400" dirty="0" smtClean="0">
                <a:solidFill>
                  <a:srgbClr val="0070C0"/>
                </a:solidFill>
              </a:rPr>
              <a:t>usage</a:t>
            </a:r>
          </a:p>
          <a:p>
            <a:pPr lvl="1"/>
            <a:r>
              <a:rPr lang="en-US" sz="2000" dirty="0" smtClean="0"/>
              <a:t>Combine Task Monitor, Monitor each time slice memory usage.</a:t>
            </a:r>
          </a:p>
          <a:p>
            <a:pPr lvl="1"/>
            <a:endParaRPr lang="en-US" dirty="0" smtClean="0"/>
          </a:p>
          <a:p>
            <a:r>
              <a:rPr lang="en-US" sz="2400" dirty="0">
                <a:solidFill>
                  <a:srgbClr val="0070C0"/>
                </a:solidFill>
              </a:rPr>
              <a:t>Feature 2 : Detail information of allocate </a:t>
            </a:r>
            <a:r>
              <a:rPr lang="en-US" sz="2400" dirty="0" smtClean="0">
                <a:solidFill>
                  <a:srgbClr val="0070C0"/>
                </a:solidFill>
              </a:rPr>
              <a:t>memory</a:t>
            </a:r>
          </a:p>
          <a:p>
            <a:pPr lvl="1"/>
            <a:r>
              <a:rPr lang="en-US" sz="2000" dirty="0" smtClean="0"/>
              <a:t>Command, dump detail information of each allocate block </a:t>
            </a:r>
          </a:p>
          <a:p>
            <a:pPr lvl="1"/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68358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Feature 1: Monitor heap memory </a:t>
            </a:r>
            <a:r>
              <a:rPr lang="en-US" sz="3200" dirty="0" smtClean="0"/>
              <a:t>usage</a:t>
            </a:r>
            <a:endParaRPr 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457200" y="1252152"/>
            <a:ext cx="8229600" cy="4904175"/>
          </a:xfrm>
        </p:spPr>
        <p:txBody>
          <a:bodyPr>
            <a:normAutofit/>
          </a:bodyPr>
          <a:lstStyle/>
          <a:p>
            <a:r>
              <a:rPr lang="en-US" sz="2800" dirty="0"/>
              <a:t>#define </a:t>
            </a:r>
            <a:r>
              <a:rPr lang="en-US" sz="2800" b="1" dirty="0" err="1" smtClean="0">
                <a:solidFill>
                  <a:srgbClr val="FF0000"/>
                </a:solidFill>
              </a:rPr>
              <a:t>configUSE_MALLOC_MEMORY_USAGE</a:t>
            </a:r>
            <a:r>
              <a:rPr lang="en-US" sz="2800" dirty="0" smtClean="0"/>
              <a:t>  (</a:t>
            </a:r>
            <a:r>
              <a:rPr lang="en-US" sz="2800" dirty="0" err="1" smtClean="0"/>
              <a:t>FreeRTOSConfig.h</a:t>
            </a:r>
            <a:r>
              <a:rPr lang="en-US" sz="2800" dirty="0" smtClean="0"/>
              <a:t>)</a:t>
            </a:r>
            <a:endParaRPr lang="en-US" sz="28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70" y="2771775"/>
            <a:ext cx="3193256" cy="23145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782" y="2771775"/>
            <a:ext cx="3186113" cy="231457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547270" y="2402442"/>
            <a:ext cx="323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Audio is playing</a:t>
            </a:r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688424" y="2402442"/>
            <a:ext cx="323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Audio stop (idle)</a:t>
            </a:r>
            <a:endParaRPr lang="en-US" dirty="0"/>
          </a:p>
        </p:txBody>
      </p:sp>
      <p:sp>
        <p:nvSpPr>
          <p:cNvPr id="8" name="圓角矩形 7"/>
          <p:cNvSpPr/>
          <p:nvPr/>
        </p:nvSpPr>
        <p:spPr>
          <a:xfrm>
            <a:off x="2755558" y="2990335"/>
            <a:ext cx="562232" cy="209601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圓角矩形 8"/>
          <p:cNvSpPr/>
          <p:nvPr/>
        </p:nvSpPr>
        <p:spPr>
          <a:xfrm>
            <a:off x="6904339" y="2990335"/>
            <a:ext cx="562232" cy="209601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直線接點 10"/>
          <p:cNvCxnSpPr>
            <a:endCxn id="12" idx="1"/>
          </p:cNvCxnSpPr>
          <p:nvPr/>
        </p:nvCxnSpPr>
        <p:spPr>
          <a:xfrm>
            <a:off x="3126260" y="5086349"/>
            <a:ext cx="514884" cy="6244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3641144" y="5526171"/>
            <a:ext cx="24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Heap usage by each task</a:t>
            </a:r>
            <a:endParaRPr lang="en-US" dirty="0"/>
          </a:p>
        </p:txBody>
      </p:sp>
      <p:cxnSp>
        <p:nvCxnSpPr>
          <p:cNvPr id="14" name="直線接點 13"/>
          <p:cNvCxnSpPr>
            <a:endCxn id="12" idx="3"/>
          </p:cNvCxnSpPr>
          <p:nvPr/>
        </p:nvCxnSpPr>
        <p:spPr>
          <a:xfrm flipH="1">
            <a:off x="6123427" y="5086349"/>
            <a:ext cx="963173" cy="6244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886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Feature </a:t>
            </a:r>
            <a:r>
              <a:rPr lang="en-US" sz="3600" dirty="0" smtClean="0"/>
              <a:t>2</a:t>
            </a:r>
            <a:r>
              <a:rPr lang="en-US" sz="3600" dirty="0"/>
              <a:t>: Detail information of allocate memory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457200" y="1252152"/>
            <a:ext cx="8229600" cy="490417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Triggered in </a:t>
            </a:r>
            <a:r>
              <a:rPr lang="en-US" sz="2800" dirty="0" err="1" smtClean="0">
                <a:solidFill>
                  <a:srgbClr val="0070C0"/>
                </a:solidFill>
              </a:rPr>
              <a:t>vApplicationMallocFailedHook</a:t>
            </a:r>
            <a:endParaRPr lang="en-US" sz="2800" dirty="0" smtClean="0">
              <a:solidFill>
                <a:srgbClr val="0070C0"/>
              </a:solidFill>
            </a:endParaRPr>
          </a:p>
          <a:p>
            <a:pPr lvl="1"/>
            <a:r>
              <a:rPr lang="en-US" sz="2000" dirty="0" smtClean="0"/>
              <a:t> Need combined with Feature 1  (both set in </a:t>
            </a:r>
            <a:r>
              <a:rPr lang="en-US" sz="2000" dirty="0" err="1" smtClean="0"/>
              <a:t>FreeRTOSConfig.h</a:t>
            </a:r>
            <a:r>
              <a:rPr lang="en-US" sz="2000" dirty="0" smtClean="0"/>
              <a:t>)</a:t>
            </a:r>
          </a:p>
          <a:p>
            <a:r>
              <a:rPr lang="en-US" sz="2800" dirty="0" smtClean="0"/>
              <a:t>#</a:t>
            </a:r>
            <a:r>
              <a:rPr lang="en-US" sz="2800" dirty="0"/>
              <a:t>define </a:t>
            </a:r>
            <a:r>
              <a:rPr lang="en-US" sz="2800" b="1" dirty="0" err="1">
                <a:solidFill>
                  <a:srgbClr val="FF0000"/>
                </a:solidFill>
              </a:rPr>
              <a:t>configUSE_MALLOC_DEBUG_MSG_LEN</a:t>
            </a:r>
            <a:r>
              <a:rPr lang="en-US" sz="2800" dirty="0"/>
              <a:t>    </a:t>
            </a:r>
            <a:r>
              <a:rPr lang="en-US" sz="2800" b="1" dirty="0" smtClean="0">
                <a:solidFill>
                  <a:srgbClr val="FF0000"/>
                </a:solidFill>
              </a:rPr>
              <a:t>32</a:t>
            </a:r>
          </a:p>
        </p:txBody>
      </p:sp>
      <p:grpSp>
        <p:nvGrpSpPr>
          <p:cNvPr id="4" name="群組 30"/>
          <p:cNvGrpSpPr/>
          <p:nvPr/>
        </p:nvGrpSpPr>
        <p:grpSpPr>
          <a:xfrm>
            <a:off x="1489314" y="2915373"/>
            <a:ext cx="5174498" cy="3503355"/>
            <a:chOff x="1985737" y="2646405"/>
            <a:chExt cx="6899345" cy="3503355"/>
          </a:xfrm>
        </p:grpSpPr>
        <p:grpSp>
          <p:nvGrpSpPr>
            <p:cNvPr id="5" name="群組 28"/>
            <p:cNvGrpSpPr/>
            <p:nvPr/>
          </p:nvGrpSpPr>
          <p:grpSpPr>
            <a:xfrm>
              <a:off x="1985737" y="2646405"/>
              <a:ext cx="6470745" cy="750416"/>
              <a:chOff x="1236093" y="3717925"/>
              <a:chExt cx="6470745" cy="750416"/>
            </a:xfrm>
          </p:grpSpPr>
          <p:sp>
            <p:nvSpPr>
              <p:cNvPr id="13" name="文字方塊 12"/>
              <p:cNvSpPr txBox="1"/>
              <p:nvPr/>
            </p:nvSpPr>
            <p:spPr>
              <a:xfrm>
                <a:off x="1236093" y="3723935"/>
                <a:ext cx="3051098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</a:rPr>
                  <a:t>Memory header point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文字方塊 14"/>
              <p:cNvSpPr txBox="1"/>
              <p:nvPr/>
            </p:nvSpPr>
            <p:spPr>
              <a:xfrm>
                <a:off x="4581458" y="3717925"/>
                <a:ext cx="712845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</a:rPr>
                  <a:t>size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5404410" y="3717925"/>
                <a:ext cx="771151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</a:rPr>
                  <a:t>task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文字方塊 16"/>
              <p:cNvSpPr txBox="1"/>
              <p:nvPr/>
            </p:nvSpPr>
            <p:spPr>
              <a:xfrm>
                <a:off x="6321415" y="3717925"/>
                <a:ext cx="1385423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FF0000"/>
                    </a:solidFill>
                  </a:rPr>
                  <a:t>File : line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9" name="直線接點 18"/>
              <p:cNvCxnSpPr>
                <a:stCxn id="13" idx="2"/>
              </p:cNvCxnSpPr>
              <p:nvPr/>
            </p:nvCxnSpPr>
            <p:spPr>
              <a:xfrm>
                <a:off x="2761643" y="4093267"/>
                <a:ext cx="1946777" cy="37507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接點 19"/>
              <p:cNvCxnSpPr>
                <a:stCxn id="15" idx="2"/>
              </p:cNvCxnSpPr>
              <p:nvPr/>
            </p:nvCxnSpPr>
            <p:spPr>
              <a:xfrm flipH="1">
                <a:off x="4876846" y="4087257"/>
                <a:ext cx="61035" cy="17741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接點 22"/>
              <p:cNvCxnSpPr>
                <a:stCxn id="16" idx="2"/>
              </p:cNvCxnSpPr>
              <p:nvPr/>
            </p:nvCxnSpPr>
            <p:spPr>
              <a:xfrm flipH="1">
                <a:off x="5624057" y="4087257"/>
                <a:ext cx="165929" cy="19375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接點 25"/>
              <p:cNvCxnSpPr>
                <a:stCxn id="17" idx="2"/>
              </p:cNvCxnSpPr>
              <p:nvPr/>
            </p:nvCxnSpPr>
            <p:spPr>
              <a:xfrm flipH="1">
                <a:off x="6536202" y="4087257"/>
                <a:ext cx="477925" cy="19375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0" name="圖片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8707" y="3216060"/>
              <a:ext cx="5286375" cy="2933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3019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1" indent="-342900">
              <a:buClr>
                <a:schemeClr val="accent1"/>
              </a:buClr>
              <a:buFont typeface="Lucida Grande"/>
              <a:buChar char="▪"/>
            </a:pPr>
            <a:r>
              <a:rPr lang="en-US" b="1" dirty="0" err="1" smtClean="0">
                <a:solidFill>
                  <a:sysClr val="windowText" lastClr="000000"/>
                </a:solidFill>
              </a:rPr>
              <a:t>TimeStamps</a:t>
            </a:r>
            <a:endParaRPr lang="en-US" b="1" dirty="0" smtClean="0">
              <a:solidFill>
                <a:sysClr val="windowText" lastClr="000000"/>
              </a:solidFill>
            </a:endParaRPr>
          </a:p>
          <a:p>
            <a:pPr marL="742950" lvl="2" indent="-342900"/>
            <a:r>
              <a:rPr lang="en-US" dirty="0" smtClean="0">
                <a:solidFill>
                  <a:sysClr val="windowText" lastClr="000000"/>
                </a:solidFill>
              </a:rPr>
              <a:t>IPI</a:t>
            </a:r>
          </a:p>
          <a:p>
            <a:pPr marL="1200150" lvl="3" indent="-342900"/>
            <a:r>
              <a:rPr lang="en-US" sz="1600" dirty="0" smtClean="0">
                <a:solidFill>
                  <a:sysClr val="windowText" lastClr="000000"/>
                </a:solidFill>
              </a:rPr>
              <a:t>CFG_IPI_STAMP_SUPPORT</a:t>
            </a:r>
          </a:p>
          <a:p>
            <a:pPr marL="1200150" lvl="3" indent="-342900"/>
            <a:r>
              <a:rPr lang="en-US" sz="1600" dirty="0" smtClean="0">
                <a:solidFill>
                  <a:sysClr val="windowText" lastClr="000000"/>
                </a:solidFill>
              </a:rPr>
              <a:t>Record each </a:t>
            </a:r>
            <a:r>
              <a:rPr lang="en-US" sz="1600" dirty="0" err="1" smtClean="0">
                <a:solidFill>
                  <a:sysClr val="windowText" lastClr="000000"/>
                </a:solidFill>
              </a:rPr>
              <a:t>ipi</a:t>
            </a:r>
            <a:r>
              <a:rPr lang="en-US" sz="1600" dirty="0" smtClean="0">
                <a:solidFill>
                  <a:sysClr val="windowText" lastClr="000000"/>
                </a:solidFill>
              </a:rPr>
              <a:t> id send/</a:t>
            </a:r>
            <a:r>
              <a:rPr lang="en-US" sz="1600" dirty="0" err="1" smtClean="0">
                <a:solidFill>
                  <a:sysClr val="windowText" lastClr="000000"/>
                </a:solidFill>
              </a:rPr>
              <a:t>recv</a:t>
            </a:r>
            <a:r>
              <a:rPr lang="en-US" sz="1600" dirty="0" smtClean="0">
                <a:solidFill>
                  <a:sysClr val="windowText" lastClr="000000"/>
                </a:solidFill>
              </a:rPr>
              <a:t> success count</a:t>
            </a:r>
          </a:p>
          <a:p>
            <a:pPr marL="742950" lvl="2" indent="-342900"/>
            <a:r>
              <a:rPr lang="en-US" dirty="0" smtClean="0">
                <a:solidFill>
                  <a:sysClr val="windowText" lastClr="000000"/>
                </a:solidFill>
              </a:rPr>
              <a:t>IRQ</a:t>
            </a:r>
          </a:p>
          <a:p>
            <a:pPr marL="1200150" lvl="3" indent="-342900"/>
            <a:r>
              <a:rPr lang="en-US" sz="1600" dirty="0" err="1" smtClean="0">
                <a:solidFill>
                  <a:sysClr val="windowText" lastClr="000000"/>
                </a:solidFill>
              </a:rPr>
              <a:t>set_irq_limit</a:t>
            </a:r>
            <a:r>
              <a:rPr lang="en-US" sz="1600" dirty="0" smtClean="0">
                <a:solidFill>
                  <a:sysClr val="windowText" lastClr="000000"/>
                </a:solidFill>
              </a:rPr>
              <a:t>(1) </a:t>
            </a:r>
            <a:r>
              <a:rPr lang="en-US" altLang="zh-TW" sz="1600" dirty="0" smtClean="0">
                <a:solidFill>
                  <a:sysClr val="windowText" lastClr="000000"/>
                </a:solidFill>
                <a:sym typeface="Wingdings" pitchFamily="2" charset="2"/>
              </a:rPr>
              <a:t> default </a:t>
            </a:r>
            <a:r>
              <a:rPr lang="en-US" altLang="zh-TW" sz="1600" dirty="0" smtClean="0">
                <a:solidFill>
                  <a:srgbClr val="7030A0"/>
                </a:solidFill>
                <a:sym typeface="Wingdings" pitchFamily="2" charset="2"/>
              </a:rPr>
              <a:t>3 ms, </a:t>
            </a:r>
            <a:r>
              <a:rPr lang="en-US" altLang="zh-TW" sz="1600" dirty="0" smtClean="0">
                <a:sym typeface="Wingdings" pitchFamily="2" charset="2"/>
              </a:rPr>
              <a:t>if over threshold, print error </a:t>
            </a:r>
            <a:r>
              <a:rPr lang="en-US" altLang="zh-TW" sz="1600" dirty="0" err="1" smtClean="0">
                <a:sym typeface="Wingdings" pitchFamily="2" charset="2"/>
              </a:rPr>
              <a:t>msg</a:t>
            </a:r>
            <a:endParaRPr lang="en-US" sz="1600" dirty="0" smtClean="0"/>
          </a:p>
          <a:p>
            <a:pPr marL="742950" lvl="2" indent="-342900"/>
            <a:r>
              <a:rPr lang="en-US" dirty="0" smtClean="0">
                <a:solidFill>
                  <a:sysClr val="windowText" lastClr="000000"/>
                </a:solidFill>
              </a:rPr>
              <a:t>Task function process</a:t>
            </a:r>
          </a:p>
          <a:p>
            <a:pPr marL="1200150" lvl="3" indent="-342900"/>
            <a:r>
              <a:rPr lang="en-US" dirty="0" err="1" smtClean="0">
                <a:solidFill>
                  <a:sysClr val="windowText" lastClr="000000"/>
                </a:solidFill>
              </a:rPr>
              <a:t>Audio_task_utility</a:t>
            </a:r>
            <a:endParaRPr lang="en-US" dirty="0" smtClean="0">
              <a:solidFill>
                <a:sysClr val="windowText" lastClr="000000"/>
              </a:solidFill>
            </a:endParaRPr>
          </a:p>
          <a:p>
            <a:pPr marL="1657350" lvl="4" indent="-342900"/>
            <a:r>
              <a:rPr lang="en-US" sz="1600" dirty="0" err="1" smtClean="0">
                <a:solidFill>
                  <a:sysClr val="windowText" lastClr="000000"/>
                </a:solidFill>
              </a:rPr>
              <a:t>init_time_interval</a:t>
            </a:r>
            <a:r>
              <a:rPr lang="en-US" sz="1600" dirty="0" smtClean="0">
                <a:solidFill>
                  <a:sysClr val="windowText" lastClr="000000"/>
                </a:solidFill>
              </a:rPr>
              <a:t>(</a:t>
            </a:r>
            <a:r>
              <a:rPr lang="en-US" sz="1600" dirty="0" err="1" smtClean="0">
                <a:solidFill>
                  <a:sysClr val="windowText" lastClr="000000"/>
                </a:solidFill>
              </a:rPr>
              <a:t>int</a:t>
            </a:r>
            <a:r>
              <a:rPr lang="en-US" sz="1600" dirty="0" smtClean="0">
                <a:solidFill>
                  <a:schemeClr val="accent2"/>
                </a:solidFill>
              </a:rPr>
              <a:t> id</a:t>
            </a:r>
            <a:r>
              <a:rPr lang="en-US" sz="1600" dirty="0" smtClean="0">
                <a:solidFill>
                  <a:sysClr val="windowText" lastClr="000000"/>
                </a:solidFill>
              </a:rPr>
              <a:t>, unsigned long </a:t>
            </a:r>
            <a:r>
              <a:rPr lang="en-US" sz="1600" dirty="0" err="1" smtClean="0">
                <a:solidFill>
                  <a:sysClr val="windowText" lastClr="000000"/>
                </a:solidFill>
              </a:rPr>
              <a:t>long</a:t>
            </a:r>
            <a:r>
              <a:rPr lang="en-US" sz="1600" dirty="0" smtClean="0">
                <a:solidFill>
                  <a:sysClr val="windowText" lastClr="000000"/>
                </a:solidFill>
              </a:rPr>
              <a:t> </a:t>
            </a:r>
            <a:r>
              <a:rPr lang="en-US" sz="1600" dirty="0" err="1" smtClean="0">
                <a:solidFill>
                  <a:schemeClr val="accent2"/>
                </a:solidFill>
              </a:rPr>
              <a:t>thresholdns</a:t>
            </a:r>
            <a:r>
              <a:rPr lang="en-US" sz="1600" dirty="0" smtClean="0">
                <a:solidFill>
                  <a:sysClr val="windowText" lastClr="000000"/>
                </a:solidFill>
              </a:rPr>
              <a:t>)</a:t>
            </a:r>
          </a:p>
          <a:p>
            <a:pPr marL="1657350" lvl="4" indent="-342900"/>
            <a:r>
              <a:rPr lang="en-US" sz="1600" dirty="0" err="1" smtClean="0">
                <a:solidFill>
                  <a:sysClr val="windowText" lastClr="000000"/>
                </a:solidFill>
              </a:rPr>
              <a:t>record_time_interval</a:t>
            </a:r>
            <a:r>
              <a:rPr lang="en-US" sz="1600" dirty="0" smtClean="0">
                <a:solidFill>
                  <a:sysClr val="windowText" lastClr="000000"/>
                </a:solidFill>
              </a:rPr>
              <a:t>(</a:t>
            </a:r>
            <a:r>
              <a:rPr lang="en-US" sz="1600" dirty="0" err="1" smtClean="0">
                <a:solidFill>
                  <a:sysClr val="windowText" lastClr="000000"/>
                </a:solidFill>
              </a:rPr>
              <a:t>int</a:t>
            </a:r>
            <a:r>
              <a:rPr lang="en-US" sz="1600" dirty="0" smtClean="0">
                <a:solidFill>
                  <a:sysClr val="windowText" lastClr="000000"/>
                </a:solidFill>
              </a:rPr>
              <a:t> </a:t>
            </a:r>
            <a:r>
              <a:rPr lang="en-US" sz="1600" dirty="0" smtClean="0">
                <a:solidFill>
                  <a:schemeClr val="accent2"/>
                </a:solidFill>
              </a:rPr>
              <a:t>id</a:t>
            </a:r>
            <a:r>
              <a:rPr lang="en-US" sz="1600" dirty="0" smtClean="0">
                <a:solidFill>
                  <a:sysClr val="windowText" lastClr="000000"/>
                </a:solidFill>
              </a:rPr>
              <a:t>); </a:t>
            </a:r>
            <a:r>
              <a:rPr lang="en-US" sz="1200" dirty="0" smtClean="0">
                <a:solidFill>
                  <a:sysClr val="windowText" lastClr="000000"/>
                </a:solidFill>
                <a:sym typeface="Wingdings" pitchFamily="2" charset="2"/>
              </a:rPr>
              <a:t> warning if the function process time over </a:t>
            </a:r>
            <a:r>
              <a:rPr lang="en-US" sz="1200" dirty="0" err="1" smtClean="0">
                <a:solidFill>
                  <a:sysClr val="windowText" lastClr="000000"/>
                </a:solidFill>
                <a:sym typeface="Wingdings" pitchFamily="2" charset="2"/>
              </a:rPr>
              <a:t>thresholdns</a:t>
            </a:r>
            <a:r>
              <a:rPr lang="en-US" sz="1200" dirty="0" smtClean="0">
                <a:solidFill>
                  <a:sysClr val="windowText" lastClr="000000"/>
                </a:solidFill>
                <a:sym typeface="Wingdings" pitchFamily="2" charset="2"/>
              </a:rPr>
              <a:t>.</a:t>
            </a:r>
            <a:endParaRPr lang="en-US" sz="1600" dirty="0" smtClean="0">
              <a:solidFill>
                <a:sysClr val="windowText" lastClr="000000"/>
              </a:solidFill>
            </a:endParaRPr>
          </a:p>
          <a:p>
            <a:pPr marL="1657350" lvl="4" indent="-342900"/>
            <a:r>
              <a:rPr lang="en-US" sz="1600" dirty="0" err="1" smtClean="0">
                <a:solidFill>
                  <a:sysClr val="windowText" lastClr="000000"/>
                </a:solidFill>
              </a:rPr>
              <a:t>stop_time_interval</a:t>
            </a:r>
            <a:r>
              <a:rPr lang="en-US" sz="1600" dirty="0" smtClean="0">
                <a:solidFill>
                  <a:sysClr val="windowText" lastClr="000000"/>
                </a:solidFill>
              </a:rPr>
              <a:t>(</a:t>
            </a:r>
            <a:r>
              <a:rPr lang="en-US" sz="1600" dirty="0" err="1" smtClean="0">
                <a:solidFill>
                  <a:sysClr val="windowText" lastClr="000000"/>
                </a:solidFill>
              </a:rPr>
              <a:t>int</a:t>
            </a:r>
            <a:r>
              <a:rPr lang="en-US" sz="1600" dirty="0" smtClean="0">
                <a:solidFill>
                  <a:sysClr val="windowText" lastClr="000000"/>
                </a:solidFill>
              </a:rPr>
              <a:t> </a:t>
            </a:r>
            <a:r>
              <a:rPr lang="en-US" sz="1600" dirty="0" smtClean="0">
                <a:solidFill>
                  <a:schemeClr val="accent2"/>
                </a:solidFill>
              </a:rPr>
              <a:t>id</a:t>
            </a:r>
            <a:r>
              <a:rPr lang="en-US" sz="1600" dirty="0" smtClean="0">
                <a:solidFill>
                  <a:sysClr val="windowText" lastClr="000000"/>
                </a:solidFill>
              </a:rPr>
              <a:t>);</a:t>
            </a:r>
          </a:p>
          <a:p>
            <a:pPr marL="1657350" lvl="4" indent="-342900"/>
            <a:endParaRPr lang="en-US" dirty="0" smtClean="0">
              <a:solidFill>
                <a:sysClr val="windowText" lastClr="000000"/>
              </a:solidFill>
            </a:endParaRPr>
          </a:p>
          <a:p>
            <a:pPr marL="1657350" lvl="4" indent="-342900"/>
            <a:endParaRPr lang="en-US" dirty="0" smtClean="0">
              <a:solidFill>
                <a:sysClr val="windowText" lastClr="000000"/>
              </a:solidFill>
            </a:endParaRPr>
          </a:p>
          <a:p>
            <a:endParaRPr lang="en-US" sz="1800" dirty="0" smtClean="0"/>
          </a:p>
          <a:p>
            <a:pPr lvl="1"/>
            <a:endParaRPr lang="en-US" sz="1000" dirty="0" smtClean="0"/>
          </a:p>
          <a:p>
            <a:pPr marL="1200150" lvl="3" indent="-342900"/>
            <a:endParaRPr lang="en-US" dirty="0" smtClean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1" indent="-342900">
              <a:buClr>
                <a:schemeClr val="accent1"/>
              </a:buClr>
              <a:buFont typeface="Lucida Grande"/>
              <a:buChar char="▪"/>
            </a:pPr>
            <a:r>
              <a:rPr lang="en-US" b="1" dirty="0" smtClean="0">
                <a:solidFill>
                  <a:sysClr val="windowText" lastClr="000000"/>
                </a:solidFill>
              </a:rPr>
              <a:t>Exception Handler</a:t>
            </a:r>
          </a:p>
          <a:p>
            <a:pPr marL="742950" lvl="2" indent="-342900"/>
            <a:r>
              <a:rPr lang="en-US" sz="2000" dirty="0" smtClean="0">
                <a:solidFill>
                  <a:sysClr val="windowText" lastClr="000000"/>
                </a:solidFill>
              </a:rPr>
              <a:t>Through ADSP </a:t>
            </a:r>
            <a:r>
              <a:rPr lang="en-US" sz="2000" dirty="0" err="1" smtClean="0">
                <a:solidFill>
                  <a:sysClr val="windowText" lastClr="000000"/>
                </a:solidFill>
              </a:rPr>
              <a:t>Uart</a:t>
            </a:r>
            <a:endParaRPr lang="en-US" sz="2000" dirty="0" smtClean="0">
              <a:solidFill>
                <a:sysClr val="windowText" lastClr="000000"/>
              </a:solidFill>
            </a:endParaRPr>
          </a:p>
          <a:p>
            <a:pPr marL="742950" lvl="2" indent="-342900"/>
            <a:r>
              <a:rPr lang="en-US" sz="2000" dirty="0" smtClean="0">
                <a:solidFill>
                  <a:sysClr val="windowText" lastClr="000000"/>
                </a:solidFill>
              </a:rPr>
              <a:t>Dump stack register</a:t>
            </a:r>
          </a:p>
          <a:p>
            <a:pPr marL="1200150" lvl="3" indent="-342900"/>
            <a:r>
              <a:rPr lang="en-US" sz="1600" dirty="0" smtClean="0">
                <a:solidFill>
                  <a:sysClr val="windowText" lastClr="000000"/>
                </a:solidFill>
              </a:rPr>
              <a:t>Feed in </a:t>
            </a:r>
            <a:r>
              <a:rPr lang="en-US" sz="1600" dirty="0" err="1" smtClean="0">
                <a:solidFill>
                  <a:sysClr val="windowText" lastClr="000000"/>
                </a:solidFill>
              </a:rPr>
              <a:t>Xt-gdb</a:t>
            </a:r>
            <a:r>
              <a:rPr lang="en-US" sz="1600" dirty="0" smtClean="0">
                <a:solidFill>
                  <a:sysClr val="windowText" lastClr="000000"/>
                </a:solidFill>
              </a:rPr>
              <a:t> to trace </a:t>
            </a:r>
          </a:p>
          <a:p>
            <a:pPr marL="742950" lvl="2" indent="-342900"/>
            <a:r>
              <a:rPr lang="en-US" sz="2000" dirty="0" smtClean="0">
                <a:solidFill>
                  <a:sysClr val="windowText" lastClr="000000"/>
                </a:solidFill>
              </a:rPr>
              <a:t>Exception cause and address</a:t>
            </a:r>
          </a:p>
          <a:p>
            <a:pPr marL="1200150" lvl="3" indent="-342900"/>
            <a:r>
              <a:rPr lang="en-US" sz="1600" dirty="0" smtClean="0">
                <a:solidFill>
                  <a:sysClr val="windowText" lastClr="000000"/>
                </a:solidFill>
              </a:rPr>
              <a:t> </a:t>
            </a:r>
            <a:r>
              <a:rPr lang="en-US" sz="1600" dirty="0" err="1" smtClean="0">
                <a:solidFill>
                  <a:sysClr val="windowText" lastClr="000000"/>
                </a:solidFill>
              </a:rPr>
              <a:t>epc</a:t>
            </a:r>
            <a:endParaRPr lang="en-US" sz="1600" dirty="0" smtClean="0">
              <a:solidFill>
                <a:sysClr val="windowText" lastClr="000000"/>
              </a:solidFill>
            </a:endParaRPr>
          </a:p>
          <a:p>
            <a:pPr marL="1200150" lvl="3" indent="-342900"/>
            <a:r>
              <a:rPr lang="en-US" sz="1600" dirty="0" err="1" smtClean="0">
                <a:solidFill>
                  <a:sysClr val="windowText" lastClr="000000"/>
                </a:solidFill>
              </a:rPr>
              <a:t>exccause</a:t>
            </a:r>
            <a:endParaRPr lang="en-US" sz="1600" dirty="0" smtClean="0">
              <a:solidFill>
                <a:sysClr val="windowText" lastClr="000000"/>
              </a:solidFill>
            </a:endParaRPr>
          </a:p>
          <a:p>
            <a:pPr marL="1200150" lvl="3" indent="-342900"/>
            <a:r>
              <a:rPr lang="en-US" sz="1600" dirty="0" err="1" smtClean="0">
                <a:solidFill>
                  <a:sysClr val="windowText" lastClr="000000"/>
                </a:solidFill>
              </a:rPr>
              <a:t>excvaddr</a:t>
            </a:r>
            <a:endParaRPr lang="en-US" sz="1600" dirty="0" smtClean="0">
              <a:solidFill>
                <a:sysClr val="windowText" lastClr="000000"/>
              </a:solidFill>
            </a:endParaRPr>
          </a:p>
          <a:p>
            <a:pPr marL="742950" lvl="2" indent="-342900"/>
            <a:endParaRPr lang="en-US" sz="1800" dirty="0" smtClean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69786" y="1866899"/>
            <a:ext cx="4852948" cy="4411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800" b="1" dirty="0" err="1" smtClean="0"/>
              <a:t>Malloc</a:t>
            </a:r>
            <a:r>
              <a:rPr lang="en-US" sz="2800" b="1" dirty="0" smtClean="0"/>
              <a:t> Failed</a:t>
            </a:r>
          </a:p>
          <a:p>
            <a:pPr lvl="1"/>
            <a:r>
              <a:rPr lang="en-US" sz="2000" dirty="0" err="1" smtClean="0"/>
              <a:t>vApplicationMallocFailedHook</a:t>
            </a:r>
            <a:r>
              <a:rPr lang="en-US" sz="2000" dirty="0" smtClean="0"/>
              <a:t>(void)</a:t>
            </a:r>
          </a:p>
          <a:p>
            <a:r>
              <a:rPr lang="en-US" sz="2800" b="1" dirty="0" smtClean="0"/>
              <a:t>Stack overflow</a:t>
            </a:r>
          </a:p>
          <a:p>
            <a:pPr lvl="1"/>
            <a:r>
              <a:rPr lang="en-US" sz="2000" dirty="0" err="1" smtClean="0"/>
              <a:t>vApplicationStackOverflowHook</a:t>
            </a:r>
            <a:r>
              <a:rPr lang="en-US" sz="2000" dirty="0" smtClean="0"/>
              <a:t>(</a:t>
            </a:r>
            <a:r>
              <a:rPr lang="en-US" sz="2000" dirty="0" err="1" smtClean="0"/>
              <a:t>xTaskHandle</a:t>
            </a:r>
            <a:r>
              <a:rPr lang="en-US" sz="2000" dirty="0" smtClean="0"/>
              <a:t> </a:t>
            </a:r>
            <a:r>
              <a:rPr lang="en-US" sz="2000" dirty="0" err="1" smtClean="0"/>
              <a:t>pxTask</a:t>
            </a:r>
            <a:r>
              <a:rPr lang="en-US" sz="2000" dirty="0" smtClean="0"/>
              <a:t>, char *</a:t>
            </a:r>
            <a:r>
              <a:rPr lang="en-US" sz="2000" dirty="0" err="1" smtClean="0"/>
              <a:t>pcTaskName</a:t>
            </a:r>
            <a:r>
              <a:rPr lang="en-US" sz="2000" dirty="0" smtClean="0"/>
              <a:t>)</a:t>
            </a:r>
          </a:p>
          <a:p>
            <a:pPr lvl="1"/>
            <a:r>
              <a:rPr lang="en-US" sz="2000" dirty="0" smtClean="0"/>
              <a:t>Check when </a:t>
            </a:r>
            <a:r>
              <a:rPr lang="en-US" sz="2000" dirty="0" smtClean="0">
                <a:solidFill>
                  <a:srgbClr val="0070C0"/>
                </a:solidFill>
              </a:rPr>
              <a:t>Task context switch</a:t>
            </a:r>
          </a:p>
          <a:p>
            <a:pPr lvl="1"/>
            <a:r>
              <a:rPr lang="en-US" sz="2000" dirty="0" smtClean="0"/>
              <a:t>Can reference on </a:t>
            </a:r>
            <a:r>
              <a:rPr lang="en-US" sz="2000" dirty="0" smtClean="0">
                <a:solidFill>
                  <a:srgbClr val="0070C0"/>
                </a:solidFill>
              </a:rPr>
              <a:t>Task Monitor Stack </a:t>
            </a:r>
            <a:r>
              <a:rPr lang="en-US" sz="2000" dirty="0" smtClean="0"/>
              <a:t>status</a:t>
            </a:r>
          </a:p>
          <a:p>
            <a:pPr lvl="1">
              <a:buNone/>
            </a:pPr>
            <a:endParaRPr lang="en-US" sz="2000" dirty="0" smtClean="0"/>
          </a:p>
          <a:p>
            <a:r>
              <a:rPr lang="en-US" sz="2200" dirty="0" smtClean="0"/>
              <a:t>Above Errors will trigger system Assert (WDT) to info AP</a:t>
            </a:r>
          </a:p>
          <a:p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TRAX </a:t>
            </a:r>
          </a:p>
          <a:p>
            <a:pPr lvl="1"/>
            <a:r>
              <a:rPr lang="en-US" sz="2000" dirty="0" err="1" smtClean="0"/>
              <a:t>Xtensa</a:t>
            </a:r>
            <a:r>
              <a:rPr lang="en-US" sz="2000" dirty="0" smtClean="0"/>
              <a:t> provided, record </a:t>
            </a:r>
            <a:r>
              <a:rPr lang="en-US" sz="2000" dirty="0" smtClean="0">
                <a:solidFill>
                  <a:srgbClr val="0070C0"/>
                </a:solidFill>
              </a:rPr>
              <a:t>function execution </a:t>
            </a:r>
            <a:r>
              <a:rPr lang="en-US" sz="2000" dirty="0" smtClean="0"/>
              <a:t>flow (no data info)</a:t>
            </a:r>
          </a:p>
          <a:p>
            <a:r>
              <a:rPr lang="en-US" sz="2000" dirty="0" smtClean="0"/>
              <a:t>TRAX enable</a:t>
            </a:r>
            <a:r>
              <a:rPr lang="en-US" altLang="zh-TW" sz="2000" dirty="0" smtClean="0"/>
              <a:t> method :</a:t>
            </a:r>
          </a:p>
          <a:p>
            <a:pPr marL="914400" lvl="1" indent="-514350" fontAlgn="t">
              <a:buFont typeface="+mj-lt"/>
              <a:buAutoNum type="arabicPeriod"/>
            </a:pPr>
            <a:r>
              <a:rPr lang="en-US" sz="2000" b="1" dirty="0" err="1" smtClean="0"/>
              <a:t>adb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cmd</a:t>
            </a:r>
            <a:endParaRPr lang="en-US" sz="2000" b="1" dirty="0" smtClean="0"/>
          </a:p>
          <a:p>
            <a:pPr marL="1314450" lvl="2" indent="-514350" fontAlgn="t">
              <a:buNone/>
            </a:pPr>
            <a:r>
              <a:rPr lang="en-US" altLang="zh-TW" sz="1600" dirty="0" smtClean="0"/>
              <a:t> </a:t>
            </a:r>
            <a:r>
              <a:rPr lang="en-US" sz="1600" dirty="0" smtClean="0"/>
              <a:t>AP</a:t>
            </a:r>
            <a:r>
              <a:rPr lang="zh-TW" altLang="en-US" sz="1600" dirty="0" smtClean="0"/>
              <a:t> </a:t>
            </a:r>
            <a:r>
              <a:rPr lang="en-US" altLang="zh-TW" sz="1600" dirty="0" smtClean="0"/>
              <a:t>sends </a:t>
            </a:r>
            <a:r>
              <a:rPr lang="en-US" sz="1600" dirty="0" smtClean="0"/>
              <a:t>IPI_TRAX_ENABLE to trigger DSP enable/disable TRAX.</a:t>
            </a:r>
          </a:p>
          <a:p>
            <a:pPr lvl="1" fontAlgn="t"/>
            <a:r>
              <a:rPr lang="en-US" sz="2000" dirty="0" smtClean="0"/>
              <a:t> </a:t>
            </a:r>
            <a:r>
              <a:rPr lang="en-US" sz="1600" dirty="0" err="1" smtClean="0"/>
              <a:t>cd</a:t>
            </a:r>
            <a:r>
              <a:rPr lang="en-US" sz="1600" dirty="0" smtClean="0"/>
              <a:t> sys/class/misc/</a:t>
            </a:r>
            <a:r>
              <a:rPr lang="en-US" sz="1600" dirty="0" err="1" smtClean="0"/>
              <a:t>adsp</a:t>
            </a:r>
            <a:endParaRPr lang="en-US" sz="1600" dirty="0" smtClean="0"/>
          </a:p>
          <a:p>
            <a:pPr lvl="2" fontAlgn="t"/>
            <a:r>
              <a:rPr lang="en-US" sz="1600" dirty="0" smtClean="0"/>
              <a:t> echo 1 &gt; </a:t>
            </a:r>
            <a:r>
              <a:rPr lang="en-US" sz="1600" dirty="0" err="1" smtClean="0"/>
              <a:t>adsp_A_trax</a:t>
            </a:r>
            <a:r>
              <a:rPr lang="en-US" sz="1600" dirty="0" smtClean="0"/>
              <a:t>.   (start record)</a:t>
            </a:r>
          </a:p>
          <a:p>
            <a:pPr lvl="2" fontAlgn="t"/>
            <a:r>
              <a:rPr lang="en-US" sz="1600" dirty="0" smtClean="0"/>
              <a:t> echo 0 &gt; </a:t>
            </a:r>
            <a:r>
              <a:rPr lang="en-US" sz="1600" dirty="0" err="1" smtClean="0"/>
              <a:t>adsp_A_trax</a:t>
            </a:r>
            <a:r>
              <a:rPr lang="en-US" sz="1600" dirty="0" smtClean="0"/>
              <a:t>.   (stop record)</a:t>
            </a:r>
          </a:p>
          <a:p>
            <a:pPr lvl="2" fontAlgn="t"/>
            <a:r>
              <a:rPr lang="en-US" sz="1600" b="1" dirty="0" smtClean="0"/>
              <a:t>cat </a:t>
            </a:r>
            <a:r>
              <a:rPr lang="en-US" sz="1600" b="1" dirty="0" err="1" smtClean="0"/>
              <a:t>adsp_A_trax</a:t>
            </a:r>
            <a:endParaRPr lang="en-US" sz="1600" b="1" dirty="0" smtClean="0"/>
          </a:p>
          <a:p>
            <a:pPr marL="1314450" lvl="2" indent="-514350" fontAlgn="t">
              <a:buNone/>
            </a:pPr>
            <a:r>
              <a:rPr lang="en-US" sz="1800" dirty="0" smtClean="0"/>
              <a:t/>
            </a:r>
            <a:br>
              <a:rPr lang="en-US" sz="1800" dirty="0" smtClean="0"/>
            </a:br>
            <a:endParaRPr lang="zh-TW" altLang="en-US" sz="18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" name="Picture 4" descr="trax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80" y="686142"/>
            <a:ext cx="8895239" cy="548571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24380" y="686142"/>
            <a:ext cx="324000" cy="324000"/>
          </a:xfrm>
          <a:prstGeom prst="ellipse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4" idx="5"/>
          </p:cNvCxnSpPr>
          <p:nvPr/>
        </p:nvCxnSpPr>
        <p:spPr>
          <a:xfrm>
            <a:off x="400931" y="962693"/>
            <a:ext cx="3915888" cy="324780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51242"/>
            <a:ext cx="8229600" cy="1269800"/>
          </a:xfrm>
        </p:spPr>
        <p:txBody>
          <a:bodyPr/>
          <a:lstStyle/>
          <a:p>
            <a:r>
              <a:rPr lang="en-US" altLang="zh-TW" dirty="0" smtClean="0"/>
              <a:t>Analyze trace data by </a:t>
            </a:r>
            <a:r>
              <a:rPr lang="en-US" altLang="zh-TW" dirty="0" err="1" smtClean="0"/>
              <a:t>Xplorer</a:t>
            </a:r>
            <a:r>
              <a:rPr lang="en-US" altLang="zh-TW" dirty="0" smtClean="0"/>
              <a:t> (0)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" name="Picture 6" descr="tra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285" y="143285"/>
            <a:ext cx="7371429" cy="65714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5" descr="tra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443"/>
            <a:ext cx="9144000" cy="59591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44018"/>
            <a:ext cx="8229600" cy="5034653"/>
          </a:xfrm>
        </p:spPr>
        <p:txBody>
          <a:bodyPr>
            <a:normAutofit fontScale="47500" lnSpcReduction="20000"/>
          </a:bodyPr>
          <a:lstStyle/>
          <a:p>
            <a:r>
              <a:rPr lang="en-US" sz="8600" b="1" dirty="0" smtClean="0"/>
              <a:t>GDB DUMP </a:t>
            </a:r>
            <a:r>
              <a:rPr lang="en-US" sz="8600" b="1" dirty="0" smtClean="0">
                <a:solidFill>
                  <a:schemeClr val="accent1"/>
                </a:solidFill>
              </a:rPr>
              <a:t>(Useful to debug!)</a:t>
            </a:r>
          </a:p>
          <a:p>
            <a:pPr lvl="1"/>
            <a:r>
              <a:rPr lang="en-US" sz="6200" b="1" dirty="0" smtClean="0"/>
              <a:t>Use AEE db file to show more debug info</a:t>
            </a:r>
          </a:p>
          <a:p>
            <a:endParaRPr lang="en-US" sz="3500" b="1" dirty="0" smtClean="0"/>
          </a:p>
          <a:p>
            <a:r>
              <a:rPr lang="en-US" sz="6200" b="1" dirty="0" smtClean="0"/>
              <a:t>Get Tools: </a:t>
            </a:r>
            <a:r>
              <a:rPr lang="en-US" sz="6200" b="1" dirty="0"/>
              <a:t>(version 3.0 , for mt6779 only</a:t>
            </a:r>
            <a:r>
              <a:rPr lang="en-US" sz="6200" b="1" dirty="0" smtClean="0"/>
              <a:t>)</a:t>
            </a:r>
          </a:p>
          <a:p>
            <a:pPr lvl="1"/>
            <a:r>
              <a:rPr lang="en-US" sz="5000" dirty="0" err="1" smtClean="0"/>
              <a:t>Aurisys_exe_Vxxxxxxx</a:t>
            </a:r>
            <a:r>
              <a:rPr lang="en-US" sz="5000" smtClean="0"/>
              <a:t>\TOOL\HiFi3</a:t>
            </a:r>
            <a:endParaRPr lang="en-US" sz="5000" dirty="0"/>
          </a:p>
          <a:p>
            <a:r>
              <a:rPr lang="en-US" sz="6200" b="1" dirty="0" smtClean="0"/>
              <a:t>decompress the tools to the </a:t>
            </a:r>
            <a:r>
              <a:rPr lang="en-US" sz="6200" b="1" dirty="0" err="1" smtClean="0"/>
              <a:t>linux</a:t>
            </a:r>
            <a:r>
              <a:rPr lang="en-US" sz="6200" b="1" dirty="0" smtClean="0"/>
              <a:t> server</a:t>
            </a:r>
            <a:endParaRPr lang="en-US" sz="6200" dirty="0" smtClean="0"/>
          </a:p>
          <a:p>
            <a:pPr lvl="1"/>
            <a:r>
              <a:rPr lang="en-US" sz="4900" dirty="0" smtClean="0"/>
              <a:t>tar -</a:t>
            </a:r>
            <a:r>
              <a:rPr lang="en-US" sz="4900" dirty="0" err="1" smtClean="0"/>
              <a:t>jxv</a:t>
            </a:r>
            <a:r>
              <a:rPr lang="en-US" sz="4900" dirty="0" smtClean="0"/>
              <a:t> -f hifi3_debug_tool_v3_181217.tar.bz2</a:t>
            </a:r>
          </a:p>
          <a:p>
            <a:r>
              <a:rPr lang="en-US" sz="6200" b="1" dirty="0" smtClean="0"/>
              <a:t>add tools path to the </a:t>
            </a:r>
            <a:r>
              <a:rPr lang="en-US" sz="6200" b="1" dirty="0" err="1" smtClean="0"/>
              <a:t>bashrc</a:t>
            </a:r>
            <a:endParaRPr lang="en-US" sz="6200" dirty="0" smtClean="0"/>
          </a:p>
          <a:p>
            <a:pPr lvl="1"/>
            <a:r>
              <a:rPr lang="en-US" sz="4900" dirty="0" smtClean="0"/>
              <a:t>vim .</a:t>
            </a:r>
            <a:r>
              <a:rPr lang="en-US" sz="4900" dirty="0" err="1" smtClean="0"/>
              <a:t>bashrc</a:t>
            </a:r>
            <a:endParaRPr lang="en-US" sz="4900" dirty="0" smtClean="0"/>
          </a:p>
          <a:p>
            <a:pPr lvl="1"/>
            <a:r>
              <a:rPr lang="en-US" sz="4900" dirty="0" smtClean="0"/>
              <a:t>export PATH=$PATH:/</a:t>
            </a:r>
            <a:r>
              <a:rPr lang="en-US" sz="4900" dirty="0" err="1" smtClean="0"/>
              <a:t>proj</a:t>
            </a:r>
            <a:r>
              <a:rPr lang="en-US" sz="4900" dirty="0" smtClean="0"/>
              <a:t>/</a:t>
            </a:r>
            <a:r>
              <a:rPr lang="en-US" sz="4900" dirty="0" err="1" smtClean="0"/>
              <a:t>mtkxxxx</a:t>
            </a:r>
            <a:r>
              <a:rPr lang="en-US" sz="4900" dirty="0" smtClean="0"/>
              <a:t>/hifi3_debug_tool/</a:t>
            </a:r>
            <a:r>
              <a:rPr lang="en-US" sz="4900" dirty="0" err="1" smtClean="0"/>
              <a:t>XtensaTools</a:t>
            </a:r>
            <a:r>
              <a:rPr lang="en-US" sz="4900" dirty="0" smtClean="0"/>
              <a:t>/bin</a:t>
            </a:r>
            <a:r>
              <a:rPr lang="en-US" sz="3000" dirty="0" smtClean="0"/>
              <a:t/>
            </a:r>
            <a:br>
              <a:rPr lang="en-US" sz="3000" dirty="0" smtClean="0"/>
            </a:br>
            <a:r>
              <a:rPr lang="en-US" sz="3000" dirty="0" smtClean="0"/>
              <a:t/>
            </a:r>
            <a:br>
              <a:rPr lang="en-US" sz="3000" dirty="0" smtClean="0"/>
            </a:br>
            <a:endParaRPr lang="en-US" sz="3000" dirty="0" smtClean="0"/>
          </a:p>
          <a:p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5" name="Content Placeholder 3"/>
          <p:cNvSpPr>
            <a:spLocks noGrp="1"/>
          </p:cNvSpPr>
          <p:nvPr>
            <p:ph sz="quarter" idx="13"/>
          </p:nvPr>
        </p:nvSpPr>
        <p:spPr>
          <a:xfrm>
            <a:off x="265805" y="978194"/>
            <a:ext cx="8686801" cy="4784653"/>
          </a:xfrm>
        </p:spPr>
        <p:txBody>
          <a:bodyPr>
            <a:normAutofit fontScale="55000" lnSpcReduction="20000"/>
          </a:bodyPr>
          <a:lstStyle/>
          <a:p>
            <a:r>
              <a:rPr lang="en-US" sz="5100" b="1" dirty="0" smtClean="0"/>
              <a:t>Preparation : Put  files into the hifi3_debug_tool folder</a:t>
            </a:r>
          </a:p>
          <a:p>
            <a:pPr>
              <a:buNone/>
            </a:pPr>
            <a:endParaRPr lang="en-US" sz="4000" dirty="0" smtClean="0"/>
          </a:p>
          <a:p>
            <a:pPr lvl="1"/>
            <a:r>
              <a:rPr lang="en-US" sz="2900" b="1" dirty="0" smtClean="0">
                <a:solidFill>
                  <a:srgbClr val="0070C0"/>
                </a:solidFill>
              </a:rPr>
              <a:t>SYS_ADSP_DUMP</a:t>
            </a:r>
            <a:r>
              <a:rPr lang="en-US" sz="2900" b="1" dirty="0" smtClean="0"/>
              <a:t> : decompress the db file, copy out the "SYS_ADSP_DUMP"</a:t>
            </a:r>
            <a:endParaRPr lang="en-US" sz="2900" dirty="0" smtClean="0"/>
          </a:p>
          <a:p>
            <a:pPr lvl="2"/>
            <a:r>
              <a:rPr lang="en-US" sz="2800" dirty="0" smtClean="0"/>
              <a:t>ex: TagLog_2010_0101_001217_EE\db.01.EE\20180511_172021_386\db.01.EE.dbg.DEC\SYS_ADSP_DUMP</a:t>
            </a:r>
            <a:r>
              <a:rPr lang="en-US" sz="2800" b="1" dirty="0" smtClean="0"/>
              <a:t/>
            </a:r>
            <a:br>
              <a:rPr lang="en-US" sz="2800" b="1" dirty="0" smtClean="0"/>
            </a:br>
            <a:endParaRPr lang="en-US" sz="2800" dirty="0" smtClean="0"/>
          </a:p>
          <a:p>
            <a:pPr lvl="1"/>
            <a:r>
              <a:rPr lang="en-US" sz="2900" b="1" dirty="0" smtClean="0">
                <a:solidFill>
                  <a:srgbClr val="0070C0"/>
                </a:solidFill>
              </a:rPr>
              <a:t>hifi3_a.elf</a:t>
            </a:r>
            <a:r>
              <a:rPr lang="en-US" sz="2900" b="1" dirty="0" smtClean="0"/>
              <a:t> : which is in the out folder, copy it out too.</a:t>
            </a:r>
            <a:r>
              <a:rPr lang="en-US" sz="3000" b="1" dirty="0" smtClean="0"/>
              <a:t/>
            </a:r>
            <a:br>
              <a:rPr lang="en-US" sz="3000" b="1" dirty="0" smtClean="0"/>
            </a:br>
            <a:endParaRPr lang="en-US" sz="3000" dirty="0" smtClean="0"/>
          </a:p>
          <a:p>
            <a:pPr lvl="2"/>
            <a:r>
              <a:rPr lang="en-US" sz="2900" b="1" dirty="0" err="1" smtClean="0"/>
              <a:t>partial_build</a:t>
            </a:r>
            <a:r>
              <a:rPr lang="en-US" sz="2900" b="1" dirty="0" smtClean="0"/>
              <a:t> : </a:t>
            </a:r>
          </a:p>
          <a:p>
            <a:pPr lvl="2">
              <a:buNone/>
            </a:pPr>
            <a:r>
              <a:rPr lang="en-US" sz="2900" b="1" dirty="0" smtClean="0"/>
              <a:t>	</a:t>
            </a:r>
            <a:r>
              <a:rPr lang="en-US" sz="2900" dirty="0" smtClean="0"/>
              <a:t>$(alps)\vendor\</a:t>
            </a:r>
            <a:r>
              <a:rPr lang="en-US" sz="2900" dirty="0" err="1" smtClean="0"/>
              <a:t>mediatek</a:t>
            </a:r>
            <a:r>
              <a:rPr lang="en-US" sz="2900" dirty="0" smtClean="0"/>
              <a:t>\proprietary\</a:t>
            </a:r>
            <a:r>
              <a:rPr lang="en-US" sz="2900" dirty="0" err="1" smtClean="0"/>
              <a:t>tinysys</a:t>
            </a:r>
            <a:r>
              <a:rPr lang="en-US" sz="2900" dirty="0" smtClean="0"/>
              <a:t>\</a:t>
            </a:r>
            <a:r>
              <a:rPr lang="en-US" sz="2900" dirty="0" err="1" smtClean="0"/>
              <a:t>freertos</a:t>
            </a:r>
            <a:r>
              <a:rPr lang="en-US" sz="2900" dirty="0" smtClean="0"/>
              <a:t>\source\</a:t>
            </a:r>
            <a:r>
              <a:rPr lang="en-US" sz="2900" dirty="0" err="1" smtClean="0">
                <a:solidFill>
                  <a:srgbClr val="FF0000"/>
                </a:solidFill>
              </a:rPr>
              <a:t>tinysys-scp_out</a:t>
            </a:r>
            <a:r>
              <a:rPr lang="en-US" sz="2900" dirty="0" smtClean="0"/>
              <a:t>\</a:t>
            </a:r>
            <a:r>
              <a:rPr lang="en-US" sz="2900" dirty="0" err="1" smtClean="0"/>
              <a:t>freertos</a:t>
            </a:r>
            <a:r>
              <a:rPr lang="en-US" sz="2900" dirty="0" smtClean="0"/>
              <a:t>\source\HIFI3_A\hifi3_a.elf</a:t>
            </a:r>
            <a:r>
              <a:rPr lang="en-US" sz="2900" b="1" dirty="0" smtClean="0"/>
              <a:t/>
            </a:r>
            <a:br>
              <a:rPr lang="en-US" sz="2900" b="1" dirty="0" smtClean="0"/>
            </a:br>
            <a:endParaRPr lang="en-US" sz="2900" dirty="0" smtClean="0"/>
          </a:p>
          <a:p>
            <a:pPr lvl="2"/>
            <a:r>
              <a:rPr lang="en-US" sz="2900" b="1" dirty="0" err="1" smtClean="0"/>
              <a:t>full_build</a:t>
            </a:r>
            <a:r>
              <a:rPr lang="en-US" sz="2900" b="1" dirty="0" smtClean="0"/>
              <a:t> : </a:t>
            </a:r>
          </a:p>
          <a:p>
            <a:pPr lvl="2">
              <a:buNone/>
            </a:pPr>
            <a:r>
              <a:rPr lang="en-US" sz="2900" b="1" dirty="0" smtClean="0"/>
              <a:t>	</a:t>
            </a:r>
            <a:r>
              <a:rPr lang="en-US" sz="2900" dirty="0" smtClean="0"/>
              <a:t>$(alps)\</a:t>
            </a:r>
            <a:r>
              <a:rPr lang="en-US" sz="2900" dirty="0" smtClean="0">
                <a:solidFill>
                  <a:srgbClr val="FF0000"/>
                </a:solidFill>
              </a:rPr>
              <a:t>out</a:t>
            </a:r>
            <a:r>
              <a:rPr lang="en-US" sz="2900" dirty="0" smtClean="0"/>
              <a:t>\target\product\$(project)\</a:t>
            </a:r>
            <a:r>
              <a:rPr lang="en-US" sz="2900" dirty="0" err="1" smtClean="0"/>
              <a:t>obj</a:t>
            </a:r>
            <a:r>
              <a:rPr lang="en-US" sz="2900" dirty="0" smtClean="0"/>
              <a:t>\TINYSYS_OBJ\</a:t>
            </a:r>
            <a:r>
              <a:rPr lang="en-US" sz="2900" dirty="0" err="1" smtClean="0"/>
              <a:t>tinysys-adsp_intermediates</a:t>
            </a:r>
            <a:r>
              <a:rPr lang="en-US" sz="2900" dirty="0" smtClean="0"/>
              <a:t>\</a:t>
            </a:r>
            <a:r>
              <a:rPr lang="en-US" sz="2900" dirty="0" err="1" smtClean="0"/>
              <a:t>freertos</a:t>
            </a:r>
            <a:r>
              <a:rPr lang="en-US" sz="2900" dirty="0" smtClean="0"/>
              <a:t>\source\HIFI3_A\hifi3_a.elf</a:t>
            </a:r>
          </a:p>
          <a:p>
            <a:pPr lvl="2"/>
            <a:endParaRPr lang="en-US" sz="2900" b="1" dirty="0" smtClean="0"/>
          </a:p>
          <a:p>
            <a:pPr lvl="2"/>
            <a:r>
              <a:rPr lang="en-US" sz="2900" b="1" dirty="0" smtClean="0"/>
              <a:t>Official load :</a:t>
            </a:r>
          </a:p>
          <a:p>
            <a:pPr lvl="2">
              <a:buNone/>
            </a:pPr>
            <a:r>
              <a:rPr lang="en-US" sz="2900" dirty="0" smtClean="0"/>
              <a:t>	\</a:t>
            </a:r>
            <a:r>
              <a:rPr lang="en-US" sz="2900" dirty="0" err="1" smtClean="0"/>
              <a:t>ALPS_symbols</a:t>
            </a:r>
            <a:r>
              <a:rPr lang="en-US" sz="2900" dirty="0" smtClean="0"/>
              <a:t>\{branch name}\ {branch tag}\{project}.</a:t>
            </a:r>
            <a:r>
              <a:rPr lang="en-US" sz="2900" dirty="0" err="1" smtClean="0"/>
              <a:t>out.symbols</a:t>
            </a:r>
            <a:r>
              <a:rPr lang="en-US" sz="2900" dirty="0" smtClean="0"/>
              <a:t>\alps\out\target\product\{project}\</a:t>
            </a:r>
            <a:r>
              <a:rPr lang="en-US" sz="2900" dirty="0" err="1" smtClean="0"/>
              <a:t>obj</a:t>
            </a:r>
            <a:r>
              <a:rPr lang="en-US" sz="2900" dirty="0" smtClean="0"/>
              <a:t>\TINYSYS_OBJ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680484"/>
            <a:ext cx="8229600" cy="5475842"/>
          </a:xfrm>
        </p:spPr>
        <p:txBody>
          <a:bodyPr>
            <a:normAutofit fontScale="32500" lnSpcReduction="20000"/>
          </a:bodyPr>
          <a:lstStyle/>
          <a:p>
            <a:r>
              <a:rPr lang="en-US" sz="6200" b="1" dirty="0" smtClean="0"/>
              <a:t>Basic CMD</a:t>
            </a:r>
          </a:p>
          <a:p>
            <a:pPr lvl="1">
              <a:buFont typeface="+mj-lt"/>
              <a:buAutoNum type="arabicPeriod"/>
            </a:pPr>
            <a:r>
              <a:rPr lang="en-US" sz="4900" b="1" dirty="0" smtClean="0">
                <a:solidFill>
                  <a:srgbClr val="0070C0"/>
                </a:solidFill>
              </a:rPr>
              <a:t>python </a:t>
            </a:r>
            <a:r>
              <a:rPr lang="en-US" sz="4900" b="1" dirty="0" err="1" smtClean="0">
                <a:solidFill>
                  <a:srgbClr val="0070C0"/>
                </a:solidFill>
              </a:rPr>
              <a:t>XtensaTools</a:t>
            </a:r>
            <a:r>
              <a:rPr lang="en-US" sz="4900" b="1" dirty="0" smtClean="0">
                <a:solidFill>
                  <a:srgbClr val="0070C0"/>
                </a:solidFill>
              </a:rPr>
              <a:t>/bin/</a:t>
            </a:r>
            <a:r>
              <a:rPr lang="en-US" sz="4900" b="1" dirty="0" err="1" smtClean="0">
                <a:solidFill>
                  <a:srgbClr val="0070C0"/>
                </a:solidFill>
              </a:rPr>
              <a:t>split_coredump</a:t>
            </a:r>
            <a:r>
              <a:rPr lang="en-US" sz="4900" b="1" dirty="0" smtClean="0">
                <a:solidFill>
                  <a:srgbClr val="0070C0"/>
                </a:solidFill>
              </a:rPr>
              <a:t> </a:t>
            </a:r>
            <a:r>
              <a:rPr lang="en-US" sz="4900" b="1" dirty="0" smtClean="0">
                <a:solidFill>
                  <a:srgbClr val="FF0000"/>
                </a:solidFill>
              </a:rPr>
              <a:t>SYS_ADSP_DUMP</a:t>
            </a:r>
          </a:p>
          <a:p>
            <a:pPr lvl="1">
              <a:buFont typeface="+mj-lt"/>
              <a:buAutoNum type="arabicPeriod"/>
            </a:pPr>
            <a:r>
              <a:rPr lang="en-US" sz="4900" b="1" dirty="0" err="1" smtClean="0"/>
              <a:t>xt-gdb</a:t>
            </a:r>
            <a:endParaRPr lang="en-US" sz="4900" b="1" dirty="0" smtClean="0"/>
          </a:p>
          <a:p>
            <a:pPr lvl="1">
              <a:buFont typeface="+mj-lt"/>
              <a:buAutoNum type="arabicPeriod"/>
            </a:pPr>
            <a:r>
              <a:rPr lang="en-US" sz="4900" b="1" dirty="0" smtClean="0"/>
              <a:t>(</a:t>
            </a:r>
            <a:r>
              <a:rPr lang="en-US" sz="4900" b="1" dirty="0" err="1" smtClean="0"/>
              <a:t>xt-gdb</a:t>
            </a:r>
            <a:r>
              <a:rPr lang="en-US" sz="4900" b="1" dirty="0" smtClean="0"/>
              <a:t>) source script.txt</a:t>
            </a:r>
          </a:p>
          <a:p>
            <a:pPr lvl="1"/>
            <a:endParaRPr lang="en-US" sz="4200" b="1" dirty="0" smtClean="0"/>
          </a:p>
          <a:p>
            <a:r>
              <a:rPr lang="en-US" sz="6200" b="1" dirty="0" smtClean="0"/>
              <a:t>(Optional) ADSP Boot up exception</a:t>
            </a:r>
            <a:endParaRPr lang="en-US" sz="6200" dirty="0" smtClean="0"/>
          </a:p>
          <a:p>
            <a:pPr lvl="1"/>
            <a:r>
              <a:rPr lang="en-US" sz="3700" dirty="0" smtClean="0"/>
              <a:t>Check the stack address:  (0x4ffb0d70 is just example here)</a:t>
            </a:r>
          </a:p>
          <a:p>
            <a:pPr lvl="1"/>
            <a:r>
              <a:rPr lang="en-US" sz="3700" dirty="0" smtClean="0"/>
              <a:t>Log or </a:t>
            </a:r>
            <a:r>
              <a:rPr lang="en-US" sz="3700" dirty="0" err="1" smtClean="0"/>
              <a:t>Uart</a:t>
            </a:r>
            <a:r>
              <a:rPr lang="en-US" sz="3700" dirty="0" smtClean="0"/>
              <a:t> :</a:t>
            </a:r>
          </a:p>
          <a:p>
            <a:pPr lvl="2"/>
            <a:r>
              <a:rPr lang="en-US" sz="3700" dirty="0" smtClean="0"/>
              <a:t>Key word : "[8.342](A) </a:t>
            </a:r>
            <a:r>
              <a:rPr lang="en-US" sz="3700" dirty="0" smtClean="0">
                <a:solidFill>
                  <a:srgbClr val="FF0000"/>
                </a:solidFill>
              </a:rPr>
              <a:t>Stack Dump address</a:t>
            </a:r>
            <a:r>
              <a:rPr lang="en-US" sz="3700" dirty="0" smtClean="0"/>
              <a:t>: 0x4ffb0d70"</a:t>
            </a:r>
          </a:p>
          <a:p>
            <a:pPr lvl="1"/>
            <a:r>
              <a:rPr lang="en-US" sz="3700" dirty="0" err="1" smtClean="0"/>
              <a:t>Xt-gdb</a:t>
            </a:r>
            <a:endParaRPr lang="en-US" sz="3700" dirty="0" smtClean="0"/>
          </a:p>
          <a:p>
            <a:pPr lvl="2"/>
            <a:r>
              <a:rPr lang="en-US" sz="3700" dirty="0" smtClean="0"/>
              <a:t>(</a:t>
            </a:r>
            <a:r>
              <a:rPr lang="en-US" sz="3700" dirty="0" err="1" smtClean="0"/>
              <a:t>xt-gdb</a:t>
            </a:r>
            <a:r>
              <a:rPr lang="en-US" sz="3700" dirty="0" smtClean="0"/>
              <a:t>) print </a:t>
            </a:r>
            <a:r>
              <a:rPr lang="en-US" sz="3700" dirty="0" err="1" smtClean="0">
                <a:solidFill>
                  <a:srgbClr val="FF0000"/>
                </a:solidFill>
              </a:rPr>
              <a:t>pExceptionContext</a:t>
            </a:r>
            <a:endParaRPr lang="en-US" sz="3700" dirty="0" smtClean="0">
              <a:solidFill>
                <a:srgbClr val="FF0000"/>
              </a:solidFill>
            </a:endParaRPr>
          </a:p>
          <a:p>
            <a:pPr lvl="2"/>
            <a:r>
              <a:rPr lang="en-US" sz="3700" dirty="0" smtClean="0"/>
              <a:t>$1 = (</a:t>
            </a:r>
            <a:r>
              <a:rPr lang="en-US" sz="3700" dirty="0" err="1" smtClean="0"/>
              <a:t>ExceptionContext</a:t>
            </a:r>
            <a:r>
              <a:rPr lang="en-US" sz="3700" dirty="0" smtClean="0"/>
              <a:t> *) 0x4ffb0d70 &lt;exceptionContext_109&gt;</a:t>
            </a:r>
            <a:br>
              <a:rPr lang="en-US" sz="3700" dirty="0" smtClean="0"/>
            </a:br>
            <a:endParaRPr lang="en-US" sz="3700" dirty="0" smtClean="0"/>
          </a:p>
          <a:p>
            <a:pPr lvl="1">
              <a:buFont typeface="Arial" pitchFamily="34" charset="0"/>
              <a:buChar char="•"/>
            </a:pPr>
            <a:r>
              <a:rPr lang="en-US" sz="3700" dirty="0" smtClean="0"/>
              <a:t>Use </a:t>
            </a:r>
            <a:r>
              <a:rPr lang="en-US" sz="3700" dirty="0" err="1" smtClean="0"/>
              <a:t>split_coredump</a:t>
            </a:r>
            <a:r>
              <a:rPr lang="en-US" sz="3700" dirty="0" smtClean="0"/>
              <a:t> with parameter of address at register file</a:t>
            </a:r>
          </a:p>
          <a:p>
            <a:pPr lvl="2">
              <a:buFont typeface="Arial" pitchFamily="34" charset="0"/>
              <a:buChar char="•"/>
            </a:pPr>
            <a:r>
              <a:rPr lang="en-US" sz="3700" dirty="0" err="1" smtClean="0">
                <a:solidFill>
                  <a:srgbClr val="0070C0"/>
                </a:solidFill>
              </a:rPr>
              <a:t>split_coredump</a:t>
            </a:r>
            <a:r>
              <a:rPr lang="en-US" sz="3700" dirty="0" smtClean="0">
                <a:solidFill>
                  <a:srgbClr val="0070C0"/>
                </a:solidFill>
              </a:rPr>
              <a:t> SYS_ADSP_DUMP </a:t>
            </a:r>
            <a:r>
              <a:rPr lang="en-US" sz="3700" dirty="0" smtClean="0">
                <a:solidFill>
                  <a:srgbClr val="FF0000"/>
                </a:solidFill>
              </a:rPr>
              <a:t>0x4ffb0d70</a:t>
            </a:r>
          </a:p>
          <a:p>
            <a:pPr marL="0" indent="0">
              <a:buNone/>
            </a:pPr>
            <a:endParaRPr lang="en-US" sz="5000" b="1" dirty="0" smtClean="0"/>
          </a:p>
          <a:p>
            <a:r>
              <a:rPr lang="en-US" sz="6200" b="1" dirty="0" smtClean="0"/>
              <a:t>GDB Split contents</a:t>
            </a:r>
          </a:p>
          <a:p>
            <a:pPr lvl="1"/>
            <a:r>
              <a:rPr lang="en-US" sz="4900" dirty="0" smtClean="0"/>
              <a:t>DTCM :  Internal data memory</a:t>
            </a:r>
          </a:p>
          <a:p>
            <a:pPr lvl="1"/>
            <a:r>
              <a:rPr lang="en-US" sz="4900" dirty="0" smtClean="0"/>
              <a:t>ITCM:  Internal code memory</a:t>
            </a:r>
          </a:p>
          <a:p>
            <a:pPr lvl="1"/>
            <a:r>
              <a:rPr lang="en-US" sz="4900" dirty="0" smtClean="0"/>
              <a:t>CFG_REG : </a:t>
            </a:r>
            <a:r>
              <a:rPr lang="en-US" sz="4900" dirty="0" err="1" smtClean="0"/>
              <a:t>Config</a:t>
            </a:r>
            <a:r>
              <a:rPr lang="en-US" sz="4900" dirty="0" smtClean="0"/>
              <a:t> register dump</a:t>
            </a:r>
          </a:p>
          <a:p>
            <a:pPr lvl="1"/>
            <a:r>
              <a:rPr lang="en-US" sz="4900" dirty="0" smtClean="0">
                <a:solidFill>
                  <a:srgbClr val="0070C0"/>
                </a:solidFill>
              </a:rPr>
              <a:t>Log :   last log for debug</a:t>
            </a:r>
          </a:p>
          <a:p>
            <a:pPr lvl="1"/>
            <a:r>
              <a:rPr lang="en-US" sz="4900" dirty="0" smtClean="0"/>
              <a:t>Register : hifi3 core registers.</a:t>
            </a:r>
          </a:p>
          <a:p>
            <a:pPr lvl="1"/>
            <a:r>
              <a:rPr lang="en-US" sz="4900" dirty="0" err="1" smtClean="0"/>
              <a:t>SYS_Dram</a:t>
            </a:r>
            <a:r>
              <a:rPr lang="en-US" sz="4900" dirty="0" smtClean="0"/>
              <a:t> : for system memory</a:t>
            </a:r>
          </a:p>
          <a:p>
            <a:pPr lvl="1"/>
            <a:endParaRPr lang="en-US" sz="1800" dirty="0" smtClean="0"/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361" y="4000282"/>
            <a:ext cx="2040874" cy="22783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" name="Content Placeholder 5" descr="image2018-5-14 21-1-17.png"/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241991" y="2501972"/>
            <a:ext cx="8731886" cy="3914928"/>
          </a:xfrm>
        </p:spPr>
      </p:pic>
      <p:sp>
        <p:nvSpPr>
          <p:cNvPr id="7" name="Rectangle 6"/>
          <p:cNvSpPr/>
          <p:nvPr/>
        </p:nvSpPr>
        <p:spPr>
          <a:xfrm>
            <a:off x="457199" y="148856"/>
            <a:ext cx="8516678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 smtClean="0">
              <a:solidFill>
                <a:srgbClr val="0070C0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Basic GDB </a:t>
            </a:r>
            <a:r>
              <a:rPr lang="en-US" sz="2000" b="1" dirty="0" err="1" smtClean="0"/>
              <a:t>cmd</a:t>
            </a:r>
            <a:r>
              <a:rPr lang="en-US" sz="2000" b="1" dirty="0" smtClean="0"/>
              <a:t> for back trace, other </a:t>
            </a:r>
            <a:r>
              <a:rPr lang="en-US" sz="2000" b="1" dirty="0" err="1" smtClean="0"/>
              <a:t>gdb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cmd</a:t>
            </a:r>
            <a:r>
              <a:rPr lang="en-US" sz="2000" b="1" dirty="0" smtClean="0"/>
              <a:t> please  use help to check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$ python </a:t>
            </a:r>
            <a:r>
              <a:rPr lang="en-US" dirty="0" err="1" smtClean="0"/>
              <a:t>split_coredump</a:t>
            </a:r>
            <a:r>
              <a:rPr lang="en-US" dirty="0" smtClean="0"/>
              <a:t> SYS_ADSP_DUMP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$ </a:t>
            </a:r>
            <a:r>
              <a:rPr lang="en-US" dirty="0" err="1" smtClean="0"/>
              <a:t>xt-gdb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$ (</a:t>
            </a:r>
            <a:r>
              <a:rPr lang="en-US" dirty="0" err="1" smtClean="0"/>
              <a:t>xt-gdb</a:t>
            </a:r>
            <a:r>
              <a:rPr lang="en-US" dirty="0" smtClean="0"/>
              <a:t>) source script.txt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$ (</a:t>
            </a:r>
            <a:r>
              <a:rPr lang="en-US" dirty="0" err="1" smtClean="0"/>
              <a:t>xt-gdb</a:t>
            </a:r>
            <a:r>
              <a:rPr lang="en-US" dirty="0" smtClean="0"/>
              <a:t>) Info threads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$ (</a:t>
            </a:r>
            <a:r>
              <a:rPr lang="en-US" dirty="0" err="1" smtClean="0"/>
              <a:t>xt-gdb</a:t>
            </a:r>
            <a:r>
              <a:rPr lang="en-US" dirty="0" smtClean="0"/>
              <a:t>) thread 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$ (</a:t>
            </a:r>
            <a:r>
              <a:rPr lang="en-US" dirty="0" err="1" smtClean="0"/>
              <a:t>xt-gdb</a:t>
            </a:r>
            <a:r>
              <a:rPr lang="en-US" dirty="0" smtClean="0"/>
              <a:t>) </a:t>
            </a:r>
            <a:r>
              <a:rPr lang="en-US" dirty="0" err="1" smtClean="0"/>
              <a:t>bt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3903342" y="1390804"/>
            <a:ext cx="4965236" cy="83099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en-US" dirty="0">
                <a:solidFill>
                  <a:srgbClr val="0070C0"/>
                </a:solidFill>
              </a:rPr>
              <a:t>[Customer Notice]</a:t>
            </a:r>
          </a:p>
          <a:p>
            <a:r>
              <a:rPr lang="en-US" dirty="0"/>
              <a:t>Thread-info supported after </a:t>
            </a:r>
            <a:r>
              <a:rPr lang="en-US" dirty="0" smtClean="0"/>
              <a:t>RG-2018.9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If the version before RG-2018.9 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smtClean="0">
                <a:solidFill>
                  <a:schemeClr val="tx1"/>
                </a:solidFill>
              </a:rPr>
              <a:t>do the below flow.[N1]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GDB Dump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314450"/>
            <a:ext cx="8229600" cy="4841876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 descr="image2018-5-22 16-18-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653"/>
            <a:ext cx="9144000" cy="66846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690630"/>
          </a:xfrm>
        </p:spPr>
        <p:txBody>
          <a:bodyPr/>
          <a:lstStyle/>
          <a:p>
            <a:r>
              <a:rPr lang="en-US" b="0" dirty="0"/>
              <a:t>Debug Dump </a:t>
            </a:r>
            <a:r>
              <a:rPr lang="en-US" b="0" dirty="0" smtClean="0"/>
              <a:t>type</a:t>
            </a:r>
            <a:endParaRPr 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99802893"/>
              </p:ext>
            </p:extLst>
          </p:nvPr>
        </p:nvGraphicFramePr>
        <p:xfrm>
          <a:off x="457200" y="1058865"/>
          <a:ext cx="8229600" cy="4857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751"/>
                <a:gridCol w="1706137"/>
                <a:gridCol w="1683834"/>
                <a:gridCol w="1706137"/>
                <a:gridCol w="1750741"/>
              </a:tblGrid>
              <a:tr h="498331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Dump type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Hifi3  in Exception  (EE)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Kernel API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 reboot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HW reboot</a:t>
                      </a:r>
                      <a:endParaRPr lang="en-US" sz="1400" dirty="0"/>
                    </a:p>
                  </a:txBody>
                  <a:tcPr/>
                </a:tc>
              </a:tr>
              <a:tr h="507913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CFG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</a:tr>
              <a:tr h="507913">
                <a:tc>
                  <a:txBody>
                    <a:bodyPr/>
                    <a:lstStyle/>
                    <a:p>
                      <a:r>
                        <a:rPr lang="en-US" dirty="0" smtClean="0"/>
                        <a:t>I/D TCM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507913">
                <a:tc>
                  <a:txBody>
                    <a:bodyPr/>
                    <a:lstStyle/>
                    <a:p>
                      <a:r>
                        <a:rPr lang="en-US" dirty="0" smtClean="0"/>
                        <a:t>Core</a:t>
                      </a:r>
                      <a:r>
                        <a:rPr lang="en-US" baseline="0" dirty="0" smtClean="0"/>
                        <a:t>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</a:tr>
              <a:tr h="507913">
                <a:tc>
                  <a:txBody>
                    <a:bodyPr/>
                    <a:lstStyle/>
                    <a:p>
                      <a:r>
                        <a:rPr lang="en-US" dirty="0" smtClean="0"/>
                        <a:t>Dram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</a:tr>
              <a:tr h="507913">
                <a:tc>
                  <a:txBody>
                    <a:bodyPr/>
                    <a:lstStyle/>
                    <a:p>
                      <a:r>
                        <a:rPr lang="en-US" dirty="0" smtClean="0"/>
                        <a:t>Debug Tool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Xt-gdb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Xt-gdb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CFG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</a:t>
                      </a:r>
                      <a:endParaRPr lang="en-US" sz="1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ITCM</a:t>
                      </a:r>
                    </a:p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DTCM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ITCM</a:t>
                      </a:r>
                    </a:p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DTCM</a:t>
                      </a:r>
                      <a:endParaRPr lang="en-US" dirty="0"/>
                    </a:p>
                  </a:txBody>
                  <a:tcPr/>
                </a:tc>
              </a:tr>
              <a:tr h="507913">
                <a:tc>
                  <a:txBody>
                    <a:bodyPr/>
                    <a:lstStyle/>
                    <a:p>
                      <a:r>
                        <a:rPr lang="en-US" dirty="0" smtClean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Legacy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Legacy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From</a:t>
                      </a:r>
                      <a:r>
                        <a:rPr lang="en-US" baseline="0" dirty="0" smtClean="0"/>
                        <a:t> p0.mp3.p60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From p0.mp3.p74</a:t>
                      </a:r>
                      <a:endParaRPr lang="en-US" dirty="0"/>
                    </a:p>
                  </a:txBody>
                  <a:tcPr/>
                </a:tc>
              </a:tr>
              <a:tr h="50791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FileName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SYS_ADSP_DUMP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SYS_ADSP_DUMP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effectLst/>
                        </a:rPr>
                        <a:t>SYS_EXTRA_ADSP_RAW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SYS_ADSP_COREDUMP</a:t>
                      </a:r>
                      <a:endParaRPr lang="en-US" sz="1600" dirty="0">
                        <a:effectLst/>
                      </a:endParaRPr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576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Debug method</a:t>
            </a:r>
            <a:endParaRPr 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457200" y="1048215"/>
            <a:ext cx="8229600" cy="5595581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 err="1" smtClean="0"/>
              <a:t>Xt-gdb</a:t>
            </a:r>
            <a:r>
              <a:rPr lang="en-US" sz="2400" b="1" dirty="0" smtClean="0"/>
              <a:t>: (with </a:t>
            </a:r>
            <a:r>
              <a:rPr lang="en-US" sz="2400" b="1" dirty="0" err="1" smtClean="0"/>
              <a:t>split_coredump</a:t>
            </a:r>
            <a:r>
              <a:rPr lang="en-US" sz="2400" b="1" dirty="0" smtClean="0"/>
              <a:t>)</a:t>
            </a:r>
          </a:p>
          <a:p>
            <a:pPr lvl="1"/>
            <a:r>
              <a:rPr lang="en-US" sz="2000" dirty="0" err="1" smtClean="0"/>
              <a:t>Backtrace</a:t>
            </a:r>
            <a:r>
              <a:rPr lang="en-US" sz="2000" dirty="0" smtClean="0"/>
              <a:t>(if no core register dump, useless), </a:t>
            </a:r>
            <a:r>
              <a:rPr lang="en-US" sz="2000" dirty="0"/>
              <a:t>View all data , </a:t>
            </a:r>
            <a:r>
              <a:rPr lang="en-US" sz="2000" dirty="0" err="1"/>
              <a:t>adsp</a:t>
            </a:r>
            <a:r>
              <a:rPr lang="en-US" sz="2000" dirty="0"/>
              <a:t> </a:t>
            </a:r>
            <a:r>
              <a:rPr lang="en-US" sz="2000" dirty="0" smtClean="0"/>
              <a:t>log</a:t>
            </a:r>
          </a:p>
          <a:p>
            <a:r>
              <a:rPr lang="en-US" sz="2400" b="1" dirty="0"/>
              <a:t>Check CFG </a:t>
            </a:r>
            <a:r>
              <a:rPr lang="en-US" sz="2400" b="1" dirty="0" err="1" smtClean="0"/>
              <a:t>reg</a:t>
            </a:r>
            <a:endParaRPr lang="en-US" sz="2400" b="1" dirty="0" smtClean="0"/>
          </a:p>
          <a:p>
            <a:pPr lvl="1"/>
            <a:r>
              <a:rPr lang="en-US" sz="2000" dirty="0" smtClean="0"/>
              <a:t>PC &amp; SP &amp; IRQ &amp; </a:t>
            </a:r>
            <a:r>
              <a:rPr lang="en-US" sz="2000" dirty="0"/>
              <a:t>Internal CLK </a:t>
            </a:r>
            <a:r>
              <a:rPr lang="en-US" sz="2000" dirty="0" smtClean="0"/>
              <a:t>CG &amp; exception </a:t>
            </a:r>
            <a:r>
              <a:rPr lang="en-US" sz="2000" dirty="0" err="1"/>
              <a:t>addr</a:t>
            </a:r>
            <a:r>
              <a:rPr lang="en-US" sz="2000" dirty="0"/>
              <a:t> &amp; </a:t>
            </a:r>
            <a:r>
              <a:rPr lang="en-US" sz="2000" dirty="0" smtClean="0"/>
              <a:t>cause &amp; </a:t>
            </a:r>
            <a:r>
              <a:rPr lang="en-US" sz="2000" dirty="0"/>
              <a:t>BUS monitor info</a:t>
            </a:r>
            <a:r>
              <a:rPr lang="en-US" sz="2000" dirty="0" smtClean="0"/>
              <a:t>.</a:t>
            </a:r>
          </a:p>
          <a:p>
            <a:r>
              <a:rPr lang="en-US" sz="2400" b="1" dirty="0"/>
              <a:t>Check </a:t>
            </a:r>
            <a:r>
              <a:rPr lang="en-US" sz="2400" b="1" dirty="0" smtClean="0"/>
              <a:t>ITCM</a:t>
            </a:r>
          </a:p>
          <a:p>
            <a:pPr lvl="1"/>
            <a:r>
              <a:rPr lang="en-US" sz="2000" dirty="0" smtClean="0"/>
              <a:t>Check the instruction memory whether occur memory corruption? </a:t>
            </a:r>
          </a:p>
          <a:p>
            <a:r>
              <a:rPr lang="en-US" sz="2400" b="1" dirty="0"/>
              <a:t>Check </a:t>
            </a:r>
            <a:r>
              <a:rPr lang="en-US" sz="2400" b="1" dirty="0" smtClean="0"/>
              <a:t>DTCM</a:t>
            </a:r>
          </a:p>
          <a:p>
            <a:pPr lvl="1"/>
            <a:r>
              <a:rPr lang="en-US" sz="2000" dirty="0" smtClean="0"/>
              <a:t>ADSP_A_OSTIMER_BUFFER (</a:t>
            </a:r>
            <a:r>
              <a:rPr lang="en-US" sz="2000" dirty="0"/>
              <a:t>ADSP_A_DTCM_SHARE_BASE - 0x0040)     </a:t>
            </a:r>
            <a:endParaRPr lang="en-US" sz="2000" dirty="0" smtClean="0"/>
          </a:p>
          <a:p>
            <a:pPr lvl="2"/>
            <a:r>
              <a:rPr lang="en-US" sz="1600" dirty="0" smtClean="0"/>
              <a:t>Check current </a:t>
            </a:r>
            <a:r>
              <a:rPr lang="en-US" sz="1600" dirty="0" err="1" smtClean="0"/>
              <a:t>Ostimer</a:t>
            </a:r>
            <a:r>
              <a:rPr lang="en-US" sz="1600" dirty="0" smtClean="0"/>
              <a:t> time</a:t>
            </a:r>
            <a:endParaRPr lang="en-US" sz="1600" dirty="0"/>
          </a:p>
          <a:p>
            <a:pPr lvl="1"/>
            <a:r>
              <a:rPr lang="en-US" sz="2000" dirty="0"/>
              <a:t>ADSP_A_IPC_BUFFER       </a:t>
            </a:r>
            <a:r>
              <a:rPr lang="en-US" sz="2000" dirty="0" smtClean="0"/>
              <a:t>     </a:t>
            </a:r>
            <a:r>
              <a:rPr lang="en-US" sz="2000" dirty="0"/>
              <a:t>(ADSP_A_DTCM_SHARE_BASE - 0x0280</a:t>
            </a:r>
            <a:r>
              <a:rPr lang="en-US" sz="2000" dirty="0" smtClean="0"/>
              <a:t>)</a:t>
            </a:r>
          </a:p>
          <a:p>
            <a:pPr lvl="2"/>
            <a:r>
              <a:rPr lang="en-US" sz="1600" dirty="0" smtClean="0"/>
              <a:t>Check </a:t>
            </a:r>
            <a:r>
              <a:rPr lang="en-US" sz="1600" dirty="0" err="1" smtClean="0"/>
              <a:t>ipi</a:t>
            </a:r>
            <a:r>
              <a:rPr lang="en-US" sz="1600" dirty="0" smtClean="0"/>
              <a:t> last send/</a:t>
            </a:r>
            <a:r>
              <a:rPr lang="en-US" sz="1600" dirty="0" err="1" smtClean="0"/>
              <a:t>recv</a:t>
            </a:r>
            <a:r>
              <a:rPr lang="en-US" sz="1600" dirty="0" smtClean="0"/>
              <a:t> to share buffer</a:t>
            </a:r>
            <a:endParaRPr lang="en-US" sz="1600" dirty="0"/>
          </a:p>
          <a:p>
            <a:pPr lvl="1"/>
            <a:r>
              <a:rPr lang="en-US" sz="2000" dirty="0"/>
              <a:t>ADSP_A_SYS_STATUS     </a:t>
            </a:r>
            <a:r>
              <a:rPr lang="en-US" sz="2000" dirty="0" smtClean="0"/>
              <a:t>    </a:t>
            </a:r>
            <a:r>
              <a:rPr lang="en-US" sz="2000" dirty="0"/>
              <a:t>   (ADSP_A_DTCM_SHARE_BASE - 0x0688</a:t>
            </a:r>
            <a:r>
              <a:rPr lang="en-US" sz="2000" dirty="0" smtClean="0"/>
              <a:t>)</a:t>
            </a:r>
          </a:p>
          <a:p>
            <a:pPr lvl="2"/>
            <a:r>
              <a:rPr lang="en-US" sz="1600" dirty="0" smtClean="0"/>
              <a:t>Check </a:t>
            </a:r>
            <a:r>
              <a:rPr lang="en-US" sz="1600" dirty="0" err="1" smtClean="0"/>
              <a:t>hifi</a:t>
            </a:r>
            <a:r>
              <a:rPr lang="en-US" sz="1600" dirty="0" smtClean="0"/>
              <a:t> status (reset, sleep, suspend, active) </a:t>
            </a:r>
            <a:r>
              <a:rPr lang="en-US" sz="1600" dirty="0" smtClean="0">
                <a:solidFill>
                  <a:srgbClr val="FF0000"/>
                </a:solidFill>
              </a:rPr>
              <a:t>USEFUL!</a:t>
            </a:r>
          </a:p>
          <a:p>
            <a:pPr lvl="1"/>
            <a:r>
              <a:rPr lang="en-US" sz="2000" dirty="0"/>
              <a:t>ADSP_BUS_MON_BACKUP_BASE (ADSP_A_DTCM_SHARE_BASE - 0x0744</a:t>
            </a:r>
            <a:r>
              <a:rPr lang="en-US" sz="2000" dirty="0" smtClean="0"/>
              <a:t>)</a:t>
            </a:r>
          </a:p>
          <a:p>
            <a:pPr lvl="2"/>
            <a:r>
              <a:rPr lang="en-US" sz="1600" dirty="0" smtClean="0"/>
              <a:t>Check whether occur bus hang &amp; latched R/W </a:t>
            </a:r>
            <a:r>
              <a:rPr lang="en-US" sz="1600" dirty="0" err="1" smtClean="0"/>
              <a:t>addr</a:t>
            </a:r>
            <a:endParaRPr lang="en-US" sz="1600" dirty="0" smtClean="0"/>
          </a:p>
          <a:p>
            <a:pPr lvl="1"/>
            <a:r>
              <a:rPr lang="en-US" sz="2000" dirty="0"/>
              <a:t>ADSP_INFRA_BUS_DUMP_BASE </a:t>
            </a:r>
            <a:r>
              <a:rPr lang="en-US" sz="2000" dirty="0" smtClean="0"/>
              <a:t>(</a:t>
            </a:r>
            <a:r>
              <a:rPr lang="en-US" sz="2000" dirty="0"/>
              <a:t>ADSP_A_DTCM_SHARE_BASE - 0x07E4</a:t>
            </a:r>
            <a:r>
              <a:rPr lang="en-US" sz="2000" dirty="0" smtClean="0"/>
              <a:t>)</a:t>
            </a:r>
          </a:p>
          <a:p>
            <a:pPr lvl="2"/>
            <a:r>
              <a:rPr lang="en-US" sz="1600" dirty="0" smtClean="0"/>
              <a:t>Check whether occur infra bus hang</a:t>
            </a:r>
            <a:r>
              <a:rPr lang="en-US" sz="1600" dirty="0"/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12800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smtClean="0"/>
              <a:t>Debug </a:t>
            </a:r>
            <a:r>
              <a:rPr lang="en-US" b="0" dirty="0"/>
              <a:t>Command</a:t>
            </a:r>
            <a:br>
              <a:rPr lang="en-US" b="0" dirty="0"/>
            </a:br>
            <a:endParaRPr 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457200" y="1048215"/>
            <a:ext cx="8229600" cy="5108111"/>
          </a:xfrm>
        </p:spPr>
        <p:txBody>
          <a:bodyPr>
            <a:normAutofit/>
          </a:bodyPr>
          <a:lstStyle/>
          <a:p>
            <a:r>
              <a:rPr lang="en-US" sz="2400" dirty="0"/>
              <a:t>These command can help you to dump some </a:t>
            </a:r>
            <a:r>
              <a:rPr lang="en-US" sz="2400" dirty="0" err="1"/>
              <a:t>adsp</a:t>
            </a:r>
            <a:r>
              <a:rPr lang="en-US" sz="2400" dirty="0"/>
              <a:t> system message or do some </a:t>
            </a:r>
            <a:r>
              <a:rPr lang="en-US" sz="2400" dirty="0" smtClean="0"/>
              <a:t>profiling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Before use debug command, you need to check the </a:t>
            </a:r>
            <a:r>
              <a:rPr lang="en-US" sz="2400" b="1" dirty="0">
                <a:solidFill>
                  <a:srgbClr val="FF0000"/>
                </a:solidFill>
              </a:rPr>
              <a:t>"CFG_DEBUG_COMMAND_SUPPORT = yes</a:t>
            </a:r>
            <a:r>
              <a:rPr lang="en-US" sz="2400" b="1" dirty="0"/>
              <a:t>"</a:t>
            </a:r>
            <a:r>
              <a:rPr lang="en-US" sz="2400" dirty="0"/>
              <a:t> in </a:t>
            </a:r>
            <a:r>
              <a:rPr lang="en-US" sz="2400" dirty="0" err="1"/>
              <a:t>adsp</a:t>
            </a:r>
            <a:r>
              <a:rPr lang="en-US" sz="2400" dirty="0"/>
              <a:t> </a:t>
            </a:r>
            <a:r>
              <a:rPr lang="en-US" sz="2400" dirty="0" smtClean="0"/>
              <a:t>platform.mk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Write the command to </a:t>
            </a:r>
            <a:r>
              <a:rPr lang="en-US" sz="2400" dirty="0" err="1"/>
              <a:t>adsp</a:t>
            </a:r>
            <a:r>
              <a:rPr lang="en-US" sz="2400" dirty="0"/>
              <a:t> </a:t>
            </a:r>
            <a:endParaRPr lang="en-US" dirty="0" smtClean="0"/>
          </a:p>
          <a:p>
            <a:pPr marL="857250" lvl="1" indent="-457200"/>
            <a:r>
              <a:rPr lang="en-US" sz="1800" b="1" dirty="0" err="1" smtClean="0"/>
              <a:t>adb</a:t>
            </a:r>
            <a:r>
              <a:rPr lang="en-US" sz="1800" b="1" dirty="0" smtClean="0"/>
              <a:t> </a:t>
            </a:r>
            <a:r>
              <a:rPr lang="en-US" sz="1800" b="1" dirty="0"/>
              <a:t>shell "echo </a:t>
            </a:r>
            <a:r>
              <a:rPr lang="en-US" sz="1800" b="1" dirty="0">
                <a:solidFill>
                  <a:srgbClr val="FF0000"/>
                </a:solidFill>
              </a:rPr>
              <a:t>%command%</a:t>
            </a:r>
            <a:r>
              <a:rPr lang="en-US" sz="1800" b="1" dirty="0"/>
              <a:t> </a:t>
            </a:r>
            <a:r>
              <a:rPr lang="en-US" sz="1800" b="1" dirty="0">
                <a:solidFill>
                  <a:srgbClr val="0070C0"/>
                </a:solidFill>
              </a:rPr>
              <a:t>%variable%</a:t>
            </a:r>
            <a:r>
              <a:rPr lang="en-US" sz="1800" b="1" dirty="0"/>
              <a:t> &gt; sys/kernel/debug/</a:t>
            </a:r>
            <a:r>
              <a:rPr lang="en-US" sz="1800" b="1" dirty="0" err="1"/>
              <a:t>audiodsp</a:t>
            </a:r>
            <a:r>
              <a:rPr lang="en-US" sz="1800" b="1" dirty="0" smtClean="0"/>
              <a:t>“</a:t>
            </a:r>
          </a:p>
          <a:p>
            <a:pPr marL="857250" lvl="1" indent="-457200"/>
            <a:r>
              <a:rPr lang="en-US" sz="1800" b="1" dirty="0" smtClean="0"/>
              <a:t>Ex:</a:t>
            </a:r>
          </a:p>
          <a:p>
            <a:pPr marL="400050" lvl="1" indent="0">
              <a:buNone/>
            </a:pPr>
            <a:r>
              <a:rPr lang="en-US" sz="1800" b="1" dirty="0" smtClean="0"/>
              <a:t>        </a:t>
            </a:r>
            <a:r>
              <a:rPr lang="en-US" sz="1800" b="1" dirty="0" err="1" smtClean="0"/>
              <a:t>adb</a:t>
            </a:r>
            <a:r>
              <a:rPr lang="en-US" sz="1800" b="1" dirty="0" smtClean="0"/>
              <a:t> </a:t>
            </a:r>
            <a:r>
              <a:rPr lang="en-US" sz="1800" b="1" dirty="0"/>
              <a:t>shell "echo </a:t>
            </a:r>
            <a:r>
              <a:rPr lang="en-US" sz="1800" b="1" dirty="0" err="1" smtClean="0">
                <a:solidFill>
                  <a:srgbClr val="FF0000"/>
                </a:solidFill>
              </a:rPr>
              <a:t>cmds</a:t>
            </a:r>
            <a:r>
              <a:rPr lang="en-US" sz="1800" b="1" dirty="0"/>
              <a:t> &gt; sys/kernel/debug/</a:t>
            </a:r>
            <a:r>
              <a:rPr lang="en-US" sz="1800" b="1" dirty="0" err="1"/>
              <a:t>audiodsp</a:t>
            </a:r>
            <a:r>
              <a:rPr lang="en-US" sz="1800" b="1" dirty="0" smtClean="0"/>
              <a:t>“</a:t>
            </a:r>
          </a:p>
          <a:p>
            <a:pPr marL="457200" indent="-457200">
              <a:buFont typeface="+mj-lt"/>
              <a:buAutoNum type="arabicPeriod"/>
            </a:pPr>
            <a:endParaRPr lang="en-US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Read the result in the memory and show it on user </a:t>
            </a:r>
            <a:r>
              <a:rPr lang="en-US" sz="2400" dirty="0" smtClean="0"/>
              <a:t>space </a:t>
            </a:r>
          </a:p>
          <a:p>
            <a:pPr marL="857250" lvl="1" indent="-457200"/>
            <a:r>
              <a:rPr lang="en-US" sz="1800" b="1" dirty="0" err="1" smtClean="0"/>
              <a:t>adb</a:t>
            </a:r>
            <a:r>
              <a:rPr lang="en-US" sz="1800" b="1" dirty="0" smtClean="0"/>
              <a:t> </a:t>
            </a:r>
            <a:r>
              <a:rPr lang="en-US" sz="1800" b="1" dirty="0"/>
              <a:t>shell "cat sys/kernel/debug/</a:t>
            </a:r>
            <a:r>
              <a:rPr lang="en-US" sz="1800" b="1" dirty="0" err="1"/>
              <a:t>audiodsp</a:t>
            </a:r>
            <a:r>
              <a:rPr lang="en-US" sz="1800" b="1" dirty="0"/>
              <a:t>”</a:t>
            </a:r>
            <a:endParaRPr lang="en-US" sz="1800" dirty="0"/>
          </a:p>
          <a:p>
            <a:pPr marL="857250" lvl="1" indent="-457200">
              <a:buFont typeface="+mj-lt"/>
              <a:buAutoNum type="arabicPeriod"/>
            </a:pPr>
            <a:endParaRPr lang="en-US" sz="1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154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52888781"/>
              </p:ext>
            </p:extLst>
          </p:nvPr>
        </p:nvGraphicFramePr>
        <p:xfrm>
          <a:off x="0" y="11145"/>
          <a:ext cx="9144000" cy="6846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719"/>
                <a:gridCol w="1647025"/>
                <a:gridCol w="1202561"/>
                <a:gridCol w="4257272"/>
                <a:gridCol w="995423"/>
              </a:tblGrid>
              <a:tr h="71854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%command%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0070C0"/>
                          </a:solidFill>
                        </a:rPr>
                        <a:t>%variable%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Help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Result in memory</a:t>
                      </a:r>
                      <a:endParaRPr lang="en-US" sz="1600" dirty="0"/>
                    </a:p>
                  </a:txBody>
                  <a:tcPr/>
                </a:tc>
              </a:tr>
              <a:tr h="1134550">
                <a:tc>
                  <a:txBody>
                    <a:bodyPr/>
                    <a:lstStyle/>
                    <a:p>
                      <a:r>
                        <a:rPr lang="en-US" dirty="0" smtClean="0"/>
                        <a:t>help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cmds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show the support commands (some of command isn't support with compile option)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113455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dvfs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dvfs_dump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 the system feature/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swip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mcps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information show the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dvfs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vore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ddr_rate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freq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information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978044">
                <a:tc>
                  <a:txBody>
                    <a:bodyPr/>
                    <a:lstStyle/>
                    <a:p>
                      <a:r>
                        <a:rPr lang="en-US" dirty="0" smtClean="0"/>
                        <a:t>Task</a:t>
                      </a:r>
                    </a:p>
                    <a:p>
                      <a:r>
                        <a:rPr lang="en-US" dirty="0" smtClean="0"/>
                        <a:t>monitor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task_monitor_start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[option]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time_ms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start or re-start task monitor with </a:t>
                      </a:r>
                      <a:r>
                        <a:rPr lang="en-US" dirty="0" err="1">
                          <a:effectLst/>
                        </a:rPr>
                        <a:t>time_ms</a:t>
                      </a:r>
                      <a:r>
                        <a:rPr lang="en-US" dirty="0">
                          <a:effectLst/>
                        </a:rPr>
                        <a:t>, it can change the task monitor period (&gt;=50ms)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</a:tr>
              <a:tr h="7941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task_monitor_stop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 task monitor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</a:tr>
              <a:tr h="7941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task_monitor_dump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 the task monitor result in user space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</a:tr>
              <a:tr h="654627">
                <a:tc>
                  <a:txBody>
                    <a:bodyPr/>
                    <a:lstStyle/>
                    <a:p>
                      <a:r>
                        <a:rPr lang="en-US" dirty="0" smtClean="0"/>
                        <a:t>Trace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trace_start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 trace the event when task context switch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</a:tr>
              <a:tr h="63816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trace_stop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 trace function and show the result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64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768150"/>
          </a:xfrm>
        </p:spPr>
        <p:txBody>
          <a:bodyPr/>
          <a:lstStyle/>
          <a:p>
            <a:r>
              <a:rPr lang="en-US" dirty="0" smtClean="0"/>
              <a:t>System </a:t>
            </a:r>
            <a:r>
              <a:rPr lang="en-US" dirty="0" err="1" smtClean="0"/>
              <a:t>img</a:t>
            </a:r>
            <a:r>
              <a:rPr lang="en-US" dirty="0" smtClean="0"/>
              <a:t> debug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329604" y="1200151"/>
            <a:ext cx="8686800" cy="4956176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Get HiFi3 Assembly Code From Object File</a:t>
            </a:r>
          </a:p>
          <a:p>
            <a:pPr lvl="1"/>
            <a:r>
              <a:rPr lang="en-US" sz="2000" dirty="0" smtClean="0"/>
              <a:t>Use the "xt-objdump.exe" tool.</a:t>
            </a:r>
          </a:p>
          <a:p>
            <a:pPr lvl="1"/>
            <a:r>
              <a:rPr lang="en-US" sz="2000" dirty="0" smtClean="0"/>
              <a:t>Tool path: D:\usr\xtensa\XtDevTools\install\tools\RG-2017.6-win32\XtensaTools\bin</a:t>
            </a:r>
          </a:p>
          <a:p>
            <a:r>
              <a:rPr lang="en-US" sz="2000" dirty="0" smtClean="0"/>
              <a:t>Command </a:t>
            </a:r>
            <a:r>
              <a:rPr lang="en-US" sz="1600" dirty="0" smtClean="0"/>
              <a:t>: (you can try other flag to gain more info from </a:t>
            </a:r>
            <a:r>
              <a:rPr lang="en-US" sz="1600" dirty="0" err="1" smtClean="0"/>
              <a:t>obj</a:t>
            </a:r>
            <a:r>
              <a:rPr lang="en-US" sz="1600" dirty="0" smtClean="0"/>
              <a:t> file, </a:t>
            </a:r>
            <a:r>
              <a:rPr lang="en-US" sz="1600" b="1" dirty="0" err="1" smtClean="0"/>
              <a:t>xt-objdump</a:t>
            </a:r>
            <a:r>
              <a:rPr lang="en-US" sz="1600" b="1" dirty="0" smtClean="0"/>
              <a:t> --help </a:t>
            </a:r>
            <a:r>
              <a:rPr lang="en-US" sz="1600" dirty="0" smtClean="0"/>
              <a:t>)</a:t>
            </a:r>
            <a:endParaRPr lang="en-US" sz="2000" dirty="0" smtClean="0"/>
          </a:p>
          <a:p>
            <a:pPr lvl="1"/>
            <a:r>
              <a:rPr lang="en-US" sz="1600" dirty="0" smtClean="0"/>
              <a:t>xt-objdump.exe --</a:t>
            </a:r>
            <a:r>
              <a:rPr lang="en-US" sz="1600" dirty="0" err="1" smtClean="0"/>
              <a:t>xtensa</a:t>
            </a:r>
            <a:r>
              <a:rPr lang="en-US" sz="1600" dirty="0" smtClean="0"/>
              <a:t>-core=</a:t>
            </a:r>
            <a:r>
              <a:rPr lang="en-US" sz="1600" b="1" dirty="0" smtClean="0"/>
              <a:t>hifi3_xxx</a:t>
            </a:r>
            <a:r>
              <a:rPr lang="en-US" sz="1600" dirty="0" smtClean="0"/>
              <a:t> </a:t>
            </a:r>
            <a:r>
              <a:rPr lang="en-US" sz="1600" dirty="0" smtClean="0">
                <a:solidFill>
                  <a:srgbClr val="FF0000"/>
                </a:solidFill>
              </a:rPr>
              <a:t>-d</a:t>
            </a:r>
            <a:r>
              <a:rPr lang="en-US" sz="1600" dirty="0" smtClean="0"/>
              <a:t> </a:t>
            </a:r>
            <a:r>
              <a:rPr lang="en-US" sz="1600" b="1" dirty="0" smtClean="0"/>
              <a:t>"object file name"</a:t>
            </a:r>
            <a:r>
              <a:rPr lang="en-US" sz="1600" dirty="0" smtClean="0"/>
              <a:t> &gt; </a:t>
            </a:r>
            <a:r>
              <a:rPr lang="en-US" sz="1600" b="1" dirty="0" smtClean="0"/>
              <a:t>"assembly code file name"</a:t>
            </a:r>
            <a:endParaRPr lang="en-US" sz="1600" dirty="0" smtClean="0"/>
          </a:p>
          <a:p>
            <a:pPr lvl="1"/>
            <a:r>
              <a:rPr lang="en-US" sz="1600" dirty="0" smtClean="0"/>
              <a:t>example: xt-objdump.exe --</a:t>
            </a:r>
            <a:r>
              <a:rPr lang="en-US" sz="1600" dirty="0" err="1" smtClean="0"/>
              <a:t>xtensa</a:t>
            </a:r>
            <a:r>
              <a:rPr lang="en-US" sz="1600" dirty="0" smtClean="0"/>
              <a:t>-core=hifi3 -d bqriirf_df1_hifi3.o &gt; bqriirf_df1_hifi3_asm.txt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grpSp>
        <p:nvGrpSpPr>
          <p:cNvPr id="10" name="Group 9"/>
          <p:cNvGrpSpPr/>
          <p:nvPr/>
        </p:nvGrpSpPr>
        <p:grpSpPr>
          <a:xfrm>
            <a:off x="2275367" y="3721397"/>
            <a:ext cx="6741036" cy="2954298"/>
            <a:chOff x="2275367" y="3721397"/>
            <a:chExt cx="6741036" cy="2954298"/>
          </a:xfrm>
        </p:grpSpPr>
        <p:pic>
          <p:nvPicPr>
            <p:cNvPr id="8294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27006" y="3831725"/>
              <a:ext cx="6259794" cy="28120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Rectangle 8"/>
            <p:cNvSpPr/>
            <p:nvPr/>
          </p:nvSpPr>
          <p:spPr>
            <a:xfrm>
              <a:off x="2275367" y="3721397"/>
              <a:ext cx="6741036" cy="2954298"/>
            </a:xfrm>
            <a:prstGeom prst="rect">
              <a:avLst/>
            </a:prstGeom>
            <a:noFill/>
            <a:ln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2000"/>
            <a:ext cx="8229600" cy="768150"/>
          </a:xfrm>
        </p:spPr>
        <p:txBody>
          <a:bodyPr/>
          <a:lstStyle/>
          <a:p>
            <a:r>
              <a:rPr lang="en-US" dirty="0" smtClean="0"/>
              <a:t>Audio Related</a:t>
            </a:r>
            <a:r>
              <a:rPr lang="zh-TW" altLang="en-US" dirty="0" smtClean="0"/>
              <a:t> </a:t>
            </a:r>
            <a:r>
              <a:rPr lang="en-US" altLang="zh-TW" dirty="0" smtClean="0"/>
              <a:t>Debug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00151"/>
            <a:ext cx="8229600" cy="4956176"/>
          </a:xfrm>
        </p:spPr>
        <p:txBody>
          <a:bodyPr>
            <a:normAutofit fontScale="62500" lnSpcReduction="20000"/>
          </a:bodyPr>
          <a:lstStyle/>
          <a:p>
            <a:r>
              <a:rPr lang="en-US" sz="4500" b="1" dirty="0" smtClean="0"/>
              <a:t>Audio</a:t>
            </a:r>
            <a:r>
              <a:rPr lang="zh-TW" altLang="en-US" sz="4500" b="1" dirty="0" smtClean="0"/>
              <a:t> </a:t>
            </a:r>
            <a:r>
              <a:rPr lang="en-US" altLang="zh-TW" sz="4500" b="1" dirty="0" smtClean="0"/>
              <a:t>PCM</a:t>
            </a:r>
            <a:r>
              <a:rPr lang="zh-TW" altLang="en-US" sz="4500" b="1" dirty="0" smtClean="0"/>
              <a:t> </a:t>
            </a:r>
            <a:r>
              <a:rPr lang="en-US" altLang="zh-TW" sz="4500" b="1" dirty="0" smtClean="0"/>
              <a:t>DUMP</a:t>
            </a:r>
            <a:endParaRPr lang="en-US" sz="4500" b="1" dirty="0" smtClean="0"/>
          </a:p>
          <a:p>
            <a:pPr lvl="1"/>
            <a:r>
              <a:rPr lang="en-US" sz="3200" dirty="0" smtClean="0"/>
              <a:t>Enable/Disable method</a:t>
            </a:r>
          </a:p>
          <a:p>
            <a:pPr lvl="2"/>
            <a:r>
              <a:rPr lang="en-US" sz="2600" dirty="0" err="1" smtClean="0"/>
              <a:t>adb</a:t>
            </a:r>
            <a:r>
              <a:rPr lang="en-US" sz="2600" dirty="0" smtClean="0"/>
              <a:t> shell </a:t>
            </a:r>
            <a:r>
              <a:rPr lang="en-US" sz="2600" dirty="0" err="1" smtClean="0"/>
              <a:t>setprop</a:t>
            </a:r>
            <a:r>
              <a:rPr lang="en-US" sz="2600" dirty="0" smtClean="0"/>
              <a:t> </a:t>
            </a:r>
            <a:r>
              <a:rPr lang="en-US" sz="2600" dirty="0" err="1" smtClean="0"/>
              <a:t>vendor.streamout.dsp.dump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rgbClr val="FF0000"/>
                </a:solidFill>
              </a:rPr>
              <a:t>1</a:t>
            </a:r>
          </a:p>
          <a:p>
            <a:pPr lvl="2"/>
            <a:r>
              <a:rPr lang="en-US" sz="2600" dirty="0" err="1" smtClean="0"/>
              <a:t>adb</a:t>
            </a:r>
            <a:r>
              <a:rPr lang="en-US" sz="2600" dirty="0" smtClean="0"/>
              <a:t> shell </a:t>
            </a:r>
            <a:r>
              <a:rPr lang="en-US" sz="2600" dirty="0" err="1" smtClean="0"/>
              <a:t>setprop</a:t>
            </a:r>
            <a:r>
              <a:rPr lang="en-US" sz="2600" dirty="0" smtClean="0"/>
              <a:t> </a:t>
            </a:r>
            <a:r>
              <a:rPr lang="en-US" sz="2600" dirty="0" err="1" smtClean="0"/>
              <a:t>vendor.streamout.dsp.dump</a:t>
            </a:r>
            <a:r>
              <a:rPr lang="en-US" sz="2600" dirty="0" smtClean="0"/>
              <a:t> </a:t>
            </a:r>
            <a:r>
              <a:rPr lang="en-US" sz="2600" dirty="0" smtClean="0">
                <a:solidFill>
                  <a:srgbClr val="FF0000"/>
                </a:solidFill>
              </a:rPr>
              <a:t>0</a:t>
            </a:r>
          </a:p>
          <a:p>
            <a:pPr lvl="1"/>
            <a:r>
              <a:rPr lang="en-US" sz="3200" dirty="0" smtClean="0"/>
              <a:t>Use IPI + </a:t>
            </a:r>
            <a:r>
              <a:rPr lang="en-US" sz="3200" dirty="0" err="1" smtClean="0"/>
              <a:t>dma</a:t>
            </a:r>
            <a:r>
              <a:rPr lang="en-US" sz="3200" dirty="0" smtClean="0"/>
              <a:t> to transfer data back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Dump file position</a:t>
            </a:r>
          </a:p>
          <a:p>
            <a:pPr lvl="1"/>
            <a:r>
              <a:rPr lang="en-US" dirty="0" smtClean="0"/>
              <a:t>/ data/vendor/</a:t>
            </a:r>
            <a:r>
              <a:rPr lang="en-US" dirty="0" err="1" smtClean="0"/>
              <a:t>audiohal</a:t>
            </a:r>
            <a:r>
              <a:rPr lang="en-US" dirty="0" smtClean="0"/>
              <a:t>/</a:t>
            </a:r>
            <a:r>
              <a:rPr lang="en-US" dirty="0" err="1" smtClean="0"/>
              <a:t>audio_dump</a:t>
            </a:r>
            <a:r>
              <a:rPr lang="en-US" dirty="0" smtClean="0"/>
              <a:t>/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835359" y="2953042"/>
            <a:ext cx="6791325" cy="1962924"/>
            <a:chOff x="835359" y="3059372"/>
            <a:chExt cx="6791325" cy="1962924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35359" y="3059372"/>
              <a:ext cx="6791325" cy="1685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Box 5"/>
            <p:cNvSpPr txBox="1"/>
            <p:nvPr/>
          </p:nvSpPr>
          <p:spPr>
            <a:xfrm>
              <a:off x="3192670" y="4745297"/>
              <a:ext cx="16055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driver implement code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57300"/>
            <a:ext cx="8229600" cy="4899026"/>
          </a:xfrm>
        </p:spPr>
        <p:txBody>
          <a:bodyPr>
            <a:normAutofit fontScale="55000" lnSpcReduction="20000"/>
          </a:bodyPr>
          <a:lstStyle/>
          <a:p>
            <a:r>
              <a:rPr lang="en-US" sz="5100" b="1" dirty="0" smtClean="0"/>
              <a:t>HEAP :</a:t>
            </a:r>
          </a:p>
          <a:p>
            <a:pPr lvl="1"/>
            <a:r>
              <a:rPr lang="en-US" sz="2900" dirty="0" smtClean="0"/>
              <a:t>AUDIO_MALLOC(</a:t>
            </a:r>
            <a:r>
              <a:rPr lang="en-US" sz="2900" dirty="0" err="1" smtClean="0"/>
              <a:t>sz</a:t>
            </a:r>
            <a:r>
              <a:rPr lang="en-US" sz="2900" dirty="0" smtClean="0"/>
              <a:t>)</a:t>
            </a:r>
          </a:p>
          <a:p>
            <a:pPr lvl="1"/>
            <a:r>
              <a:rPr lang="en-US" sz="2900" b="1" dirty="0" smtClean="0"/>
              <a:t>AUDIO_CHECK(</a:t>
            </a:r>
            <a:r>
              <a:rPr lang="en-US" sz="2900" b="1" dirty="0" err="1" smtClean="0"/>
              <a:t>ptr</a:t>
            </a:r>
            <a:r>
              <a:rPr lang="en-US" sz="2900" b="1" dirty="0" smtClean="0"/>
              <a:t>)</a:t>
            </a:r>
          </a:p>
          <a:p>
            <a:pPr lvl="1"/>
            <a:r>
              <a:rPr lang="en-US" sz="2900" dirty="0" smtClean="0"/>
              <a:t>AUDIO_FREE(</a:t>
            </a:r>
            <a:r>
              <a:rPr lang="en-US" sz="2900" dirty="0" err="1" smtClean="0"/>
              <a:t>ptr</a:t>
            </a:r>
            <a:r>
              <a:rPr lang="en-US" sz="2900" dirty="0" smtClean="0"/>
              <a:t>)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sz="5100" b="1" dirty="0" smtClean="0"/>
              <a:t>LOCK :</a:t>
            </a:r>
          </a:p>
          <a:p>
            <a:pPr lvl="1"/>
            <a:r>
              <a:rPr lang="en-US" sz="3600" dirty="0" smtClean="0">
                <a:solidFill>
                  <a:srgbClr val="0070C0"/>
                </a:solidFill>
              </a:rPr>
              <a:t>MTK_AUDIO_LOCK_ENABLE_TRACE </a:t>
            </a:r>
            <a:r>
              <a:rPr lang="zh-TW" altLang="en-US" sz="3600" dirty="0" smtClean="0">
                <a:solidFill>
                  <a:srgbClr val="0070C0"/>
                </a:solidFill>
              </a:rPr>
              <a:t> </a:t>
            </a:r>
            <a:r>
              <a:rPr lang="en-US" altLang="zh-TW" sz="3600" dirty="0" smtClean="0">
                <a:solidFill>
                  <a:srgbClr val="0070C0"/>
                </a:solidFill>
              </a:rPr>
              <a:t>(Local </a:t>
            </a:r>
            <a:r>
              <a:rPr lang="en-US" altLang="zh-TW" sz="3600" dirty="0" err="1" smtClean="0">
                <a:solidFill>
                  <a:srgbClr val="0070C0"/>
                </a:solidFill>
              </a:rPr>
              <a:t>config</a:t>
            </a:r>
            <a:r>
              <a:rPr lang="en-US" altLang="zh-TW" sz="3600" dirty="0" smtClean="0">
                <a:solidFill>
                  <a:srgbClr val="0070C0"/>
                </a:solidFill>
              </a:rPr>
              <a:t>)</a:t>
            </a:r>
            <a:endParaRPr lang="en-US" sz="36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>
              <a:buNone/>
            </a:pPr>
            <a:r>
              <a:rPr lang="en-US" dirty="0" smtClean="0">
                <a:solidFill>
                  <a:srgbClr val="0070C0"/>
                </a:solidFill>
              </a:rPr>
              <a:t> </a:t>
            </a: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  <a:p>
            <a:pPr lvl="1"/>
            <a:endParaRPr lang="en-US" dirty="0" smtClean="0">
              <a:solidFill>
                <a:srgbClr val="0070C0"/>
              </a:solidFill>
            </a:endParaRP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952750" y="1609725"/>
            <a:ext cx="2128837" cy="292100"/>
          </a:xfrm>
          <a:prstGeom prst="straightConnector1">
            <a:avLst/>
          </a:prstGeom>
          <a:ln w="19050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952750" y="2054999"/>
            <a:ext cx="2128837" cy="192901"/>
          </a:xfrm>
          <a:prstGeom prst="straightConnector1">
            <a:avLst/>
          </a:prstGeom>
          <a:ln w="19050"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/>
          <p:cNvGrpSpPr/>
          <p:nvPr/>
        </p:nvGrpSpPr>
        <p:grpSpPr>
          <a:xfrm>
            <a:off x="5081587" y="1066800"/>
            <a:ext cx="1538568" cy="1458099"/>
            <a:chOff x="5081587" y="933450"/>
            <a:chExt cx="1538568" cy="1458099"/>
          </a:xfrm>
        </p:grpSpPr>
        <p:grpSp>
          <p:nvGrpSpPr>
            <p:cNvPr id="11" name="Group 10"/>
            <p:cNvGrpSpPr/>
            <p:nvPr/>
          </p:nvGrpSpPr>
          <p:grpSpPr>
            <a:xfrm>
              <a:off x="5081587" y="1035050"/>
              <a:ext cx="885825" cy="1333500"/>
              <a:chOff x="5715000" y="1447800"/>
              <a:chExt cx="885825" cy="133350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715000" y="1447800"/>
                <a:ext cx="885825" cy="13335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715000" y="1600200"/>
                <a:ext cx="885825" cy="2540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size</a:t>
                </a:r>
                <a:endParaRPr lang="en-US" dirty="0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5715000" y="1851025"/>
                <a:ext cx="885825" cy="25400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0x55</a:t>
                </a:r>
                <a:endParaRPr lang="en-US" dirty="0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715000" y="2527300"/>
                <a:ext cx="885825" cy="25400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0x66</a:t>
                </a:r>
                <a:endParaRPr lang="en-US" dirty="0"/>
              </a:p>
            </p:txBody>
          </p:sp>
        </p:grpSp>
        <p:sp>
          <p:nvSpPr>
            <p:cNvPr id="12" name="Rectangle 11"/>
            <p:cNvSpPr/>
            <p:nvPr/>
          </p:nvSpPr>
          <p:spPr>
            <a:xfrm>
              <a:off x="5081587" y="1692275"/>
              <a:ext cx="885825" cy="422275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081587" y="933450"/>
              <a:ext cx="885825" cy="254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 err="1" smtClean="0"/>
                <a:t>pxNextFreeBlock</a:t>
              </a:r>
              <a:endParaRPr lang="en-US" sz="8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67412" y="1415276"/>
              <a:ext cx="6527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 smtClean="0"/>
                <a:t>p_head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034087" y="2114550"/>
              <a:ext cx="5354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 smtClean="0"/>
                <a:t>p_tail</a:t>
              </a:r>
              <a:endParaRPr lang="en-US" dirty="0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214457" y="1825625"/>
            <a:ext cx="17242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Check head &amp; tail value 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180753" y="3529407"/>
            <a:ext cx="8963247" cy="2626919"/>
            <a:chOff x="180753" y="3369912"/>
            <a:chExt cx="8963247" cy="2626919"/>
          </a:xfrm>
        </p:grpSpPr>
        <p:sp>
          <p:nvSpPr>
            <p:cNvPr id="29" name="Rectangle 28"/>
            <p:cNvSpPr/>
            <p:nvPr/>
          </p:nvSpPr>
          <p:spPr>
            <a:xfrm>
              <a:off x="180753" y="3454976"/>
              <a:ext cx="8963247" cy="24622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/>
                <a:t>[132.141](A) [E][ALOCK] 0x6a088700: lock((</a:t>
              </a:r>
              <a:r>
                <a:rPr lang="en-US" sz="1400" dirty="0" err="1" smtClean="0"/>
                <a:t>mAurisysLibManagerLock</a:t>
              </a:r>
              <a:r>
                <a:rPr lang="en-US" sz="1400" dirty="0" smtClean="0"/>
                <a:t>), 1000), </a:t>
              </a:r>
              <a:r>
                <a:rPr lang="en-US" sz="1400" dirty="0" err="1" smtClean="0"/>
                <a:t>audio_task_audplayback.c</a:t>
              </a:r>
              <a:r>
                <a:rPr lang="en-US" sz="1400" dirty="0" smtClean="0"/>
                <a:t>, </a:t>
              </a:r>
              <a:r>
                <a:rPr lang="en-US" sz="1400" dirty="0" err="1" smtClean="0"/>
                <a:t>CreateAurisysLibManager</a:t>
              </a:r>
              <a:r>
                <a:rPr lang="en-US" sz="1400" dirty="0" smtClean="0"/>
                <a:t>(), </a:t>
              </a:r>
              <a:r>
                <a:rPr lang="en-US" sz="1400" dirty="0" smtClean="0">
                  <a:solidFill>
                    <a:srgbClr val="FF0000"/>
                  </a:solidFill>
                </a:rPr>
                <a:t>691L</a:t>
              </a:r>
              <a:r>
                <a:rPr lang="en-US" sz="1400" dirty="0" smtClean="0"/>
                <a:t> FAIL!! </a:t>
              </a:r>
              <a:r>
                <a:rPr lang="en-US" sz="1400" dirty="0" err="1" smtClean="0"/>
                <a:t>retval</a:t>
              </a:r>
              <a:r>
                <a:rPr lang="en-US" sz="1400" dirty="0" smtClean="0"/>
                <a:t>: 4294966221, try to lock when [131.141]</a:t>
              </a:r>
            </a:p>
            <a:p>
              <a:r>
                <a:rPr lang="en-US" sz="1400" dirty="0" smtClean="0"/>
                <a:t>[132.143](A) [E][ALOCK] 0x6a088700: </a:t>
              </a:r>
            </a:p>
            <a:p>
              <a:r>
                <a:rPr lang="en-US" sz="1400" dirty="0" smtClean="0"/>
                <a:t>========================= dump(+) =========================</a:t>
              </a:r>
            </a:p>
            <a:p>
              <a:r>
                <a:rPr lang="en-US" sz="1400" dirty="0" smtClean="0"/>
                <a:t>[132.144](A) [E][ALOCK] 0x6a088700: time [131.141], lock((</a:t>
              </a:r>
              <a:r>
                <a:rPr lang="en-US" sz="1400" dirty="0" err="1" smtClean="0"/>
                <a:t>mAurisysLibManagerLock</a:t>
              </a:r>
              <a:r>
                <a:rPr lang="en-US" sz="1400" dirty="0" smtClean="0"/>
                <a:t>)), </a:t>
              </a:r>
              <a:r>
                <a:rPr lang="en-US" sz="1400" dirty="0" err="1" smtClean="0"/>
                <a:t>audio_task_audplayback.c</a:t>
              </a:r>
              <a:r>
                <a:rPr lang="en-US" sz="1400" dirty="0" smtClean="0"/>
                <a:t>, </a:t>
              </a:r>
              <a:r>
                <a:rPr lang="en-US" sz="1400" dirty="0" err="1" smtClean="0"/>
                <a:t>CreateAurisysLibManager</a:t>
              </a:r>
              <a:r>
                <a:rPr lang="en-US" sz="1400" dirty="0" smtClean="0"/>
                <a:t>(), </a:t>
              </a:r>
              <a:r>
                <a:rPr lang="en-US" sz="1400" dirty="0" smtClean="0">
                  <a:solidFill>
                    <a:srgbClr val="FF0000"/>
                  </a:solidFill>
                </a:rPr>
                <a:t>688L    </a:t>
              </a:r>
            </a:p>
            <a:p>
              <a:r>
                <a:rPr lang="en-US" sz="1400" dirty="0" smtClean="0"/>
                <a:t>[132.145](A) [E][ALOCK] 0x6a088700: </a:t>
              </a:r>
            </a:p>
            <a:p>
              <a:r>
                <a:rPr lang="en-US" sz="1400" dirty="0" smtClean="0"/>
                <a:t>========================= dump(-) =========================</a:t>
              </a:r>
            </a:p>
            <a:p>
              <a:r>
                <a:rPr lang="en-US" sz="1400" dirty="0" smtClean="0"/>
                <a:t>[132.146](A) AUD_WARNING(lock timeout!!): "drivers/common/audio/tasks/</a:t>
              </a:r>
              <a:r>
                <a:rPr lang="en-US" sz="1400" dirty="0" err="1" smtClean="0"/>
                <a:t>audplayback</a:t>
              </a:r>
              <a:r>
                <a:rPr lang="en-US" sz="1400" dirty="0" smtClean="0"/>
                <a:t>/</a:t>
              </a:r>
              <a:r>
                <a:rPr lang="en-US" sz="1400" dirty="0" err="1" smtClean="0"/>
                <a:t>audio_task_audplayback.c</a:t>
              </a:r>
              <a:r>
                <a:rPr lang="en-US" sz="1400" dirty="0" smtClean="0"/>
                <a:t>", 691L</a:t>
              </a:r>
            </a:p>
            <a:p>
              <a:r>
                <a:rPr lang="en-US" sz="1400" dirty="0" smtClean="0"/>
                <a:t>[132.147](A) [ASSERT]</a:t>
              </a:r>
              <a:r>
                <a:rPr lang="en-US" sz="1400" dirty="0" err="1" smtClean="0"/>
                <a:t>task:aud_pla,file:drivers</a:t>
              </a:r>
              <a:r>
                <a:rPr lang="en-US" sz="1400" dirty="0" smtClean="0"/>
                <a:t>/common/audio/tasks/</a:t>
              </a:r>
              <a:r>
                <a:rPr lang="en-US" sz="1400" dirty="0" err="1" smtClean="0"/>
                <a:t>audplayback</a:t>
              </a:r>
              <a:r>
                <a:rPr lang="en-US" sz="1400" dirty="0" smtClean="0"/>
                <a:t>/audio_task_audplayback.c,line:691</a:t>
              </a:r>
              <a:endParaRPr lang="en-US" sz="1400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80753" y="3369912"/>
              <a:ext cx="8761228" cy="2626919"/>
            </a:xfrm>
            <a:prstGeom prst="rect">
              <a:avLst/>
            </a:prstGeom>
            <a:noFill/>
            <a:ln>
              <a:solidFill>
                <a:srgbClr val="00B0F0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H="1">
              <a:off x="2803889" y="4681878"/>
              <a:ext cx="921542" cy="0"/>
            </a:xfrm>
            <a:prstGeom prst="straightConnector1">
              <a:avLst/>
            </a:prstGeom>
            <a:ln w="19050"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3753279" y="4497212"/>
              <a:ext cx="2564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</a:rPr>
                <a:t>First place to acquire lock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57300"/>
            <a:ext cx="8229600" cy="4899026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AUDIO IPI </a:t>
            </a:r>
            <a:r>
              <a:rPr lang="en-US" dirty="0" smtClean="0"/>
              <a:t>: </a:t>
            </a:r>
          </a:p>
          <a:p>
            <a:pPr lvl="1"/>
            <a:r>
              <a:rPr lang="en-US" sz="2000" b="1" dirty="0" smtClean="0"/>
              <a:t>void </a:t>
            </a:r>
            <a:r>
              <a:rPr lang="en-US" sz="2000" b="1" dirty="0" err="1" smtClean="0"/>
              <a:t>print_msg_info</a:t>
            </a:r>
            <a:r>
              <a:rPr lang="en-US" sz="2000" dirty="0" smtClean="0"/>
              <a:t>(const char *</a:t>
            </a:r>
            <a:r>
              <a:rPr lang="en-US" sz="2000" dirty="0" err="1" smtClean="0">
                <a:solidFill>
                  <a:schemeClr val="accent6">
                    <a:lumMod val="50000"/>
                  </a:schemeClr>
                </a:solidFill>
              </a:rPr>
              <a:t>func_name</a:t>
            </a:r>
            <a:r>
              <a:rPr lang="en-US" sz="2000" dirty="0" smtClean="0"/>
              <a:t>,  const char *</a:t>
            </a:r>
            <a:r>
              <a:rPr lang="en-US" sz="2000" dirty="0" smtClean="0">
                <a:solidFill>
                  <a:schemeClr val="accent6">
                    <a:lumMod val="50000"/>
                  </a:schemeClr>
                </a:solidFill>
              </a:rPr>
              <a:t>description</a:t>
            </a:r>
            <a:r>
              <a:rPr lang="en-US" sz="2000" dirty="0" smtClean="0"/>
              <a:t>, const </a:t>
            </a:r>
            <a:r>
              <a:rPr lang="en-US" sz="2000" dirty="0" err="1" smtClean="0"/>
              <a:t>struct</a:t>
            </a:r>
            <a:r>
              <a:rPr lang="en-US" sz="2000" dirty="0" smtClean="0"/>
              <a:t> </a:t>
            </a:r>
            <a:r>
              <a:rPr lang="en-US" sz="2000" dirty="0" err="1" smtClean="0"/>
              <a:t>ipi_msg_t</a:t>
            </a:r>
            <a:r>
              <a:rPr lang="en-US" sz="2000" dirty="0" smtClean="0"/>
              <a:t> *</a:t>
            </a:r>
            <a:r>
              <a:rPr lang="en-US" sz="2000" dirty="0" err="1" smtClean="0">
                <a:solidFill>
                  <a:schemeClr val="accent6">
                    <a:lumMod val="50000"/>
                  </a:schemeClr>
                </a:solidFill>
              </a:rPr>
              <a:t>p_ipi_msg</a:t>
            </a:r>
            <a:r>
              <a:rPr lang="en-US" sz="2000" dirty="0" smtClean="0"/>
              <a:t>);</a:t>
            </a:r>
          </a:p>
          <a:p>
            <a:endParaRPr lang="en-US" dirty="0" smtClean="0"/>
          </a:p>
          <a:p>
            <a:pPr lvl="1"/>
            <a:r>
              <a:rPr lang="en-US" sz="2000" b="1" dirty="0" err="1" smtClean="0"/>
              <a:t>audio_send_ipi_msg_to_kernel</a:t>
            </a:r>
            <a:r>
              <a:rPr lang="en-US" sz="2000" b="1" dirty="0" smtClean="0"/>
              <a:t>()</a:t>
            </a:r>
          </a:p>
          <a:p>
            <a:pPr lvl="2"/>
            <a:r>
              <a:rPr lang="en-US" sz="2000" dirty="0" smtClean="0"/>
              <a:t>Print </a:t>
            </a:r>
            <a:r>
              <a:rPr lang="en-US" sz="2000" dirty="0" err="1" smtClean="0"/>
              <a:t>ipi</a:t>
            </a:r>
            <a:r>
              <a:rPr lang="en-US" sz="2000" dirty="0" smtClean="0"/>
              <a:t> </a:t>
            </a:r>
            <a:r>
              <a:rPr lang="en-US" sz="2000" dirty="0" err="1" smtClean="0"/>
              <a:t>msg</a:t>
            </a:r>
            <a:r>
              <a:rPr lang="en-US" sz="2000" dirty="0" smtClean="0"/>
              <a:t> when send fail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44972" y="2668772"/>
            <a:ext cx="7658100" cy="37147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3959" y="3990826"/>
            <a:ext cx="656272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7200" y="1257300"/>
            <a:ext cx="8229600" cy="4899026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RINGBUF SW: </a:t>
            </a:r>
          </a:p>
          <a:p>
            <a:pPr lvl="1"/>
            <a:r>
              <a:rPr lang="en-US" sz="2000" dirty="0" smtClean="0"/>
              <a:t>DUMP_RINGBUG(LOG_F, description, </a:t>
            </a:r>
            <a:r>
              <a:rPr lang="en-US" sz="2000" dirty="0" err="1" smtClean="0"/>
              <a:t>rb</a:t>
            </a:r>
            <a:r>
              <a:rPr lang="en-US" sz="2000" dirty="0" smtClean="0"/>
              <a:t>, count)</a:t>
            </a:r>
          </a:p>
          <a:p>
            <a:pPr lvl="1"/>
            <a:r>
              <a:rPr lang="en-US" sz="2000" dirty="0" smtClean="0"/>
              <a:t>DUMP_RINGBUG(</a:t>
            </a:r>
            <a:r>
              <a:rPr lang="en-US" sz="2000" dirty="0" smtClean="0">
                <a:solidFill>
                  <a:srgbClr val="0070C0"/>
                </a:solidFill>
              </a:rPr>
              <a:t>AUD_LOG_W</a:t>
            </a:r>
            <a:r>
              <a:rPr lang="en-US" sz="2000" dirty="0" smtClean="0"/>
              <a:t>, "</a:t>
            </a:r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</a:rPr>
              <a:t>underflow</a:t>
            </a:r>
            <a:r>
              <a:rPr lang="en-US" sz="2000" dirty="0" smtClean="0"/>
              <a:t>", </a:t>
            </a:r>
            <a:r>
              <a:rPr lang="en-US" sz="2000" dirty="0" err="1" smtClean="0">
                <a:solidFill>
                  <a:srgbClr val="C00000"/>
                </a:solidFill>
              </a:rPr>
              <a:t>rb</a:t>
            </a:r>
            <a:r>
              <a:rPr lang="en-US" sz="2000" dirty="0" smtClean="0"/>
              <a:t>, count);</a:t>
            </a:r>
          </a:p>
          <a:p>
            <a:r>
              <a:rPr lang="en-US" sz="2800" b="1" dirty="0" smtClean="0"/>
              <a:t>RINGBUF HW </a:t>
            </a:r>
          </a:p>
          <a:p>
            <a:pPr lvl="1"/>
            <a:r>
              <a:rPr lang="en-US" sz="2000" dirty="0" smtClean="0"/>
              <a:t>Check </a:t>
            </a:r>
            <a:r>
              <a:rPr lang="en-US" sz="2000" dirty="0" err="1" smtClean="0"/>
              <a:t>funcion</a:t>
            </a:r>
            <a:endParaRPr lang="en-US" sz="2000" dirty="0" smtClean="0"/>
          </a:p>
          <a:p>
            <a:pPr lvl="1"/>
            <a:endParaRPr lang="en-US" sz="2400" dirty="0" smtClean="0"/>
          </a:p>
          <a:p>
            <a:pPr lvl="2">
              <a:buNone/>
            </a:pPr>
            <a:endParaRPr lang="en-US" sz="2000" dirty="0" smtClean="0"/>
          </a:p>
          <a:p>
            <a:pPr lvl="1"/>
            <a:r>
              <a:rPr lang="en-US" sz="2000" dirty="0" smtClean="0"/>
              <a:t>dump function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1034" y="4625163"/>
            <a:ext cx="721995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71034" y="3394216"/>
            <a:ext cx="613410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FAAE-D303-1440-B1E5-D1AB6CEFDBF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800" b="1" dirty="0" smtClean="0"/>
              <a:t>IPI DMA : </a:t>
            </a:r>
          </a:p>
          <a:p>
            <a:pPr lvl="1"/>
            <a:r>
              <a:rPr lang="en-US" sz="2000" dirty="0" smtClean="0"/>
              <a:t>AUD_DMA_READ(</a:t>
            </a:r>
            <a:r>
              <a:rPr lang="en-US" sz="2000" dirty="0" err="1" smtClean="0"/>
              <a:t>scp_buf</a:t>
            </a:r>
            <a:r>
              <a:rPr lang="en-US" sz="2000" dirty="0" smtClean="0"/>
              <a:t>, </a:t>
            </a:r>
            <a:r>
              <a:rPr lang="en-US" sz="2000" dirty="0" err="1" smtClean="0"/>
              <a:t>dram_addr</a:t>
            </a:r>
            <a:r>
              <a:rPr lang="en-US" sz="2000" dirty="0" smtClean="0"/>
              <a:t>, size)</a:t>
            </a:r>
          </a:p>
          <a:p>
            <a:pPr lvl="1"/>
            <a:r>
              <a:rPr lang="en-US" sz="2000" dirty="0" smtClean="0"/>
              <a:t>AUD_DMA_WRITE(</a:t>
            </a:r>
            <a:r>
              <a:rPr lang="en-US" sz="2000" dirty="0" err="1" smtClean="0"/>
              <a:t>dram_addr</a:t>
            </a:r>
            <a:r>
              <a:rPr lang="en-US" sz="2000" dirty="0" smtClean="0"/>
              <a:t>, </a:t>
            </a:r>
            <a:r>
              <a:rPr lang="en-US" sz="2000" dirty="0" err="1" smtClean="0"/>
              <a:t>scp_buf</a:t>
            </a:r>
            <a:r>
              <a:rPr lang="en-US" sz="2000" dirty="0" smtClean="0"/>
              <a:t>, size)</a:t>
            </a:r>
          </a:p>
          <a:p>
            <a:pPr lvl="2"/>
            <a:r>
              <a:rPr lang="en-US" sz="1600" dirty="0" smtClean="0">
                <a:solidFill>
                  <a:srgbClr val="0070C0"/>
                </a:solidFill>
              </a:rPr>
              <a:t>Check if in ISR</a:t>
            </a:r>
          </a:p>
          <a:p>
            <a:pPr lvl="2"/>
            <a:r>
              <a:rPr lang="en-US" sz="1600" dirty="0" smtClean="0">
                <a:solidFill>
                  <a:srgbClr val="0070C0"/>
                </a:solidFill>
              </a:rPr>
              <a:t>Check </a:t>
            </a:r>
            <a:r>
              <a:rPr lang="en-US" sz="1600" dirty="0" err="1" smtClean="0">
                <a:solidFill>
                  <a:srgbClr val="0070C0"/>
                </a:solidFill>
              </a:rPr>
              <a:t>scp_buf</a:t>
            </a:r>
            <a:r>
              <a:rPr lang="en-US" sz="1600" dirty="0" smtClean="0">
                <a:solidFill>
                  <a:srgbClr val="0070C0"/>
                </a:solidFill>
              </a:rPr>
              <a:t> address should be 128byte aligned</a:t>
            </a:r>
          </a:p>
          <a:p>
            <a:pPr lvl="1"/>
            <a:r>
              <a:rPr lang="en-US" sz="2000" dirty="0" smtClean="0"/>
              <a:t> DUMP_REGION(LOG_F, description, </a:t>
            </a:r>
            <a:r>
              <a:rPr lang="en-US" sz="2000" dirty="0" err="1" smtClean="0"/>
              <a:t>p_region</a:t>
            </a:r>
            <a:r>
              <a:rPr lang="en-US" sz="2000" dirty="0" smtClean="0"/>
              <a:t>, count)</a:t>
            </a:r>
          </a:p>
          <a:p>
            <a:pPr lvl="1"/>
            <a:r>
              <a:rPr lang="en-US" sz="2000" dirty="0" smtClean="0"/>
              <a:t> DUMP_REGION(</a:t>
            </a:r>
            <a:r>
              <a:rPr lang="en-US" sz="2000" dirty="0" err="1" smtClean="0">
                <a:solidFill>
                  <a:srgbClr val="0070C0"/>
                </a:solidFill>
              </a:rPr>
              <a:t>pr_notice</a:t>
            </a:r>
            <a:r>
              <a:rPr lang="en-US" sz="2000" dirty="0" smtClean="0"/>
              <a:t>, "</a:t>
            </a:r>
            <a:r>
              <a:rPr lang="en-US" sz="2000" dirty="0" err="1" smtClean="0">
                <a:solidFill>
                  <a:schemeClr val="accent5">
                    <a:lumMod val="50000"/>
                  </a:schemeClr>
                </a:solidFill>
              </a:rPr>
              <a:t>read_idx</a:t>
            </a:r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</a:rPr>
              <a:t> fail</a:t>
            </a:r>
            <a:r>
              <a:rPr lang="en-US" sz="2000" dirty="0" smtClean="0"/>
              <a:t>", </a:t>
            </a:r>
            <a:r>
              <a:rPr lang="en-US" sz="2000" dirty="0" smtClean="0">
                <a:solidFill>
                  <a:srgbClr val="C00000"/>
                </a:solidFill>
              </a:rPr>
              <a:t>region</a:t>
            </a:r>
            <a:r>
              <a:rPr lang="en-US" sz="2000" dirty="0" smtClean="0"/>
              <a:t>, count);</a:t>
            </a:r>
          </a:p>
          <a:p>
            <a:pPr lvl="2"/>
            <a:r>
              <a:rPr lang="en-US" sz="1600" dirty="0" smtClean="0"/>
              <a:t>Dump region info as </a:t>
            </a:r>
            <a:r>
              <a:rPr lang="en-US" sz="1600" dirty="0" err="1" smtClean="0"/>
              <a:t>ringbuf</a:t>
            </a:r>
            <a:r>
              <a:rPr lang="en-US" sz="1600" dirty="0" smtClean="0"/>
              <a:t>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-Internal_Use">
  <a:themeElements>
    <a:clrScheme name="Custom 7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9A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MediaTek Color Palette">
      <a:dk1>
        <a:srgbClr val="353630"/>
      </a:dk1>
      <a:lt1>
        <a:sysClr val="window" lastClr="FFFFFF"/>
      </a:lt1>
      <a:dk2>
        <a:srgbClr val="999A94"/>
      </a:dk2>
      <a:lt2>
        <a:srgbClr val="F0F0F0"/>
      </a:lt2>
      <a:accent1>
        <a:srgbClr val="F3821E"/>
      </a:accent1>
      <a:accent2>
        <a:srgbClr val="00A1DE"/>
      </a:accent2>
      <a:accent3>
        <a:srgbClr val="69BE28"/>
      </a:accent3>
      <a:accent4>
        <a:srgbClr val="D71F85"/>
      </a:accent4>
      <a:accent5>
        <a:srgbClr val="FED100"/>
      </a:accent5>
      <a:accent6>
        <a:srgbClr val="98DBFF"/>
      </a:accent6>
      <a:hlink>
        <a:srgbClr val="000000"/>
      </a:hlink>
      <a:folHlink>
        <a:srgbClr val="5A5A5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Custom 7">
    <a:dk1>
      <a:srgbClr val="353630"/>
    </a:dk1>
    <a:lt1>
      <a:sysClr val="window" lastClr="FFFFFF"/>
    </a:lt1>
    <a:dk2>
      <a:srgbClr val="999A94"/>
    </a:dk2>
    <a:lt2>
      <a:srgbClr val="F0F0F0"/>
    </a:lt2>
    <a:accent1>
      <a:srgbClr val="F39A1E"/>
    </a:accent1>
    <a:accent2>
      <a:srgbClr val="00A1DE"/>
    </a:accent2>
    <a:accent3>
      <a:srgbClr val="69BE28"/>
    </a:accent3>
    <a:accent4>
      <a:srgbClr val="D71F85"/>
    </a:accent4>
    <a:accent5>
      <a:srgbClr val="FED100"/>
    </a:accent5>
    <a:accent6>
      <a:srgbClr val="98DBFF"/>
    </a:accent6>
    <a:hlink>
      <a:srgbClr val="000000"/>
    </a:hlink>
    <a:folHlink>
      <a:srgbClr val="5A5A5A"/>
    </a:folHlink>
  </a:clrScheme>
</a:themeOverride>
</file>

<file path=ppt/theme/themeOverride2.xml><?xml version="1.0" encoding="utf-8"?>
<a:themeOverride xmlns:a="http://schemas.openxmlformats.org/drawingml/2006/main">
  <a:clrScheme name="Custom 7">
    <a:dk1>
      <a:srgbClr val="353630"/>
    </a:dk1>
    <a:lt1>
      <a:sysClr val="window" lastClr="FFFFFF"/>
    </a:lt1>
    <a:dk2>
      <a:srgbClr val="999A94"/>
    </a:dk2>
    <a:lt2>
      <a:srgbClr val="F0F0F0"/>
    </a:lt2>
    <a:accent1>
      <a:srgbClr val="F39A1E"/>
    </a:accent1>
    <a:accent2>
      <a:srgbClr val="00A1DE"/>
    </a:accent2>
    <a:accent3>
      <a:srgbClr val="69BE28"/>
    </a:accent3>
    <a:accent4>
      <a:srgbClr val="D71F85"/>
    </a:accent4>
    <a:accent5>
      <a:srgbClr val="FED100"/>
    </a:accent5>
    <a:accent6>
      <a:srgbClr val="98DBFF"/>
    </a:accent6>
    <a:hlink>
      <a:srgbClr val="000000"/>
    </a:hlink>
    <a:folHlink>
      <a:srgbClr val="5A5A5A"/>
    </a:folHlink>
  </a:clrScheme>
</a:themeOverride>
</file>

<file path=ppt/theme/themeOverride3.xml><?xml version="1.0" encoding="utf-8"?>
<a:themeOverride xmlns:a="http://schemas.openxmlformats.org/drawingml/2006/main">
  <a:clrScheme name="Custom 7">
    <a:dk1>
      <a:srgbClr val="353630"/>
    </a:dk1>
    <a:lt1>
      <a:sysClr val="window" lastClr="FFFFFF"/>
    </a:lt1>
    <a:dk2>
      <a:srgbClr val="999A94"/>
    </a:dk2>
    <a:lt2>
      <a:srgbClr val="F0F0F0"/>
    </a:lt2>
    <a:accent1>
      <a:srgbClr val="F39A1E"/>
    </a:accent1>
    <a:accent2>
      <a:srgbClr val="00A1DE"/>
    </a:accent2>
    <a:accent3>
      <a:srgbClr val="69BE28"/>
    </a:accent3>
    <a:accent4>
      <a:srgbClr val="D71F85"/>
    </a:accent4>
    <a:accent5>
      <a:srgbClr val="FED100"/>
    </a:accent5>
    <a:accent6>
      <a:srgbClr val="98DBFF"/>
    </a:accent6>
    <a:hlink>
      <a:srgbClr val="000000"/>
    </a:hlink>
    <a:folHlink>
      <a:srgbClr val="5A5A5A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A53B7DB280546A20112FD2EF61E0F" ma:contentTypeVersion="8" ma:contentTypeDescription="Create a new document." ma:contentTypeScope="" ma:versionID="93dbae95c85826a351b64e5a9c00c7f1">
  <xsd:schema xmlns:xsd="http://www.w3.org/2001/XMLSchema" xmlns:xs="http://www.w3.org/2001/XMLSchema" xmlns:p="http://schemas.microsoft.com/office/2006/metadata/properties" xmlns:ns2="http://schemas.microsoft.com/sharepoint/v4" xmlns:ns3="8b8cf6ce-236f-4713-896e-b4ec346257bb" xmlns:ns4="58b0650e-828d-46c1-af00-111984e5092a" xmlns:ns5="7a58c3ed-4a22-4d08-9ddf-2c2b66cc6605" targetNamespace="http://schemas.microsoft.com/office/2006/metadata/properties" ma:root="true" ma:fieldsID="f8eeb43b36309ba801eb86731cfe2d05" ns2:_="" ns3:_="" ns4:_="" ns5:_="">
    <xsd:import namespace="http://schemas.microsoft.com/sharepoint/v4"/>
    <xsd:import namespace="8b8cf6ce-236f-4713-896e-b4ec346257bb"/>
    <xsd:import namespace="58b0650e-828d-46c1-af00-111984e5092a"/>
    <xsd:import namespace="7a58c3ed-4a22-4d08-9ddf-2c2b66cc6605"/>
    <xsd:element name="properties">
      <xsd:complexType>
        <xsd:sequence>
          <xsd:element name="documentManagement">
            <xsd:complexType>
              <xsd:all>
                <xsd:element ref="ns2:IconOverlay" minOccurs="0"/>
                <xsd:element ref="ns3:SharedWithUsers" minOccurs="0"/>
                <xsd:element ref="ns4:SharedWithDetails" minOccurs="0"/>
                <xsd:element ref="ns5:Sensi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8cf6ce-236f-4713-896e-b4ec346257bb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b0650e-828d-46c1-af00-111984e5092a" elementFormDefault="qualified">
    <xsd:import namespace="http://schemas.microsoft.com/office/2006/documentManagement/types"/>
    <xsd:import namespace="http://schemas.microsoft.com/office/infopath/2007/PartnerControls"/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58c3ed-4a22-4d08-9ddf-2c2b66cc6605" elementFormDefault="qualified">
    <xsd:import namespace="http://schemas.microsoft.com/office/2006/documentManagement/types"/>
    <xsd:import namespace="http://schemas.microsoft.com/office/infopath/2007/PartnerControls"/>
    <xsd:element name="Sensitivity" ma:index="11" nillable="true" ma:displayName="Sensitivity" ma:internalName="Sensitivit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Sensitivity xmlns="7a58c3ed-4a22-4d08-9ddf-2c2b66cc6605" xsi:nil="true"/>
  </documentManagement>
</p:properties>
</file>

<file path=customXml/itemProps1.xml><?xml version="1.0" encoding="utf-8"?>
<ds:datastoreItem xmlns:ds="http://schemas.openxmlformats.org/officeDocument/2006/customXml" ds:itemID="{82FF3C60-1462-4EEF-B188-33480FDE1D7E}"/>
</file>

<file path=customXml/itemProps2.xml><?xml version="1.0" encoding="utf-8"?>
<ds:datastoreItem xmlns:ds="http://schemas.openxmlformats.org/officeDocument/2006/customXml" ds:itemID="{E1DEEF8C-7A68-4F42-BA4B-3F6290214920}"/>
</file>

<file path=customXml/itemProps3.xml><?xml version="1.0" encoding="utf-8"?>
<ds:datastoreItem xmlns:ds="http://schemas.openxmlformats.org/officeDocument/2006/customXml" ds:itemID="{6DCF7E29-67B7-4306-A524-D31BC326A588}"/>
</file>

<file path=docProps/app.xml><?xml version="1.0" encoding="utf-8"?>
<Properties xmlns="http://schemas.openxmlformats.org/officeDocument/2006/extended-properties" xmlns:vt="http://schemas.openxmlformats.org/officeDocument/2006/docPropsVTypes">
  <Template>PPT-Internal_Use</Template>
  <TotalTime>38361</TotalTime>
  <Words>1661</Words>
  <Application>Microsoft Office PowerPoint</Application>
  <PresentationFormat>如螢幕大小 (4:3)</PresentationFormat>
  <Paragraphs>582</Paragraphs>
  <Slides>37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37</vt:i4>
      </vt:variant>
    </vt:vector>
  </HeadingPairs>
  <TitlesOfParts>
    <vt:vector size="45" baseType="lpstr">
      <vt:lpstr>Lucida Grande</vt:lpstr>
      <vt:lpstr>SimHei</vt:lpstr>
      <vt:lpstr>新細明體</vt:lpstr>
      <vt:lpstr>Arial</vt:lpstr>
      <vt:lpstr>Calibri</vt:lpstr>
      <vt:lpstr>Wingdings</vt:lpstr>
      <vt:lpstr>PPT-Internal_Use</vt:lpstr>
      <vt:lpstr>Custom Design</vt:lpstr>
      <vt:lpstr>Hifi3 Debugging Tools</vt:lpstr>
      <vt:lpstr>Debug Items</vt:lpstr>
      <vt:lpstr>Basic function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System SW debug</vt:lpstr>
      <vt:lpstr>PowerPoint 簡報</vt:lpstr>
      <vt:lpstr>Feature 1: Monitor heap memory usage</vt:lpstr>
      <vt:lpstr>Feature 2: Detail information of allocate memory </vt:lpstr>
      <vt:lpstr>PowerPoint 簡報</vt:lpstr>
      <vt:lpstr>PowerPoint 簡報</vt:lpstr>
      <vt:lpstr>PowerPoint 簡報</vt:lpstr>
      <vt:lpstr>PowerPoint 簡報</vt:lpstr>
      <vt:lpstr>Analyze trace data by Xplorer (0)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GDB Dump</vt:lpstr>
      <vt:lpstr>Debug Dump type</vt:lpstr>
      <vt:lpstr>Debug method</vt:lpstr>
      <vt:lpstr>Debug Command </vt:lpstr>
      <vt:lpstr>PowerPoint 簡報</vt:lpstr>
      <vt:lpstr>System img debug</vt:lpstr>
      <vt:lpstr>Audio Related Debug</vt:lpstr>
      <vt:lpstr>PowerPoint 簡報</vt:lpstr>
      <vt:lpstr>PowerPoint 簡報</vt:lpstr>
      <vt:lpstr>PowerPoint 簡報</vt:lpstr>
      <vt:lpstr>PowerPoint 簡報</vt:lpstr>
    </vt:vector>
  </TitlesOfParts>
  <Company>MediaTek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Hifi3 Debugging Tools</dc:title>
  <dc:creator>MTK09865</dc:creator>
  <cp:lastModifiedBy>Celine Liu (劉姿均)</cp:lastModifiedBy>
  <cp:revision>880</cp:revision>
  <dcterms:created xsi:type="dcterms:W3CDTF">2018-05-30T09:11:58Z</dcterms:created>
  <dcterms:modified xsi:type="dcterms:W3CDTF">2020-10-08T01:34:07Z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0x010100FC2A53B7DB280546A20112FD2EF61E0F</vt:lpwstr>
  </property>
</Properties>
</file>