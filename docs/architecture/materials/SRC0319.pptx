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theme/theme7.xml" ContentType="application/vnd.openxmlformats-officedocument.them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912" r:id="rId4"/>
    <p:sldMasterId id="2147483979" r:id="rId5"/>
    <p:sldMasterId id="2147483991" r:id="rId6"/>
    <p:sldMasterId id="2147483925" r:id="rId7"/>
    <p:sldMasterId id="2147483965" r:id="rId8"/>
  </p:sldMasterIdLst>
  <p:notesMasterIdLst>
    <p:notesMasterId r:id="rId24"/>
  </p:notesMasterIdLst>
  <p:handoutMasterIdLst>
    <p:handoutMasterId r:id="rId25"/>
  </p:handoutMasterIdLst>
  <p:sldIdLst>
    <p:sldId id="2652" r:id="rId9"/>
    <p:sldId id="2736" r:id="rId10"/>
    <p:sldId id="2723" r:id="rId11"/>
    <p:sldId id="2725" r:id="rId12"/>
    <p:sldId id="2728" r:id="rId13"/>
    <p:sldId id="2727" r:id="rId14"/>
    <p:sldId id="2738" r:id="rId15"/>
    <p:sldId id="2737" r:id="rId16"/>
    <p:sldId id="2731" r:id="rId17"/>
    <p:sldId id="2735" r:id="rId18"/>
    <p:sldId id="2726" r:id="rId19"/>
    <p:sldId id="2732" r:id="rId20"/>
    <p:sldId id="2733" r:id="rId21"/>
    <p:sldId id="2734" r:id="rId22"/>
    <p:sldId id="2707" r:id="rId23"/>
  </p:sldIdLst>
  <p:sldSz cx="9144000" cy="6858000" type="screen4x3"/>
  <p:notesSz cx="7315200" cy="9601200"/>
  <p:defaultTextStyle>
    <a:defPPr>
      <a:defRPr lang="ja-JP"/>
    </a:defPPr>
    <a:lvl1pPr algn="l" rtl="0" fontAlgn="base">
      <a:spcBef>
        <a:spcPct val="0"/>
      </a:spcBef>
      <a:spcAft>
        <a:spcPct val="0"/>
      </a:spcAft>
      <a:defRPr kumimoji="1" sz="20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0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0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0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000" kern="1200">
        <a:solidFill>
          <a:schemeClr val="tx1"/>
        </a:solidFill>
        <a:latin typeface="Arial" charset="0"/>
        <a:ea typeface="標楷體" pitchFamily="65" charset="-120"/>
        <a:cs typeface="+mn-cs"/>
      </a:defRPr>
    </a:lvl5pPr>
    <a:lvl6pPr marL="2286000" algn="l" defTabSz="914400" rtl="0" eaLnBrk="1" latinLnBrk="0" hangingPunct="1">
      <a:defRPr kumimoji="1" sz="2000" kern="1200">
        <a:solidFill>
          <a:schemeClr val="tx1"/>
        </a:solidFill>
        <a:latin typeface="Arial" charset="0"/>
        <a:ea typeface="標楷體" pitchFamily="65" charset="-120"/>
        <a:cs typeface="+mn-cs"/>
      </a:defRPr>
    </a:lvl6pPr>
    <a:lvl7pPr marL="2743200" algn="l" defTabSz="914400" rtl="0" eaLnBrk="1" latinLnBrk="0" hangingPunct="1">
      <a:defRPr kumimoji="1" sz="2000" kern="1200">
        <a:solidFill>
          <a:schemeClr val="tx1"/>
        </a:solidFill>
        <a:latin typeface="Arial" charset="0"/>
        <a:ea typeface="標楷體" pitchFamily="65" charset="-120"/>
        <a:cs typeface="+mn-cs"/>
      </a:defRPr>
    </a:lvl7pPr>
    <a:lvl8pPr marL="3200400" algn="l" defTabSz="914400" rtl="0" eaLnBrk="1" latinLnBrk="0" hangingPunct="1">
      <a:defRPr kumimoji="1" sz="2000" kern="1200">
        <a:solidFill>
          <a:schemeClr val="tx1"/>
        </a:solidFill>
        <a:latin typeface="Arial" charset="0"/>
        <a:ea typeface="標楷體" pitchFamily="65" charset="-120"/>
        <a:cs typeface="+mn-cs"/>
      </a:defRPr>
    </a:lvl8pPr>
    <a:lvl9pPr marL="3657600" algn="l" defTabSz="914400" rtl="0" eaLnBrk="1" latinLnBrk="0" hangingPunct="1">
      <a:defRPr kumimoji="1" sz="2000" kern="1200">
        <a:solidFill>
          <a:schemeClr val="tx1"/>
        </a:solidFill>
        <a:latin typeface="Arial" charset="0"/>
        <a:ea typeface="標楷體" pitchFamily="65"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FFA401"/>
    <a:srgbClr val="770F48"/>
    <a:srgbClr val="FFCCFF"/>
    <a:srgbClr val="990000"/>
    <a:srgbClr val="CCFF99"/>
    <a:srgbClr val="FFCC99"/>
    <a:srgbClr val="FFFFCC"/>
    <a:srgbClr val="CCFF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1" autoAdjust="0"/>
    <p:restoredTop sz="94930" autoAdjust="0"/>
  </p:normalViewPr>
  <p:slideViewPr>
    <p:cSldViewPr snapToObjects="1">
      <p:cViewPr>
        <p:scale>
          <a:sx n="90" d="100"/>
          <a:sy n="90" d="100"/>
        </p:scale>
        <p:origin x="-396" y="-324"/>
      </p:cViewPr>
      <p:guideLst>
        <p:guide orient="horz" pos="2160"/>
        <p:guide pos="2880"/>
      </p:guideLst>
    </p:cSldViewPr>
  </p:slideViewPr>
  <p:outlineViewPr>
    <p:cViewPr>
      <p:scale>
        <a:sx n="33" d="100"/>
        <a:sy n="33" d="100"/>
      </p:scale>
      <p:origin x="18" y="5454"/>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3" y="0"/>
            <a:ext cx="3169920" cy="4800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SimHei" pitchFamily="2" charset="-122"/>
                <a:cs typeface="+mn-cs"/>
              </a:defRPr>
            </a:lvl1pPr>
          </a:lstStyle>
          <a:p>
            <a:pPr>
              <a:defRPr/>
            </a:pPr>
            <a:endParaRPr lang="en-US"/>
          </a:p>
        </p:txBody>
      </p:sp>
      <p:sp>
        <p:nvSpPr>
          <p:cNvPr id="16387" name="Rectangle 3"/>
          <p:cNvSpPr>
            <a:spLocks noGrp="1" noChangeArrowheads="1"/>
          </p:cNvSpPr>
          <p:nvPr>
            <p:ph type="dt" sz="quarter" idx="1"/>
          </p:nvPr>
        </p:nvSpPr>
        <p:spPr bwMode="auto">
          <a:xfrm>
            <a:off x="4145283" y="0"/>
            <a:ext cx="3169920" cy="4800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SimHei" pitchFamily="2" charset="-122"/>
                <a:cs typeface="+mn-cs"/>
              </a:defRPr>
            </a:lvl1pPr>
          </a:lstStyle>
          <a:p>
            <a:pPr>
              <a:defRPr/>
            </a:pPr>
            <a:endParaRPr lang="en-US"/>
          </a:p>
        </p:txBody>
      </p:sp>
      <p:sp>
        <p:nvSpPr>
          <p:cNvPr id="16388" name="Rectangle 4"/>
          <p:cNvSpPr>
            <a:spLocks noGrp="1" noChangeArrowheads="1"/>
          </p:cNvSpPr>
          <p:nvPr>
            <p:ph type="ftr" sz="quarter" idx="2"/>
          </p:nvPr>
        </p:nvSpPr>
        <p:spPr bwMode="auto">
          <a:xfrm>
            <a:off x="3" y="9121141"/>
            <a:ext cx="3169920" cy="4800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SimHei" pitchFamily="2" charset="-122"/>
                <a:cs typeface="+mn-cs"/>
              </a:defRPr>
            </a:lvl1pPr>
          </a:lstStyle>
          <a:p>
            <a:pPr>
              <a:defRPr/>
            </a:pPr>
            <a:endParaRPr lang="en-US"/>
          </a:p>
        </p:txBody>
      </p:sp>
      <p:sp>
        <p:nvSpPr>
          <p:cNvPr id="16389" name="Rectangle 5"/>
          <p:cNvSpPr>
            <a:spLocks noGrp="1" noChangeArrowheads="1"/>
          </p:cNvSpPr>
          <p:nvPr>
            <p:ph type="sldNum" sz="quarter" idx="3"/>
          </p:nvPr>
        </p:nvSpPr>
        <p:spPr bwMode="auto">
          <a:xfrm>
            <a:off x="4145283" y="9121141"/>
            <a:ext cx="3169920" cy="4800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SimHei" pitchFamily="2" charset="-122"/>
                <a:cs typeface="+mn-cs"/>
              </a:defRPr>
            </a:lvl1pPr>
          </a:lstStyle>
          <a:p>
            <a:pPr>
              <a:defRPr/>
            </a:pPr>
            <a:fld id="{07438E18-F169-4B8B-9828-F94DBF2323CB}"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3" y="0"/>
            <a:ext cx="3169920" cy="4800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SimHei" pitchFamily="2" charset="-122"/>
                <a:cs typeface="+mn-cs"/>
              </a:defRPr>
            </a:lvl1pPr>
          </a:lstStyle>
          <a:p>
            <a:pPr>
              <a:defRPr/>
            </a:pPr>
            <a:endParaRPr lang="en-US"/>
          </a:p>
        </p:txBody>
      </p:sp>
      <p:sp>
        <p:nvSpPr>
          <p:cNvPr id="9219" name="Rectangle 3"/>
          <p:cNvSpPr>
            <a:spLocks noGrp="1" noChangeArrowheads="1"/>
          </p:cNvSpPr>
          <p:nvPr>
            <p:ph type="dt" idx="1"/>
          </p:nvPr>
        </p:nvSpPr>
        <p:spPr bwMode="auto">
          <a:xfrm>
            <a:off x="4145283" y="0"/>
            <a:ext cx="3169920" cy="4800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SimHei" pitchFamily="2" charset="-122"/>
                <a:cs typeface="+mn-cs"/>
              </a:defRPr>
            </a:lvl1pPr>
          </a:lstStyle>
          <a:p>
            <a:pPr>
              <a:defRPr/>
            </a:pPr>
            <a:endParaRPr lang="en-US"/>
          </a:p>
        </p:txBody>
      </p:sp>
      <p:sp>
        <p:nvSpPr>
          <p:cNvPr id="2765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75361" y="4560571"/>
            <a:ext cx="5364480" cy="432054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22" name="Rectangle 6"/>
          <p:cNvSpPr>
            <a:spLocks noGrp="1" noChangeArrowheads="1"/>
          </p:cNvSpPr>
          <p:nvPr>
            <p:ph type="ftr" sz="quarter" idx="4"/>
          </p:nvPr>
        </p:nvSpPr>
        <p:spPr bwMode="auto">
          <a:xfrm>
            <a:off x="3" y="9121141"/>
            <a:ext cx="3169920" cy="4800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SimHei" pitchFamily="2" charset="-122"/>
                <a:cs typeface="+mn-cs"/>
              </a:defRPr>
            </a:lvl1pPr>
          </a:lstStyle>
          <a:p>
            <a:pPr>
              <a:defRPr/>
            </a:pPr>
            <a:endParaRPr lang="en-US"/>
          </a:p>
        </p:txBody>
      </p:sp>
      <p:sp>
        <p:nvSpPr>
          <p:cNvPr id="9223" name="Rectangle 7"/>
          <p:cNvSpPr>
            <a:spLocks noGrp="1" noChangeArrowheads="1"/>
          </p:cNvSpPr>
          <p:nvPr>
            <p:ph type="sldNum" sz="quarter" idx="5"/>
          </p:nvPr>
        </p:nvSpPr>
        <p:spPr bwMode="auto">
          <a:xfrm>
            <a:off x="4145283" y="9121141"/>
            <a:ext cx="3169920" cy="4800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SimHei" pitchFamily="2" charset="-122"/>
                <a:cs typeface="+mn-cs"/>
              </a:defRPr>
            </a:lvl1pPr>
          </a:lstStyle>
          <a:p>
            <a:pPr>
              <a:defRPr/>
            </a:pPr>
            <a:fld id="{EB806D3F-0DC8-4270-9EFC-FE9587DA70D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SimHei"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SimHei"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SimHei"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SimHei"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SimHei"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l">
              <a:lnSpc>
                <a:spcPct val="80000"/>
              </a:lnSpc>
              <a:buNone/>
              <a:defRPr spc="-15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tx1"/>
                </a:solidFill>
              </a:defRPr>
            </a:lvl1pPr>
          </a:lstStyle>
          <a:p>
            <a:r>
              <a:rPr lang="en-US" smtClean="0"/>
              <a:t>Click to edit Master title style</a:t>
            </a:r>
            <a:endParaRPr lang="en-US" dirty="0"/>
          </a:p>
        </p:txBody>
      </p:sp>
      <p:pic>
        <p:nvPicPr>
          <p:cNvPr id="5" name="Picture 4" descr="Logotype.png"/>
          <p:cNvPicPr>
            <a:picLocks noChangeAspect="1"/>
          </p:cNvPicPr>
          <p:nvPr/>
        </p:nvPicPr>
        <p:blipFill>
          <a:blip r:embed="rId2" cstate="print">
            <a:extLst>
              <a:ext uri="{28A0092B-C50C-407E-A947-70E740481C1C}">
                <a14:useLocalDpi xmlns="" xmlns:a14="http://schemas.microsoft.com/office/drawing/2010/main" xmlns:mv="urn:schemas-microsoft-com:mac:vml" xmlns:mc="http://schemas.openxmlformats.org/markup-compatibility/2006" val="0"/>
              </a:ext>
            </a:extLst>
          </a:blip>
          <a:stretch>
            <a:fillRect/>
          </a:stretch>
        </p:blipFill>
        <p:spPr>
          <a:xfrm>
            <a:off x="941012" y="1539265"/>
            <a:ext cx="2370836" cy="584454"/>
          </a:xfrm>
          <a:prstGeom prst="rect">
            <a:avLst/>
          </a:prstGeom>
          <a:effectLst/>
        </p:spPr>
      </p:pic>
    </p:spTree>
    <p:extLst>
      <p:ext uri="{BB962C8B-B14F-4D97-AF65-F5344CB8AC3E}">
        <p14:creationId xmlns="" xmlns:p14="http://schemas.microsoft.com/office/powerpoint/2010/main" xmlns:mv="urn:schemas-microsoft-com:mac:vml" xmlns:mc="http://schemas.openxmlformats.org/markup-compatibility/2006" val="2070215287"/>
      </p:ext>
    </p:extLst>
  </p:cSld>
  <p:clrMapOvr>
    <a:masterClrMapping/>
  </p:clrMapOvr>
  <p:timing>
    <p:tnLst>
      <p:par>
        <p:cTn id="1" dur="indefinite" restart="never" nodeType="tmRoot"/>
      </p:par>
    </p:tnLst>
  </p:timing>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342900" indent="-342900">
              <a:buClr>
                <a:schemeClr val="accent1"/>
              </a:buClr>
              <a:buFont typeface="Wingdings" charset="2"/>
              <a:buChar char="§"/>
              <a:defRPr/>
            </a:lvl1pPr>
            <a:lvl3pPr marL="1143000" indent="-228600">
              <a:buClr>
                <a:schemeClr val="accent1"/>
              </a:buClr>
              <a:buFont typeface="Wingdings" charset="2"/>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D9835D4E-A03B-497D-980F-527C580185C5}" type="datetime1">
              <a:rPr lang="ja-JP" altLang="en-US" smtClean="0"/>
              <a:pPr>
                <a:defRPr/>
              </a:pPr>
              <a:t>2015/12/7</a:t>
            </a:fld>
            <a:endParaRPr lang="en-US" altLang="ja-JP"/>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C4D852CE-BE3B-41BF-97BC-2B64B4386389}"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24539365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29817"/>
            <a:ext cx="7772400" cy="1362075"/>
          </a:xfrm>
        </p:spPr>
        <p:txBody>
          <a:bodyPr anchor="t">
            <a:normAutofit/>
          </a:bodyPr>
          <a:lstStyle>
            <a:lvl1pPr algn="l">
              <a:defRPr sz="3000" b="1" cap="all" spc="0"/>
            </a:lvl1pPr>
          </a:lstStyle>
          <a:p>
            <a:r>
              <a:rPr lang="en-US" smtClean="0"/>
              <a:t>Click to edit Master title style</a:t>
            </a:r>
            <a:endParaRPr lang="en-US" dirty="0"/>
          </a:p>
        </p:txBody>
      </p:sp>
      <p:sp>
        <p:nvSpPr>
          <p:cNvPr id="3" name="Text Placeholder 2"/>
          <p:cNvSpPr>
            <a:spLocks noGrp="1"/>
          </p:cNvSpPr>
          <p:nvPr>
            <p:ph type="body" idx="1"/>
          </p:nvPr>
        </p:nvSpPr>
        <p:spPr>
          <a:xfrm>
            <a:off x="733233" y="2619305"/>
            <a:ext cx="7772400" cy="1500187"/>
          </a:xfrm>
        </p:spPr>
        <p:txBody>
          <a:bodyPr anchor="b"/>
          <a:lstStyle>
            <a:lvl1pPr marL="0" indent="0">
              <a:buNone/>
              <a:defRPr sz="2000" b="1"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92C61FAF-4679-4347-86E2-BEEEDF183234}" type="datetime1">
              <a:rPr lang="ja-JP" altLang="en-US" smtClean="0"/>
              <a:pPr>
                <a:defRPr/>
              </a:pPr>
              <a:t>2015/12/7</a:t>
            </a:fld>
            <a:endParaRPr lang="en-US" altLang="ja-JP"/>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DC8B3EEA-20FB-411C-B164-504AE7011CD2}"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325911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accent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457200" y="1744133"/>
            <a:ext cx="4038600" cy="4203367"/>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44132"/>
            <a:ext cx="4038600" cy="4203368"/>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CC3ECB42-FF39-475F-B7F2-62FE83497E78}" type="datetime1">
              <a:rPr lang="ja-JP" altLang="en-US" smtClean="0"/>
              <a:pPr>
                <a:defRPr/>
              </a:pPr>
              <a:t>2015/12/7</a:t>
            </a:fld>
            <a:endParaRPr lang="en-US" altLang="ja-JP"/>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ADC57514-9DB0-4ED2-8E5E-E210C69469A4}"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3617151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744133"/>
            <a:ext cx="4040188"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260600"/>
            <a:ext cx="4040188"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7" y="1744133"/>
            <a:ext cx="4041775"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260600"/>
            <a:ext cx="4041775"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a:off x="6699250" y="6278671"/>
            <a:ext cx="927434" cy="365125"/>
          </a:xfrm>
          <a:prstGeom prst="rect">
            <a:avLst/>
          </a:prstGeom>
        </p:spPr>
        <p:txBody>
          <a:bodyPr/>
          <a:lstStyle/>
          <a:p>
            <a:pPr>
              <a:defRPr/>
            </a:pPr>
            <a:fld id="{5852471E-16EE-419F-9102-81620C8CD854}" type="datetime1">
              <a:rPr lang="ja-JP" altLang="en-US" smtClean="0"/>
              <a:pPr>
                <a:defRPr/>
              </a:pPr>
              <a:t>2015/12/7</a:t>
            </a:fld>
            <a:endParaRPr lang="en-US" altLang="ja-JP"/>
          </a:p>
        </p:txBody>
      </p:sp>
      <p:sp>
        <p:nvSpPr>
          <p:cNvPr id="8" name="Footer Placeholder 7"/>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9" name="Slide Number Placeholder 8"/>
          <p:cNvSpPr>
            <a:spLocks noGrp="1"/>
          </p:cNvSpPr>
          <p:nvPr>
            <p:ph type="sldNum" sz="quarter" idx="12"/>
          </p:nvPr>
        </p:nvSpPr>
        <p:spPr>
          <a:xfrm>
            <a:off x="7626684" y="6278671"/>
            <a:ext cx="1060116" cy="365125"/>
          </a:xfrm>
          <a:prstGeom prst="rect">
            <a:avLst/>
          </a:prstGeom>
        </p:spPr>
        <p:txBody>
          <a:bodyPr/>
          <a:lstStyle/>
          <a:p>
            <a:pPr>
              <a:defRPr/>
            </a:pPr>
            <a:fld id="{947B00CB-C2AF-4E98-821D-5AA4783A2200}"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25041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a:xfrm>
            <a:off x="6699250" y="6278671"/>
            <a:ext cx="927434" cy="365125"/>
          </a:xfrm>
          <a:prstGeom prst="rect">
            <a:avLst/>
          </a:prstGeom>
        </p:spPr>
        <p:txBody>
          <a:bodyPr/>
          <a:lstStyle/>
          <a:p>
            <a:pPr>
              <a:defRPr/>
            </a:pPr>
            <a:fld id="{91F6ABD2-E5A2-4ABD-8C59-5B7410FC4B72}" type="datetime1">
              <a:rPr lang="ja-JP" altLang="en-US" smtClean="0"/>
              <a:pPr>
                <a:defRPr/>
              </a:pPr>
              <a:t>2015/12/7</a:t>
            </a:fld>
            <a:endParaRPr lang="en-US" altLang="ja-JP"/>
          </a:p>
        </p:txBody>
      </p:sp>
      <p:sp>
        <p:nvSpPr>
          <p:cNvPr id="4" name="Footer Placeholder 3"/>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5" name="Slide Number Placeholder 4"/>
          <p:cNvSpPr>
            <a:spLocks noGrp="1"/>
          </p:cNvSpPr>
          <p:nvPr>
            <p:ph type="sldNum" sz="quarter" idx="12"/>
          </p:nvPr>
        </p:nvSpPr>
        <p:spPr>
          <a:xfrm>
            <a:off x="7626684" y="6278671"/>
            <a:ext cx="1060116" cy="365125"/>
          </a:xfrm>
          <a:prstGeom prst="rect">
            <a:avLst/>
          </a:prstGeom>
        </p:spPr>
        <p:txBody>
          <a:bodyPr/>
          <a:lstStyle/>
          <a:p>
            <a:pPr>
              <a:defRPr/>
            </a:pPr>
            <a:fld id="{A094FAC7-A773-4A44-95C0-86A0052B3206}"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273225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99250" y="6278671"/>
            <a:ext cx="927434" cy="365125"/>
          </a:xfrm>
          <a:prstGeom prst="rect">
            <a:avLst/>
          </a:prstGeom>
        </p:spPr>
        <p:txBody>
          <a:bodyPr/>
          <a:lstStyle/>
          <a:p>
            <a:pPr>
              <a:defRPr/>
            </a:pPr>
            <a:fld id="{6CA6083F-B774-47F8-BA5E-E59A23A86875}" type="datetime1">
              <a:rPr lang="ja-JP" altLang="en-US" smtClean="0"/>
              <a:pPr>
                <a:defRPr/>
              </a:pPr>
              <a:t>2015/12/7</a:t>
            </a:fld>
            <a:endParaRPr lang="en-US" altLang="ja-JP"/>
          </a:p>
        </p:txBody>
      </p:sp>
      <p:sp>
        <p:nvSpPr>
          <p:cNvPr id="3" name="Footer Placeholder 2"/>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4" name="Slide Number Placeholder 3"/>
          <p:cNvSpPr>
            <a:spLocks noGrp="1"/>
          </p:cNvSpPr>
          <p:nvPr>
            <p:ph type="sldNum" sz="quarter" idx="12"/>
          </p:nvPr>
        </p:nvSpPr>
        <p:spPr>
          <a:xfrm>
            <a:off x="7626684" y="6278671"/>
            <a:ext cx="1060116" cy="365125"/>
          </a:xfrm>
          <a:prstGeom prst="rect">
            <a:avLst/>
          </a:prstGeom>
        </p:spPr>
        <p:txBody>
          <a:bodyPr/>
          <a:lstStyle/>
          <a:p>
            <a:pPr>
              <a:defRPr/>
            </a:pPr>
            <a:fld id="{9154C372-7171-4FBA-8296-E22AE6E8F06B}"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79556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spc="0"/>
            </a:lvl1pPr>
          </a:lstStyle>
          <a:p>
            <a:r>
              <a:rPr lang="en-US" smtClean="0"/>
              <a:t>Click to edit Master title style</a:t>
            </a:r>
            <a:endParaRPr lang="en-US" dirty="0"/>
          </a:p>
        </p:txBody>
      </p:sp>
      <p:sp>
        <p:nvSpPr>
          <p:cNvPr id="3" name="Content Placeholder 2"/>
          <p:cNvSpPr>
            <a:spLocks noGrp="1"/>
          </p:cNvSpPr>
          <p:nvPr>
            <p:ph idx="1"/>
          </p:nvPr>
        </p:nvSpPr>
        <p:spPr>
          <a:xfrm>
            <a:off x="3575050" y="273051"/>
            <a:ext cx="5111750" cy="5700391"/>
          </a:xfrm>
        </p:spPr>
        <p:txBody>
          <a:bodyPr/>
          <a:lstStyle>
            <a:lvl1pPr marL="342900" indent="-342900">
              <a:buClr>
                <a:schemeClr val="accent1"/>
              </a:buClr>
              <a:buFont typeface="Wingdings" charset="2"/>
              <a:buChar char="§"/>
              <a:defRPr sz="3200"/>
            </a:lvl1pPr>
            <a:lvl2pPr>
              <a:defRPr sz="2800"/>
            </a:lvl2pPr>
            <a:lvl3pPr marL="1143000" indent="-228600">
              <a:buClr>
                <a:schemeClr val="accent1"/>
              </a:buClr>
              <a:buFont typeface="Wingdings"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2" y="1435102"/>
            <a:ext cx="3008313" cy="45383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209D9126-4C05-435C-95D2-F2C075F1AC6F}" type="datetime1">
              <a:rPr lang="ja-JP" altLang="en-US" smtClean="0"/>
              <a:pPr>
                <a:defRPr/>
              </a:pPr>
              <a:t>2015/12/7</a:t>
            </a:fld>
            <a:endParaRPr lang="en-US" altLang="ja-JP"/>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293E5D1E-EF30-4FA2-8977-BADAFC9A6628}"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368992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497343"/>
            <a:ext cx="5486400" cy="566739"/>
          </a:xfrm>
        </p:spPr>
        <p:txBody>
          <a:bodyPr anchor="b"/>
          <a:lstStyle>
            <a:lvl1pPr algn="l">
              <a:defRPr sz="2000" b="1" spc="0">
                <a:solidFill>
                  <a:schemeClr val="accent1"/>
                </a:solidFill>
              </a:defRPr>
            </a:lvl1pPr>
          </a:lstStyle>
          <a:p>
            <a:r>
              <a:rPr lang="sv-SE" dirty="0" smtClean="0"/>
              <a:t>CLICK TO EDIT MASTER TITLE STYLE</a:t>
            </a:r>
            <a:endParaRPr lang="en-US" dirty="0"/>
          </a:p>
        </p:txBody>
      </p:sp>
      <p:sp>
        <p:nvSpPr>
          <p:cNvPr id="3" name="Picture Placeholder 2"/>
          <p:cNvSpPr>
            <a:spLocks noGrp="1"/>
          </p:cNvSpPr>
          <p:nvPr>
            <p:ph type="pic" idx="1"/>
          </p:nvPr>
        </p:nvSpPr>
        <p:spPr>
          <a:xfrm>
            <a:off x="1792288" y="612775"/>
            <a:ext cx="5486400" cy="38692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06408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629DA2C2-8A2A-4D94-B228-7C3DE94A7684}" type="datetime1">
              <a:rPr lang="ja-JP" altLang="en-US" smtClean="0"/>
              <a:pPr>
                <a:defRPr/>
              </a:pPr>
              <a:t>2015/12/7</a:t>
            </a:fld>
            <a:endParaRPr lang="en-US" altLang="ja-JP"/>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D86B9641-574F-41B5-969C-96C392E03C7D}"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1045348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084028FC-0541-4489-9474-4982445C2B25}" type="datetime1">
              <a:rPr lang="ja-JP" altLang="en-US" smtClean="0"/>
              <a:pPr>
                <a:defRPr/>
              </a:pPr>
              <a:t>2015/12/7</a:t>
            </a:fld>
            <a:endParaRPr lang="en-US" altLang="ja-JP"/>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68B32E93-CA58-4C6E-A2B8-2D84DD283EAB}"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444047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69880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69880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852D561C-F65E-44AA-B01F-046F1F9F06CB}" type="datetime1">
              <a:rPr lang="ja-JP" altLang="en-US" smtClean="0"/>
              <a:pPr>
                <a:defRPr/>
              </a:pPr>
              <a:t>2015/12/7</a:t>
            </a:fld>
            <a:endParaRPr lang="en-US" altLang="ja-JP"/>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42FC0E90-F848-4E2B-8294-7AAF2F257080}" type="slidenum">
              <a:rPr lang="en-US" altLang="ja-JP" smtClean="0"/>
              <a:pPr>
                <a:defRPr/>
              </a:pPr>
              <a:t>‹#›</a:t>
            </a:fld>
            <a:endParaRPr lang="en-US" altLang="ja-JP"/>
          </a:p>
        </p:txBody>
      </p:sp>
    </p:spTree>
    <p:extLst>
      <p:ext uri="{BB962C8B-B14F-4D97-AF65-F5344CB8AC3E}">
        <p14:creationId xmlns="" xmlns:p14="http://schemas.microsoft.com/office/powerpoint/2010/main" xmlns:mv="urn:schemas-microsoft-com:mac:vml" xmlns:mc="http://schemas.openxmlformats.org/markup-compatibility/2006" val="294655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432000"/>
            <a:ext cx="8229600" cy="1134535"/>
          </a:xfrm>
        </p:spPr>
        <p:txBody>
          <a:bodyPr tIns="0"/>
          <a:lstStyle>
            <a:lvl1pPr>
              <a:defRPr>
                <a:solidFill>
                  <a:schemeClr val="accent1"/>
                </a:solidFill>
              </a:defRPr>
            </a:lvl1pPr>
          </a:lstStyle>
          <a:p>
            <a:r>
              <a:rPr lang="en-US" altLang="zh-CN" smtClean="0"/>
              <a:t>Click to edit Master title style</a:t>
            </a:r>
            <a:endParaRPr lang="en-US" dirty="0"/>
          </a:p>
        </p:txBody>
      </p:sp>
      <p:sp>
        <p:nvSpPr>
          <p:cNvPr id="4" name="Date Placeholder 3"/>
          <p:cNvSpPr>
            <a:spLocks noGrp="1"/>
          </p:cNvSpPr>
          <p:nvPr>
            <p:ph type="dt" sz="half" idx="10"/>
          </p:nvPr>
        </p:nvSpPr>
        <p:spPr/>
        <p:txBody>
          <a:bodyPr/>
          <a:lstStyle/>
          <a:p>
            <a:fld id="{6D91BB64-23DD-48C9-9B24-55594D3842F2}" type="datetimeFigureOut">
              <a:rPr lang="zh-TW" altLang="en-US" smtClean="0">
                <a:solidFill>
                  <a:srgbClr val="999A94"/>
                </a:solidFill>
              </a:rPr>
              <a:pPr/>
              <a:t>2015/12/7</a:t>
            </a:fld>
            <a:endParaRPr lang="zh-TW" altLang="en-US">
              <a:solidFill>
                <a:srgbClr val="999A94"/>
              </a:solidFill>
            </a:endParaRPr>
          </a:p>
        </p:txBody>
      </p:sp>
      <p:sp>
        <p:nvSpPr>
          <p:cNvPr id="5" name="Footer Placeholder 4"/>
          <p:cNvSpPr>
            <a:spLocks noGrp="1"/>
          </p:cNvSpPr>
          <p:nvPr>
            <p:ph type="ftr" sz="quarter" idx="11"/>
          </p:nvPr>
        </p:nvSpPr>
        <p:spPr/>
        <p:txBody>
          <a:bodyPr/>
          <a:lstStyle/>
          <a:p>
            <a:endParaRPr lang="zh-TW" altLang="en-US">
              <a:solidFill>
                <a:srgbClr val="999A94"/>
              </a:solidFill>
            </a:endParaRPr>
          </a:p>
        </p:txBody>
      </p:sp>
      <p:sp>
        <p:nvSpPr>
          <p:cNvPr id="6" name="Slide Number Placeholder 5"/>
          <p:cNvSpPr>
            <a:spLocks noGrp="1"/>
          </p:cNvSpPr>
          <p:nvPr>
            <p:ph type="sldNum" sz="quarter" idx="12"/>
          </p:nvPr>
        </p:nvSpPr>
        <p:spPr/>
        <p:txBody>
          <a:bodyPr/>
          <a:lstStyle/>
          <a:p>
            <a:fld id="{394B318C-85F9-4CA5-A001-8A766919DFA0}" type="slidenum">
              <a:rPr lang="zh-TW" altLang="en-US" smtClean="0"/>
              <a:pPr/>
              <a:t>‹#›</a:t>
            </a:fld>
            <a:endParaRPr lang="zh-TW" altLang="en-US"/>
          </a:p>
        </p:txBody>
      </p:sp>
      <p:sp>
        <p:nvSpPr>
          <p:cNvPr id="10" name="Content Placeholder 9"/>
          <p:cNvSpPr>
            <a:spLocks noGrp="1"/>
          </p:cNvSpPr>
          <p:nvPr>
            <p:ph sz="quarter" idx="13"/>
          </p:nvPr>
        </p:nvSpPr>
        <p:spPr>
          <a:xfrm>
            <a:off x="457200" y="1854201"/>
            <a:ext cx="8229600" cy="4314402"/>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Tree>
    <p:extLst>
      <p:ext uri="{BB962C8B-B14F-4D97-AF65-F5344CB8AC3E}">
        <p14:creationId xmlns:p14="http://schemas.microsoft.com/office/powerpoint/2010/main" xmlns="" val="245393654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01E2B4-4ACD-46F5-B21A-D81C18521B58}"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01E2B4-4ACD-46F5-B21A-D81C18521B58}"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01E2B4-4ACD-46F5-B21A-D81C18521B58}"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501E2B4-4ACD-46F5-B21A-D81C18521B58}"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01E2B4-4ACD-46F5-B21A-D81C18521B58}" type="datetimeFigureOut">
              <a:rPr lang="en-US" smtClean="0"/>
              <a:pPr/>
              <a:t>12/7/2015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01E2B4-4ACD-46F5-B21A-D81C18521B58}" type="datetimeFigureOut">
              <a:rPr lang="en-US" smtClean="0"/>
              <a:pPr/>
              <a:t>12/7/2015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01E2B4-4ACD-46F5-B21A-D81C18521B58}" type="datetimeFigureOut">
              <a:rPr lang="en-US" smtClean="0"/>
              <a:pPr/>
              <a:t>12/7/2015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01E2B4-4ACD-46F5-B21A-D81C18521B58}"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01E2B4-4ACD-46F5-B21A-D81C18521B58}"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01E2B4-4ACD-46F5-B21A-D81C18521B58}"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01E2B4-4ACD-46F5-B21A-D81C18521B58}"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D0A08-A985-48DE-9F4F-F757F9A8F170}"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2F302A-5367-47E5-A66F-9A096B108486}"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2F302A-5367-47E5-A66F-9A096B108486}"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2F302A-5367-47E5-A66F-9A096B108486}"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2F302A-5367-47E5-A66F-9A096B108486}"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2F302A-5367-47E5-A66F-9A096B108486}" type="datetimeFigureOut">
              <a:rPr lang="en-US" smtClean="0"/>
              <a:pPr/>
              <a:t>12/7/2015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2F302A-5367-47E5-A66F-9A096B108486}" type="datetimeFigureOut">
              <a:rPr lang="en-US" smtClean="0"/>
              <a:pPr/>
              <a:t>12/7/2015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2F302A-5367-47E5-A66F-9A096B108486}" type="datetimeFigureOut">
              <a:rPr lang="en-US" smtClean="0"/>
              <a:pPr/>
              <a:t>12/7/2015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2F302A-5367-47E5-A66F-9A096B108486}"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2F302A-5367-47E5-A66F-9A096B108486}" type="datetimeFigureOut">
              <a:rPr lang="en-US" smtClean="0"/>
              <a:pPr/>
              <a:t>12/7/2015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2F302A-5367-47E5-A66F-9A096B108486}"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2F302A-5367-47E5-A66F-9A096B108486}" type="datetimeFigureOut">
              <a:rPr lang="en-US" smtClean="0"/>
              <a:pPr/>
              <a:t>12/7/2015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FE2B3-B024-4126-B4EA-CB62619F597F}" type="slidenum">
              <a:rPr lang="en-US" smtClean="0"/>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gradFill flip="none" rotWithShape="1">
          <a:gsLst>
            <a:gs pos="40000">
              <a:schemeClr val="tx1"/>
            </a:gs>
            <a:gs pos="0">
              <a:schemeClr val="bg2">
                <a:lumMod val="2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ctr">
              <a:lnSpc>
                <a:spcPct val="80000"/>
              </a:lnSpc>
              <a:buNone/>
              <a:defRPr spc="-150">
                <a:solidFill>
                  <a:schemeClr val="accent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bg1"/>
                </a:solidFill>
              </a:defRPr>
            </a:lvl1pPr>
          </a:lstStyle>
          <a:p>
            <a:r>
              <a:rPr lang="en-US" smtClean="0"/>
              <a:t>Click to edit Master title style</a:t>
            </a:r>
            <a:endParaRPr lang="en-US" dirty="0"/>
          </a:p>
        </p:txBody>
      </p:sp>
      <p:pic>
        <p:nvPicPr>
          <p:cNvPr id="5" name="Picture 4" descr="Logotype.png"/>
          <p:cNvPicPr>
            <a:picLocks noChangeAspect="1"/>
          </p:cNvPicPr>
          <p:nvPr userDrawn="1"/>
        </p:nvPicPr>
        <p:blipFill>
          <a:blip r:embed="rId2" cstate="print">
            <a:extLst>
              <a:ext uri="{28A0092B-C50C-407E-A947-70E740481C1C}">
                <a14:useLocalDpi xmlns="" xmlns:a14="http://schemas.microsoft.com/office/drawing/2010/main" xmlns:mv="urn:schemas-microsoft-com:mac:vml" xmlns:mc="http://schemas.openxmlformats.org/markup-compatibility/2006" val="0"/>
              </a:ext>
            </a:extLst>
          </a:blip>
          <a:stretch>
            <a:fillRect/>
          </a:stretch>
        </p:blipFill>
        <p:spPr>
          <a:xfrm>
            <a:off x="941012" y="1539268"/>
            <a:ext cx="2370836" cy="584454"/>
          </a:xfrm>
          <a:prstGeom prst="rect">
            <a:avLst/>
          </a:prstGeom>
          <a:effectLst/>
        </p:spPr>
      </p:pic>
    </p:spTree>
    <p:extLst>
      <p:ext uri="{BB962C8B-B14F-4D97-AF65-F5344CB8AC3E}">
        <p14:creationId xmlns="" xmlns:p14="http://schemas.microsoft.com/office/powerpoint/2010/main" xmlns:mv="urn:schemas-microsoft-com:mac:vml" xmlns:mc="http://schemas.openxmlformats.org/markup-compatibility/2006" val="1860299664"/>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8993595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Box 3"/>
          <p:cNvSpPr txBox="1"/>
          <p:nvPr userDrawn="1"/>
        </p:nvSpPr>
        <p:spPr>
          <a:xfrm>
            <a:off x="3962400" y="6775450"/>
            <a:ext cx="184666" cy="646331"/>
          </a:xfrm>
          <a:prstGeom prst="rect">
            <a:avLst/>
          </a:prstGeom>
          <a:noFill/>
        </p:spPr>
        <p:txBody>
          <a:bodyPr wrap="none" rtlCol="0">
            <a:spAutoFit/>
          </a:bodyPr>
          <a:lstStyle/>
          <a:p>
            <a:endParaRPr lang="en-US" dirty="0" smtClean="0"/>
          </a:p>
          <a:p>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11513713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hasCustomPrompt="1"/>
          </p:nvPr>
        </p:nvSpPr>
        <p:spPr>
          <a:xfrm>
            <a:off x="722313" y="2906185"/>
            <a:ext cx="7772400" cy="1500716"/>
          </a:xfrm>
        </p:spPr>
        <p:txBody>
          <a:bodyPr anchor="b"/>
          <a:lstStyle>
            <a:lvl1pPr marL="0" indent="0">
              <a:buNone/>
              <a:defRPr sz="2000" b="1" spc="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dirty="0" smtClean="0"/>
              <a:t>CLICK TO EDIT MASTER TEXT STYLES</a:t>
            </a:r>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987931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33022139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4" name="Footer Placeholder 4"/>
          <p:cNvSpPr>
            <a:spLocks noGrp="1"/>
          </p:cNvSpPr>
          <p:nvPr>
            <p:ph type="ftr" sz="quarter" idx="11"/>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5" name="Slide Number Placeholder 5"/>
          <p:cNvSpPr>
            <a:spLocks noGrp="1"/>
          </p:cNvSpPr>
          <p:nvPr>
            <p:ph type="sldNum" sz="quarter" idx="12"/>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31597682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0"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1"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8013617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9"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6591770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spc="0"/>
            </a:lvl1pPr>
          </a:lstStyle>
          <a:p>
            <a:r>
              <a:rPr lang="en-US" smtClean="0"/>
              <a:t>Click to edit Master title style</a:t>
            </a:r>
            <a:endParaRPr lang="en-US"/>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40376381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7267"/>
          </a:xfrm>
        </p:spPr>
        <p:txBody>
          <a:bodyPr anchor="b"/>
          <a:lstStyle>
            <a:lvl1pPr algn="l">
              <a:defRPr sz="2000" b="1" spc="0"/>
            </a:lvl1pPr>
          </a:lstStyle>
          <a:p>
            <a:r>
              <a:rPr lang="sv-SE" dirty="0" smtClean="0"/>
              <a:t>CLICK TO EDIT MASTER TITLE STYLE</a:t>
            </a:r>
            <a:endParaRPr lang="en-US" dirty="0"/>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22155952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40439384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D6895-D491-9943-8088-4994C1785692}" type="datetime1">
              <a:rPr lang="sv-SE" smtClean="0"/>
              <a:pPr/>
              <a:t>2015-12-07</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 xmlns:p14="http://schemas.microsoft.com/office/powerpoint/2010/main" xmlns:mv="urn:schemas-microsoft-com:mac:vml" xmlns:mc="http://schemas.openxmlformats.org/markup-compatibility/2006" val="7535699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l">
              <a:lnSpc>
                <a:spcPct val="80000"/>
              </a:lnSpc>
              <a:buNone/>
              <a:defRPr spc="-15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tx1"/>
                </a:solidFill>
              </a:defRPr>
            </a:lvl1pPr>
          </a:lstStyle>
          <a:p>
            <a:r>
              <a:rPr lang="en-US" smtClean="0"/>
              <a:t>Click to edit Master title style</a:t>
            </a:r>
            <a:endParaRPr lang="en-US" dirty="0"/>
          </a:p>
        </p:txBody>
      </p:sp>
      <p:pic>
        <p:nvPicPr>
          <p:cNvPr id="5" name="Picture 4" descr="Logotype.png"/>
          <p:cNvPicPr>
            <a:picLocks noChangeAspect="1"/>
          </p:cNvPicPr>
          <p:nvPr/>
        </p:nvPicPr>
        <p:blipFill>
          <a:blip r:embed="rId2" cstate="print">
            <a:extLst>
              <a:ext uri="{28A0092B-C50C-407E-A947-70E740481C1C}">
                <a14:useLocalDpi xmlns="" xmlns:a14="http://schemas.microsoft.com/office/drawing/2010/main" xmlns:mv="urn:schemas-microsoft-com:mac:vml" xmlns:mc="http://schemas.openxmlformats.org/markup-compatibility/2006" val="0"/>
              </a:ext>
            </a:extLst>
          </a:blip>
          <a:stretch>
            <a:fillRect/>
          </a:stretch>
        </p:blipFill>
        <p:spPr>
          <a:xfrm>
            <a:off x="941012" y="1539265"/>
            <a:ext cx="2370836" cy="584454"/>
          </a:xfrm>
          <a:prstGeom prst="rect">
            <a:avLst/>
          </a:prstGeom>
          <a:effectLst/>
        </p:spPr>
      </p:pic>
    </p:spTree>
    <p:extLst>
      <p:ext uri="{BB962C8B-B14F-4D97-AF65-F5344CB8AC3E}">
        <p14:creationId xmlns="" xmlns:p14="http://schemas.microsoft.com/office/powerpoint/2010/main" xmlns:mv="urn:schemas-microsoft-com:mac:vml" xmlns:mc="http://schemas.openxmlformats.org/markup-compatibility/2006" val="2070215287"/>
      </p:ext>
    </p:extLst>
  </p:cSld>
  <p:clrMapOvr>
    <a:masterClrMapping/>
  </p:clrMapOvr>
  <p:timing>
    <p:tnLst>
      <p:par>
        <p:cTn id="1" dur="indefinite" restart="never" nodeType="tmRoot"/>
      </p:par>
    </p:tnLst>
  </p:timing>
  <p:hf hdr="0"/>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342900" indent="-342900">
              <a:buClr>
                <a:schemeClr val="accent1"/>
              </a:buClr>
              <a:buFont typeface="Wingdings" charset="2"/>
              <a:buChar char="§"/>
              <a:defRPr/>
            </a:lvl1pPr>
            <a:lvl3pPr marL="1143000" indent="-228600">
              <a:buClr>
                <a:schemeClr val="accent1"/>
              </a:buClr>
              <a:buFont typeface="Wingdings" charset="2"/>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D9835D4E-A03B-497D-980F-527C580185C5}" type="datetime1">
              <a:rPr lang="ja-JP" altLang="en-US" smtClean="0">
                <a:solidFill>
                  <a:srgbClr val="999A94"/>
                </a:solidFill>
              </a:rPr>
              <a:pPr>
                <a:defRPr/>
              </a:pPr>
              <a:t>2015/12/7</a:t>
            </a:fld>
            <a:endParaRPr lang="en-US" altLang="ja-JP">
              <a:solidFill>
                <a:srgbClr val="999A94"/>
              </a:solidFill>
            </a:endParaRPr>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C4D852CE-BE3B-41BF-97BC-2B64B4386389}"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2453936549"/>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29817"/>
            <a:ext cx="7772400" cy="1362075"/>
          </a:xfrm>
        </p:spPr>
        <p:txBody>
          <a:bodyPr anchor="t">
            <a:normAutofit/>
          </a:bodyPr>
          <a:lstStyle>
            <a:lvl1pPr algn="l">
              <a:defRPr sz="3000" b="1" cap="all" spc="0"/>
            </a:lvl1pPr>
          </a:lstStyle>
          <a:p>
            <a:r>
              <a:rPr lang="en-US" smtClean="0"/>
              <a:t>Click to edit Master title style</a:t>
            </a:r>
            <a:endParaRPr lang="en-US" dirty="0"/>
          </a:p>
        </p:txBody>
      </p:sp>
      <p:sp>
        <p:nvSpPr>
          <p:cNvPr id="3" name="Text Placeholder 2"/>
          <p:cNvSpPr>
            <a:spLocks noGrp="1"/>
          </p:cNvSpPr>
          <p:nvPr>
            <p:ph type="body" idx="1"/>
          </p:nvPr>
        </p:nvSpPr>
        <p:spPr>
          <a:xfrm>
            <a:off x="733233" y="2619305"/>
            <a:ext cx="7772400" cy="1500187"/>
          </a:xfrm>
        </p:spPr>
        <p:txBody>
          <a:bodyPr anchor="b"/>
          <a:lstStyle>
            <a:lvl1pPr marL="0" indent="0">
              <a:buNone/>
              <a:defRPr sz="2000" b="1"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92C61FAF-4679-4347-86E2-BEEEDF183234}" type="datetime1">
              <a:rPr lang="ja-JP" altLang="en-US" smtClean="0">
                <a:solidFill>
                  <a:srgbClr val="999A94"/>
                </a:solidFill>
              </a:rPr>
              <a:pPr>
                <a:defRPr/>
              </a:pPr>
              <a:t>2015/12/7</a:t>
            </a:fld>
            <a:endParaRPr lang="en-US" altLang="ja-JP">
              <a:solidFill>
                <a:srgbClr val="999A94"/>
              </a:solidFill>
            </a:endParaRPr>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DC8B3EEA-20FB-411C-B164-504AE7011CD2}"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32591194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accent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457200" y="1744133"/>
            <a:ext cx="4038600" cy="4203367"/>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44132"/>
            <a:ext cx="4038600" cy="4203368"/>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CC3ECB42-FF39-475F-B7F2-62FE83497E78}" type="datetime1">
              <a:rPr lang="ja-JP" altLang="en-US" smtClean="0">
                <a:solidFill>
                  <a:srgbClr val="999A94"/>
                </a:solidFill>
              </a:rPr>
              <a:pPr>
                <a:defRPr/>
              </a:pPr>
              <a:t>2015/12/7</a:t>
            </a:fld>
            <a:endParaRPr lang="en-US" altLang="ja-JP">
              <a:solidFill>
                <a:srgbClr val="999A94"/>
              </a:solidFill>
            </a:endParaRPr>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ADC57514-9DB0-4ED2-8E5E-E210C69469A4}"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36171517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744133"/>
            <a:ext cx="4040188"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260600"/>
            <a:ext cx="4040188"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7" y="1744133"/>
            <a:ext cx="4041775"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260600"/>
            <a:ext cx="4041775"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a:off x="6699250" y="6278671"/>
            <a:ext cx="927434" cy="365125"/>
          </a:xfrm>
          <a:prstGeom prst="rect">
            <a:avLst/>
          </a:prstGeom>
        </p:spPr>
        <p:txBody>
          <a:bodyPr/>
          <a:lstStyle/>
          <a:p>
            <a:pPr>
              <a:defRPr/>
            </a:pPr>
            <a:fld id="{5852471E-16EE-419F-9102-81620C8CD854}" type="datetime1">
              <a:rPr lang="ja-JP" altLang="en-US" smtClean="0">
                <a:solidFill>
                  <a:srgbClr val="999A94"/>
                </a:solidFill>
              </a:rPr>
              <a:pPr>
                <a:defRPr/>
              </a:pPr>
              <a:t>2015/12/7</a:t>
            </a:fld>
            <a:endParaRPr lang="en-US" altLang="ja-JP">
              <a:solidFill>
                <a:srgbClr val="999A94"/>
              </a:solidFill>
            </a:endParaRPr>
          </a:p>
        </p:txBody>
      </p:sp>
      <p:sp>
        <p:nvSpPr>
          <p:cNvPr id="8" name="Footer Placeholder 7"/>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9" name="Slide Number Placeholder 8"/>
          <p:cNvSpPr>
            <a:spLocks noGrp="1"/>
          </p:cNvSpPr>
          <p:nvPr>
            <p:ph type="sldNum" sz="quarter" idx="12"/>
          </p:nvPr>
        </p:nvSpPr>
        <p:spPr>
          <a:xfrm>
            <a:off x="7626684" y="6278671"/>
            <a:ext cx="1060116" cy="365125"/>
          </a:xfrm>
          <a:prstGeom prst="rect">
            <a:avLst/>
          </a:prstGeom>
        </p:spPr>
        <p:txBody>
          <a:bodyPr/>
          <a:lstStyle/>
          <a:p>
            <a:pPr>
              <a:defRPr/>
            </a:pPr>
            <a:fld id="{947B00CB-C2AF-4E98-821D-5AA4783A2200}"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2504124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a:xfrm>
            <a:off x="6699250" y="6278671"/>
            <a:ext cx="927434" cy="365125"/>
          </a:xfrm>
          <a:prstGeom prst="rect">
            <a:avLst/>
          </a:prstGeom>
        </p:spPr>
        <p:txBody>
          <a:bodyPr/>
          <a:lstStyle/>
          <a:p>
            <a:pPr>
              <a:defRPr/>
            </a:pPr>
            <a:fld id="{91F6ABD2-E5A2-4ABD-8C59-5B7410FC4B72}" type="datetime1">
              <a:rPr lang="ja-JP" altLang="en-US" smtClean="0">
                <a:solidFill>
                  <a:srgbClr val="999A94"/>
                </a:solidFill>
              </a:rPr>
              <a:pPr>
                <a:defRPr/>
              </a:pPr>
              <a:t>2015/12/7</a:t>
            </a:fld>
            <a:endParaRPr lang="en-US" altLang="ja-JP">
              <a:solidFill>
                <a:srgbClr val="999A94"/>
              </a:solidFill>
            </a:endParaRPr>
          </a:p>
        </p:txBody>
      </p:sp>
      <p:sp>
        <p:nvSpPr>
          <p:cNvPr id="4" name="Footer Placeholder 3"/>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5" name="Slide Number Placeholder 4"/>
          <p:cNvSpPr>
            <a:spLocks noGrp="1"/>
          </p:cNvSpPr>
          <p:nvPr>
            <p:ph type="sldNum" sz="quarter" idx="12"/>
          </p:nvPr>
        </p:nvSpPr>
        <p:spPr>
          <a:xfrm>
            <a:off x="7626684" y="6278671"/>
            <a:ext cx="1060116" cy="365125"/>
          </a:xfrm>
          <a:prstGeom prst="rect">
            <a:avLst/>
          </a:prstGeom>
        </p:spPr>
        <p:txBody>
          <a:bodyPr/>
          <a:lstStyle/>
          <a:p>
            <a:pPr>
              <a:defRPr/>
            </a:pPr>
            <a:fld id="{A094FAC7-A773-4A44-95C0-86A0052B3206}"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27322582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99250" y="6278671"/>
            <a:ext cx="927434" cy="365125"/>
          </a:xfrm>
          <a:prstGeom prst="rect">
            <a:avLst/>
          </a:prstGeom>
        </p:spPr>
        <p:txBody>
          <a:bodyPr/>
          <a:lstStyle/>
          <a:p>
            <a:pPr>
              <a:defRPr/>
            </a:pPr>
            <a:fld id="{6CA6083F-B774-47F8-BA5E-E59A23A86875}" type="datetime1">
              <a:rPr lang="ja-JP" altLang="en-US" smtClean="0">
                <a:solidFill>
                  <a:srgbClr val="999A94"/>
                </a:solidFill>
              </a:rPr>
              <a:pPr>
                <a:defRPr/>
              </a:pPr>
              <a:t>2015/12/7</a:t>
            </a:fld>
            <a:endParaRPr lang="en-US" altLang="ja-JP">
              <a:solidFill>
                <a:srgbClr val="999A94"/>
              </a:solidFill>
            </a:endParaRPr>
          </a:p>
        </p:txBody>
      </p:sp>
      <p:sp>
        <p:nvSpPr>
          <p:cNvPr id="3" name="Footer Placeholder 2"/>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4" name="Slide Number Placeholder 3"/>
          <p:cNvSpPr>
            <a:spLocks noGrp="1"/>
          </p:cNvSpPr>
          <p:nvPr>
            <p:ph type="sldNum" sz="quarter" idx="12"/>
          </p:nvPr>
        </p:nvSpPr>
        <p:spPr>
          <a:xfrm>
            <a:off x="7626684" y="6278671"/>
            <a:ext cx="1060116" cy="365125"/>
          </a:xfrm>
          <a:prstGeom prst="rect">
            <a:avLst/>
          </a:prstGeom>
        </p:spPr>
        <p:txBody>
          <a:bodyPr/>
          <a:lstStyle/>
          <a:p>
            <a:pPr>
              <a:defRPr/>
            </a:pPr>
            <a:fld id="{9154C372-7171-4FBA-8296-E22AE6E8F06B}"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795566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spc="0"/>
            </a:lvl1pPr>
          </a:lstStyle>
          <a:p>
            <a:r>
              <a:rPr lang="en-US" smtClean="0"/>
              <a:t>Click to edit Master title style</a:t>
            </a:r>
            <a:endParaRPr lang="en-US" dirty="0"/>
          </a:p>
        </p:txBody>
      </p:sp>
      <p:sp>
        <p:nvSpPr>
          <p:cNvPr id="3" name="Content Placeholder 2"/>
          <p:cNvSpPr>
            <a:spLocks noGrp="1"/>
          </p:cNvSpPr>
          <p:nvPr>
            <p:ph idx="1"/>
          </p:nvPr>
        </p:nvSpPr>
        <p:spPr>
          <a:xfrm>
            <a:off x="3575050" y="273051"/>
            <a:ext cx="5111750" cy="5700391"/>
          </a:xfrm>
        </p:spPr>
        <p:txBody>
          <a:bodyPr/>
          <a:lstStyle>
            <a:lvl1pPr marL="342900" indent="-342900">
              <a:buClr>
                <a:schemeClr val="accent1"/>
              </a:buClr>
              <a:buFont typeface="Wingdings" charset="2"/>
              <a:buChar char="§"/>
              <a:defRPr sz="3200"/>
            </a:lvl1pPr>
            <a:lvl2pPr>
              <a:defRPr sz="2800"/>
            </a:lvl2pPr>
            <a:lvl3pPr marL="1143000" indent="-228600">
              <a:buClr>
                <a:schemeClr val="accent1"/>
              </a:buClr>
              <a:buFont typeface="Wingdings"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2" y="1435102"/>
            <a:ext cx="3008313" cy="45383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209D9126-4C05-435C-95D2-F2C075F1AC6F}" type="datetime1">
              <a:rPr lang="ja-JP" altLang="en-US" smtClean="0">
                <a:solidFill>
                  <a:srgbClr val="999A94"/>
                </a:solidFill>
              </a:rPr>
              <a:pPr>
                <a:defRPr/>
              </a:pPr>
              <a:t>2015/12/7</a:t>
            </a:fld>
            <a:endParaRPr lang="en-US" altLang="ja-JP">
              <a:solidFill>
                <a:srgbClr val="999A94"/>
              </a:solidFill>
            </a:endParaRPr>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293E5D1E-EF30-4FA2-8977-BADAFC9A6628}"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36899208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497343"/>
            <a:ext cx="5486400" cy="566739"/>
          </a:xfrm>
        </p:spPr>
        <p:txBody>
          <a:bodyPr anchor="b"/>
          <a:lstStyle>
            <a:lvl1pPr algn="l">
              <a:defRPr sz="2000" b="1" spc="0">
                <a:solidFill>
                  <a:schemeClr val="accent1"/>
                </a:solidFill>
              </a:defRPr>
            </a:lvl1pPr>
          </a:lstStyle>
          <a:p>
            <a:r>
              <a:rPr lang="sv-SE" dirty="0" smtClean="0"/>
              <a:t>CLICK TO EDIT MASTER TITLE STYLE</a:t>
            </a:r>
            <a:endParaRPr lang="en-US" dirty="0"/>
          </a:p>
        </p:txBody>
      </p:sp>
      <p:sp>
        <p:nvSpPr>
          <p:cNvPr id="3" name="Picture Placeholder 2"/>
          <p:cNvSpPr>
            <a:spLocks noGrp="1"/>
          </p:cNvSpPr>
          <p:nvPr>
            <p:ph type="pic" idx="1"/>
          </p:nvPr>
        </p:nvSpPr>
        <p:spPr>
          <a:xfrm>
            <a:off x="1792288" y="612775"/>
            <a:ext cx="5486400" cy="38692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06408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pPr>
              <a:defRPr/>
            </a:pPr>
            <a:fld id="{629DA2C2-8A2A-4D94-B228-7C3DE94A7684}" type="datetime1">
              <a:rPr lang="ja-JP" altLang="en-US" smtClean="0">
                <a:solidFill>
                  <a:srgbClr val="999A94"/>
                </a:solidFill>
              </a:rPr>
              <a:pPr>
                <a:defRPr/>
              </a:pPr>
              <a:t>2015/12/7</a:t>
            </a:fld>
            <a:endParaRPr lang="en-US" altLang="ja-JP">
              <a:solidFill>
                <a:srgbClr val="999A94"/>
              </a:solidFill>
            </a:endParaRPr>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pPr>
              <a:defRPr/>
            </a:pPr>
            <a:fld id="{D86B9641-574F-41B5-969C-96C392E03C7D}"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10453482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084028FC-0541-4489-9474-4982445C2B25}" type="datetime1">
              <a:rPr lang="ja-JP" altLang="en-US" smtClean="0">
                <a:solidFill>
                  <a:srgbClr val="999A94"/>
                </a:solidFill>
              </a:rPr>
              <a:pPr>
                <a:defRPr/>
              </a:pPr>
              <a:t>2015/12/7</a:t>
            </a:fld>
            <a:endParaRPr lang="en-US" altLang="ja-JP">
              <a:solidFill>
                <a:srgbClr val="999A94"/>
              </a:solidFill>
            </a:endParaRPr>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68B32E93-CA58-4C6E-A2B8-2D84DD283EAB}"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4440472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69880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69880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pPr>
              <a:defRPr/>
            </a:pPr>
            <a:fld id="{852D561C-F65E-44AA-B01F-046F1F9F06CB}" type="datetime1">
              <a:rPr lang="ja-JP" altLang="en-US" smtClean="0">
                <a:solidFill>
                  <a:srgbClr val="999A94"/>
                </a:solidFill>
              </a:rPr>
              <a:pPr>
                <a:defRPr/>
              </a:pPr>
              <a:t>2015/12/7</a:t>
            </a:fld>
            <a:endParaRPr lang="en-US" altLang="ja-JP">
              <a:solidFill>
                <a:srgbClr val="999A94"/>
              </a:solidFill>
            </a:endParaRPr>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pPr>
              <a:defRPr/>
            </a:pPr>
            <a:fld id="{42FC0E90-F848-4E2B-8294-7AAF2F257080}" type="slidenum">
              <a:rPr lang="en-US" altLang="ja-JP" smtClean="0">
                <a:solidFill>
                  <a:srgbClr val="F3821E"/>
                </a:solidFill>
              </a:rPr>
              <a:pPr>
                <a:defRPr/>
              </a:pPr>
              <a:t>‹#›</a:t>
            </a:fld>
            <a:endParaRPr lang="en-US" altLang="ja-JP">
              <a:solidFill>
                <a:srgbClr val="F3821E"/>
              </a:solidFill>
            </a:endParaRPr>
          </a:p>
        </p:txBody>
      </p:sp>
    </p:spTree>
    <p:extLst>
      <p:ext uri="{BB962C8B-B14F-4D97-AF65-F5344CB8AC3E}">
        <p14:creationId xmlns="" xmlns:p14="http://schemas.microsoft.com/office/powerpoint/2010/main" xmlns:mv="urn:schemas-microsoft-com:mac:vml" xmlns:mc="http://schemas.openxmlformats.org/markup-compatibility/2006" val="29465554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56675" name="Rectangle 3"/>
          <p:cNvSpPr>
            <a:spLocks noGrp="1" noChangeArrowheads="1"/>
          </p:cNvSpPr>
          <p:nvPr>
            <p:ph type="ctrTitle"/>
          </p:nvPr>
        </p:nvSpPr>
        <p:spPr>
          <a:xfrm>
            <a:off x="309563" y="2420938"/>
            <a:ext cx="8524875" cy="1441450"/>
          </a:xfrm>
        </p:spPr>
        <p:txBody>
          <a:bodyPr/>
          <a:lstStyle>
            <a:lvl1pPr algn="ctr">
              <a:defRPr/>
            </a:lvl1pPr>
          </a:lstStyle>
          <a:p>
            <a:r>
              <a:rPr lang="en-US" altLang="zh-TW"/>
              <a:t>Title: Arial Bold 32pt</a:t>
            </a:r>
            <a:endParaRPr lang="zh-TW" altLang="en-US"/>
          </a:p>
        </p:txBody>
      </p:sp>
      <p:sp>
        <p:nvSpPr>
          <p:cNvPr id="156676" name="Rectangle 4"/>
          <p:cNvSpPr>
            <a:spLocks noGrp="1" noChangeArrowheads="1"/>
          </p:cNvSpPr>
          <p:nvPr>
            <p:ph type="subTitle" idx="1"/>
          </p:nvPr>
        </p:nvSpPr>
        <p:spPr>
          <a:xfrm>
            <a:off x="309563" y="4079875"/>
            <a:ext cx="8524875" cy="1223963"/>
          </a:xfrm>
        </p:spPr>
        <p:txBody>
          <a:bodyPr/>
          <a:lstStyle>
            <a:lvl1pPr marL="0" indent="0" algn="ctr">
              <a:buFont typeface="Arial" charset="0"/>
              <a:buNone/>
              <a:defRPr/>
            </a:lvl1pPr>
          </a:lstStyle>
          <a:p>
            <a:r>
              <a:rPr lang="en-US" altLang="zh-TW"/>
              <a:t>Subtitle: Arial 24pt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599"/>
            <a:ext cx="8229600" cy="1134535"/>
          </a:xfrm>
          <a:prstGeom prst="rect">
            <a:avLst/>
          </a:prstGeom>
        </p:spPr>
        <p:txBody>
          <a:bodyPr vert="horz" lIns="91440" tIns="45720" rIns="91440" bIns="45720" rtlCol="0" anchor="t">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744133"/>
            <a:ext cx="8229600" cy="4289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pPr>
              <a:defRPr/>
            </a:pPr>
            <a:fld id="{7FAEBACD-0157-45B6-868E-61387CC5FB0A}" type="datetime1">
              <a:rPr lang="ja-JP" altLang="en-US" smtClean="0"/>
              <a:pPr>
                <a:defRPr/>
              </a:pPr>
              <a:t>2015/12/7</a:t>
            </a:fld>
            <a:endParaRPr lang="en-US" altLang="ja-JP"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pPr>
              <a:defRPr/>
            </a:pPr>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pPr>
              <a:defRPr/>
            </a:pPr>
            <a:fld id="{F87D96CC-A585-4544-A410-79F05217583B}" type="slidenum">
              <a:rPr lang="en-US" altLang="ja-JP" smtClean="0"/>
              <a:pPr>
                <a:defRPr/>
              </a:pPr>
              <a:t>‹#›</a:t>
            </a:fld>
            <a:endParaRPr lang="en-US" altLang="ja-JP"/>
          </a:p>
        </p:txBody>
      </p:sp>
      <p:pic>
        <p:nvPicPr>
          <p:cNvPr id="13" name="Picture 12" descr="Logotype.png"/>
          <p:cNvPicPr>
            <a:picLocks noChangeAspect="1"/>
          </p:cNvPicPr>
          <p:nvPr/>
        </p:nvPicPr>
        <p:blipFill>
          <a:blip r:embed="rId14" cstate="print">
            <a:extLst>
              <a:ext uri="{28A0092B-C50C-407E-A947-70E740481C1C}">
                <a14:useLocalDpi xmlns="" xmlns:a14="http://schemas.microsoft.com/office/drawing/2010/main" xmlns:mv="urn:schemas-microsoft-com:mac:vml" xmlns:mc="http://schemas.openxmlformats.org/markup-compatibility/2006" val="0"/>
              </a:ext>
            </a:extLst>
          </a:blip>
          <a:stretch>
            <a:fillRect/>
          </a:stretch>
        </p:blipFill>
        <p:spPr>
          <a:xfrm>
            <a:off x="450852" y="6361222"/>
            <a:ext cx="760781" cy="190561"/>
          </a:xfrm>
          <a:prstGeom prst="rect">
            <a:avLst/>
          </a:prstGeom>
        </p:spPr>
      </p:pic>
      <p:sp>
        <p:nvSpPr>
          <p:cNvPr id="14"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smtClean="0">
                <a:solidFill>
                  <a:srgbClr val="69BE28"/>
                </a:solidFill>
              </a:rPr>
              <a:t>INTERNAL USE</a:t>
            </a:r>
            <a:endParaRPr lang="en-US" altLang="zh-TW" sz="800" b="1" dirty="0">
              <a:solidFill>
                <a:srgbClr val="69BE28"/>
              </a:solidFill>
            </a:endParaRPr>
          </a:p>
        </p:txBody>
      </p:sp>
    </p:spTree>
    <p:extLst>
      <p:ext uri="{BB962C8B-B14F-4D97-AF65-F5344CB8AC3E}">
        <p14:creationId xmlns="" xmlns:p14="http://schemas.microsoft.com/office/powerpoint/2010/main" xmlns:mv="urn:schemas-microsoft-com:mac:vml" xmlns:mc="http://schemas.openxmlformats.org/markup-compatibility/2006" val="309785283"/>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4003" r:id="rId12"/>
  </p:sldLayoutIdLst>
  <p:timing>
    <p:tnLst>
      <p:par>
        <p:cTn id="1" dur="indefinite" restart="never" nodeType="tmRoot"/>
      </p:par>
    </p:tnLst>
  </p:timing>
  <p:hf hdr="0"/>
  <p:txStyles>
    <p:titleStyle>
      <a:lvl1pPr algn="ctr" defTabSz="457200" rtl="0" eaLnBrk="1" latinLnBrk="0" hangingPunct="1">
        <a:lnSpc>
          <a:spcPct val="80000"/>
        </a:lnSpc>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2"/>
        </a:buClr>
        <a:buFont typeface="Wingdings" charset="2"/>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01E2B4-4ACD-46F5-B21A-D81C18521B58}" type="datetimeFigureOut">
              <a:rPr lang="en-US" smtClean="0"/>
              <a:pPr/>
              <a:t>12/7/2015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6D0A08-A985-48DE-9F4F-F757F9A8F17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2F302A-5367-47E5-A66F-9A096B108486}" type="datetimeFigureOut">
              <a:rPr lang="en-US" smtClean="0"/>
              <a:pPr/>
              <a:t>12/7/2015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1FE2B3-B024-4126-B4EA-CB62619F597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770BDA4A-776A-4546-918F-32281E291F21}" type="datetime1">
              <a:rPr lang="sv-SE" smtClean="0"/>
              <a:pPr/>
              <a:t>2015-12-07</a:t>
            </a:fld>
            <a:endParaRPr lang="en-US" dirty="0"/>
          </a:p>
        </p:txBody>
      </p:sp>
      <p:sp>
        <p:nvSpPr>
          <p:cNvPr id="14"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r>
              <a:rPr lang="en-US" altLang="zh-TW" dirty="0" smtClean="0"/>
              <a:t>Copyright © </a:t>
            </a:r>
            <a:r>
              <a:rPr lang="en-US" altLang="zh-TW" dirty="0" err="1" smtClean="0"/>
              <a:t>MediaTek</a:t>
            </a:r>
            <a:r>
              <a:rPr lang="en-US" altLang="zh-TW" dirty="0" smtClean="0"/>
              <a:t> Inc. All rights reserved.</a:t>
            </a:r>
            <a:endParaRPr lang="en-US" altLang="zh-TW" dirty="0"/>
          </a:p>
        </p:txBody>
      </p:sp>
      <p:sp>
        <p:nvSpPr>
          <p:cNvPr id="15"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3E54FAAE-D303-1440-B1E5-D1AB6CEFDBFD}" type="slidenum">
              <a:rPr lang="en-US" smtClean="0"/>
              <a:pPr/>
              <a:t>‹#›</a:t>
            </a:fld>
            <a:endParaRPr lang="en-US" dirty="0"/>
          </a:p>
        </p:txBody>
      </p:sp>
      <p:sp>
        <p:nvSpPr>
          <p:cNvPr id="16"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smtClean="0">
                <a:solidFill>
                  <a:schemeClr val="accent3"/>
                </a:solidFill>
              </a:rPr>
              <a:t>INTERNAL USE</a:t>
            </a:r>
            <a:endParaRPr lang="en-US" altLang="zh-TW" sz="800" b="1" dirty="0">
              <a:solidFill>
                <a:schemeClr val="accent3"/>
              </a:solidFill>
            </a:endParaRPr>
          </a:p>
        </p:txBody>
      </p:sp>
      <p:pic>
        <p:nvPicPr>
          <p:cNvPr id="17" name="Picture 16" descr="Logotype.png"/>
          <p:cNvPicPr>
            <a:picLocks noChangeAspect="1"/>
          </p:cNvPicPr>
          <p:nvPr/>
        </p:nvPicPr>
        <p:blipFill>
          <a:blip r:embed="rId14" cstate="print"/>
          <a:stretch>
            <a:fillRect/>
          </a:stretch>
        </p:blipFill>
        <p:spPr>
          <a:xfrm>
            <a:off x="438623" y="6361221"/>
            <a:ext cx="773010" cy="190561"/>
          </a:xfrm>
          <a:prstGeom prst="rect">
            <a:avLst/>
          </a:prstGeom>
        </p:spPr>
      </p:pic>
    </p:spTree>
    <p:extLst>
      <p:ext uri="{BB962C8B-B14F-4D97-AF65-F5344CB8AC3E}">
        <p14:creationId xmlns="" xmlns:p14="http://schemas.microsoft.com/office/powerpoint/2010/main" xmlns:mv="urn:schemas-microsoft-com:mac:vml" xmlns:mc="http://schemas.openxmlformats.org/markup-compatibility/2006" val="2693870709"/>
      </p:ext>
    </p:extLst>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Lst>
  <p:hf hdr="0"/>
  <p:txStyles>
    <p:titleStyle>
      <a:lvl1pPr algn="ctr" defTabSz="457200" rtl="0" eaLnBrk="1" latinLnBrk="0" hangingPunct="1">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1"/>
        </a:buClr>
        <a:buSzPct val="100000"/>
        <a:buFont typeface="Wingdings" charset="2"/>
        <a:buChar char="§"/>
        <a:defRPr sz="3200" kern="1200" spc="-15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spc="-15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spc="-15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599"/>
            <a:ext cx="8229600" cy="1134535"/>
          </a:xfrm>
          <a:prstGeom prst="rect">
            <a:avLst/>
          </a:prstGeom>
        </p:spPr>
        <p:txBody>
          <a:bodyPr vert="horz" lIns="91440" tIns="45720" rIns="91440" bIns="45720" rtlCol="0" anchor="t">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744133"/>
            <a:ext cx="8229600" cy="4289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pPr>
              <a:defRPr/>
            </a:pPr>
            <a:fld id="{7FAEBACD-0157-45B6-868E-61387CC5FB0A}" type="datetime1">
              <a:rPr lang="ja-JP" altLang="en-US" smtClean="0">
                <a:solidFill>
                  <a:srgbClr val="999A94"/>
                </a:solidFill>
              </a:rPr>
              <a:pPr>
                <a:defRPr/>
              </a:pPr>
              <a:t>2015/12/7</a:t>
            </a:fld>
            <a:endParaRPr lang="en-US" altLang="ja-JP">
              <a:solidFill>
                <a:srgbClr val="999A94"/>
              </a:solidFill>
            </a:endParaRPr>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pPr>
              <a:defRPr/>
            </a:pPr>
            <a:r>
              <a:rPr lang="en-US" altLang="zh-TW" dirty="0" smtClean="0">
                <a:solidFill>
                  <a:srgbClr val="999A94"/>
                </a:solidFill>
              </a:rPr>
              <a:t>Copyright © </a:t>
            </a:r>
            <a:r>
              <a:rPr lang="en-US" altLang="zh-TW" dirty="0" err="1" smtClean="0">
                <a:solidFill>
                  <a:srgbClr val="999A94"/>
                </a:solidFill>
              </a:rPr>
              <a:t>MediaTek</a:t>
            </a:r>
            <a:r>
              <a:rPr lang="en-US" altLang="zh-TW" dirty="0" smtClean="0">
                <a:solidFill>
                  <a:srgbClr val="999A94"/>
                </a:solidFill>
              </a:rPr>
              <a:t> Inc. All rights reserved.</a:t>
            </a:r>
            <a:endParaRPr lang="en-US" altLang="zh-TW" dirty="0">
              <a:solidFill>
                <a:srgbClr val="999A94"/>
              </a:solidFill>
            </a:endParaRPr>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pPr>
              <a:defRPr/>
            </a:pPr>
            <a:fld id="{F87D96CC-A585-4544-A410-79F05217583B}" type="slidenum">
              <a:rPr lang="en-US" altLang="ja-JP" smtClean="0">
                <a:solidFill>
                  <a:srgbClr val="F3821E"/>
                </a:solidFill>
              </a:rPr>
              <a:pPr>
                <a:defRPr/>
              </a:pPr>
              <a:t>‹#›</a:t>
            </a:fld>
            <a:endParaRPr lang="en-US" altLang="ja-JP">
              <a:solidFill>
                <a:srgbClr val="F3821E"/>
              </a:solidFill>
            </a:endParaRPr>
          </a:p>
        </p:txBody>
      </p:sp>
      <p:pic>
        <p:nvPicPr>
          <p:cNvPr id="13" name="Picture 12" descr="Logotype.png"/>
          <p:cNvPicPr>
            <a:picLocks noChangeAspect="1"/>
          </p:cNvPicPr>
          <p:nvPr/>
        </p:nvPicPr>
        <p:blipFill>
          <a:blip r:embed="rId14" cstate="print">
            <a:extLst>
              <a:ext uri="{28A0092B-C50C-407E-A947-70E740481C1C}">
                <a14:useLocalDpi xmlns="" xmlns:a14="http://schemas.microsoft.com/office/drawing/2010/main" xmlns:mv="urn:schemas-microsoft-com:mac:vml" xmlns:mc="http://schemas.openxmlformats.org/markup-compatibility/2006" val="0"/>
              </a:ext>
            </a:extLst>
          </a:blip>
          <a:stretch>
            <a:fillRect/>
          </a:stretch>
        </p:blipFill>
        <p:spPr>
          <a:xfrm>
            <a:off x="450852" y="6361222"/>
            <a:ext cx="760781" cy="190561"/>
          </a:xfrm>
          <a:prstGeom prst="rect">
            <a:avLst/>
          </a:prstGeom>
        </p:spPr>
      </p:pic>
      <p:sp>
        <p:nvSpPr>
          <p:cNvPr id="14"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smtClean="0">
                <a:solidFill>
                  <a:srgbClr val="69BE28"/>
                </a:solidFill>
              </a:rPr>
              <a:t>INTERNAL USE</a:t>
            </a:r>
            <a:endParaRPr lang="en-US" altLang="zh-TW" sz="800" b="1" dirty="0">
              <a:solidFill>
                <a:srgbClr val="69BE28"/>
              </a:solidFill>
            </a:endParaRPr>
          </a:p>
        </p:txBody>
      </p:sp>
    </p:spTree>
    <p:extLst>
      <p:ext uri="{BB962C8B-B14F-4D97-AF65-F5344CB8AC3E}">
        <p14:creationId xmlns="" xmlns:p14="http://schemas.microsoft.com/office/powerpoint/2010/main" xmlns:mv="urn:schemas-microsoft-com:mac:vml" xmlns:mc="http://schemas.openxmlformats.org/markup-compatibility/2006" val="309785283"/>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Lst>
  <p:timing>
    <p:tnLst>
      <p:par>
        <p:cTn id="1" dur="indefinite" restart="never" nodeType="tmRoot"/>
      </p:par>
    </p:tnLst>
  </p:timing>
  <p:hf hdr="0"/>
  <p:txStyles>
    <p:titleStyle>
      <a:lvl1pPr algn="ctr" defTabSz="457200" rtl="0" eaLnBrk="1" latinLnBrk="0" hangingPunct="1">
        <a:lnSpc>
          <a:spcPct val="80000"/>
        </a:lnSpc>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2"/>
        </a:buClr>
        <a:buFont typeface="Wingdings" charset="2"/>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94100" y="1463066"/>
            <a:ext cx="5092700" cy="2770497"/>
          </a:xfrm>
        </p:spPr>
        <p:txBody>
          <a:bodyPr/>
          <a:lstStyle/>
          <a:p>
            <a:r>
              <a:rPr lang="en-US" dirty="0" smtClean="0"/>
              <a:t>X20 DSP FAQ</a:t>
            </a:r>
            <a:br>
              <a:rPr lang="en-US" dirty="0" smtClean="0"/>
            </a:br>
            <a:r>
              <a:rPr lang="en-US" sz="2800" dirty="0" smtClean="0"/>
              <a:t>Cortex-M4 Processor </a:t>
            </a:r>
            <a:br>
              <a:rPr lang="en-US" sz="2800" dirty="0" smtClean="0"/>
            </a:br>
            <a:r>
              <a:rPr lang="en-US" sz="2800" dirty="0" smtClean="0"/>
              <a:t>as open DSP v1.1</a:t>
            </a:r>
            <a:endParaRPr lang="en-US" sz="2800" dirty="0"/>
          </a:p>
        </p:txBody>
      </p:sp>
      <p:sp>
        <p:nvSpPr>
          <p:cNvPr id="4" name="Subtitle 3"/>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 Information</a:t>
            </a:r>
            <a:endParaRPr lang="en-US" dirty="0"/>
          </a:p>
        </p:txBody>
      </p:sp>
      <p:sp>
        <p:nvSpPr>
          <p:cNvPr id="4" name="Subtitle 3"/>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4824536"/>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dirty="0" smtClean="0">
                <a:latin typeface="+mn-lt"/>
              </a:rPr>
              <a:t>Platform and Development Environment</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Internal Memory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512 KB SRAM, access with zero wait state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No separate for PMEM/DMEM</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Tool Chain</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gcc-arm-none-eabi-4_8-2014q3</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Operating System</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rgbClr val="0000FF"/>
                </a:solidFill>
                <a:latin typeface="+mn-lt"/>
              </a:rPr>
              <a:t>FreeRTOS</a:t>
            </a:r>
            <a:endParaRPr lang="en-US" altLang="zh-TW" sz="1400" dirty="0" smtClean="0">
              <a:solidFill>
                <a:srgbClr val="0000FF"/>
              </a:solidFill>
              <a:latin typeface="+mn-lt"/>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Clock Rate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Maximum clock rate reaches 354 MHz</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Compile Option / MTK Built-in Features</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have sensor hub/sound trigger/MP3 decoder in DSP which can be disabled in compile time by compile options to release more memory for vendor’s usage</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Other Features</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don’t provide cache or dynamic switch binaries for DSP, there is only 512 KB for all features</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have Floating Point Units (FPU)</a:t>
            </a:r>
          </a:p>
          <a:p>
            <a:pPr marL="1257300" lvl="2" indent="-342900" defTabSz="457200" fontAlgn="auto">
              <a:lnSpc>
                <a:spcPct val="90000"/>
              </a:lnSpc>
              <a:spcBef>
                <a:spcPct val="20000"/>
              </a:spcBef>
              <a:spcAft>
                <a:spcPts val="0"/>
              </a:spcAft>
              <a:buClr>
                <a:srgbClr val="F39A1E"/>
              </a:buClr>
              <a:buFont typeface="Calibri Bold"/>
              <a:buChar char="▪"/>
              <a:defRPr/>
            </a:pPr>
            <a:endParaRPr lang="en-US" altLang="zh-TW" sz="1600" dirty="0" smtClean="0">
              <a:solidFill>
                <a:srgbClr val="0000FF"/>
              </a:solidFill>
              <a:latin typeface="+mn-lt"/>
            </a:endParaRPr>
          </a:p>
        </p:txBody>
      </p:sp>
      <p:sp>
        <p:nvSpPr>
          <p:cNvPr id="6" name="Rectangle 5"/>
          <p:cNvSpPr/>
          <p:nvPr/>
        </p:nvSpPr>
        <p:spPr>
          <a:xfrm>
            <a:off x="8239" y="5296"/>
            <a:ext cx="7228057"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Getting Start</a:t>
            </a:r>
            <a:endParaRPr lang="en-US" altLang="zh-TW" sz="1600" b="1" dirty="0" smtClean="0">
              <a:latin typeface="Arial Black" pitchFamily="34" charset="0"/>
              <a:ea typeface="新細明體" pitchFamily="18"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2448272"/>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DVFS</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Clock Rate Selection</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have three DSP clock rate, if your application can be run at 110MHz, there is large power savings for the whole system</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don’t have automatic DVFS to detect current DSP loading and adjust the voltage automatically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What we do is to register a frequency requirement of the specified application. When the application starts, a provided API should be called to notify the system. Besides, it also needs to call another API to notify the system when it is stopped. The system will adjust the voltage according current applications.</a:t>
            </a:r>
          </a:p>
        </p:txBody>
      </p:sp>
      <p:sp>
        <p:nvSpPr>
          <p:cNvPr id="6" name="Rectangle 5"/>
          <p:cNvSpPr/>
          <p:nvPr/>
        </p:nvSpPr>
        <p:spPr>
          <a:xfrm>
            <a:off x="8239" y="5296"/>
            <a:ext cx="7228057"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Clock Rate</a:t>
            </a:r>
            <a:endParaRPr lang="en-US" altLang="zh-TW" sz="1600" b="1" dirty="0" smtClean="0">
              <a:latin typeface="Arial Black" pitchFamily="34" charset="0"/>
              <a:ea typeface="新細明體" pitchFamily="18" charset="-120"/>
            </a:endParaRPr>
          </a:p>
        </p:txBody>
      </p:sp>
      <p:grpSp>
        <p:nvGrpSpPr>
          <p:cNvPr id="5" name="Group 29"/>
          <p:cNvGrpSpPr/>
          <p:nvPr/>
        </p:nvGrpSpPr>
        <p:grpSpPr>
          <a:xfrm>
            <a:off x="2070563" y="3429000"/>
            <a:ext cx="5688440" cy="2854347"/>
            <a:chOff x="2070563" y="3325093"/>
            <a:chExt cx="5688440" cy="2854347"/>
          </a:xfrm>
        </p:grpSpPr>
        <p:sp>
          <p:nvSpPr>
            <p:cNvPr id="7" name="Rounded Rectangle 6"/>
            <p:cNvSpPr>
              <a:spLocks noChangeAspect="1"/>
            </p:cNvSpPr>
            <p:nvPr/>
          </p:nvSpPr>
          <p:spPr>
            <a:xfrm>
              <a:off x="2070563" y="3325093"/>
              <a:ext cx="1728000" cy="514331"/>
            </a:xfrm>
            <a:prstGeom prst="roundRect">
              <a:avLst/>
            </a:prstGeom>
            <a:solidFill>
              <a:schemeClr val="accent6">
                <a:lumMod val="60000"/>
                <a:lumOff val="4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Low Power Mode</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8" name="Rounded Rectangle 7"/>
            <p:cNvSpPr>
              <a:spLocks noChangeAspect="1"/>
            </p:cNvSpPr>
            <p:nvPr/>
          </p:nvSpPr>
          <p:spPr>
            <a:xfrm>
              <a:off x="2070563" y="4477221"/>
              <a:ext cx="1728000" cy="399575"/>
            </a:xfrm>
            <a:prstGeom prst="roundRect">
              <a:avLst/>
            </a:prstGeom>
            <a:solidFill>
              <a:schemeClr val="accent6">
                <a:lumMod val="60000"/>
                <a:lumOff val="4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110 MHz</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9" name="Rounded Rectangle 8"/>
            <p:cNvSpPr>
              <a:spLocks noChangeAspect="1"/>
            </p:cNvSpPr>
            <p:nvPr/>
          </p:nvSpPr>
          <p:spPr>
            <a:xfrm>
              <a:off x="2070563" y="4961800"/>
              <a:ext cx="1728000" cy="1217640"/>
            </a:xfrm>
            <a:prstGeom prst="roundRect">
              <a:avLst/>
            </a:prstGeom>
            <a:solidFill>
              <a:schemeClr val="accent6">
                <a:lumMod val="60000"/>
                <a:lumOff val="4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Ultra Low Power</a:t>
              </a:r>
            </a:p>
            <a:p>
              <a:pPr marL="0" marR="0" indent="0" algn="ctr" defTabSz="914400" eaLnBrk="1" fontAlgn="auto" latinLnBrk="0" hangingPunct="1">
                <a:lnSpc>
                  <a:spcPct val="100000"/>
                </a:lnSpc>
                <a:spcBef>
                  <a:spcPts val="0"/>
                </a:spcBef>
                <a:spcAft>
                  <a:spcPts val="0"/>
                </a:spcAft>
                <a:buClrTx/>
                <a:buSzTx/>
                <a:buFontTx/>
                <a:buNone/>
                <a:tabLst/>
              </a:pPr>
              <a:endParaRPr kumimoji="0" lang="en-US" sz="1600" kern="0" dirty="0" smtClean="0">
                <a:latin typeface="Calibri"/>
                <a:ea typeface="標楷體"/>
              </a:endParaRPr>
            </a:p>
            <a:p>
              <a:pPr marL="0" marR="0" indent="0" algn="ctr" defTabSz="914400" eaLnBrk="1" fontAlgn="auto" latinLnBrk="0" hangingPunct="1">
                <a:lnSpc>
                  <a:spcPct val="100000"/>
                </a:lnSpc>
                <a:spcBef>
                  <a:spcPts val="0"/>
                </a:spcBef>
                <a:spcAft>
                  <a:spcPts val="0"/>
                </a:spcAft>
                <a:buClrTx/>
                <a:buSzTx/>
                <a:buFontTx/>
                <a:buNone/>
                <a:tabLst/>
              </a:pPr>
              <a:r>
                <a:rPr kumimoji="0" lang="en-US" sz="1600" b="0" i="0" u="none" strike="noStrike" kern="0" cap="none" spc="0" normalizeH="0" baseline="0" noProof="0" dirty="0" smtClean="0">
                  <a:ln>
                    <a:noFill/>
                  </a:ln>
                  <a:effectLst/>
                  <a:uLnTx/>
                  <a:uFillTx/>
                  <a:latin typeface="Calibri"/>
                  <a:ea typeface="標楷體"/>
                  <a:cs typeface="+mn-cs"/>
                </a:rPr>
                <a:t>Always-on features</a:t>
              </a:r>
            </a:p>
          </p:txBody>
        </p:sp>
        <p:sp>
          <p:nvSpPr>
            <p:cNvPr id="10" name="Rounded Rectangle 9"/>
            <p:cNvSpPr>
              <a:spLocks noChangeAspect="1"/>
            </p:cNvSpPr>
            <p:nvPr/>
          </p:nvSpPr>
          <p:spPr>
            <a:xfrm>
              <a:off x="2070563" y="3953405"/>
              <a:ext cx="1728000" cy="399575"/>
            </a:xfrm>
            <a:prstGeom prst="roundRect">
              <a:avLst/>
            </a:prstGeom>
            <a:solidFill>
              <a:schemeClr val="accent6">
                <a:lumMod val="60000"/>
                <a:lumOff val="4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0.8V</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1" name="Rounded Rectangle 10"/>
            <p:cNvSpPr>
              <a:spLocks noChangeAspect="1"/>
            </p:cNvSpPr>
            <p:nvPr/>
          </p:nvSpPr>
          <p:spPr>
            <a:xfrm>
              <a:off x="4046742" y="3326096"/>
              <a:ext cx="1728000" cy="514331"/>
            </a:xfrm>
            <a:prstGeom prst="roundRect">
              <a:avLst/>
            </a:prstGeom>
            <a:solidFill>
              <a:schemeClr val="accent2">
                <a:lumMod val="40000"/>
                <a:lumOff val="6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Normal Mode</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2" name="Rounded Rectangle 11"/>
            <p:cNvSpPr>
              <a:spLocks noChangeAspect="1"/>
            </p:cNvSpPr>
            <p:nvPr/>
          </p:nvSpPr>
          <p:spPr>
            <a:xfrm>
              <a:off x="6031003" y="3326096"/>
              <a:ext cx="1728000" cy="514331"/>
            </a:xfrm>
            <a:prstGeom prst="roundRect">
              <a:avLst/>
            </a:prstGeom>
            <a:solidFill>
              <a:srgbClr val="47BDFF"/>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Turbo Mode</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3" name="Rounded Rectangle 12"/>
            <p:cNvSpPr>
              <a:spLocks noChangeAspect="1"/>
            </p:cNvSpPr>
            <p:nvPr/>
          </p:nvSpPr>
          <p:spPr>
            <a:xfrm>
              <a:off x="4047228" y="4478096"/>
              <a:ext cx="1728000" cy="399575"/>
            </a:xfrm>
            <a:prstGeom prst="roundRect">
              <a:avLst/>
            </a:prstGeom>
            <a:solidFill>
              <a:schemeClr val="accent2">
                <a:lumMod val="40000"/>
                <a:lumOff val="6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224 MHz</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4" name="Rounded Rectangle 13"/>
            <p:cNvSpPr>
              <a:spLocks noChangeAspect="1"/>
            </p:cNvSpPr>
            <p:nvPr/>
          </p:nvSpPr>
          <p:spPr>
            <a:xfrm>
              <a:off x="6031003" y="4478096"/>
              <a:ext cx="1728000" cy="399575"/>
            </a:xfrm>
            <a:prstGeom prst="roundRect">
              <a:avLst/>
            </a:prstGeom>
            <a:solidFill>
              <a:srgbClr val="47BDFF"/>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354 MHz</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5" name="Rounded Rectangle 14"/>
            <p:cNvSpPr>
              <a:spLocks noChangeAspect="1"/>
            </p:cNvSpPr>
            <p:nvPr/>
          </p:nvSpPr>
          <p:spPr>
            <a:xfrm>
              <a:off x="4047228" y="4960496"/>
              <a:ext cx="1728000" cy="1216548"/>
            </a:xfrm>
            <a:prstGeom prst="roundRect">
              <a:avLst/>
            </a:prstGeom>
            <a:solidFill>
              <a:schemeClr val="accent2">
                <a:lumMod val="40000"/>
                <a:lumOff val="6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Normal applications</a:t>
              </a:r>
            </a:p>
          </p:txBody>
        </p:sp>
        <p:sp>
          <p:nvSpPr>
            <p:cNvPr id="16" name="Rounded Rectangle 15"/>
            <p:cNvSpPr>
              <a:spLocks noChangeAspect="1"/>
            </p:cNvSpPr>
            <p:nvPr/>
          </p:nvSpPr>
          <p:spPr>
            <a:xfrm>
              <a:off x="6031003" y="4960496"/>
              <a:ext cx="1728000" cy="1216548"/>
            </a:xfrm>
            <a:prstGeom prst="roundRect">
              <a:avLst/>
            </a:prstGeom>
            <a:solidFill>
              <a:srgbClr val="47BDFF"/>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noProof="0" dirty="0" smtClean="0">
                  <a:latin typeface="Calibri"/>
                  <a:ea typeface="標楷體"/>
                </a:rPr>
                <a:t>High Sampling Rate applications</a:t>
              </a:r>
            </a:p>
            <a:p>
              <a:pPr marL="0" marR="0" indent="0" algn="ctr" defTabSz="914400" eaLnBrk="1" fontAlgn="auto" latinLnBrk="0" hangingPunct="1">
                <a:lnSpc>
                  <a:spcPct val="100000"/>
                </a:lnSpc>
                <a:spcBef>
                  <a:spcPts val="0"/>
                </a:spcBef>
                <a:spcAft>
                  <a:spcPts val="0"/>
                </a:spcAft>
                <a:buClrTx/>
                <a:buSzTx/>
                <a:buFontTx/>
                <a:buNone/>
                <a:tabLst/>
              </a:pPr>
              <a:endParaRPr kumimoji="0" lang="en-US" sz="1600" kern="0" noProof="0" dirty="0" smtClean="0">
                <a:latin typeface="Calibri"/>
                <a:ea typeface="標楷體"/>
              </a:endParaRPr>
            </a:p>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High Complexity algorithm</a:t>
              </a:r>
            </a:p>
          </p:txBody>
        </p:sp>
        <p:sp>
          <p:nvSpPr>
            <p:cNvPr id="17" name="Rounded Rectangle 16"/>
            <p:cNvSpPr>
              <a:spLocks noChangeAspect="1"/>
            </p:cNvSpPr>
            <p:nvPr/>
          </p:nvSpPr>
          <p:spPr>
            <a:xfrm>
              <a:off x="4047228" y="3952496"/>
              <a:ext cx="1728000" cy="399575"/>
            </a:xfrm>
            <a:prstGeom prst="roundRect">
              <a:avLst/>
            </a:prstGeom>
            <a:solidFill>
              <a:schemeClr val="accent2">
                <a:lumMod val="40000"/>
                <a:lumOff val="60000"/>
              </a:schemeClr>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0.9 V</a:t>
              </a:r>
              <a:endParaRPr kumimoji="0" lang="en-US" sz="1600" b="0" i="0" u="none" strike="noStrike" kern="0" cap="none" spc="0" normalizeH="0" baseline="0" noProof="0" dirty="0" smtClean="0">
                <a:ln>
                  <a:noFill/>
                </a:ln>
                <a:effectLst/>
                <a:uLnTx/>
                <a:uFillTx/>
                <a:latin typeface="Calibri"/>
                <a:ea typeface="標楷體"/>
                <a:cs typeface="+mn-cs"/>
              </a:endParaRPr>
            </a:p>
          </p:txBody>
        </p:sp>
        <p:sp>
          <p:nvSpPr>
            <p:cNvPr id="18" name="Rounded Rectangle 17"/>
            <p:cNvSpPr>
              <a:spLocks noChangeAspect="1"/>
            </p:cNvSpPr>
            <p:nvPr/>
          </p:nvSpPr>
          <p:spPr>
            <a:xfrm>
              <a:off x="6031003" y="3952496"/>
              <a:ext cx="1728000" cy="399575"/>
            </a:xfrm>
            <a:prstGeom prst="roundRect">
              <a:avLst/>
            </a:prstGeom>
            <a:solidFill>
              <a:srgbClr val="47BDFF"/>
            </a:solidFill>
            <a:ln w="25400" cap="flat" cmpd="sng" algn="ctr">
              <a:noFill/>
              <a:prstDash val="sysDash"/>
            </a:ln>
            <a:effectLst/>
          </p:spPr>
          <p:txBody>
            <a:bodyPr rtlCol="0" anchor="ctr" anchorCtr="1"/>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kern="0" dirty="0" smtClean="0">
                  <a:latin typeface="Calibri"/>
                  <a:ea typeface="標楷體"/>
                </a:rPr>
                <a:t>1.0 V</a:t>
              </a:r>
              <a:endParaRPr kumimoji="0" lang="en-US" sz="1600" b="0" i="0" u="none" strike="noStrike" kern="0" cap="none" spc="0" normalizeH="0" baseline="0" noProof="0" dirty="0" smtClean="0">
                <a:ln>
                  <a:noFill/>
                </a:ln>
                <a:effectLst/>
                <a:uLnTx/>
                <a:uFillTx/>
                <a:latin typeface="Calibri"/>
                <a:ea typeface="標楷體"/>
                <a:cs typeface="+mn-cs"/>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4752528"/>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MTK Built-in Features Resource Requirement</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Internal Memory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Sensor Hub – around 324KB (RO 172KB, RW 112KB) </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Sound Trigger – 142KB  (RO 30KB, RW 112KB)</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MP3 + SRC – 130KB (RO 65KB, RW 65KB)</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Operating System – 30KB</a:t>
            </a:r>
          </a:p>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Principle</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Tradeoff</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OEM should select what they really want in CortexM4 since the memory size </a:t>
            </a:r>
            <a:r>
              <a:rPr lang="en-US" altLang="zh-TW" sz="1400" smtClean="0">
                <a:solidFill>
                  <a:srgbClr val="0000FF"/>
                </a:solidFill>
                <a:latin typeface="+mn-lt"/>
              </a:rPr>
              <a:t>is </a:t>
            </a:r>
            <a:r>
              <a:rPr lang="en-US" altLang="zh-TW" sz="1400" smtClean="0">
                <a:solidFill>
                  <a:srgbClr val="0000FF"/>
                </a:solidFill>
                <a:latin typeface="+mn-lt"/>
              </a:rPr>
              <a:t>not </a:t>
            </a:r>
            <a:r>
              <a:rPr lang="en-US" altLang="zh-TW" sz="1400" dirty="0" smtClean="0">
                <a:solidFill>
                  <a:srgbClr val="0000FF"/>
                </a:solidFill>
                <a:latin typeface="+mn-lt"/>
              </a:rPr>
              <a:t>enough</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sensor feature and MP3 have an application processor version. Thus, if the OEM wants to add a vendor’s algorithm for voice call, they can select the application processor version of sensor/MP3 to release memory of the DSP.</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DSP codebase is source release. The OEM/vendor can compile by themselves</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Future Plan</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 plan to development dynamic swap in the future. For example, when a voice call comes, we don’t need sound trigger in this scenario, we can swap out the sound trigger and swap in algorithms of voice call.</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 Sensor features should be divided into small pieces so that the OEM can pick what they really want</a:t>
            </a:r>
          </a:p>
        </p:txBody>
      </p:sp>
      <p:sp>
        <p:nvSpPr>
          <p:cNvPr id="6" name="Rectangle 5"/>
          <p:cNvSpPr/>
          <p:nvPr/>
        </p:nvSpPr>
        <p:spPr>
          <a:xfrm>
            <a:off x="8239" y="5296"/>
            <a:ext cx="7228057"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Compromise </a:t>
            </a:r>
            <a:r>
              <a:rPr lang="en-US" altLang="zh-TW" sz="1600" b="1" dirty="0" smtClean="0">
                <a:latin typeface="Arial Black" pitchFamily="34" charset="0"/>
                <a:ea typeface="新細明體" pitchFamily="18" charset="-120"/>
                <a:cs typeface="Times New Roman" pitchFamily="18" charset="0"/>
              </a:rPr>
              <a:t>with limited resources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3024336"/>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Debug Facilities</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ICE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Debug tools such as Trace32 or </a:t>
            </a:r>
            <a:r>
              <a:rPr lang="en-US" altLang="zh-TW" sz="1400" dirty="0" err="1" smtClean="0">
                <a:solidFill>
                  <a:srgbClr val="0000FF"/>
                </a:solidFill>
                <a:latin typeface="+mn-lt"/>
              </a:rPr>
              <a:t>Codeviser</a:t>
            </a:r>
            <a:r>
              <a:rPr lang="en-US" altLang="zh-TW" sz="1400" dirty="0" smtClean="0">
                <a:solidFill>
                  <a:srgbClr val="0000FF"/>
                </a:solidFill>
                <a:latin typeface="+mn-lt"/>
              </a:rPr>
              <a:t> debugger is allowed</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Trace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DSP system trace</a:t>
            </a:r>
          </a:p>
          <a:p>
            <a:pPr marL="1714500" lvl="3" indent="-342900" defTabSz="457200" fontAlgn="auto">
              <a:lnSpc>
                <a:spcPct val="90000"/>
              </a:lnSpc>
              <a:spcBef>
                <a:spcPct val="20000"/>
              </a:spcBef>
              <a:spcAft>
                <a:spcPts val="0"/>
              </a:spcAft>
              <a:buClr>
                <a:srgbClr val="F39A1E"/>
              </a:buClr>
              <a:buFont typeface="Calibri Bold"/>
              <a:buChar char="▪"/>
              <a:defRPr/>
            </a:pPr>
            <a:r>
              <a:rPr lang="en-US" altLang="zh-TW" sz="1200" dirty="0" smtClean="0">
                <a:solidFill>
                  <a:srgbClr val="0000FF"/>
                </a:solidFill>
                <a:latin typeface="+mn-lt"/>
              </a:rPr>
              <a:t>The DSP traces can be logged through UART</a:t>
            </a:r>
          </a:p>
          <a:p>
            <a:pPr marL="1714500" lvl="3" indent="-342900" defTabSz="457200" fontAlgn="auto">
              <a:lnSpc>
                <a:spcPct val="90000"/>
              </a:lnSpc>
              <a:spcBef>
                <a:spcPct val="20000"/>
              </a:spcBef>
              <a:spcAft>
                <a:spcPts val="0"/>
              </a:spcAft>
              <a:buClr>
                <a:srgbClr val="F39A1E"/>
              </a:buClr>
              <a:buFont typeface="Calibri Bold"/>
              <a:buChar char="▪"/>
              <a:defRPr/>
            </a:pPr>
            <a:r>
              <a:rPr lang="en-US" altLang="zh-TW" sz="1200" dirty="0" smtClean="0">
                <a:solidFill>
                  <a:srgbClr val="0000FF"/>
                </a:solidFill>
                <a:latin typeface="+mn-lt"/>
              </a:rPr>
              <a:t>The DSP traces can also be collected as a file stored in the device storage </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Vendor IP</a:t>
            </a:r>
          </a:p>
          <a:p>
            <a:pPr marL="1714500" lvl="3" indent="-342900" defTabSz="457200" fontAlgn="auto">
              <a:lnSpc>
                <a:spcPct val="90000"/>
              </a:lnSpc>
              <a:spcBef>
                <a:spcPct val="20000"/>
              </a:spcBef>
              <a:spcAft>
                <a:spcPts val="0"/>
              </a:spcAft>
              <a:buClr>
                <a:srgbClr val="F39A1E"/>
              </a:buClr>
              <a:buFont typeface="Calibri Bold"/>
              <a:buChar char="▪"/>
              <a:defRPr/>
            </a:pPr>
            <a:r>
              <a:rPr lang="en-US" altLang="zh-TW" sz="1200" dirty="0" smtClean="0">
                <a:solidFill>
                  <a:srgbClr val="0000FF"/>
                </a:solidFill>
                <a:latin typeface="+mn-lt"/>
              </a:rPr>
              <a:t>We provide an API for the developer to check the correctness  of their program by logging. The API is consistent and can be used in different systems. The provided API would call the function pointer passed in the initialization. The called function is responsible for logging the required statements by calling the system-specific logging API. It can also be disabled easily by bypassing the requirements. It’s helpful for the developer which doesn’t need to remove and insert logging code anymore.</a:t>
            </a:r>
          </a:p>
        </p:txBody>
      </p:sp>
      <p:sp>
        <p:nvSpPr>
          <p:cNvPr id="6" name="Rectangle 5"/>
          <p:cNvSpPr/>
          <p:nvPr/>
        </p:nvSpPr>
        <p:spPr>
          <a:xfrm>
            <a:off x="8239" y="5296"/>
            <a:ext cx="7228057"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Development </a:t>
            </a:r>
            <a:r>
              <a:rPr lang="en-US" altLang="zh-TW" sz="1600" b="1" dirty="0" smtClean="0">
                <a:latin typeface="Arial Black" pitchFamily="34" charset="0"/>
                <a:ea typeface="新細明體" pitchFamily="18" charset="-120"/>
                <a:cs typeface="Times New Roman" pitchFamily="18" charset="0"/>
              </a:rPr>
              <a:t>Debug Facilities</a:t>
            </a:r>
            <a:endParaRPr lang="en-US" altLang="zh-TW" sz="1600" b="1" dirty="0" smtClean="0">
              <a:latin typeface="Arial Black" pitchFamily="34" charset="0"/>
              <a:ea typeface="新細明體" pitchFamily="18" charset="-12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239" y="0"/>
            <a:ext cx="8668218"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Feature Packages </a:t>
            </a:r>
            <a:r>
              <a:rPr lang="en-US" altLang="zh-TW" sz="1600" b="1" dirty="0" smtClean="0">
                <a:latin typeface="Arial Black" pitchFamily="34" charset="0"/>
                <a:ea typeface="新細明體" pitchFamily="18" charset="-120"/>
                <a:cs typeface="Times New Roman" pitchFamily="18" charset="0"/>
              </a:rPr>
              <a:t>w/o dynamic loading for DSP</a:t>
            </a:r>
          </a:p>
        </p:txBody>
      </p:sp>
      <p:graphicFrame>
        <p:nvGraphicFramePr>
          <p:cNvPr id="8" name="Table 7"/>
          <p:cNvGraphicFramePr>
            <a:graphicFrameLocks noGrp="1"/>
          </p:cNvGraphicFramePr>
          <p:nvPr/>
        </p:nvGraphicFramePr>
        <p:xfrm>
          <a:off x="323528" y="1628800"/>
          <a:ext cx="8352931" cy="2647631"/>
        </p:xfrm>
        <a:graphic>
          <a:graphicData uri="http://schemas.openxmlformats.org/drawingml/2006/table">
            <a:tbl>
              <a:tblPr/>
              <a:tblGrid>
                <a:gridCol w="1584176"/>
                <a:gridCol w="1296144"/>
                <a:gridCol w="1512168"/>
                <a:gridCol w="1440160"/>
                <a:gridCol w="1224136"/>
                <a:gridCol w="1296147"/>
              </a:tblGrid>
              <a:tr h="232212">
                <a:tc gridSpan="6">
                  <a:txBody>
                    <a:bodyPr/>
                    <a:lstStyle/>
                    <a:p>
                      <a:pPr algn="ctr" rtl="0" fontAlgn="ctr"/>
                      <a:r>
                        <a:rPr lang="en-US" sz="1200" b="1" i="1" u="none" strike="noStrike" dirty="0" smtClean="0">
                          <a:solidFill>
                            <a:srgbClr val="DAEDEF"/>
                          </a:solidFill>
                          <a:latin typeface="Calibri"/>
                        </a:rPr>
                        <a:t>Possible</a:t>
                      </a:r>
                      <a:r>
                        <a:rPr lang="en-US" sz="1200" b="1" i="1" u="none" strike="noStrike" baseline="0" dirty="0" smtClean="0">
                          <a:solidFill>
                            <a:srgbClr val="DAEDEF"/>
                          </a:solidFill>
                          <a:latin typeface="Calibri"/>
                        </a:rPr>
                        <a:t> Packages of </a:t>
                      </a:r>
                      <a:r>
                        <a:rPr lang="en-US" sz="1200" b="1" i="1" u="none" strike="noStrike" dirty="0" smtClean="0">
                          <a:solidFill>
                            <a:srgbClr val="DAEDEF"/>
                          </a:solidFill>
                          <a:latin typeface="Calibri"/>
                        </a:rPr>
                        <a:t>MTK</a:t>
                      </a:r>
                      <a:r>
                        <a:rPr lang="en-US" sz="1200" b="1" i="1" u="none" strike="noStrike" baseline="0" dirty="0" smtClean="0">
                          <a:solidFill>
                            <a:srgbClr val="DAEDEF"/>
                          </a:solidFill>
                          <a:latin typeface="Calibri"/>
                        </a:rPr>
                        <a:t> Built-in Features in Open DSP</a:t>
                      </a:r>
                      <a:endParaRPr lang="en-US" sz="1200" b="1" i="1" u="none" strike="noStrike" dirty="0">
                        <a:solidFill>
                          <a:srgbClr val="DAEDEF"/>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0078D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57723">
                <a:tc>
                  <a:txBody>
                    <a:bodyPr/>
                    <a:lstStyle/>
                    <a:p>
                      <a:pPr algn="ctr" rtl="0" fontAlgn="ctr"/>
                      <a:r>
                        <a:rPr lang="en-US" sz="1200" b="1" i="0" u="none" strike="noStrike" dirty="0">
                          <a:solidFill>
                            <a:srgbClr val="DAEDEF"/>
                          </a:solidFill>
                          <a:latin typeface="Calibri"/>
                        </a:rPr>
                        <a:t> </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200" b="1" i="0" u="none" strike="noStrike" dirty="0" smtClean="0">
                          <a:solidFill>
                            <a:srgbClr val="DAEDEF"/>
                          </a:solidFill>
                          <a:latin typeface="Calibri"/>
                        </a:rPr>
                        <a:t>MP3 + SRC</a:t>
                      </a:r>
                      <a:endParaRPr lang="en-US" sz="1200" b="1" i="0" u="none" strike="noStrike" dirty="0">
                        <a:solidFill>
                          <a:srgbClr val="DAEDEF"/>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dirty="0" smtClean="0">
                          <a:solidFill>
                            <a:srgbClr val="DAEDEF"/>
                          </a:solidFill>
                          <a:latin typeface="+mn-lt"/>
                        </a:rPr>
                        <a:t>Voice Call Enhancement </a:t>
                      </a:r>
                    </a:p>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dirty="0" smtClean="0">
                          <a:solidFill>
                            <a:srgbClr val="DAEDEF"/>
                          </a:solidFill>
                          <a:latin typeface="+mn-lt"/>
                        </a:rPr>
                        <a:t>(3</a:t>
                      </a:r>
                      <a:r>
                        <a:rPr lang="en-US" sz="1200" b="1" i="0" u="none" strike="noStrike" baseline="30000" dirty="0" smtClean="0">
                          <a:solidFill>
                            <a:srgbClr val="DAEDEF"/>
                          </a:solidFill>
                          <a:latin typeface="+mn-lt"/>
                        </a:rPr>
                        <a:t>rd</a:t>
                      </a:r>
                      <a:r>
                        <a:rPr lang="en-US" sz="1200" b="1" i="0" u="none" strike="noStrike" dirty="0" smtClean="0">
                          <a:solidFill>
                            <a:srgbClr val="DAEDEF"/>
                          </a:solidFill>
                          <a:latin typeface="+mn-lt"/>
                        </a:rPr>
                        <a:t> Party Solution)</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200" b="1" i="0" u="none" strike="noStrike" dirty="0" smtClean="0">
                          <a:solidFill>
                            <a:srgbClr val="DAEDEF"/>
                          </a:solidFill>
                          <a:latin typeface="+mn-lt"/>
                        </a:rPr>
                        <a:t>Voice Call Enhancement </a:t>
                      </a:r>
                    </a:p>
                    <a:p>
                      <a:pPr algn="ctr" rtl="0" fontAlgn="ctr"/>
                      <a:r>
                        <a:rPr lang="en-US" sz="1200" b="1" i="0" u="none" strike="noStrike" dirty="0" smtClean="0">
                          <a:solidFill>
                            <a:srgbClr val="DAEDEF"/>
                          </a:solidFill>
                          <a:latin typeface="+mn-lt"/>
                        </a:rPr>
                        <a:t>(MTK Built-In)</a:t>
                      </a:r>
                      <a:endParaRPr lang="en-US" sz="1200" b="1" i="0" u="none" strike="noStrike" dirty="0">
                        <a:solidFill>
                          <a:srgbClr val="DAEDEF"/>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200" b="1" i="0" u="none" strike="noStrike" dirty="0" smtClean="0">
                          <a:solidFill>
                            <a:srgbClr val="DAEDEF"/>
                          </a:solidFill>
                          <a:latin typeface="+mn-lt"/>
                        </a:rPr>
                        <a:t>Sound</a:t>
                      </a:r>
                      <a:r>
                        <a:rPr lang="en-US" sz="1200" b="1" i="0" u="none" strike="noStrike" baseline="0" dirty="0" smtClean="0">
                          <a:solidFill>
                            <a:srgbClr val="DAEDEF"/>
                          </a:solidFill>
                          <a:latin typeface="+mn-lt"/>
                        </a:rPr>
                        <a:t> Trigger</a:t>
                      </a:r>
                      <a:endParaRPr lang="en-US" sz="1200" b="1" i="0" u="none" strike="noStrike" dirty="0">
                        <a:solidFill>
                          <a:srgbClr val="DAEDEF"/>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200" b="1" i="0" u="none" strike="noStrike" dirty="0" smtClean="0">
                          <a:solidFill>
                            <a:srgbClr val="DAEDEF"/>
                          </a:solidFill>
                          <a:latin typeface="Calibri"/>
                        </a:rPr>
                        <a:t>Sensor</a:t>
                      </a:r>
                      <a:r>
                        <a:rPr lang="en-US" sz="1200" b="1" i="0" u="none" strike="noStrike" baseline="0" dirty="0" smtClean="0">
                          <a:solidFill>
                            <a:srgbClr val="DAEDEF"/>
                          </a:solidFill>
                          <a:latin typeface="Calibri"/>
                        </a:rPr>
                        <a:t> Feature</a:t>
                      </a:r>
                      <a:endParaRPr lang="en-US" sz="1200" b="1" i="0" u="none" strike="noStrike" dirty="0">
                        <a:solidFill>
                          <a:srgbClr val="DAEDEF"/>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r>
              <a:tr h="232212">
                <a:tc>
                  <a:txBody>
                    <a:bodyPr/>
                    <a:lstStyle/>
                    <a:p>
                      <a:pPr algn="ctr" rtl="0" fontAlgn="ctr"/>
                      <a:r>
                        <a:rPr lang="en-US" sz="1200" b="1" i="0" u="none" strike="noStrike" baseline="0" dirty="0" smtClean="0">
                          <a:solidFill>
                            <a:srgbClr val="000000"/>
                          </a:solidFill>
                          <a:latin typeface="Calibri"/>
                        </a:rPr>
                        <a:t>Feature Package A</a:t>
                      </a:r>
                      <a:endParaRPr lang="en-US" sz="1200" b="1"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1" i="0" u="none" strike="noStrike" dirty="0" smtClean="0">
                          <a:solidFill>
                            <a:srgbClr val="0000FF"/>
                          </a:solidFill>
                          <a:latin typeface="Calibri"/>
                        </a:rPr>
                        <a:t>Open DSP</a:t>
                      </a:r>
                      <a:endParaRPr lang="en-US" sz="1200" b="1" i="0" u="none" strike="noStrike" dirty="0">
                        <a:solidFill>
                          <a:srgbClr val="0000FF"/>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Calibri"/>
                        </a:rPr>
                        <a:t>No</a:t>
                      </a:r>
                      <a:r>
                        <a:rPr lang="en-US" sz="1200" b="1" i="0" u="none" strike="noStrike" baseline="0" dirty="0" smtClean="0">
                          <a:solidFill>
                            <a:schemeClr val="bg1">
                              <a:lumMod val="50000"/>
                            </a:schemeClr>
                          </a:solidFill>
                          <a:latin typeface="Calibri"/>
                        </a:rPr>
                        <a:t>t Support</a:t>
                      </a:r>
                      <a:endParaRPr lang="en-US" sz="1200" b="1" i="0" u="none" strike="noStrike" dirty="0" smtClean="0">
                        <a:solidFill>
                          <a:schemeClr val="bg1">
                            <a:lumMod val="50000"/>
                          </a:schemeClr>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kern="1200" dirty="0" smtClean="0">
                          <a:solidFill>
                            <a:srgbClr val="000000"/>
                          </a:solidFill>
                          <a:latin typeface="+mn-lt"/>
                          <a:ea typeface="+mn-ea"/>
                          <a:cs typeface="+mn-cs"/>
                        </a:rPr>
                        <a:t>Modem Side</a:t>
                      </a:r>
                      <a:endParaRPr lang="en-US" sz="1200" b="0" i="0" u="none" strike="noStrike" kern="1200" dirty="0">
                        <a:solidFill>
                          <a:srgbClr val="000000"/>
                        </a:solidFill>
                        <a:latin typeface="+mn-lt"/>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algn="ctr" defTabSz="457200" rtl="0" eaLnBrk="1" fontAlgn="ctr" latinLnBrk="0" hangingPunct="1"/>
                      <a:r>
                        <a:rPr lang="en-US" sz="1200" b="1" i="0" u="none" strike="noStrike" kern="1200" dirty="0" smtClean="0">
                          <a:solidFill>
                            <a:schemeClr val="bg1">
                              <a:lumMod val="50000"/>
                            </a:schemeClr>
                          </a:solidFill>
                          <a:latin typeface="Calibri"/>
                          <a:ea typeface="+mn-ea"/>
                          <a:cs typeface="+mn-cs"/>
                        </a:rPr>
                        <a:t>Not Support</a:t>
                      </a:r>
                      <a:endParaRPr lang="en-US" sz="1200" b="1" i="0" u="none" strike="noStrike" kern="1200" dirty="0">
                        <a:solidFill>
                          <a:schemeClr val="bg1">
                            <a:lumMod val="50000"/>
                          </a:schemeClr>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algn="ctr" rtl="0" fontAlgn="ctr"/>
                      <a:r>
                        <a:rPr lang="en-US" sz="1200" b="1" i="0" u="none" strike="noStrike" baseline="0" dirty="0" smtClean="0">
                          <a:solidFill>
                            <a:srgbClr val="000000"/>
                          </a:solidFill>
                          <a:latin typeface="+mn-lt"/>
                        </a:rPr>
                        <a:t>Feature Package</a:t>
                      </a:r>
                      <a:r>
                        <a:rPr lang="en-US" sz="1200" b="1" i="0" u="none" strike="noStrike" baseline="0" dirty="0" smtClean="0">
                          <a:solidFill>
                            <a:srgbClr val="000000"/>
                          </a:solidFill>
                          <a:latin typeface="Calibri"/>
                        </a:rPr>
                        <a:t> B</a:t>
                      </a:r>
                      <a:endParaRPr lang="en-US" sz="1200" b="1"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algn="ctr" defTabSz="457200" rtl="0" eaLnBrk="1" fontAlgn="ctr" latinLnBrk="0" hangingPunct="1"/>
                      <a:r>
                        <a:rPr lang="en-US" sz="1200" b="1" i="0" u="none" strike="noStrike" kern="1200" dirty="0" smtClean="0">
                          <a:solidFill>
                            <a:srgbClr val="0000FF"/>
                          </a:solidFill>
                          <a:latin typeface="Calibri"/>
                          <a:ea typeface="+mn-ea"/>
                          <a:cs typeface="+mn-cs"/>
                        </a:rPr>
                        <a:t>Open DSP</a:t>
                      </a:r>
                      <a:endParaRPr lang="en-US" sz="1200" b="1" i="0" u="none" strike="noStrike" kern="1200" dirty="0">
                        <a:solidFill>
                          <a:srgbClr val="0000FF"/>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1" i="0" u="none" strike="noStrike" dirty="0" smtClean="0">
                        <a:solidFill>
                          <a:schemeClr val="bg1">
                            <a:lumMod val="50000"/>
                          </a:schemeClr>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1" i="0" u="none" strike="noStrike" dirty="0" smtClean="0">
                        <a:solidFill>
                          <a:schemeClr val="bg1">
                            <a:lumMod val="50000"/>
                          </a:schemeClr>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a:t>
                      </a:r>
                      <a:r>
                        <a:rPr lang="en-US" sz="1200" b="1" i="0" u="none" strike="noStrike" dirty="0" smtClean="0">
                          <a:solidFill>
                            <a:srgbClr val="000000"/>
                          </a:solidFill>
                          <a:latin typeface="+mn-lt"/>
                        </a:rPr>
                        <a:t>Package C</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latin typeface="+mn-lt"/>
                          <a:ea typeface="+mn-ea"/>
                          <a:cs typeface="+mn-cs"/>
                        </a:rPr>
                        <a:t>Modem Side</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kern="1200" dirty="0" smtClean="0">
                          <a:solidFill>
                            <a:srgbClr val="0000FF"/>
                          </a:solidFill>
                          <a:latin typeface="+mn-lt"/>
                          <a:ea typeface="+mn-ea"/>
                          <a:cs typeface="+mn-cs"/>
                        </a:rPr>
                        <a:t>Open DSP</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Package D</a:t>
                      </a:r>
                      <a:endParaRPr lang="en-US" sz="1200" b="1" i="0" u="none" strike="noStrike" dirty="0" smtClean="0">
                        <a:solidFill>
                          <a:srgbClr val="000000"/>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kern="1200" dirty="0" smtClean="0">
                          <a:solidFill>
                            <a:srgbClr val="000000"/>
                          </a:solidFill>
                          <a:latin typeface="+mn-lt"/>
                          <a:ea typeface="+mn-ea"/>
                          <a:cs typeface="+mn-cs"/>
                        </a:rPr>
                        <a:t>Modem Side</a:t>
                      </a:r>
                      <a:endParaRPr lang="en-US" sz="1200" b="0" i="0" u="none" strike="noStrike" kern="1200" dirty="0">
                        <a:solidFill>
                          <a:srgbClr val="000000"/>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kern="1200" dirty="0" smtClean="0">
                          <a:solidFill>
                            <a:srgbClr val="0000FF"/>
                          </a:solidFill>
                          <a:latin typeface="+mn-lt"/>
                          <a:ea typeface="+mn-ea"/>
                          <a:cs typeface="+mn-cs"/>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Package E</a:t>
                      </a:r>
                      <a:endParaRPr lang="en-US" sz="1200" b="1" i="0" u="none" strike="noStrike" dirty="0" smtClean="0">
                        <a:solidFill>
                          <a:srgbClr val="000000"/>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kern="1200" dirty="0">
                        <a:solidFill>
                          <a:srgbClr val="000000"/>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a:solidFill>
                          <a:srgbClr val="FF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Package F</a:t>
                      </a:r>
                      <a:endParaRPr lang="en-US" sz="1200" b="1" i="0" u="none" strike="noStrike" dirty="0" smtClean="0">
                        <a:solidFill>
                          <a:srgbClr val="000000"/>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kern="1200" dirty="0" smtClean="0">
                          <a:solidFill>
                            <a:srgbClr val="000000"/>
                          </a:solidFill>
                          <a:latin typeface="+mn-lt"/>
                          <a:ea typeface="+mn-ea"/>
                          <a:cs typeface="+mn-cs"/>
                        </a:rPr>
                        <a:t>Modem Side</a:t>
                      </a:r>
                      <a:endParaRPr lang="en-US" sz="1200" b="0" i="0" u="none" strike="noStrike" kern="1200" dirty="0">
                        <a:solidFill>
                          <a:srgbClr val="000000"/>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a:t>
                      </a:r>
                      <a:r>
                        <a:rPr lang="en-US" sz="1200" b="1" i="0" u="none" strike="noStrike" dirty="0" smtClean="0">
                          <a:solidFill>
                            <a:srgbClr val="000000"/>
                          </a:solidFill>
                          <a:latin typeface="+mn-lt"/>
                        </a:rPr>
                        <a:t>Package G</a:t>
                      </a: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kern="1200" dirty="0">
                        <a:solidFill>
                          <a:srgbClr val="000000"/>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r h="232212">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baseline="0" dirty="0" smtClean="0">
                          <a:solidFill>
                            <a:srgbClr val="000000"/>
                          </a:solidFill>
                          <a:latin typeface="+mn-lt"/>
                        </a:rPr>
                        <a:t>Feature Package H</a:t>
                      </a:r>
                      <a:endParaRPr lang="en-US" sz="1200" b="1" i="0" u="none" strike="noStrike" dirty="0" smtClean="0">
                        <a:solidFill>
                          <a:srgbClr val="000000"/>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r>
                        <a:rPr lang="en-US" sz="1200" b="0" i="0" u="none" strike="noStrike" dirty="0" smtClean="0">
                          <a:solidFill>
                            <a:srgbClr val="000000"/>
                          </a:solidFill>
                          <a:latin typeface="Calibri"/>
                        </a:rPr>
                        <a:t>AP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200" b="1" i="0" u="none" strike="noStrike" dirty="0" smtClean="0">
                          <a:solidFill>
                            <a:schemeClr val="bg1">
                              <a:lumMod val="50000"/>
                            </a:schemeClr>
                          </a:solidFill>
                          <a:latin typeface="+mn-lt"/>
                        </a:rPr>
                        <a:t>No</a:t>
                      </a:r>
                      <a:r>
                        <a:rPr lang="en-US" sz="1200" b="1" i="0" u="none" strike="noStrike" baseline="0" dirty="0" smtClean="0">
                          <a:solidFill>
                            <a:schemeClr val="bg1">
                              <a:lumMod val="50000"/>
                            </a:schemeClr>
                          </a:solidFill>
                          <a:latin typeface="+mn-lt"/>
                        </a:rPr>
                        <a:t>t Support</a:t>
                      </a:r>
                      <a:endParaRPr lang="en-US" sz="1200" b="0" i="0" u="none" strike="noStrike" dirty="0" smtClean="0">
                        <a:solidFill>
                          <a:srgbClr val="000000"/>
                        </a:solidFill>
                        <a:latin typeface="+mn-lt"/>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0" i="0" u="none" strike="noStrike" kern="1200" dirty="0" smtClean="0">
                          <a:solidFill>
                            <a:srgbClr val="000000"/>
                          </a:solidFill>
                          <a:latin typeface="+mn-lt"/>
                          <a:ea typeface="+mn-ea"/>
                          <a:cs typeface="+mn-cs"/>
                        </a:rPr>
                        <a:t>Modem Side</a:t>
                      </a:r>
                      <a:endParaRPr lang="en-US" sz="1200" b="0" i="0" u="none" strike="noStrike" kern="1200" dirty="0">
                        <a:solidFill>
                          <a:srgbClr val="000000"/>
                        </a:solidFill>
                        <a:latin typeface="Calibri"/>
                        <a:ea typeface="+mn-ea"/>
                        <a:cs typeface="+mn-cs"/>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c>
                  <a:txBody>
                    <a:bodyPr/>
                    <a:lstStyle/>
                    <a:p>
                      <a:pPr algn="ctr" rtl="0" fontAlgn="ctr"/>
                      <a:r>
                        <a:rPr lang="en-US" sz="1200" b="1" i="0" u="none" strike="noStrike" dirty="0" smtClean="0">
                          <a:solidFill>
                            <a:srgbClr val="0000FF"/>
                          </a:solidFill>
                          <a:latin typeface="+mn-lt"/>
                        </a:rPr>
                        <a:t>Open DSP</a:t>
                      </a:r>
                      <a:endParaRPr lang="en-US" sz="1200" b="0" i="0" u="none" strike="noStrike" dirty="0">
                        <a:solidFill>
                          <a:srgbClr val="000000"/>
                        </a:solidFill>
                        <a:latin typeface="Calibri"/>
                      </a:endParaRPr>
                    </a:p>
                  </a:txBody>
                  <a:tcPr marL="6430" marR="6430" marT="643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347"/>
                    </a:solidFill>
                  </a:tcPr>
                </a:tc>
              </a:tr>
            </a:tbl>
          </a:graphicData>
        </a:graphic>
      </p:graphicFrame>
      <p:sp>
        <p:nvSpPr>
          <p:cNvPr id="9" name="Rectangle 3"/>
          <p:cNvSpPr txBox="1">
            <a:spLocks noChangeArrowheads="1"/>
          </p:cNvSpPr>
          <p:nvPr/>
        </p:nvSpPr>
        <p:spPr>
          <a:xfrm>
            <a:off x="251520" y="4365104"/>
            <a:ext cx="4320480" cy="792088"/>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kumimoji="0" lang="en-US" altLang="zh-TW" sz="1400" dirty="0" smtClean="0">
                <a:solidFill>
                  <a:srgbClr val="353630"/>
                </a:solidFill>
                <a:latin typeface="+mn-lt"/>
                <a:ea typeface="新細明體"/>
              </a:rPr>
              <a:t>AP VS DSP </a:t>
            </a:r>
            <a:r>
              <a:rPr kumimoji="0" lang="en-US" altLang="zh-TW" sz="1400" dirty="0" smtClean="0">
                <a:solidFill>
                  <a:srgbClr val="353630"/>
                </a:solidFill>
                <a:latin typeface="+mn-lt"/>
                <a:ea typeface="新細明體"/>
                <a:sym typeface="Wingdings" pitchFamily="2" charset="2"/>
              </a:rPr>
              <a:t> </a:t>
            </a:r>
            <a:r>
              <a:rPr kumimoji="0" lang="en-US" altLang="zh-TW" sz="1400" dirty="0" smtClean="0">
                <a:solidFill>
                  <a:srgbClr val="353630"/>
                </a:solidFill>
                <a:latin typeface="+mn-lt"/>
                <a:ea typeface="新細明體"/>
              </a:rPr>
              <a:t>Power consumptions</a:t>
            </a:r>
          </a:p>
          <a:p>
            <a:pPr marL="342900" indent="-342900" defTabSz="457200" fontAlgn="auto">
              <a:lnSpc>
                <a:spcPct val="90000"/>
              </a:lnSpc>
              <a:spcBef>
                <a:spcPct val="20000"/>
              </a:spcBef>
              <a:spcAft>
                <a:spcPts val="0"/>
              </a:spcAft>
              <a:buClr>
                <a:srgbClr val="F39A1E"/>
              </a:buClr>
              <a:buFont typeface="Calibri Bold"/>
              <a:buChar char="▪"/>
              <a:defRPr/>
            </a:pPr>
            <a:r>
              <a:rPr kumimoji="0" lang="en-US" altLang="zh-TW" sz="1400" dirty="0" smtClean="0">
                <a:solidFill>
                  <a:srgbClr val="353630"/>
                </a:solidFill>
                <a:latin typeface="+mn-lt"/>
                <a:ea typeface="新細明體"/>
              </a:rPr>
              <a:t>Open DSP VS MTK Inside Modem </a:t>
            </a:r>
            <a:r>
              <a:rPr kumimoji="0" lang="en-US" altLang="zh-TW" sz="1400" dirty="0" smtClean="0">
                <a:solidFill>
                  <a:srgbClr val="353630"/>
                </a:solidFill>
                <a:latin typeface="+mn-lt"/>
                <a:ea typeface="新細明體"/>
                <a:sym typeface="Wingdings" pitchFamily="2" charset="2"/>
              </a:rPr>
              <a:t> quality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Audio Development</a:t>
            </a:r>
            <a:endParaRPr lang="en-US" dirty="0"/>
          </a:p>
        </p:txBody>
      </p:sp>
      <p:sp>
        <p:nvSpPr>
          <p:cNvPr id="4" name="Subtitle 3"/>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4608512"/>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Communications</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Application Processor</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communication between AP and DSP is by an interrupt. There is </a:t>
            </a:r>
            <a:r>
              <a:rPr lang="en-US" altLang="zh-TW" sz="1400" smtClean="0">
                <a:solidFill>
                  <a:srgbClr val="0000FF"/>
                </a:solidFill>
                <a:latin typeface="+mn-lt"/>
              </a:rPr>
              <a:t>a shared </a:t>
            </a:r>
            <a:r>
              <a:rPr lang="en-US" altLang="zh-TW" sz="1400" dirty="0" smtClean="0">
                <a:solidFill>
                  <a:srgbClr val="0000FF"/>
                </a:solidFill>
                <a:latin typeface="+mn-lt"/>
              </a:rPr>
              <a:t>memory can be passed along with the interrupt. The size can be used is 48 bytes. </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If we need to transmit a quantity of data, we can just transmit the data address through the interrupt and start to move the data by a DMA HW.</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Modem</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DSP can access voice data to/from modem side. The vendors don’t need to take care with the communications between modem. </a:t>
            </a:r>
          </a:p>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Audio Routing</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HW path setting</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HW path and audio routing settings are done by application processor</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Current input/output device, gain setting, and other required information will be transferred to the vendor IP (vendor IP should follow our API)</a:t>
            </a:r>
          </a:p>
        </p:txBody>
      </p:sp>
      <p:sp>
        <p:nvSpPr>
          <p:cNvPr id="6" name="Rectangle 5"/>
          <p:cNvSpPr/>
          <p:nvPr/>
        </p:nvSpPr>
        <p:spPr>
          <a:xfrm>
            <a:off x="8239" y="5296"/>
            <a:ext cx="888424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Development </a:t>
            </a:r>
            <a:r>
              <a:rPr lang="en-US" altLang="zh-TW" sz="1600" b="1" dirty="0" smtClean="0">
                <a:latin typeface="Arial Black" pitchFamily="34" charset="0"/>
                <a:ea typeface="新細明體" pitchFamily="18" charset="-120"/>
                <a:cs typeface="Times New Roman" pitchFamily="18" charset="0"/>
              </a:rPr>
              <a:t>Audio Routing / Inter-processor-communications</a:t>
            </a:r>
            <a:endParaRPr lang="en-US" altLang="zh-TW" sz="1600" b="1" dirty="0" smtClean="0">
              <a:latin typeface="Arial Black" pitchFamily="34" charset="0"/>
              <a:ea typeface="新細明體" pitchFamily="18" charset="-12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39552" y="908720"/>
            <a:ext cx="8208912" cy="4608512"/>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Spec</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Sample Rage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In X20, we only have  NB or WB.</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No matter it’s NB or WB, we’ll send WB data to the vendor IP</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Frame period</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20ms per frame </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Round Trip Delay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MTK already has 140ms delay</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Process time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RX task needs to be processed less than 3ms per frame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TX task needs to be processed less than 12ms per frame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Otherwise, we’ll need to delay one more frame, the delay will become 160ms (not include IP group delay)</a:t>
            </a:r>
          </a:p>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Standard Interface</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Interface for sound enhancement</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We’ve defined generic interfaces for processing sounds which is portable to MTK platforms</a:t>
            </a:r>
          </a:p>
        </p:txBody>
      </p:sp>
      <p:sp>
        <p:nvSpPr>
          <p:cNvPr id="6" name="Rectangle 5"/>
          <p:cNvSpPr/>
          <p:nvPr/>
        </p:nvSpPr>
        <p:spPr>
          <a:xfrm>
            <a:off x="8239" y="5296"/>
            <a:ext cx="888424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Development </a:t>
            </a:r>
            <a:r>
              <a:rPr lang="en-US" altLang="zh-TW" sz="1600" b="1" dirty="0" smtClean="0">
                <a:latin typeface="Arial Black" pitchFamily="34" charset="0"/>
                <a:ea typeface="新細明體" pitchFamily="18" charset="-120"/>
                <a:cs typeface="Times New Roman" pitchFamily="18" charset="0"/>
              </a:rPr>
              <a:t>Voice Call</a:t>
            </a:r>
            <a:endParaRPr lang="en-US" altLang="zh-TW" sz="1600" b="1" dirty="0" smtClean="0">
              <a:latin typeface="Arial Black" pitchFamily="34" charset="0"/>
              <a:ea typeface="新細明體" pitchFamily="18" charset="-12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239" y="5296"/>
            <a:ext cx="852420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Parameter Management </a:t>
            </a:r>
            <a:r>
              <a:rPr lang="en-US" altLang="zh-TW" sz="1600" b="1" dirty="0" smtClean="0">
                <a:latin typeface="Arial Black" pitchFamily="34" charset="0"/>
                <a:ea typeface="新細明體" pitchFamily="18" charset="-120"/>
                <a:cs typeface="Times New Roman" pitchFamily="18" charset="0"/>
              </a:rPr>
              <a:t>Function Block</a:t>
            </a:r>
            <a:endParaRPr lang="en-US" altLang="zh-TW" sz="1600" b="1" dirty="0" smtClean="0">
              <a:latin typeface="Arial Black" pitchFamily="34" charset="0"/>
              <a:ea typeface="新細明體" pitchFamily="18" charset="-120"/>
            </a:endParaRPr>
          </a:p>
        </p:txBody>
      </p:sp>
      <p:pic>
        <p:nvPicPr>
          <p:cNvPr id="1026" name="Picture 2"/>
          <p:cNvPicPr>
            <a:picLocks noChangeAspect="1" noChangeArrowheads="1"/>
          </p:cNvPicPr>
          <p:nvPr/>
        </p:nvPicPr>
        <p:blipFill>
          <a:blip r:embed="rId2" cstate="print"/>
          <a:srcRect/>
          <a:stretch>
            <a:fillRect/>
          </a:stretch>
        </p:blipFill>
        <p:spPr bwMode="auto">
          <a:xfrm>
            <a:off x="1173088" y="590071"/>
            <a:ext cx="6927304" cy="55575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239" y="5296"/>
            <a:ext cx="852420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Parameter Management </a:t>
            </a:r>
            <a:r>
              <a:rPr lang="en-US" altLang="zh-TW" sz="1600" b="1" dirty="0" smtClean="0">
                <a:latin typeface="Arial Black" pitchFamily="34" charset="0"/>
                <a:ea typeface="新細明體" pitchFamily="18" charset="-120"/>
                <a:cs typeface="Times New Roman" pitchFamily="18" charset="0"/>
              </a:rPr>
              <a:t>Description</a:t>
            </a:r>
            <a:endParaRPr lang="en-US" altLang="zh-TW" sz="1600" b="1" dirty="0" smtClean="0">
              <a:latin typeface="Arial Black" pitchFamily="34" charset="0"/>
              <a:ea typeface="新細明體" pitchFamily="18" charset="-120"/>
            </a:endParaRPr>
          </a:p>
        </p:txBody>
      </p:sp>
      <p:sp>
        <p:nvSpPr>
          <p:cNvPr id="4" name="Rectangle 3"/>
          <p:cNvSpPr txBox="1">
            <a:spLocks noChangeArrowheads="1"/>
          </p:cNvSpPr>
          <p:nvPr/>
        </p:nvSpPr>
        <p:spPr>
          <a:xfrm>
            <a:off x="539552" y="908720"/>
            <a:ext cx="8208912" cy="4608512"/>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ARSI-PAR</a:t>
            </a:r>
            <a:endParaRPr kumimoji="0" lang="en-US" altLang="zh-TW" dirty="0" smtClean="0">
              <a:latin typeface="+mn-lt"/>
              <a:ea typeface="新細明體"/>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Overview</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ARSI-PAR defines API for parsing parameters. It provides programming interface to parse and transmit parameters between PC tool, APMCU, and DSP. Tuning and applying parameters by scenarios can also be achieved.</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Usage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For a software IP, the parameters may be differ in different scenarios or situations. To ease of reference, The parameters are gathered into a file. To get the maximum flexibility of use, the format of the parameter file is defined by the 3rd Parties themselves. The ARSI-PAR is designed for parsing parameters for specified scenarios. It provides  the interface to transfer parameter file to the 3rd party library.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During parameters tuning, the PC tool updates the parameter file to the mobile device and then the parameter files are parsed by the 3rd party parameter parsing library to get required parameters. The parameters will then be transferred to the 3rd party processing library for processing sounds. Besides, when the mode changes (for example, the output device changes from headphone to speaker), we need to extract the parameters of the specified mode and the parsing library will be called.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239" y="6093296"/>
            <a:ext cx="9135761" cy="648072"/>
          </a:xfrm>
          <a:prstGeom prst="rect">
            <a:avLst/>
          </a:prstGeom>
          <a:solidFill>
            <a:schemeClr val="bg1"/>
          </a:solidFill>
          <a:ln w="25400" cap="flat" cmpd="sng" algn="ctr">
            <a:noFill/>
            <a:prstDash val="sysDash"/>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200" b="0" i="0" u="none" strike="noStrike" kern="0" cap="none" spc="0" normalizeH="0" baseline="0" noProof="0" dirty="0" smtClean="0">
              <a:ln>
                <a:noFill/>
              </a:ln>
              <a:solidFill>
                <a:sysClr val="window" lastClr="FFFFFF"/>
              </a:solidFill>
              <a:effectLst/>
              <a:uLnTx/>
              <a:uFillTx/>
              <a:latin typeface="Calibri"/>
              <a:ea typeface="標楷體"/>
              <a:cs typeface="+mn-cs"/>
            </a:endParaRPr>
          </a:p>
        </p:txBody>
      </p:sp>
      <p:sp>
        <p:nvSpPr>
          <p:cNvPr id="6" name="Rectangle 5"/>
          <p:cNvSpPr/>
          <p:nvPr/>
        </p:nvSpPr>
        <p:spPr>
          <a:xfrm>
            <a:off x="8239" y="5296"/>
            <a:ext cx="852420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Parameter Management </a:t>
            </a:r>
            <a:r>
              <a:rPr lang="en-US" altLang="zh-TW" sz="1600" b="1" dirty="0" smtClean="0">
                <a:latin typeface="Arial Black" pitchFamily="34" charset="0"/>
                <a:ea typeface="新細明體" pitchFamily="18" charset="-120"/>
                <a:cs typeface="Times New Roman" pitchFamily="18" charset="0"/>
              </a:rPr>
              <a:t>Tool Development</a:t>
            </a:r>
            <a:endParaRPr lang="en-US" altLang="zh-TW" sz="1600" b="1" dirty="0" smtClean="0">
              <a:latin typeface="Arial Black" pitchFamily="34" charset="0"/>
              <a:ea typeface="新細明體" pitchFamily="18" charset="-120"/>
            </a:endParaRPr>
          </a:p>
        </p:txBody>
      </p:sp>
      <p:sp>
        <p:nvSpPr>
          <p:cNvPr id="3" name="Rectangle 3"/>
          <p:cNvSpPr txBox="1">
            <a:spLocks noChangeArrowheads="1"/>
          </p:cNvSpPr>
          <p:nvPr/>
        </p:nvSpPr>
        <p:spPr>
          <a:xfrm>
            <a:off x="539552" y="908720"/>
            <a:ext cx="8208912" cy="4608512"/>
          </a:xfrm>
          <a:prstGeom prst="rect">
            <a:avLst/>
          </a:prstGeom>
        </p:spPr>
        <p:txBody>
          <a:bodyPr vert="horz" lIns="91440" tIns="45720" rIns="91440" bIns="45720" rtlCol="0">
            <a:norm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Tool Development</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Overview</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The connection between the PC tool and the mobile device is through USB and the communication is based on </a:t>
            </a:r>
            <a:r>
              <a:rPr lang="en-US" altLang="zh-TW" sz="1400" dirty="0" err="1" smtClean="0">
                <a:solidFill>
                  <a:srgbClr val="0000FF"/>
                </a:solidFill>
                <a:latin typeface="+mn-lt"/>
              </a:rPr>
              <a:t>adb</a:t>
            </a:r>
            <a:r>
              <a:rPr lang="en-US" altLang="zh-TW" sz="1400" dirty="0" smtClean="0">
                <a:solidFill>
                  <a:srgbClr val="0000FF"/>
                </a:solidFill>
                <a:latin typeface="+mn-lt"/>
              </a:rPr>
              <a:t> commands. We define a series of </a:t>
            </a:r>
            <a:r>
              <a:rPr lang="en-US" altLang="zh-TW" sz="1400" dirty="0" err="1" smtClean="0">
                <a:solidFill>
                  <a:srgbClr val="0000FF"/>
                </a:solidFill>
                <a:latin typeface="+mn-lt"/>
              </a:rPr>
              <a:t>adb</a:t>
            </a:r>
            <a:r>
              <a:rPr lang="en-US" altLang="zh-TW" sz="1400" dirty="0" smtClean="0">
                <a:solidFill>
                  <a:srgbClr val="0000FF"/>
                </a:solidFill>
                <a:latin typeface="+mn-lt"/>
              </a:rPr>
              <a:t> commands which include transmitting the whole parameter file to the device, receiving whole parameter file from the device, transmitting specific data to the device, and receiving specific data from the device.  The software IP providers can design their own PC tools which can communicate with the mobile devices without making changes to the legacy code of the MTK platforms</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ADB Command Block</a:t>
            </a:r>
          </a:p>
          <a:p>
            <a:pPr marL="800100" lvl="1" indent="-342900" defTabSz="457200" fontAlgn="auto">
              <a:lnSpc>
                <a:spcPct val="90000"/>
              </a:lnSpc>
              <a:spcBef>
                <a:spcPct val="20000"/>
              </a:spcBef>
              <a:spcAft>
                <a:spcPts val="0"/>
              </a:spcAft>
              <a:buClr>
                <a:srgbClr val="F39A1E"/>
              </a:buClr>
              <a:buFont typeface="Calibri Bold"/>
              <a:buChar char="▪"/>
              <a:defRPr/>
            </a:pPr>
            <a:endParaRPr lang="en-US" altLang="zh-TW" sz="1600" dirty="0" smtClean="0">
              <a:solidFill>
                <a:schemeClr val="bg1">
                  <a:lumMod val="50000"/>
                </a:schemeClr>
              </a:solidFill>
              <a:latin typeface="+mn-lt"/>
            </a:endParaRPr>
          </a:p>
          <a:p>
            <a:pPr marL="800100" lvl="1" indent="-342900" defTabSz="457200" fontAlgn="auto">
              <a:lnSpc>
                <a:spcPct val="90000"/>
              </a:lnSpc>
              <a:spcBef>
                <a:spcPct val="20000"/>
              </a:spcBef>
              <a:spcAft>
                <a:spcPts val="0"/>
              </a:spcAft>
              <a:buClr>
                <a:srgbClr val="F39A1E"/>
              </a:buClr>
              <a:buFont typeface="Calibri Bold"/>
              <a:buChar char="▪"/>
              <a:defRPr/>
            </a:pPr>
            <a:endParaRPr lang="en-US" altLang="zh-TW" sz="1600" dirty="0" smtClean="0">
              <a:solidFill>
                <a:schemeClr val="bg1">
                  <a:lumMod val="50000"/>
                </a:schemeClr>
              </a:solidFill>
              <a:latin typeface="+mn-lt"/>
            </a:endParaRPr>
          </a:p>
          <a:p>
            <a:pPr marL="800100" lvl="1" indent="-342900" defTabSz="457200" fontAlgn="auto">
              <a:lnSpc>
                <a:spcPct val="90000"/>
              </a:lnSpc>
              <a:spcBef>
                <a:spcPct val="20000"/>
              </a:spcBef>
              <a:spcAft>
                <a:spcPts val="0"/>
              </a:spcAft>
              <a:buClr>
                <a:srgbClr val="F39A1E"/>
              </a:buClr>
              <a:buFont typeface="Calibri Bold"/>
              <a:buChar char="▪"/>
              <a:defRPr/>
            </a:pPr>
            <a:endParaRPr lang="en-US" altLang="zh-TW" sz="1600" dirty="0" smtClean="0">
              <a:solidFill>
                <a:schemeClr val="bg1">
                  <a:lumMod val="50000"/>
                </a:schemeClr>
              </a:solidFill>
              <a:latin typeface="+mn-lt"/>
            </a:endParaRP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600" dirty="0" smtClean="0">
                <a:solidFill>
                  <a:schemeClr val="bg1">
                    <a:lumMod val="50000"/>
                  </a:schemeClr>
                </a:solidFill>
                <a:latin typeface="+mn-lt"/>
              </a:rPr>
              <a:t>Argument Table</a:t>
            </a:r>
          </a:p>
        </p:txBody>
      </p:sp>
      <p:graphicFrame>
        <p:nvGraphicFramePr>
          <p:cNvPr id="4" name="Table 3"/>
          <p:cNvGraphicFramePr>
            <a:graphicFrameLocks noGrp="1"/>
          </p:cNvGraphicFramePr>
          <p:nvPr/>
        </p:nvGraphicFramePr>
        <p:xfrm>
          <a:off x="1524000" y="3068960"/>
          <a:ext cx="7008440" cy="576064"/>
        </p:xfrm>
        <a:graphic>
          <a:graphicData uri="http://schemas.openxmlformats.org/drawingml/2006/table">
            <a:tbl>
              <a:tblPr/>
              <a:tblGrid>
                <a:gridCol w="3809986"/>
                <a:gridCol w="3198454"/>
              </a:tblGrid>
              <a:tr h="138270">
                <a:tc>
                  <a:txBody>
                    <a:bodyPr/>
                    <a:lstStyle/>
                    <a:p>
                      <a:pPr>
                        <a:spcAft>
                          <a:spcPts val="0"/>
                        </a:spcAft>
                      </a:pPr>
                      <a:r>
                        <a:rPr lang="en-US" sz="800" b="1" kern="100" dirty="0">
                          <a:latin typeface="Calibri"/>
                          <a:ea typeface="Arial"/>
                          <a:cs typeface="PMingLiU"/>
                        </a:rPr>
                        <a:t>Command</a:t>
                      </a:r>
                    </a:p>
                  </a:txBody>
                  <a:tcPr marL="67824" marR="67824"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US" sz="800" kern="100">
                          <a:latin typeface="Calibri"/>
                          <a:ea typeface="Arial"/>
                          <a:cs typeface="Calibri"/>
                        </a:rPr>
                        <a:t>Comments</a:t>
                      </a:r>
                    </a:p>
                  </a:txBody>
                  <a:tcPr marL="67824" marR="67824"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r>
              <a:tr h="175118">
                <a:tc>
                  <a:txBody>
                    <a:bodyPr/>
                    <a:lstStyle/>
                    <a:p>
                      <a:pPr>
                        <a:spcAft>
                          <a:spcPts val="0"/>
                        </a:spcAft>
                      </a:pPr>
                      <a:r>
                        <a:rPr lang="en-US" sz="800" kern="100" dirty="0" err="1">
                          <a:latin typeface="Calibri"/>
                          <a:ea typeface="Arial"/>
                          <a:cs typeface="Calibri"/>
                        </a:rPr>
                        <a:t>adb</a:t>
                      </a:r>
                      <a:r>
                        <a:rPr lang="en-US" sz="800" kern="100" dirty="0">
                          <a:latin typeface="Calibri"/>
                          <a:ea typeface="Arial"/>
                          <a:cs typeface="Calibri"/>
                        </a:rPr>
                        <a:t> shell "</a:t>
                      </a:r>
                      <a:r>
                        <a:rPr lang="en-US" sz="800" kern="100" dirty="0" err="1">
                          <a:latin typeface="Calibri"/>
                          <a:ea typeface="Arial"/>
                          <a:cs typeface="Calibri"/>
                        </a:rPr>
                        <a:t>AudioSetParam</a:t>
                      </a:r>
                      <a:r>
                        <a:rPr lang="en-US" sz="800" kern="100" dirty="0">
                          <a:latin typeface="Calibri"/>
                          <a:ea typeface="Arial"/>
                          <a:cs typeface="Calibri"/>
                        </a:rPr>
                        <a:t> </a:t>
                      </a:r>
                      <a:r>
                        <a:rPr lang="en-US" sz="800" kern="100" dirty="0" err="1">
                          <a:latin typeface="Calibri"/>
                          <a:ea typeface="Arial"/>
                          <a:cs typeface="Calibri"/>
                        </a:rPr>
                        <a:t>AURISYS_SET_PARAM,$target,$scene,$lib,$cmd</a:t>
                      </a:r>
                      <a:r>
                        <a:rPr lang="en-US" sz="800" kern="100" dirty="0">
                          <a:latin typeface="Calibri"/>
                          <a:ea typeface="新細明體"/>
                          <a:cs typeface="Calibri"/>
                        </a:rPr>
                        <a:t> $mode</a:t>
                      </a:r>
                      <a:r>
                        <a:rPr lang="en-US" sz="800" kern="100" dirty="0">
                          <a:latin typeface="Calibri"/>
                          <a:ea typeface="Arial"/>
                          <a:cs typeface="Calibri"/>
                        </a:rPr>
                        <a:t>=</a:t>
                      </a:r>
                      <a:r>
                        <a:rPr lang="en-US" sz="800" kern="100" dirty="0">
                          <a:latin typeface="Calibri"/>
                          <a:ea typeface="新細明體"/>
                          <a:cs typeface="Calibri"/>
                        </a:rPr>
                        <a:t>SET</a:t>
                      </a:r>
                      <a:r>
                        <a:rPr lang="en-US" sz="800" kern="100" dirty="0">
                          <a:latin typeface="Calibri"/>
                          <a:ea typeface="Arial"/>
                          <a:cs typeface="Calibri"/>
                        </a:rPr>
                        <a:t>”</a:t>
                      </a:r>
                    </a:p>
                  </a:txBody>
                  <a:tcPr marL="67824" marR="67824"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dirty="0">
                          <a:latin typeface="Calibri"/>
                          <a:ea typeface="新細明體"/>
                          <a:cs typeface="Calibri"/>
                        </a:rPr>
                        <a:t>Used to update parameter file and apply parameters to the library</a:t>
                      </a:r>
                      <a:endParaRPr lang="en-US" sz="800" kern="100" dirty="0">
                        <a:latin typeface="Calibri"/>
                        <a:ea typeface="Arial"/>
                        <a:cs typeface="Calibri"/>
                      </a:endParaRPr>
                    </a:p>
                  </a:txBody>
                  <a:tcPr marL="67824" marR="67824"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2676">
                <a:tc>
                  <a:txBody>
                    <a:bodyPr/>
                    <a:lstStyle/>
                    <a:p>
                      <a:pPr>
                        <a:spcAft>
                          <a:spcPts val="0"/>
                        </a:spcAft>
                      </a:pPr>
                      <a:r>
                        <a:rPr lang="en-US" sz="800" kern="100">
                          <a:latin typeface="Calibri"/>
                          <a:ea typeface="Arial"/>
                          <a:cs typeface="Calibri"/>
                        </a:rPr>
                        <a:t>adb shell “AudioSetParam AURISYS_GET_PARAM,$target,$scene,$lib,$cmd”</a:t>
                      </a:r>
                    </a:p>
                  </a:txBody>
                  <a:tcPr marL="67824" marR="67824"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spcAft>
                          <a:spcPts val="0"/>
                        </a:spcAft>
                      </a:pPr>
                      <a:r>
                        <a:rPr lang="en-US" sz="800" kern="100" dirty="0">
                          <a:latin typeface="Calibri"/>
                          <a:ea typeface="新細明體"/>
                          <a:cs typeface="Calibri"/>
                        </a:rPr>
                        <a:t>Used to query current parameter setting. Query the value of a specified address and query the whole parameter file are allowed.</a:t>
                      </a:r>
                      <a:endParaRPr lang="en-US" sz="800" kern="100" dirty="0">
                        <a:latin typeface="Calibri"/>
                        <a:ea typeface="Arial"/>
                        <a:cs typeface="Calibri"/>
                      </a:endParaRPr>
                    </a:p>
                  </a:txBody>
                  <a:tcPr marL="67824" marR="67824"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596008" y="4127814"/>
          <a:ext cx="6936433" cy="2388472"/>
        </p:xfrm>
        <a:graphic>
          <a:graphicData uri="http://schemas.openxmlformats.org/drawingml/2006/table">
            <a:tbl>
              <a:tblPr/>
              <a:tblGrid>
                <a:gridCol w="1807735"/>
                <a:gridCol w="2564349"/>
                <a:gridCol w="2564349"/>
              </a:tblGrid>
              <a:tr h="146159">
                <a:tc>
                  <a:txBody>
                    <a:bodyPr/>
                    <a:lstStyle/>
                    <a:p>
                      <a:pPr>
                        <a:spcAft>
                          <a:spcPts val="0"/>
                        </a:spcAft>
                      </a:pPr>
                      <a:r>
                        <a:rPr lang="en-US" sz="800" b="1" kern="100" dirty="0">
                          <a:latin typeface="Calibri"/>
                          <a:ea typeface="Arial"/>
                          <a:cs typeface="PMingLiU"/>
                        </a:rPr>
                        <a:t>Argument</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US" sz="800" kern="100">
                          <a:latin typeface="Calibri"/>
                          <a:ea typeface="新細明體"/>
                          <a:cs typeface="Calibri"/>
                        </a:rPr>
                        <a:t>Example</a:t>
                      </a:r>
                      <a:endParaRPr lang="en-US" sz="800" kern="100">
                        <a:latin typeface="Calibri"/>
                        <a:ea typeface="Arial"/>
                        <a:cs typeface="Calibri"/>
                      </a:endParaRP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a:spcAft>
                          <a:spcPts val="0"/>
                        </a:spcAft>
                      </a:pPr>
                      <a:r>
                        <a:rPr lang="en-US" sz="800" kern="100">
                          <a:latin typeface="Calibri"/>
                          <a:ea typeface="Arial"/>
                          <a:cs typeface="Calibri"/>
                        </a:rPr>
                        <a:t>Comments</a:t>
                      </a: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r>
              <a:tr h="146159">
                <a:tc>
                  <a:txBody>
                    <a:bodyPr/>
                    <a:lstStyle/>
                    <a:p>
                      <a:pPr algn="ctr">
                        <a:spcAft>
                          <a:spcPts val="0"/>
                        </a:spcAft>
                      </a:pPr>
                      <a:r>
                        <a:rPr lang="en-US" sz="800" kern="100" dirty="0">
                          <a:latin typeface="Calibri"/>
                          <a:ea typeface="Arial"/>
                          <a:cs typeface="Calibri"/>
                        </a:rPr>
                        <a:t>$target</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Arial"/>
                          <a:cs typeface="Calibri"/>
                        </a:rPr>
                        <a:t>DSP, HAL</a:t>
                      </a: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The processing API maybe either in AP or in DSP</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2595">
                <a:tc>
                  <a:txBody>
                    <a:bodyPr/>
                    <a:lstStyle/>
                    <a:p>
                      <a:pPr algn="ctr">
                        <a:spcAft>
                          <a:spcPts val="0"/>
                        </a:spcAft>
                      </a:pPr>
                      <a:r>
                        <a:rPr lang="en-US" sz="800" kern="100">
                          <a:latin typeface="Calibri"/>
                          <a:ea typeface="Arial"/>
                          <a:cs typeface="Calibri"/>
                        </a:rPr>
                        <a:t>$scene</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Arial"/>
                          <a:cs typeface="Calibri"/>
                        </a:rPr>
                        <a:t>PHONE_CALL, PLAYBACK, RECORD</a:t>
                      </a:r>
                    </a:p>
                  </a:txBody>
                  <a:tcPr marL="57635" marR="576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Specify a scenario, the information will be used as an argument of the parser function</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2595">
                <a:tc>
                  <a:txBody>
                    <a:bodyPr/>
                    <a:lstStyle/>
                    <a:p>
                      <a:pPr algn="ctr">
                        <a:spcAft>
                          <a:spcPts val="0"/>
                        </a:spcAft>
                      </a:pPr>
                      <a:r>
                        <a:rPr lang="en-US" sz="800" kern="100">
                          <a:latin typeface="Calibri"/>
                          <a:ea typeface="Arial"/>
                          <a:cs typeface="Calibri"/>
                        </a:rPr>
                        <a:t>$lib</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Arial"/>
                          <a:cs typeface="Calibri"/>
                        </a:rPr>
                        <a:t>library name</a:t>
                      </a:r>
                    </a:p>
                  </a:txBody>
                  <a:tcPr marL="57635" marR="576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The library should be specified since there maybe several libraries added to the Aurisys</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5190">
                <a:tc>
                  <a:txBody>
                    <a:bodyPr/>
                    <a:lstStyle/>
                    <a:p>
                      <a:pPr algn="ctr">
                        <a:spcAft>
                          <a:spcPts val="0"/>
                        </a:spcAft>
                      </a:pPr>
                      <a:r>
                        <a:rPr lang="en-US" sz="800" kern="100" dirty="0">
                          <a:latin typeface="Calibri"/>
                          <a:ea typeface="新細明體"/>
                          <a:cs typeface="Calibri"/>
                        </a:rPr>
                        <a:t>$mode</a:t>
                      </a:r>
                      <a:endParaRPr lang="en-US" sz="800" kern="100" dirty="0">
                        <a:latin typeface="Calibri"/>
                        <a:ea typeface="Arial"/>
                        <a:cs typeface="Calibri"/>
                      </a:endParaRP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Enhancement mode</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Enhancement mode. IP provider can provide different enhancement for user to select what they want. The mode should be an integer. Only used in APPLY_PARAM command</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rowSpan="4">
                  <a:txBody>
                    <a:bodyPr/>
                    <a:lstStyle/>
                    <a:p>
                      <a:pPr algn="ctr">
                        <a:spcAft>
                          <a:spcPts val="0"/>
                        </a:spcAft>
                      </a:pPr>
                      <a:r>
                        <a:rPr lang="en-US" sz="800" kern="100">
                          <a:latin typeface="Calibri"/>
                          <a:ea typeface="Arial"/>
                          <a:cs typeface="Calibri"/>
                        </a:rPr>
                        <a:t>$cmd </a:t>
                      </a:r>
                    </a:p>
                    <a:p>
                      <a:pPr algn="ctr">
                        <a:spcAft>
                          <a:spcPts val="0"/>
                        </a:spcAft>
                      </a:pPr>
                      <a:r>
                        <a:rPr lang="en-US" sz="800" kern="100">
                          <a:latin typeface="Calibri"/>
                          <a:ea typeface="Arial"/>
                          <a:cs typeface="Calibri"/>
                        </a:rPr>
                        <a:t>(</a:t>
                      </a:r>
                      <a:r>
                        <a:rPr lang="en-US" sz="800" kern="100">
                          <a:latin typeface="Calibri"/>
                          <a:ea typeface="新細明體"/>
                          <a:cs typeface="Calibri"/>
                        </a:rPr>
                        <a:t>for </a:t>
                      </a:r>
                      <a:r>
                        <a:rPr lang="en-US" sz="800" kern="100">
                          <a:latin typeface="Calibri"/>
                          <a:ea typeface="Arial"/>
                          <a:cs typeface="Calibri"/>
                        </a:rPr>
                        <a:t>URISYS_SET_PARAM)</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dirty="0" err="1">
                          <a:latin typeface="Calibri"/>
                          <a:ea typeface="Arial"/>
                          <a:cs typeface="Calibri"/>
                        </a:rPr>
                        <a:t>PARAM_FILE,</a:t>
                      </a:r>
                      <a:r>
                        <a:rPr lang="en-US" sz="800" i="1" kern="100" dirty="0" err="1">
                          <a:latin typeface="Calibri"/>
                          <a:ea typeface="Arial"/>
                          <a:cs typeface="Calibri"/>
                        </a:rPr>
                        <a:t>param_path</a:t>
                      </a:r>
                      <a:endParaRPr lang="en-US" sz="800" kern="100" dirty="0">
                        <a:latin typeface="Calibri"/>
                        <a:ea typeface="Arial"/>
                        <a:cs typeface="Calibri"/>
                      </a:endParaRP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set parameter file path</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vMerge="1">
                  <a:txBody>
                    <a:bodyPr/>
                    <a:lstStyle/>
                    <a:p>
                      <a:endParaRPr lang="en-US"/>
                    </a:p>
                  </a:txBody>
                  <a:tcPr/>
                </a:tc>
                <a:tc>
                  <a:txBody>
                    <a:bodyPr/>
                    <a:lstStyle/>
                    <a:p>
                      <a:pPr>
                        <a:spcAft>
                          <a:spcPts val="0"/>
                        </a:spcAft>
                      </a:pPr>
                      <a:r>
                        <a:rPr lang="en-US" sz="800" kern="100">
                          <a:latin typeface="Calibri"/>
                          <a:ea typeface="Arial"/>
                          <a:cs typeface="Calibri"/>
                        </a:rPr>
                        <a:t>APPLY_PARAM</a:t>
                      </a: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apply new param during playback/phone call/...</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vMerge="1">
                  <a:txBody>
                    <a:bodyPr/>
                    <a:lstStyle/>
                    <a:p>
                      <a:endParaRPr lang="en-US"/>
                    </a:p>
                  </a:txBody>
                  <a:tcPr/>
                </a:tc>
                <a:tc>
                  <a:txBody>
                    <a:bodyPr/>
                    <a:lstStyle/>
                    <a:p>
                      <a:pPr>
                        <a:spcAft>
                          <a:spcPts val="0"/>
                        </a:spcAft>
                      </a:pPr>
                      <a:r>
                        <a:rPr lang="en-US" sz="800" kern="100">
                          <a:latin typeface="Calibri"/>
                          <a:ea typeface="Arial"/>
                          <a:cs typeface="Calibri"/>
                        </a:rPr>
                        <a:t>ADDR_VALUE,</a:t>
                      </a:r>
                      <a:r>
                        <a:rPr lang="en-US" sz="800" i="1" kern="100">
                          <a:latin typeface="Calibri"/>
                          <a:ea typeface="Arial"/>
                          <a:cs typeface="Calibri"/>
                        </a:rPr>
                        <a:t>addr,value</a:t>
                      </a:r>
                      <a:endParaRPr lang="en-US" sz="800" kern="100">
                        <a:latin typeface="Calibri"/>
                        <a:ea typeface="Arial"/>
                        <a:cs typeface="Calibri"/>
                      </a:endParaRP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set “</a:t>
                      </a:r>
                      <a:r>
                        <a:rPr lang="en-US" sz="800" i="1" kern="100">
                          <a:latin typeface="Calibri"/>
                          <a:ea typeface="Arial"/>
                          <a:cs typeface="Calibri"/>
                        </a:rPr>
                        <a:t>value</a:t>
                      </a:r>
                      <a:r>
                        <a:rPr lang="en-US" sz="800" i="1" kern="100">
                          <a:latin typeface="Calibri"/>
                          <a:ea typeface="新細明體"/>
                          <a:cs typeface="Calibri"/>
                        </a:rPr>
                        <a:t>”</a:t>
                      </a:r>
                      <a:r>
                        <a:rPr lang="en-US" sz="800" kern="100">
                          <a:latin typeface="Calibri"/>
                          <a:ea typeface="新細明體"/>
                          <a:cs typeface="Calibri"/>
                        </a:rPr>
                        <a:t> at the “</a:t>
                      </a:r>
                      <a:r>
                        <a:rPr lang="en-US" sz="800" i="1" kern="100">
                          <a:latin typeface="Calibri"/>
                          <a:ea typeface="Arial"/>
                          <a:cs typeface="Calibri"/>
                        </a:rPr>
                        <a:t>addr</a:t>
                      </a:r>
                      <a:r>
                        <a:rPr lang="en-US" sz="800" i="1" kern="100">
                          <a:latin typeface="Calibri"/>
                          <a:ea typeface="新細明體"/>
                          <a:cs typeface="Calibri"/>
                        </a:rPr>
                        <a:t>”</a:t>
                      </a:r>
                      <a:r>
                        <a:rPr lang="en-US" sz="800" kern="100">
                          <a:latin typeface="Calibri"/>
                          <a:ea typeface="新細明體"/>
                          <a:cs typeface="Calibri"/>
                        </a:rPr>
                        <a:t> in library</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2595">
                <a:tc vMerge="1">
                  <a:txBody>
                    <a:bodyPr/>
                    <a:lstStyle/>
                    <a:p>
                      <a:endParaRPr lang="en-US"/>
                    </a:p>
                  </a:txBody>
                  <a:tcPr/>
                </a:tc>
                <a:tc>
                  <a:txBody>
                    <a:bodyPr/>
                    <a:lstStyle/>
                    <a:p>
                      <a:pPr>
                        <a:spcAft>
                          <a:spcPts val="0"/>
                        </a:spcAft>
                      </a:pPr>
                      <a:r>
                        <a:rPr lang="en-US" sz="800" kern="100">
                          <a:latin typeface="Calibri"/>
                          <a:ea typeface="Arial"/>
                          <a:cs typeface="Calibri"/>
                        </a:rPr>
                        <a:t>KEY_VALUE,</a:t>
                      </a:r>
                      <a:r>
                        <a:rPr lang="en-US" sz="800" i="1" kern="100">
                          <a:latin typeface="Calibri"/>
                          <a:ea typeface="Arial"/>
                          <a:cs typeface="Calibri"/>
                        </a:rPr>
                        <a:t>key,value</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set "</a:t>
                      </a:r>
                      <a:r>
                        <a:rPr lang="en-US" sz="800" i="1" kern="100">
                          <a:latin typeface="Calibri"/>
                          <a:ea typeface="新細明體"/>
                          <a:cs typeface="Calibri"/>
                        </a:rPr>
                        <a:t>value</a:t>
                      </a:r>
                      <a:r>
                        <a:rPr lang="en-US" sz="800" kern="100">
                          <a:latin typeface="Calibri"/>
                          <a:ea typeface="新細明體"/>
                          <a:cs typeface="Calibri"/>
                        </a:rPr>
                        <a:t>" of the "</a:t>
                      </a:r>
                      <a:r>
                        <a:rPr lang="en-US" sz="800" i="1" kern="100">
                          <a:latin typeface="Calibri"/>
                          <a:ea typeface="新細明體"/>
                          <a:cs typeface="Calibri"/>
                        </a:rPr>
                        <a:t>key</a:t>
                      </a:r>
                      <a:r>
                        <a:rPr lang="en-US" sz="800" kern="100">
                          <a:latin typeface="Calibri"/>
                          <a:ea typeface="新細明體"/>
                          <a:cs typeface="Calibri"/>
                        </a:rPr>
                        <a:t>" in library, “</a:t>
                      </a:r>
                      <a:r>
                        <a:rPr lang="en-US" sz="800" i="1" kern="100">
                          <a:latin typeface="Calibri"/>
                          <a:ea typeface="新細明體"/>
                          <a:cs typeface="Calibri"/>
                        </a:rPr>
                        <a:t>key</a:t>
                      </a:r>
                      <a:r>
                        <a:rPr lang="en-US" sz="800" kern="100">
                          <a:latin typeface="Calibri"/>
                          <a:ea typeface="新細明體"/>
                          <a:cs typeface="Calibri"/>
                        </a:rPr>
                        <a:t>” can be defined by the library itself</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rowSpan="3">
                  <a:txBody>
                    <a:bodyPr/>
                    <a:lstStyle/>
                    <a:p>
                      <a:pPr algn="ctr">
                        <a:spcAft>
                          <a:spcPts val="0"/>
                        </a:spcAft>
                      </a:pPr>
                      <a:r>
                        <a:rPr lang="en-US" sz="800" kern="100">
                          <a:latin typeface="Calibri"/>
                          <a:ea typeface="Arial"/>
                          <a:cs typeface="Calibri"/>
                        </a:rPr>
                        <a:t>$cmd </a:t>
                      </a:r>
                    </a:p>
                    <a:p>
                      <a:pPr algn="ctr">
                        <a:spcAft>
                          <a:spcPts val="0"/>
                        </a:spcAft>
                      </a:pPr>
                      <a:r>
                        <a:rPr lang="en-US" sz="800" kern="100">
                          <a:latin typeface="Calibri"/>
                          <a:ea typeface="Arial"/>
                          <a:cs typeface="Calibri"/>
                        </a:rPr>
                        <a:t>(</a:t>
                      </a:r>
                      <a:r>
                        <a:rPr lang="en-US" sz="800" kern="100">
                          <a:latin typeface="Calibri"/>
                          <a:ea typeface="新細明體"/>
                          <a:cs typeface="Calibri"/>
                        </a:rPr>
                        <a:t>for </a:t>
                      </a:r>
                      <a:r>
                        <a:rPr lang="en-US" sz="800" kern="100">
                          <a:latin typeface="Calibri"/>
                          <a:ea typeface="Arial"/>
                          <a:cs typeface="Calibri"/>
                        </a:rPr>
                        <a:t>URISYS_GET_PARAM)</a:t>
                      </a:r>
                    </a:p>
                  </a:txBody>
                  <a:tcPr marL="57635" marR="57635"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Arial"/>
                          <a:cs typeface="Calibri"/>
                        </a:rPr>
                        <a:t>PARAM_FILE</a:t>
                      </a: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return param_path</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vMerge="1">
                  <a:txBody>
                    <a:bodyPr/>
                    <a:lstStyle/>
                    <a:p>
                      <a:endParaRPr lang="en-US"/>
                    </a:p>
                  </a:txBody>
                  <a:tcPr/>
                </a:tc>
                <a:tc>
                  <a:txBody>
                    <a:bodyPr/>
                    <a:lstStyle/>
                    <a:p>
                      <a:pPr>
                        <a:spcAft>
                          <a:spcPts val="0"/>
                        </a:spcAft>
                      </a:pPr>
                      <a:r>
                        <a:rPr lang="en-US" sz="800" kern="100">
                          <a:latin typeface="Calibri"/>
                          <a:ea typeface="Arial"/>
                          <a:cs typeface="Calibri"/>
                        </a:rPr>
                        <a:t>ADDR_VALUE,</a:t>
                      </a:r>
                      <a:r>
                        <a:rPr lang="en-US" sz="800" i="1" kern="100">
                          <a:latin typeface="Calibri"/>
                          <a:ea typeface="Arial"/>
                          <a:cs typeface="Calibri"/>
                        </a:rPr>
                        <a:t>addr</a:t>
                      </a:r>
                      <a:endParaRPr lang="en-US" sz="800" kern="100">
                        <a:latin typeface="Calibri"/>
                        <a:ea typeface="Arial"/>
                        <a:cs typeface="Calibri"/>
                      </a:endParaRP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800" kern="100">
                          <a:latin typeface="Calibri"/>
                          <a:ea typeface="新細明體"/>
                          <a:cs typeface="Calibri"/>
                        </a:rPr>
                        <a:t>return the value at the address “</a:t>
                      </a:r>
                      <a:r>
                        <a:rPr lang="en-US" sz="800" i="1" kern="100">
                          <a:latin typeface="Calibri"/>
                          <a:ea typeface="新細明體"/>
                          <a:cs typeface="Calibri"/>
                        </a:rPr>
                        <a:t>addr</a:t>
                      </a:r>
                      <a:r>
                        <a:rPr lang="en-US" sz="800" kern="100">
                          <a:latin typeface="Calibri"/>
                          <a:ea typeface="新細明體"/>
                          <a:cs typeface="Calibri"/>
                        </a:rPr>
                        <a:t>” in library</a:t>
                      </a:r>
                      <a:endParaRPr lang="en-US" sz="800" kern="10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159">
                <a:tc vMerge="1">
                  <a:txBody>
                    <a:bodyPr/>
                    <a:lstStyle/>
                    <a:p>
                      <a:endParaRPr lang="en-US"/>
                    </a:p>
                  </a:txBody>
                  <a:tcPr/>
                </a:tc>
                <a:tc>
                  <a:txBody>
                    <a:bodyPr/>
                    <a:lstStyle/>
                    <a:p>
                      <a:pPr>
                        <a:spcAft>
                          <a:spcPts val="0"/>
                        </a:spcAft>
                      </a:pPr>
                      <a:r>
                        <a:rPr lang="en-US" sz="800" kern="100">
                          <a:latin typeface="Calibri"/>
                          <a:ea typeface="新細明體"/>
                          <a:cs typeface="Calibri"/>
                        </a:rPr>
                        <a:t>KEY</a:t>
                      </a:r>
                      <a:r>
                        <a:rPr lang="en-US" sz="800" kern="100">
                          <a:latin typeface="Calibri"/>
                          <a:ea typeface="Arial"/>
                          <a:cs typeface="Calibri"/>
                        </a:rPr>
                        <a:t>_VALUE,</a:t>
                      </a:r>
                      <a:r>
                        <a:rPr lang="en-US" sz="800" i="1" kern="100">
                          <a:latin typeface="Calibri"/>
                          <a:ea typeface="新細明體"/>
                          <a:cs typeface="Calibri"/>
                        </a:rPr>
                        <a:t>key</a:t>
                      </a:r>
                      <a:endParaRPr lang="en-US" sz="800" kern="100">
                        <a:latin typeface="Calibri"/>
                        <a:ea typeface="Arial"/>
                        <a:cs typeface="Calibri"/>
                      </a:endParaRPr>
                    </a:p>
                  </a:txBody>
                  <a:tcPr marL="57635" marR="576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spcAft>
                          <a:spcPts val="0"/>
                        </a:spcAft>
                      </a:pPr>
                      <a:r>
                        <a:rPr lang="en-US" sz="800" kern="100" dirty="0">
                          <a:latin typeface="Calibri"/>
                          <a:ea typeface="新細明體"/>
                          <a:cs typeface="Calibri"/>
                        </a:rPr>
                        <a:t>return the value at the “</a:t>
                      </a:r>
                      <a:r>
                        <a:rPr lang="en-US" sz="800" i="1" kern="100" dirty="0">
                          <a:latin typeface="Calibri"/>
                          <a:ea typeface="新細明體"/>
                          <a:cs typeface="Calibri"/>
                        </a:rPr>
                        <a:t>key</a:t>
                      </a:r>
                      <a:r>
                        <a:rPr lang="en-US" sz="800" kern="100" dirty="0">
                          <a:latin typeface="Calibri"/>
                          <a:ea typeface="新細明體"/>
                          <a:cs typeface="Calibri"/>
                        </a:rPr>
                        <a:t>” in library</a:t>
                      </a:r>
                      <a:endParaRPr lang="en-US" sz="800" kern="100" dirty="0">
                        <a:latin typeface="Calibri"/>
                        <a:ea typeface="Arial"/>
                        <a:cs typeface="Calibri"/>
                      </a:endParaRPr>
                    </a:p>
                  </a:txBody>
                  <a:tcPr marL="57635" marR="57635"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239" y="5296"/>
            <a:ext cx="8524201" cy="584775"/>
          </a:xfrm>
          <a:prstGeom prst="rect">
            <a:avLst/>
          </a:prstGeom>
        </p:spPr>
        <p:txBody>
          <a:bodyPr wrap="square">
            <a:spAutoFit/>
          </a:bodyPr>
          <a:lstStyle/>
          <a:p>
            <a:pPr lvl="0"/>
            <a:r>
              <a:rPr lang="en-US" altLang="zh-TW" sz="3200" b="1" dirty="0" smtClean="0">
                <a:latin typeface="Arial Black" pitchFamily="34" charset="0"/>
                <a:ea typeface="新細明體" pitchFamily="18" charset="-120"/>
                <a:cs typeface="Times New Roman" pitchFamily="18" charset="0"/>
              </a:rPr>
              <a:t>Parameter Management </a:t>
            </a:r>
            <a:r>
              <a:rPr lang="en-US" altLang="zh-TW" sz="1600" b="1" dirty="0" smtClean="0">
                <a:latin typeface="Arial Black" pitchFamily="34" charset="0"/>
                <a:ea typeface="新細明體" pitchFamily="18" charset="-120"/>
                <a:cs typeface="Times New Roman" pitchFamily="18" charset="0"/>
              </a:rPr>
              <a:t>Tool Development cont’d</a:t>
            </a:r>
            <a:endParaRPr lang="en-US" altLang="zh-TW" sz="1600" b="1" dirty="0" smtClean="0">
              <a:latin typeface="Arial Black" pitchFamily="34" charset="0"/>
              <a:ea typeface="新細明體" pitchFamily="18" charset="-120"/>
            </a:endParaRPr>
          </a:p>
        </p:txBody>
      </p:sp>
      <p:sp>
        <p:nvSpPr>
          <p:cNvPr id="3" name="Rectangle 3"/>
          <p:cNvSpPr txBox="1">
            <a:spLocks noChangeArrowheads="1"/>
          </p:cNvSpPr>
          <p:nvPr/>
        </p:nvSpPr>
        <p:spPr>
          <a:xfrm>
            <a:off x="539552" y="908720"/>
            <a:ext cx="8208912" cy="5184576"/>
          </a:xfrm>
          <a:prstGeom prst="rect">
            <a:avLst/>
          </a:prstGeom>
        </p:spPr>
        <p:txBody>
          <a:bodyPr vert="horz" lIns="91440" tIns="45720" rIns="91440" bIns="45720" rtlCol="0">
            <a:noAutofit/>
          </a:bodyPr>
          <a:lstStyle/>
          <a:p>
            <a:pPr marL="342900" indent="-342900" defTabSz="457200" fontAlgn="auto">
              <a:lnSpc>
                <a:spcPct val="90000"/>
              </a:lnSpc>
              <a:spcBef>
                <a:spcPct val="20000"/>
              </a:spcBef>
              <a:spcAft>
                <a:spcPts val="0"/>
              </a:spcAft>
              <a:buClr>
                <a:srgbClr val="F39A1E"/>
              </a:buClr>
              <a:buFont typeface="Calibri Bold"/>
              <a:buChar char="▪"/>
              <a:defRPr/>
            </a:pPr>
            <a:r>
              <a:rPr lang="en-US" altLang="zh-TW" dirty="0" smtClean="0">
                <a:latin typeface="+mn-lt"/>
              </a:rPr>
              <a:t>Example</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a:t>
            </a:r>
            <a:r>
              <a:rPr lang="en-US" altLang="zh-TW" sz="1400" dirty="0" smtClean="0">
                <a:solidFill>
                  <a:schemeClr val="bg1">
                    <a:lumMod val="50000"/>
                  </a:schemeClr>
                </a:solidFill>
                <a:latin typeface="+mn-lt"/>
              </a:rPr>
              <a:t> shell "</a:t>
            </a:r>
            <a:r>
              <a:rPr lang="en-US" altLang="zh-TW" sz="1400" dirty="0" err="1" smtClean="0">
                <a:solidFill>
                  <a:schemeClr val="bg1">
                    <a:lumMod val="50000"/>
                  </a:schemeClr>
                </a:solidFill>
                <a:latin typeface="+mn-lt"/>
              </a:rPr>
              <a:t>AudioSetParam</a:t>
            </a:r>
            <a:r>
              <a:rPr lang="en-US" altLang="zh-TW" sz="1400" dirty="0" smtClean="0">
                <a:solidFill>
                  <a:schemeClr val="bg1">
                    <a:lumMod val="50000"/>
                  </a:schemeClr>
                </a:solidFill>
                <a:latin typeface="+mn-lt"/>
              </a:rPr>
              <a:t> </a:t>
            </a:r>
            <a:r>
              <a:rPr lang="en-US" altLang="zh-TW" sz="1400" dirty="0" err="1" smtClean="0">
                <a:solidFill>
                  <a:schemeClr val="bg1">
                    <a:lumMod val="50000"/>
                  </a:schemeClr>
                </a:solidFill>
                <a:latin typeface="+mn-lt"/>
              </a:rPr>
              <a:t>AURISYS_SET_PARAM,DSP,RECORD,MyLib,PARAM_FILE</a:t>
            </a:r>
            <a:r>
              <a:rPr lang="en-US" altLang="zh-TW" sz="1400" dirty="0" smtClean="0">
                <a:solidFill>
                  <a:schemeClr val="bg1">
                    <a:lumMod val="50000"/>
                  </a:schemeClr>
                </a:solidFill>
                <a:latin typeface="+mn-lt"/>
              </a:rPr>
              <a:t>,/data/d.dat=SET“</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set parameter file path: /data/d.dat and establish the connection between </a:t>
            </a:r>
            <a:r>
              <a:rPr lang="en-US" altLang="zh-TW" sz="1400" dirty="0" err="1" smtClean="0">
                <a:solidFill>
                  <a:srgbClr val="0000FF"/>
                </a:solidFill>
                <a:latin typeface="+mn-lt"/>
              </a:rPr>
              <a:t>MyLib</a:t>
            </a:r>
            <a:r>
              <a:rPr lang="en-US" altLang="zh-TW" sz="1400" dirty="0" smtClean="0">
                <a:solidFill>
                  <a:srgbClr val="0000FF"/>
                </a:solidFill>
                <a:latin typeface="+mn-lt"/>
              </a:rPr>
              <a:t> and the parameter file</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AURISYS_SET_PARAM,DSP,PHONE_CALL,MyLib,APPLY_PARAM,2=SET“</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apply new parameters for record scenario, the enhancement mode is 2</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AURISYS_SET_PARAM,DSP,RECORD,MyLib,ADDR_VALUE,0x1234,0x5678=SET" </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set value 0x5678 at the address 0x1234 in </a:t>
            </a:r>
            <a:r>
              <a:rPr lang="en-US" altLang="zh-TW" sz="1400" dirty="0" err="1" smtClean="0">
                <a:solidFill>
                  <a:srgbClr val="0000FF"/>
                </a:solidFill>
                <a:latin typeface="+mn-lt"/>
              </a:rPr>
              <a:t>MyLib</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AURISYS_SET_PARAM,DSP,RECORD,MyLib,KEY_VALUE,MyKey,MyVauel=SET“</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set value "</a:t>
            </a:r>
            <a:r>
              <a:rPr lang="en-US" altLang="zh-TW" sz="1400" dirty="0" err="1" smtClean="0">
                <a:solidFill>
                  <a:srgbClr val="0000FF"/>
                </a:solidFill>
                <a:latin typeface="+mn-lt"/>
              </a:rPr>
              <a:t>MyValue</a:t>
            </a:r>
            <a:r>
              <a:rPr lang="en-US" altLang="zh-TW" sz="1400" dirty="0" smtClean="0">
                <a:solidFill>
                  <a:srgbClr val="0000FF"/>
                </a:solidFill>
                <a:latin typeface="+mn-lt"/>
              </a:rPr>
              <a:t>" to the key "</a:t>
            </a:r>
            <a:r>
              <a:rPr lang="en-US" altLang="zh-TW" sz="1400" dirty="0" err="1" smtClean="0">
                <a:solidFill>
                  <a:srgbClr val="0000FF"/>
                </a:solidFill>
                <a:latin typeface="+mn-lt"/>
              </a:rPr>
              <a:t>MyKey</a:t>
            </a:r>
            <a:r>
              <a:rPr lang="en-US" altLang="zh-TW" sz="1400" dirty="0" smtClean="0">
                <a:solidFill>
                  <a:srgbClr val="0000FF"/>
                </a:solidFill>
                <a:latin typeface="+mn-lt"/>
              </a:rPr>
              <a:t>" in </a:t>
            </a:r>
            <a:r>
              <a:rPr lang="en-US" altLang="zh-TW" sz="1400" dirty="0" err="1" smtClean="0">
                <a:solidFill>
                  <a:srgbClr val="0000FF"/>
                </a:solidFill>
                <a:latin typeface="+mn-lt"/>
              </a:rPr>
              <a:t>MyLib</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AURISYS_GET_PARAM,DSP,PHONE_CALL,MyLib,PARAM_FILE“</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return </a:t>
            </a:r>
            <a:r>
              <a:rPr lang="en-US" altLang="zh-TW" sz="1400" dirty="0" err="1" smtClean="0">
                <a:solidFill>
                  <a:srgbClr val="0000FF"/>
                </a:solidFill>
                <a:latin typeface="+mn-lt"/>
              </a:rPr>
              <a:t>param_path</a:t>
            </a:r>
            <a:r>
              <a:rPr lang="en-US" altLang="zh-TW" sz="1400" dirty="0" smtClean="0">
                <a:solidFill>
                  <a:srgbClr val="0000FF"/>
                </a:solidFill>
                <a:latin typeface="+mn-lt"/>
              </a:rPr>
              <a:t> of </a:t>
            </a:r>
            <a:r>
              <a:rPr lang="en-US" altLang="zh-TW" sz="1400" dirty="0" err="1" smtClean="0">
                <a:solidFill>
                  <a:srgbClr val="0000FF"/>
                </a:solidFill>
                <a:latin typeface="+mn-lt"/>
              </a:rPr>
              <a:t>MyLib</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AURISYS_GET_PARAM,DSP,PHONE_CALL,MyLi,ADDR_VALUE,0x1234“</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return the value at the address 0x1234 in </a:t>
            </a:r>
            <a:r>
              <a:rPr lang="en-US" altLang="zh-TW" sz="1400" dirty="0" err="1" smtClean="0">
                <a:solidFill>
                  <a:srgbClr val="0000FF"/>
                </a:solidFill>
                <a:latin typeface="+mn-lt"/>
              </a:rPr>
              <a:t>Mylib</a:t>
            </a:r>
          </a:p>
          <a:p>
            <a:pPr marL="800100" lvl="1" indent="-342900" defTabSz="457200" fontAlgn="auto">
              <a:lnSpc>
                <a:spcPct val="90000"/>
              </a:lnSpc>
              <a:spcBef>
                <a:spcPct val="20000"/>
              </a:spcBef>
              <a:spcAft>
                <a:spcPts val="0"/>
              </a:spcAft>
              <a:buClr>
                <a:srgbClr val="F39A1E"/>
              </a:buClr>
              <a:buFont typeface="Calibri Bold"/>
              <a:buChar char="▪"/>
              <a:defRPr/>
            </a:pPr>
            <a:r>
              <a:rPr lang="en-US" altLang="zh-TW" sz="1400" dirty="0" err="1" smtClean="0">
                <a:solidFill>
                  <a:schemeClr val="bg1">
                    <a:lumMod val="50000"/>
                  </a:schemeClr>
                </a:solidFill>
                <a:latin typeface="+mn-lt"/>
              </a:rPr>
              <a:t>adb shell "AudioSetParam AURISYS_GET_PARAM,DSP,PHONE_CALL,MyLib,KEY_VALUE,MyKey“</a:t>
            </a:r>
          </a:p>
          <a:p>
            <a:pPr marL="1257300" lvl="2" indent="-342900" defTabSz="457200" fontAlgn="auto">
              <a:lnSpc>
                <a:spcPct val="90000"/>
              </a:lnSpc>
              <a:spcBef>
                <a:spcPct val="20000"/>
              </a:spcBef>
              <a:spcAft>
                <a:spcPts val="0"/>
              </a:spcAft>
              <a:buClr>
                <a:srgbClr val="F39A1E"/>
              </a:buClr>
              <a:buFont typeface="Calibri Bold"/>
              <a:buChar char="▪"/>
              <a:defRPr/>
            </a:pPr>
            <a:r>
              <a:rPr lang="en-US" altLang="zh-TW" sz="1400" dirty="0" smtClean="0">
                <a:solidFill>
                  <a:srgbClr val="0000FF"/>
                </a:solidFill>
                <a:latin typeface="+mn-lt"/>
              </a:rPr>
              <a:t>return the value of the key "</a:t>
            </a:r>
            <a:r>
              <a:rPr lang="en-US" altLang="zh-TW" sz="1400" dirty="0" err="1" smtClean="0">
                <a:solidFill>
                  <a:srgbClr val="0000FF"/>
                </a:solidFill>
                <a:latin typeface="+mn-lt"/>
              </a:rPr>
              <a:t>MyKey</a:t>
            </a:r>
            <a:r>
              <a:rPr lang="en-US" altLang="zh-TW" sz="1400" dirty="0" smtClean="0">
                <a:solidFill>
                  <a:srgbClr val="0000FF"/>
                </a:solidFill>
                <a:latin typeface="+mn-lt"/>
              </a:rPr>
              <a:t>" in </a:t>
            </a:r>
            <a:r>
              <a:rPr lang="en-US" altLang="zh-TW" sz="1400" dirty="0" err="1" smtClean="0">
                <a:solidFill>
                  <a:srgbClr val="0000FF"/>
                </a:solidFill>
                <a:latin typeface="+mn-lt"/>
              </a:rPr>
              <a:t>Mylib</a:t>
            </a:r>
            <a:endParaRPr lang="en-US" altLang="zh-TW" sz="1400" dirty="0" smtClean="0">
              <a:solidFill>
                <a:srgbClr val="0000FF"/>
              </a:solidFill>
              <a:latin typeface="+mn-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END</a:t>
            </a:r>
            <a:endParaRPr lang="en-US" dirty="0"/>
          </a:p>
        </p:txBody>
      </p:sp>
      <p:sp>
        <p:nvSpPr>
          <p:cNvPr id="4" name="Subtitle 3"/>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ediaTek">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BACC6"/>
        </a:solidFill>
        <a:ln w="25400" cap="flat" cmpd="sng" algn="ctr">
          <a:noFill/>
          <a:prstDash val="sysDash"/>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noProof="0" dirty="0" smtClean="0">
            <a:ln>
              <a:noFill/>
            </a:ln>
            <a:solidFill>
              <a:sysClr val="window" lastClr="FFFFFF"/>
            </a:solidFill>
            <a:effectLst/>
            <a:uLnTx/>
            <a:uFillTx/>
            <a:latin typeface="Calibri"/>
            <a:ea typeface="標楷體"/>
            <a:cs typeface="+mn-cs"/>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Design">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MediaTek">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2A53B7DB280546A20112FD2EF61E0F" ma:contentTypeVersion="8" ma:contentTypeDescription="Create a new document." ma:contentTypeScope="" ma:versionID="93dbae95c85826a351b64e5a9c00c7f1">
  <xsd:schema xmlns:xsd="http://www.w3.org/2001/XMLSchema" xmlns:xs="http://www.w3.org/2001/XMLSchema" xmlns:p="http://schemas.microsoft.com/office/2006/metadata/properties" xmlns:ns2="http://schemas.microsoft.com/sharepoint/v4" xmlns:ns3="8b8cf6ce-236f-4713-896e-b4ec346257bb" xmlns:ns4="58b0650e-828d-46c1-af00-111984e5092a" xmlns:ns5="7a58c3ed-4a22-4d08-9ddf-2c2b66cc6605" targetNamespace="http://schemas.microsoft.com/office/2006/metadata/properties" ma:root="true" ma:fieldsID="f8eeb43b36309ba801eb86731cfe2d05" ns2:_="" ns3:_="" ns4:_="" ns5:_="">
    <xsd:import namespace="http://schemas.microsoft.com/sharepoint/v4"/>
    <xsd:import namespace="8b8cf6ce-236f-4713-896e-b4ec346257bb"/>
    <xsd:import namespace="58b0650e-828d-46c1-af00-111984e5092a"/>
    <xsd:import namespace="7a58c3ed-4a22-4d08-9ddf-2c2b66cc6605"/>
    <xsd:element name="properties">
      <xsd:complexType>
        <xsd:sequence>
          <xsd:element name="documentManagement">
            <xsd:complexType>
              <xsd:all>
                <xsd:element ref="ns2:IconOverlay" minOccurs="0"/>
                <xsd:element ref="ns3:SharedWithUsers" minOccurs="0"/>
                <xsd:element ref="ns4:SharedWithDetails" minOccurs="0"/>
                <xsd:element ref="ns5:Sensi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cf6ce-236f-4713-896e-b4ec346257b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8b0650e-828d-46c1-af00-111984e5092a" elementFormDefault="qualified">
    <xsd:import namespace="http://schemas.microsoft.com/office/2006/documentManagement/types"/>
    <xsd:import namespace="http://schemas.microsoft.com/office/infopath/2007/PartnerControls"/>
    <xsd:element name="SharedWithDetails" ma:index="1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a58c3ed-4a22-4d08-9ddf-2c2b66cc6605" elementFormDefault="qualified">
    <xsd:import namespace="http://schemas.microsoft.com/office/2006/documentManagement/types"/>
    <xsd:import namespace="http://schemas.microsoft.com/office/infopath/2007/PartnerControls"/>
    <xsd:element name="Sensitivity" ma:index="11" nillable="true" ma:displayName="Sensitivity" ma:internalName="Sensitivi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IconOverlay xmlns="http://schemas.microsoft.com/sharepoint/v4" xsi:nil="true"/>
    <Sensitivity xmlns="7a58c3ed-4a22-4d08-9ddf-2c2b66cc6605" xsi:nil="true"/>
  </documentManagement>
</p:properties>
</file>

<file path=customXml/itemProps1.xml><?xml version="1.0" encoding="utf-8"?>
<ds:datastoreItem xmlns:ds="http://schemas.openxmlformats.org/officeDocument/2006/customXml" ds:itemID="{149CBBE4-24F1-4A6F-8784-4D1FC024BB82}"/>
</file>

<file path=customXml/itemProps2.xml><?xml version="1.0" encoding="utf-8"?>
<ds:datastoreItem xmlns:ds="http://schemas.openxmlformats.org/officeDocument/2006/customXml" ds:itemID="{6AF126A7-917B-45B2-8DF2-038019E2607E}"/>
</file>

<file path=customXml/itemProps3.xml><?xml version="1.0" encoding="utf-8"?>
<ds:datastoreItem xmlns:ds="http://schemas.openxmlformats.org/officeDocument/2006/customXml" ds:itemID="{56358D36-E35D-4BFD-9F5F-FE0726F3A34D}"/>
</file>

<file path=docProps/app.xml><?xml version="1.0" encoding="utf-8"?>
<Properties xmlns="http://schemas.openxmlformats.org/officeDocument/2006/extended-properties" xmlns:vt="http://schemas.openxmlformats.org/officeDocument/2006/docPropsVTypes">
  <Template>MediaTek-Internal_Use</Template>
  <TotalTime>521213</TotalTime>
  <Words>1631</Words>
  <Application>Microsoft Office PowerPoint</Application>
  <PresentationFormat>On-screen Show (4:3)</PresentationFormat>
  <Paragraphs>226</Paragraphs>
  <Slides>15</Slides>
  <Notes>0</Notes>
  <HiddenSlides>0</HiddenSlides>
  <MMClips>0</MMClips>
  <ScaleCrop>false</ScaleCrop>
  <HeadingPairs>
    <vt:vector size="4" baseType="variant">
      <vt:variant>
        <vt:lpstr>Theme</vt:lpstr>
      </vt:variant>
      <vt:variant>
        <vt:i4>5</vt:i4>
      </vt:variant>
      <vt:variant>
        <vt:lpstr>Slide Titles</vt:lpstr>
      </vt:variant>
      <vt:variant>
        <vt:i4>15</vt:i4>
      </vt:variant>
    </vt:vector>
  </HeadingPairs>
  <TitlesOfParts>
    <vt:vector size="20" baseType="lpstr">
      <vt:lpstr>MediaTek</vt:lpstr>
      <vt:lpstr>1_Custom Design</vt:lpstr>
      <vt:lpstr>2_Custom Design</vt:lpstr>
      <vt:lpstr>Custom Design</vt:lpstr>
      <vt:lpstr>1_MediaTek</vt:lpstr>
      <vt:lpstr>X20 DSP FAQ Cortex-M4 Processor  as open DSP v1.1</vt:lpstr>
      <vt:lpstr>System Information</vt:lpstr>
      <vt:lpstr>Slide 2</vt:lpstr>
      <vt:lpstr>Slide 3</vt:lpstr>
      <vt:lpstr>Slide 4</vt:lpstr>
      <vt:lpstr>Slide 5</vt:lpstr>
      <vt:lpstr>Slide 6</vt:lpstr>
      <vt:lpstr>Audio Development</vt:lpstr>
      <vt:lpstr>Slide 8</vt:lpstr>
      <vt:lpstr>Slide 9</vt:lpstr>
      <vt:lpstr>Slide 10</vt:lpstr>
      <vt:lpstr>Slide 11</vt:lpstr>
      <vt:lpstr>Slide 12</vt:lpstr>
      <vt:lpstr>Slide 13</vt:lpstr>
      <vt:lpstr>END</vt:lpstr>
    </vt:vector>
  </TitlesOfParts>
  <Company>MediaTek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Bold 32pt</dc:title>
  <dc:creator>MTK</dc:creator>
  <cp:keywords>Internal Use</cp:keywords>
  <dc:description>Internal Use</dc:description>
  <cp:lastModifiedBy>Mediatek</cp:lastModifiedBy>
  <cp:revision>36371</cp:revision>
  <dcterms:created xsi:type="dcterms:W3CDTF">2008-02-20T09:40:22Z</dcterms:created>
  <dcterms:modified xsi:type="dcterms:W3CDTF">2015-12-07T07:53:15Z</dcterms:modified>
  <cp:category>Internal Use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0x010100FC2A53B7DB280546A20112FD2EF61E0F</vt:lpwstr>
  </property>
  <property fmtid="{D5CDD505-2E9C-101B-9397-08002B2CF9AE}" pid="3" name="SCEncryptBy">
    <vt:lpwstr/>
  </property>
  <property fmtid="{D5CDD505-2E9C-101B-9397-08002B2CF9AE}" pid="4" name="SCEnDecrypt">
    <vt:lpwstr>Not Encrypted</vt:lpwstr>
  </property>
  <property fmtid="{D5CDD505-2E9C-101B-9397-08002B2CF9AE}" pid="5" name="_AdHocReviewCycleID">
    <vt:i4>-1616943174</vt:i4>
  </property>
  <property fmtid="{D5CDD505-2E9C-101B-9397-08002B2CF9AE}" pid="6" name="_NewReviewCycle">
    <vt:lpwstr/>
  </property>
  <property fmtid="{D5CDD505-2E9C-101B-9397-08002B2CF9AE}" pid="7" name="_EmailSubject">
    <vt:lpwstr>Forte</vt:lpwstr>
  </property>
  <property fmtid="{D5CDD505-2E9C-101B-9397-08002B2CF9AE}" pid="8" name="_AuthorEmail">
    <vt:lpwstr>hp.cheng@mediatek.com</vt:lpwstr>
  </property>
  <property fmtid="{D5CDD505-2E9C-101B-9397-08002B2CF9AE}" pid="9" name="_AuthorEmailDisplayName">
    <vt:lpwstr>HP Cheng (鄭新平)</vt:lpwstr>
  </property>
</Properties>
</file>