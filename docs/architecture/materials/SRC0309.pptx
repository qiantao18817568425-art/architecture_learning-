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5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7" r:id="rId15"/>
    <p:sldId id="291" r:id="rId16"/>
    <p:sldId id="282" r:id="rId17"/>
    <p:sldId id="260" r:id="rId18"/>
    <p:sldId id="259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960468-F64D-42BF-9CA8-27A3CFFF9B2E}">
          <p14:sldIdLst>
            <p14:sldId id="256"/>
            <p14:sldId id="26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7"/>
            <p14:sldId id="291"/>
            <p14:sldId id="282"/>
            <p14:sldId id="26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lla Yao (姚冠伃)" initials="SY(" lastIdx="0" clrIdx="0">
    <p:extLst>
      <p:ext uri="{19B8F6BF-5375-455C-9EA6-DF929625EA0E}">
        <p15:presenceInfo xmlns:p15="http://schemas.microsoft.com/office/powerpoint/2012/main" userId="S-1-5-21-1711831044-1024940897-1435325219-1751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A1E"/>
    <a:srgbClr val="69BE28"/>
    <a:srgbClr val="D71F85"/>
    <a:srgbClr val="FFCA05"/>
    <a:srgbClr val="1717A3"/>
    <a:srgbClr val="036639"/>
    <a:srgbClr val="00A1DE"/>
    <a:srgbClr val="FFFFFF"/>
    <a:srgbClr val="002C62"/>
    <a:srgbClr val="3537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94" autoAdjust="0"/>
    <p:restoredTop sz="95232" autoAdjust="0"/>
  </p:normalViewPr>
  <p:slideViewPr>
    <p:cSldViewPr snapToGrid="0" snapToObjects="1" showGuides="1">
      <p:cViewPr varScale="1">
        <p:scale>
          <a:sx n="145" d="100"/>
          <a:sy n="145" d="100"/>
        </p:scale>
        <p:origin x="86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23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313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E133BF5F-174E-40A4-9866-37369B60B4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B48160D-002A-4C38-B685-9D01781CDF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3437A-2548-46BD-BA5A-B2CEE9B60B79}" type="datetimeFigureOut">
              <a:rPr lang="zh-TW" altLang="en-US" smtClean="0"/>
              <a:t>2023/6/27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6C9DBB5-AEAC-42FF-B31A-63350E0F6F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254148-141F-4002-9FE0-E42D86596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7ED40-27C7-4C17-9AA3-9A8BEF720B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185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E4A5B-860F-48A8-8317-191E0EF4C33B}" type="datetimeFigureOut">
              <a:rPr lang="en-GB" smtClean="0"/>
              <a:pPr/>
              <a:t>27/06/2023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BA6D-F0DA-4F85-A720-04754C301D6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23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4306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166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885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4040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845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8281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171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6026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5969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9036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9852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6237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ABA6D-F0DA-4F85-A720-04754C301D6D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7781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Formal">
    <p:bg>
      <p:bgPr>
        <a:solidFill>
          <a:srgbClr val="F39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 rot="5400000">
            <a:off x="8526780" y="388620"/>
            <a:ext cx="1005840" cy="228600"/>
            <a:chOff x="17255" y="4635476"/>
            <a:chExt cx="898831" cy="241248"/>
          </a:xfrm>
        </p:grpSpPr>
        <p:sp>
          <p:nvSpPr>
            <p:cNvPr id="7" name="Rectangle 6"/>
            <p:cNvSpPr/>
            <p:nvPr/>
          </p:nvSpPr>
          <p:spPr>
            <a:xfrm>
              <a:off x="17255" y="4635476"/>
              <a:ext cx="898831" cy="241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8316" y="4680383"/>
              <a:ext cx="817119" cy="18309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900" dirty="0">
                  <a:solidFill>
                    <a:srgbClr val="F39A1E"/>
                  </a:solidFill>
                  <a:latin typeface="Calibri" panose="020F0502020204030204" pitchFamily="34" charset="0"/>
                </a:rPr>
                <a:t>CONFIDENTIAL C</a:t>
              </a:r>
            </a:p>
          </p:txBody>
        </p:sp>
      </p:grpSp>
      <p:sp>
        <p:nvSpPr>
          <p:cNvPr id="4" name="文字方塊 3"/>
          <p:cNvSpPr txBox="1"/>
          <p:nvPr userDrawn="1"/>
        </p:nvSpPr>
        <p:spPr>
          <a:xfrm>
            <a:off x="2382251" y="3048755"/>
            <a:ext cx="6545703" cy="8855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 lang="zh-TW" altLang="en-US" dirty="0"/>
          </a:p>
        </p:txBody>
      </p:sp>
      <p:sp>
        <p:nvSpPr>
          <p:cNvPr id="12" name="文字版面配置區 20">
            <a:extLst>
              <a:ext uri="{FF2B5EF4-FFF2-40B4-BE49-F238E27FC236}">
                <a16:creationId xmlns:a16="http://schemas.microsoft.com/office/drawing/2014/main" id="{0878BF3B-8DAC-42C9-92B7-F9EC0BA19F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70668" y="2093214"/>
            <a:ext cx="5841788" cy="64046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标题使用粗体</a:t>
            </a:r>
            <a:r>
              <a:rPr lang="en-US" altLang="zh-TW" dirty="0"/>
              <a:t>32pts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C6B121D-85E8-4ED7-AF42-7E852007BA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736" y="1361899"/>
            <a:ext cx="1894918" cy="517459"/>
          </a:xfrm>
          <a:prstGeom prst="rect">
            <a:avLst/>
          </a:prstGeom>
        </p:spPr>
      </p:pic>
      <p:sp>
        <p:nvSpPr>
          <p:cNvPr id="14" name="文字版面配置區 20">
            <a:extLst>
              <a:ext uri="{FF2B5EF4-FFF2-40B4-BE49-F238E27FC236}">
                <a16:creationId xmlns:a16="http://schemas.microsoft.com/office/drawing/2014/main" id="{6EF1C5E5-F541-45A7-A09E-49564F6BBF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0668" y="2733676"/>
            <a:ext cx="4218896" cy="64046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子</a:t>
            </a:r>
            <a:r>
              <a:rPr lang="zh-CN" altLang="en-US" dirty="0"/>
              <a:t>标题使用粗体</a:t>
            </a:r>
            <a:r>
              <a:rPr lang="en-US" altLang="zh-TW" dirty="0"/>
              <a:t>20pts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468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9211404-45CD-4325-8498-AF8EEE4AA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0"/>
          </p:nvPr>
        </p:nvSpPr>
        <p:spPr>
          <a:xfrm>
            <a:off x="323850" y="1032588"/>
            <a:ext cx="8218488" cy="3427445"/>
          </a:xfrm>
          <a:prstGeom prst="rect">
            <a:avLst/>
          </a:prstGeom>
        </p:spPr>
        <p:txBody>
          <a:bodyPr/>
          <a:lstStyle>
            <a:lvl1pPr marL="514350" indent="-514350">
              <a:buFont typeface="Wingdings" panose="05000000000000000000" pitchFamily="2" charset="2"/>
              <a:buChar char="p"/>
              <a:defRPr sz="2000" b="1">
                <a:latin typeface="+mj-lt"/>
              </a:defRPr>
            </a:lvl1pPr>
            <a:lvl2pPr>
              <a:defRPr sz="1600" b="1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90758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9211404-45CD-4325-8498-AF8EEE4AA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10"/>
          </p:nvPr>
        </p:nvSpPr>
        <p:spPr>
          <a:xfrm>
            <a:off x="323849" y="1007706"/>
            <a:ext cx="8218489" cy="3707363"/>
          </a:xfrm>
        </p:spPr>
        <p:txBody>
          <a:bodyPr/>
          <a:lstStyle>
            <a:lvl1pPr>
              <a:defRPr sz="16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39A1E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36899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9211404-45CD-4325-8498-AF8EEE4AA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10"/>
          </p:nvPr>
        </p:nvSpPr>
        <p:spPr>
          <a:xfrm>
            <a:off x="323850" y="1007706"/>
            <a:ext cx="4032126" cy="3707363"/>
          </a:xfrm>
        </p:spPr>
        <p:txBody>
          <a:bodyPr/>
          <a:lstStyle>
            <a:lvl1pPr>
              <a:defRPr sz="2000" b="1">
                <a:latin typeface="+mj-lt"/>
              </a:defRPr>
            </a:lvl1pPr>
            <a:lvl2pPr>
              <a:defRPr sz="1600" b="1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內容版面配置區 25"/>
          <p:cNvSpPr>
            <a:spLocks noGrp="1"/>
          </p:cNvSpPr>
          <p:nvPr>
            <p:ph sz="quarter" idx="11"/>
          </p:nvPr>
        </p:nvSpPr>
        <p:spPr>
          <a:xfrm>
            <a:off x="4499992" y="1004972"/>
            <a:ext cx="4042347" cy="3707363"/>
          </a:xfrm>
        </p:spPr>
        <p:txBody>
          <a:bodyPr/>
          <a:lstStyle>
            <a:lvl1pPr>
              <a:defRPr sz="2000" b="1">
                <a:latin typeface="+mj-lt"/>
              </a:defRPr>
            </a:lvl1pPr>
            <a:lvl2pPr>
              <a:defRPr sz="1600" b="1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39A1E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02980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9211404-45CD-4325-8498-AF8EEE4AA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39A1E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404818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9211404-45CD-4325-8498-AF8EEE4AA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0191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5DD189-F23A-4A72-A8E7-12D5CE2E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文字版面配置區 24">
            <a:extLst>
              <a:ext uri="{FF2B5EF4-FFF2-40B4-BE49-F238E27FC236}">
                <a16:creationId xmlns:a16="http://schemas.microsoft.com/office/drawing/2014/main" id="{0102C623-39B7-482D-AB86-93A92F3712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1552" y="1818018"/>
            <a:ext cx="8230787" cy="255393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j-lt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TW" altLang="en-US" dirty="0"/>
              <a:t>內文使用</a:t>
            </a:r>
            <a:r>
              <a:rPr lang="en-US" altLang="zh-TW" dirty="0"/>
              <a:t>12pts</a:t>
            </a:r>
          </a:p>
        </p:txBody>
      </p:sp>
      <p:sp>
        <p:nvSpPr>
          <p:cNvPr id="21" name="文字版面配置區 24">
            <a:extLst>
              <a:ext uri="{FF2B5EF4-FFF2-40B4-BE49-F238E27FC236}">
                <a16:creationId xmlns:a16="http://schemas.microsoft.com/office/drawing/2014/main" id="{926391ED-A1C2-4413-B9C5-9DD36AFED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552" y="1408099"/>
            <a:ext cx="8230786" cy="3113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>
                <a:latin typeface="+mj-lt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TW" altLang="en-US" dirty="0"/>
              <a:t>內文大标题使用</a:t>
            </a:r>
            <a:r>
              <a:rPr lang="en-US" altLang="zh-TW" dirty="0"/>
              <a:t>16pts</a:t>
            </a:r>
          </a:p>
        </p:txBody>
      </p:sp>
      <p:sp>
        <p:nvSpPr>
          <p:cNvPr id="22" name="文字版面配置區 24">
            <a:extLst>
              <a:ext uri="{FF2B5EF4-FFF2-40B4-BE49-F238E27FC236}">
                <a16:creationId xmlns:a16="http://schemas.microsoft.com/office/drawing/2014/main" id="{31CC0E0B-144B-478C-975D-2C5721C221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551" y="4427059"/>
            <a:ext cx="3066022" cy="3113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*Source:  Body text goes here in sentence case 9pts.</a:t>
            </a:r>
          </a:p>
        </p:txBody>
      </p:sp>
      <p:sp>
        <p:nvSpPr>
          <p:cNvPr id="24" name="文字版面配置區 24">
            <a:extLst>
              <a:ext uri="{FF2B5EF4-FFF2-40B4-BE49-F238E27FC236}">
                <a16:creationId xmlns:a16="http://schemas.microsoft.com/office/drawing/2014/main" id="{374059BD-775E-44E1-A833-94858E63E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551" y="998180"/>
            <a:ext cx="8230787" cy="3113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子</a:t>
            </a:r>
            <a:r>
              <a:rPr lang="zh-CN" altLang="en-US" dirty="0"/>
              <a:t>标题使用粗体</a:t>
            </a:r>
            <a:r>
              <a:rPr lang="en-US" altLang="zh-TW" dirty="0"/>
              <a:t>20pts</a:t>
            </a:r>
            <a:endParaRPr lang="zh-TW" altLang="en-US" dirty="0"/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39A1E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92664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室外 的圖片&#10;&#10;描述是以高可信度產生">
            <a:extLst>
              <a:ext uri="{FF2B5EF4-FFF2-40B4-BE49-F238E27FC236}">
                <a16:creationId xmlns:a16="http://schemas.microsoft.com/office/drawing/2014/main" id="{DC2D0D50-67E3-4F36-B468-7911E277F4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8526" y="751490"/>
            <a:ext cx="7973813" cy="397291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3CB8DE1-4449-4EF9-9297-7B9F31667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07234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3CB8DE1-4449-4EF9-9297-7B9F31667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id="{5EC7FBC4-8594-4342-90DE-025774DA1F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" y="1239586"/>
            <a:ext cx="3067032" cy="442859"/>
          </a:xfrm>
          <a:prstGeom prst="rect">
            <a:avLst/>
          </a:prstGeom>
          <a:solidFill>
            <a:srgbClr val="FFCA05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zh-TW" dirty="0"/>
              <a:t>Body text/Calibri/16pts</a:t>
            </a:r>
            <a:endParaRPr lang="zh-TW" altLang="en-US" dirty="0"/>
          </a:p>
        </p:txBody>
      </p:sp>
      <p:sp>
        <p:nvSpPr>
          <p:cNvPr id="13" name="文字版面配置區 18">
            <a:extLst>
              <a:ext uri="{FF2B5EF4-FFF2-40B4-BE49-F238E27FC236}">
                <a16:creationId xmlns:a16="http://schemas.microsoft.com/office/drawing/2014/main" id="{E7D79B96-7A21-4C0C-B47D-23C03655A4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774774"/>
            <a:ext cx="3038481" cy="820040"/>
          </a:xfrm>
          <a:prstGeom prst="rect">
            <a:avLst/>
          </a:prstGeom>
          <a:solidFill>
            <a:srgbClr val="FFCA05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  <a:endParaRPr lang="zh-TW" altLang="en-US" dirty="0"/>
          </a:p>
        </p:txBody>
      </p:sp>
      <p:sp>
        <p:nvSpPr>
          <p:cNvPr id="14" name="圖片版面配置區 5">
            <a:extLst>
              <a:ext uri="{FF2B5EF4-FFF2-40B4-BE49-F238E27FC236}">
                <a16:creationId xmlns:a16="http://schemas.microsoft.com/office/drawing/2014/main" id="{FA7B9CDC-6840-44D5-B7F4-B7A5C7F1EC0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1" y="1682444"/>
            <a:ext cx="3038482" cy="2092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+mj-lt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15" name="文字版面配置區 18">
            <a:extLst>
              <a:ext uri="{FF2B5EF4-FFF2-40B4-BE49-F238E27FC236}">
                <a16:creationId xmlns:a16="http://schemas.microsoft.com/office/drawing/2014/main" id="{266BDB66-2D52-4EC8-9493-68E1F60A8A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8483" y="1239586"/>
            <a:ext cx="3067032" cy="442859"/>
          </a:xfrm>
          <a:prstGeom prst="rect">
            <a:avLst/>
          </a:prstGeom>
          <a:solidFill>
            <a:srgbClr val="69BE28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zh-TW" dirty="0"/>
              <a:t>Body text/Calibri/16pts</a:t>
            </a:r>
            <a:endParaRPr lang="zh-TW" altLang="en-US" dirty="0"/>
          </a:p>
        </p:txBody>
      </p:sp>
      <p:sp>
        <p:nvSpPr>
          <p:cNvPr id="16" name="文字版面配置區 18">
            <a:extLst>
              <a:ext uri="{FF2B5EF4-FFF2-40B4-BE49-F238E27FC236}">
                <a16:creationId xmlns:a16="http://schemas.microsoft.com/office/drawing/2014/main" id="{3C31F96A-9B22-4F64-960B-01D384DE93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38484" y="3770915"/>
            <a:ext cx="3038482" cy="820040"/>
          </a:xfrm>
          <a:prstGeom prst="rect">
            <a:avLst/>
          </a:prstGeom>
          <a:solidFill>
            <a:srgbClr val="69BE28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  <a:endParaRPr lang="zh-TW" altLang="en-US" dirty="0"/>
          </a:p>
        </p:txBody>
      </p:sp>
      <p:sp>
        <p:nvSpPr>
          <p:cNvPr id="17" name="圖片版面配置區 5">
            <a:extLst>
              <a:ext uri="{FF2B5EF4-FFF2-40B4-BE49-F238E27FC236}">
                <a16:creationId xmlns:a16="http://schemas.microsoft.com/office/drawing/2014/main" id="{A298E8CE-357A-4140-B5E4-AD22FD39D94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038483" y="1682444"/>
            <a:ext cx="3038483" cy="2092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+mj-lt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18" name="文字版面配置區 18">
            <a:extLst>
              <a:ext uri="{FF2B5EF4-FFF2-40B4-BE49-F238E27FC236}">
                <a16:creationId xmlns:a16="http://schemas.microsoft.com/office/drawing/2014/main" id="{33C4F6F6-31CE-4FD9-A3D7-A7D1D0FC07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76968" y="1239586"/>
            <a:ext cx="3067032" cy="44285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zh-TW" dirty="0"/>
              <a:t>Body text/Calibri/16pts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0BEF69B6-881A-4FBB-BBB0-3A32C94FE7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76969" y="3770915"/>
            <a:ext cx="3067032" cy="82004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  <a:endParaRPr lang="zh-TW" altLang="en-US" dirty="0"/>
          </a:p>
        </p:txBody>
      </p:sp>
      <p:sp>
        <p:nvSpPr>
          <p:cNvPr id="20" name="圖片版面配置區 5">
            <a:extLst>
              <a:ext uri="{FF2B5EF4-FFF2-40B4-BE49-F238E27FC236}">
                <a16:creationId xmlns:a16="http://schemas.microsoft.com/office/drawing/2014/main" id="{2B47372B-F0BA-4731-9A36-256296AEF41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076968" y="1682444"/>
            <a:ext cx="3067031" cy="2092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+mj-lt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22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1763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+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圖片版面配置區 5">
            <a:extLst>
              <a:ext uri="{FF2B5EF4-FFF2-40B4-BE49-F238E27FC236}">
                <a16:creationId xmlns:a16="http://schemas.microsoft.com/office/drawing/2014/main" id="{AB03D790-2F34-40F2-BD7D-3FFB88E5F7E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273722"/>
            <a:ext cx="9144001" cy="34083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+mj-lt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BE3C7CC-BFCC-4188-95AF-7C83305BB32B}"/>
              </a:ext>
            </a:extLst>
          </p:cNvPr>
          <p:cNvSpPr txBox="1">
            <a:spLocks/>
          </p:cNvSpPr>
          <p:nvPr userDrawn="1"/>
        </p:nvSpPr>
        <p:spPr>
          <a:xfrm>
            <a:off x="8542339" y="4863742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EF9A4B-07C9-404C-9053-A3A2AC3AD5D6}" type="slidenum">
              <a:rPr lang="en-GB" sz="600" smtClean="0"/>
              <a:pPr/>
              <a:t>‹#›</a:t>
            </a:fld>
            <a:endParaRPr lang="en-GB" sz="600" dirty="0"/>
          </a:p>
        </p:txBody>
      </p:sp>
      <p:sp>
        <p:nvSpPr>
          <p:cNvPr id="13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5182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Media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18">
            <a:extLst>
              <a:ext uri="{FF2B5EF4-FFF2-40B4-BE49-F238E27FC236}">
                <a16:creationId xmlns:a16="http://schemas.microsoft.com/office/drawing/2014/main" id="{94F6F4E3-E8D1-4DC2-B0CA-56809F5319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-1" y="1239586"/>
            <a:ext cx="2284770" cy="442859"/>
          </a:xfrm>
          <a:prstGeom prst="rect">
            <a:avLst/>
          </a:prstGeom>
          <a:solidFill>
            <a:srgbClr val="FFCA05"/>
          </a:solidFill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text/Calibri/16pts</a:t>
            </a:r>
          </a:p>
        </p:txBody>
      </p:sp>
      <p:sp>
        <p:nvSpPr>
          <p:cNvPr id="7" name="文字版面配置區 18">
            <a:extLst>
              <a:ext uri="{FF2B5EF4-FFF2-40B4-BE49-F238E27FC236}">
                <a16:creationId xmlns:a16="http://schemas.microsoft.com/office/drawing/2014/main" id="{E6608BD1-147C-46FB-9D31-B120B8336A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770915"/>
            <a:ext cx="2291624" cy="820040"/>
          </a:xfrm>
          <a:prstGeom prst="rect">
            <a:avLst/>
          </a:prstGeom>
          <a:solidFill>
            <a:srgbClr val="FFCA05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8" name="圖片版面配置區 5">
            <a:extLst>
              <a:ext uri="{FF2B5EF4-FFF2-40B4-BE49-F238E27FC236}">
                <a16:creationId xmlns:a16="http://schemas.microsoft.com/office/drawing/2014/main" id="{746E0EF0-E653-4F9A-A28C-A9866E6936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2" y="1682445"/>
            <a:ext cx="2286000" cy="20884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9" name="文字版面配置區 18">
            <a:extLst>
              <a:ext uri="{FF2B5EF4-FFF2-40B4-BE49-F238E27FC236}">
                <a16:creationId xmlns:a16="http://schemas.microsoft.com/office/drawing/2014/main" id="{A8EB9369-73F7-40EF-926B-8E8F9DCA2A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6314" y="1239586"/>
            <a:ext cx="2291419" cy="442859"/>
          </a:xfrm>
          <a:prstGeom prst="rect">
            <a:avLst/>
          </a:prstGeom>
          <a:solidFill>
            <a:srgbClr val="69BE28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Body text/Calibri/16pts</a:t>
            </a:r>
          </a:p>
        </p:txBody>
      </p:sp>
      <p:sp>
        <p:nvSpPr>
          <p:cNvPr id="10" name="文字版面配置區 18">
            <a:extLst>
              <a:ext uri="{FF2B5EF4-FFF2-40B4-BE49-F238E27FC236}">
                <a16:creationId xmlns:a16="http://schemas.microsoft.com/office/drawing/2014/main" id="{A4EB6D35-3FED-4EA7-812B-8D9A1B299B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86314" y="3770915"/>
            <a:ext cx="2293200" cy="820040"/>
          </a:xfrm>
          <a:prstGeom prst="rect">
            <a:avLst/>
          </a:prstGeom>
          <a:solidFill>
            <a:srgbClr val="69BE28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11" name="圖片版面配置區 5">
            <a:extLst>
              <a:ext uri="{FF2B5EF4-FFF2-40B4-BE49-F238E27FC236}">
                <a16:creationId xmlns:a16="http://schemas.microsoft.com/office/drawing/2014/main" id="{341012BD-8152-49EB-B750-8ED9203DC7A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286314" y="1682445"/>
            <a:ext cx="2293200" cy="20884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id="{2A945E46-21BF-4204-B82A-311E0C5989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4744" y="1239586"/>
            <a:ext cx="2288055" cy="44285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text/Calibri/16pts</a:t>
            </a:r>
          </a:p>
        </p:txBody>
      </p:sp>
      <p:sp>
        <p:nvSpPr>
          <p:cNvPr id="13" name="文字版面配置區 18">
            <a:extLst>
              <a:ext uri="{FF2B5EF4-FFF2-40B4-BE49-F238E27FC236}">
                <a16:creationId xmlns:a16="http://schemas.microsoft.com/office/drawing/2014/main" id="{B15D2412-C687-405A-87B5-0966A07870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4744" y="3770915"/>
            <a:ext cx="2289600" cy="82004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20" name="圖片版面配置區 5">
            <a:extLst>
              <a:ext uri="{FF2B5EF4-FFF2-40B4-BE49-F238E27FC236}">
                <a16:creationId xmlns:a16="http://schemas.microsoft.com/office/drawing/2014/main" id="{5D451D69-658C-4F56-915A-B2DDF385F57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4744" y="1682443"/>
            <a:ext cx="2289600" cy="20884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2664A5B3-17FB-451A-82B2-8B5845DFCE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5944" y="1239585"/>
            <a:ext cx="2288055" cy="442859"/>
          </a:xfrm>
          <a:prstGeom prst="rect">
            <a:avLst/>
          </a:prstGeom>
          <a:solidFill>
            <a:srgbClr val="D71F85"/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text/Calibri/16pts</a:t>
            </a:r>
          </a:p>
        </p:txBody>
      </p:sp>
      <p:sp>
        <p:nvSpPr>
          <p:cNvPr id="21" name="圖片版面配置區 5">
            <a:extLst>
              <a:ext uri="{FF2B5EF4-FFF2-40B4-BE49-F238E27FC236}">
                <a16:creationId xmlns:a16="http://schemas.microsoft.com/office/drawing/2014/main" id="{C1F9C1EC-D04E-48C1-AB5B-9CD4F319169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855944" y="1682444"/>
            <a:ext cx="2288057" cy="20884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22" name="文字版面配置區 18">
            <a:extLst>
              <a:ext uri="{FF2B5EF4-FFF2-40B4-BE49-F238E27FC236}">
                <a16:creationId xmlns:a16="http://schemas.microsoft.com/office/drawing/2014/main" id="{8EBBAF9D-9D09-44E0-AE17-74DDD78999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52376" y="3770914"/>
            <a:ext cx="2287858" cy="820040"/>
          </a:xfrm>
          <a:prstGeom prst="rect">
            <a:avLst/>
          </a:prstGeom>
          <a:solidFill>
            <a:srgbClr val="D71F85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28E65-22FD-4291-A407-01274D3B9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46087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+Media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字版面配置區 18">
            <a:extLst>
              <a:ext uri="{FF2B5EF4-FFF2-40B4-BE49-F238E27FC236}">
                <a16:creationId xmlns:a16="http://schemas.microsoft.com/office/drawing/2014/main" id="{94C54889-0B56-4C2C-B071-26B97FB413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774774"/>
            <a:ext cx="3038481" cy="820040"/>
          </a:xfrm>
          <a:prstGeom prst="rect">
            <a:avLst/>
          </a:prstGeom>
          <a:solidFill>
            <a:srgbClr val="FFCA05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52" name="圖片版面配置區 5">
            <a:extLst>
              <a:ext uri="{FF2B5EF4-FFF2-40B4-BE49-F238E27FC236}">
                <a16:creationId xmlns:a16="http://schemas.microsoft.com/office/drawing/2014/main" id="{E4ADABB1-0AF9-41A0-89CB-EECD15C83E3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1" y="1232094"/>
            <a:ext cx="3038482" cy="2542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Calibri" panose="020F0502020204030204" pitchFamily="34" charset="0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53" name="文字版面配置區 18">
            <a:extLst>
              <a:ext uri="{FF2B5EF4-FFF2-40B4-BE49-F238E27FC236}">
                <a16:creationId xmlns:a16="http://schemas.microsoft.com/office/drawing/2014/main" id="{83154691-5907-4558-A4CD-08A7C25A98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38484" y="3770915"/>
            <a:ext cx="3038482" cy="820040"/>
          </a:xfrm>
          <a:prstGeom prst="rect">
            <a:avLst/>
          </a:prstGeom>
          <a:solidFill>
            <a:srgbClr val="69BE28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54" name="圖片版面配置區 5">
            <a:extLst>
              <a:ext uri="{FF2B5EF4-FFF2-40B4-BE49-F238E27FC236}">
                <a16:creationId xmlns:a16="http://schemas.microsoft.com/office/drawing/2014/main" id="{9F5E9543-5742-4D77-97CE-64898B1CF43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038483" y="1232094"/>
            <a:ext cx="3038483" cy="2542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Calibri" panose="020F0502020204030204" pitchFamily="34" charset="0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55" name="文字版面配置區 18">
            <a:extLst>
              <a:ext uri="{FF2B5EF4-FFF2-40B4-BE49-F238E27FC236}">
                <a16:creationId xmlns:a16="http://schemas.microsoft.com/office/drawing/2014/main" id="{510C9066-B83E-49DB-9DF0-C3F84CB0A1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76969" y="3770915"/>
            <a:ext cx="3067032" cy="82004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56" name="圖片版面配置區 5">
            <a:extLst>
              <a:ext uri="{FF2B5EF4-FFF2-40B4-BE49-F238E27FC236}">
                <a16:creationId xmlns:a16="http://schemas.microsoft.com/office/drawing/2014/main" id="{8ECD9BC5-B71B-4F9D-A5F8-88E1049130B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076968" y="1232094"/>
            <a:ext cx="3067031" cy="25426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2000">
                <a:latin typeface="Calibri" panose="020F0502020204030204" pitchFamily="34" charset="0"/>
              </a:defRPr>
            </a:lvl1pPr>
          </a:lstStyle>
          <a:p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63" name="文字版面配置區 20">
            <a:extLst>
              <a:ext uri="{FF2B5EF4-FFF2-40B4-BE49-F238E27FC236}">
                <a16:creationId xmlns:a16="http://schemas.microsoft.com/office/drawing/2014/main" id="{E84AABBE-C906-4DE2-9B7E-749E90AB7A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5244" y="2587845"/>
            <a:ext cx="811089" cy="119078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4" name="文字版面配置區 20">
            <a:extLst>
              <a:ext uri="{FF2B5EF4-FFF2-40B4-BE49-F238E27FC236}">
                <a16:creationId xmlns:a16="http://schemas.microsoft.com/office/drawing/2014/main" id="{E91BD225-CAB6-4E90-9F8F-F335537BF6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0442" y="3224518"/>
            <a:ext cx="811089" cy="41077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億</a:t>
            </a:r>
          </a:p>
        </p:txBody>
      </p:sp>
      <p:sp>
        <p:nvSpPr>
          <p:cNvPr id="65" name="文字版面配置區 20">
            <a:extLst>
              <a:ext uri="{FF2B5EF4-FFF2-40B4-BE49-F238E27FC236}">
                <a16:creationId xmlns:a16="http://schemas.microsoft.com/office/drawing/2014/main" id="{3A34AD3F-9140-4A65-9DAE-F7014F9578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71379" y="2553839"/>
            <a:ext cx="811089" cy="119078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66" name="文字版面配置區 20">
            <a:extLst>
              <a:ext uri="{FF2B5EF4-FFF2-40B4-BE49-F238E27FC236}">
                <a16:creationId xmlns:a16="http://schemas.microsoft.com/office/drawing/2014/main" id="{A083966D-F9B8-430C-93F1-940333B06F4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86577" y="3238481"/>
            <a:ext cx="1126032" cy="41077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NTD</a:t>
            </a:r>
            <a:endParaRPr lang="zh-TW" altLang="en-US" dirty="0"/>
          </a:p>
        </p:txBody>
      </p:sp>
      <p:sp>
        <p:nvSpPr>
          <p:cNvPr id="67" name="文字版面配置區 20">
            <a:extLst>
              <a:ext uri="{FF2B5EF4-FFF2-40B4-BE49-F238E27FC236}">
                <a16:creationId xmlns:a16="http://schemas.microsoft.com/office/drawing/2014/main" id="{810B07CB-3E23-4C00-B891-73E3294300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61305" y="2553839"/>
            <a:ext cx="811089" cy="119078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68" name="文字版面配置區 20">
            <a:extLst>
              <a:ext uri="{FF2B5EF4-FFF2-40B4-BE49-F238E27FC236}">
                <a16:creationId xmlns:a16="http://schemas.microsoft.com/office/drawing/2014/main" id="{39A05554-0D22-4D7A-B41F-49142CACAD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776503" y="3238481"/>
            <a:ext cx="460373" cy="41077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%</a:t>
            </a:r>
            <a:endParaRPr lang="zh-TW" altLang="en-US" dirty="0"/>
          </a:p>
          <a:p>
            <a:pPr lvl="0"/>
            <a:endParaRPr lang="zh-TW" alt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7B29BBBD-3AC2-4704-9937-C6A4A785F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74331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F3511B9-1220-48E6-B393-404168BBFE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600"/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419493DC-0923-4185-BFFB-247A57270438}"/>
              </a:ext>
            </a:extLst>
          </p:cNvPr>
          <p:cNvSpPr txBox="1"/>
          <p:nvPr userDrawn="1"/>
        </p:nvSpPr>
        <p:spPr>
          <a:xfrm>
            <a:off x="810918" y="2014815"/>
            <a:ext cx="2947139" cy="5435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Riona Sans Regular" panose="01000000000000000000" pitchFamily="50" charset="0"/>
              </a:rPr>
              <a:t>Placed orders in wafer foundries greater than TWD 530BN in past 10 years</a:t>
            </a:r>
          </a:p>
        </p:txBody>
      </p:sp>
      <p:sp>
        <p:nvSpPr>
          <p:cNvPr id="38" name="文字版面配置區 18">
            <a:extLst>
              <a:ext uri="{FF2B5EF4-FFF2-40B4-BE49-F238E27FC236}">
                <a16:creationId xmlns:a16="http://schemas.microsoft.com/office/drawing/2014/main" id="{8D0FCABE-AF67-4776-87EA-71326C26E5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2578" y="1227653"/>
            <a:ext cx="4567652" cy="1664089"/>
          </a:xfrm>
          <a:prstGeom prst="rect">
            <a:avLst/>
          </a:prstGeom>
          <a:solidFill>
            <a:srgbClr val="FFCA05"/>
          </a:solidFill>
        </p:spPr>
        <p:txBody>
          <a:bodyPr wrap="none" bIns="216000" anchor="b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39" name="文字版面配置區 20">
            <a:extLst>
              <a:ext uri="{FF2B5EF4-FFF2-40B4-BE49-F238E27FC236}">
                <a16:creationId xmlns:a16="http://schemas.microsoft.com/office/drawing/2014/main" id="{685CEC30-ADC6-4106-A668-F67E0A9311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5323" y="1592142"/>
            <a:ext cx="1016744" cy="76198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40" name="文字版面配置區 20">
            <a:extLst>
              <a:ext uri="{FF2B5EF4-FFF2-40B4-BE49-F238E27FC236}">
                <a16:creationId xmlns:a16="http://schemas.microsoft.com/office/drawing/2014/main" id="{E462A135-5745-4AE6-8705-DDA97E7B2B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15377" y="1921047"/>
            <a:ext cx="458044" cy="3393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%</a:t>
            </a:r>
            <a:endParaRPr lang="zh-TW" altLang="en-US" dirty="0"/>
          </a:p>
        </p:txBody>
      </p:sp>
      <p:sp>
        <p:nvSpPr>
          <p:cNvPr id="41" name="文字版面配置區 18">
            <a:extLst>
              <a:ext uri="{FF2B5EF4-FFF2-40B4-BE49-F238E27FC236}">
                <a16:creationId xmlns:a16="http://schemas.microsoft.com/office/drawing/2014/main" id="{12208CFE-A144-4D8E-A81A-F1B716075E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65074" y="1227694"/>
            <a:ext cx="4583965" cy="1664089"/>
          </a:xfrm>
          <a:prstGeom prst="rect">
            <a:avLst/>
          </a:prstGeom>
          <a:solidFill>
            <a:srgbClr val="69BE28"/>
          </a:solidFill>
        </p:spPr>
        <p:txBody>
          <a:bodyPr wrap="none" bIns="216000" anchor="b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42" name="文字版面配置區 20">
            <a:extLst>
              <a:ext uri="{FF2B5EF4-FFF2-40B4-BE49-F238E27FC236}">
                <a16:creationId xmlns:a16="http://schemas.microsoft.com/office/drawing/2014/main" id="{4C71CE92-CCCC-4E54-8190-A01893E1D9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4940" y="1592183"/>
            <a:ext cx="1016744" cy="76198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43" name="文字版面配置區 20">
            <a:extLst>
              <a:ext uri="{FF2B5EF4-FFF2-40B4-BE49-F238E27FC236}">
                <a16:creationId xmlns:a16="http://schemas.microsoft.com/office/drawing/2014/main" id="{E787113F-C9FE-4326-BE23-11EDE7AAF2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94994" y="1921088"/>
            <a:ext cx="458044" cy="3393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%</a:t>
            </a:r>
            <a:endParaRPr lang="zh-TW" altLang="en-US" dirty="0"/>
          </a:p>
        </p:txBody>
      </p:sp>
      <p:sp>
        <p:nvSpPr>
          <p:cNvPr id="45" name="文字版面配置區 18">
            <a:extLst>
              <a:ext uri="{FF2B5EF4-FFF2-40B4-BE49-F238E27FC236}">
                <a16:creationId xmlns:a16="http://schemas.microsoft.com/office/drawing/2014/main" id="{464EEFDA-5CD6-418C-A47C-55ECA4E7B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2578" y="2891743"/>
            <a:ext cx="2289600" cy="1694064"/>
          </a:xfrm>
          <a:prstGeom prst="rect">
            <a:avLst/>
          </a:prstGeom>
          <a:solidFill>
            <a:srgbClr val="00A1DE"/>
          </a:solidFill>
        </p:spPr>
        <p:txBody>
          <a:bodyPr wrap="none" bIns="216000" anchor="b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46" name="文字版面配置區 20">
            <a:extLst>
              <a:ext uri="{FF2B5EF4-FFF2-40B4-BE49-F238E27FC236}">
                <a16:creationId xmlns:a16="http://schemas.microsoft.com/office/drawing/2014/main" id="{C9D1CCEB-7E90-4826-8AB3-562AB0C63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235" y="3153862"/>
            <a:ext cx="1016744" cy="76198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47" name="文字版面配置區 20">
            <a:extLst>
              <a:ext uri="{FF2B5EF4-FFF2-40B4-BE49-F238E27FC236}">
                <a16:creationId xmlns:a16="http://schemas.microsoft.com/office/drawing/2014/main" id="{AC5A051B-5BC0-47CD-A780-84938DD059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8289" y="3482767"/>
            <a:ext cx="458044" cy="3393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%</a:t>
            </a:r>
            <a:endParaRPr lang="zh-TW" altLang="en-US" dirty="0"/>
          </a:p>
        </p:txBody>
      </p:sp>
      <p:sp>
        <p:nvSpPr>
          <p:cNvPr id="48" name="文字版面配置區 18">
            <a:extLst>
              <a:ext uri="{FF2B5EF4-FFF2-40B4-BE49-F238E27FC236}">
                <a16:creationId xmlns:a16="http://schemas.microsoft.com/office/drawing/2014/main" id="{4E9F919C-75AF-4751-8FE3-9601FEFC2C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3091" y="2891743"/>
            <a:ext cx="2289600" cy="1694064"/>
          </a:xfrm>
          <a:prstGeom prst="rect">
            <a:avLst/>
          </a:prstGeom>
          <a:solidFill>
            <a:srgbClr val="D71F85"/>
          </a:solidFill>
        </p:spPr>
        <p:txBody>
          <a:bodyPr wrap="none" bIns="216000" anchor="b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49" name="文字版面配置區 20">
            <a:extLst>
              <a:ext uri="{FF2B5EF4-FFF2-40B4-BE49-F238E27FC236}">
                <a16:creationId xmlns:a16="http://schemas.microsoft.com/office/drawing/2014/main" id="{FBC7B4DE-50E2-4A0F-88E0-1DDB9A572A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23904" y="3153862"/>
            <a:ext cx="1016744" cy="76198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50" name="文字版面配置區 20">
            <a:extLst>
              <a:ext uri="{FF2B5EF4-FFF2-40B4-BE49-F238E27FC236}">
                <a16:creationId xmlns:a16="http://schemas.microsoft.com/office/drawing/2014/main" id="{909C1222-638E-470E-B9E1-FC4D606B14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73958" y="3482767"/>
            <a:ext cx="458044" cy="3393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%</a:t>
            </a:r>
            <a:endParaRPr lang="zh-TW" altLang="en-US" dirty="0"/>
          </a:p>
        </p:txBody>
      </p:sp>
      <p:sp>
        <p:nvSpPr>
          <p:cNvPr id="51" name="文字版面配置區 18">
            <a:extLst>
              <a:ext uri="{FF2B5EF4-FFF2-40B4-BE49-F238E27FC236}">
                <a16:creationId xmlns:a16="http://schemas.microsoft.com/office/drawing/2014/main" id="{C446EE38-EAAB-407A-B1C9-C1A135082D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69422" y="2891743"/>
            <a:ext cx="2289600" cy="1694064"/>
          </a:xfrm>
          <a:prstGeom prst="rect">
            <a:avLst/>
          </a:prstGeom>
          <a:solidFill>
            <a:srgbClr val="036639"/>
          </a:solidFill>
        </p:spPr>
        <p:txBody>
          <a:bodyPr wrap="none" bIns="216000" anchor="b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52" name="文字版面配置區 20">
            <a:extLst>
              <a:ext uri="{FF2B5EF4-FFF2-40B4-BE49-F238E27FC236}">
                <a16:creationId xmlns:a16="http://schemas.microsoft.com/office/drawing/2014/main" id="{447FD56C-B88A-4A5D-9F66-72C92D51F0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10235" y="3150184"/>
            <a:ext cx="1016744" cy="76198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53" name="文字版面配置區 20">
            <a:extLst>
              <a:ext uri="{FF2B5EF4-FFF2-40B4-BE49-F238E27FC236}">
                <a16:creationId xmlns:a16="http://schemas.microsoft.com/office/drawing/2014/main" id="{1D8D1BCE-B5CD-4F50-91A7-A5DAD74F21F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60289" y="3479089"/>
            <a:ext cx="458044" cy="3393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%</a:t>
            </a:r>
            <a:endParaRPr lang="zh-TW" altLang="en-US" dirty="0"/>
          </a:p>
        </p:txBody>
      </p:sp>
      <p:sp>
        <p:nvSpPr>
          <p:cNvPr id="54" name="文字版面配置區 18">
            <a:extLst>
              <a:ext uri="{FF2B5EF4-FFF2-40B4-BE49-F238E27FC236}">
                <a16:creationId xmlns:a16="http://schemas.microsoft.com/office/drawing/2014/main" id="{C7E1CE88-35E0-437D-B317-F6C943D2A39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59439" y="2891743"/>
            <a:ext cx="2289600" cy="1694064"/>
          </a:xfrm>
          <a:prstGeom prst="rect">
            <a:avLst/>
          </a:prstGeom>
          <a:solidFill>
            <a:srgbClr val="1717A3"/>
          </a:solidFill>
        </p:spPr>
        <p:txBody>
          <a:bodyPr wrap="none" bIns="216000" anchor="b"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en-US" altLang="zh-TW" dirty="0"/>
              <a:t>Body text/Calibri/12pts</a:t>
            </a:r>
          </a:p>
        </p:txBody>
      </p:sp>
      <p:sp>
        <p:nvSpPr>
          <p:cNvPr id="55" name="文字版面配置區 20">
            <a:extLst>
              <a:ext uri="{FF2B5EF4-FFF2-40B4-BE49-F238E27FC236}">
                <a16:creationId xmlns:a16="http://schemas.microsoft.com/office/drawing/2014/main" id="{5F198E52-2C68-449B-9805-6833DF0381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00252" y="3153862"/>
            <a:ext cx="1016744" cy="76198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56" name="文字版面配置區 20">
            <a:extLst>
              <a:ext uri="{FF2B5EF4-FFF2-40B4-BE49-F238E27FC236}">
                <a16:creationId xmlns:a16="http://schemas.microsoft.com/office/drawing/2014/main" id="{4486E9A9-6EC2-4184-84F7-3800857882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50306" y="3482767"/>
            <a:ext cx="458044" cy="3393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%</a:t>
            </a:r>
            <a:endParaRPr lang="zh-TW" altLang="en-US" dirty="0"/>
          </a:p>
        </p:txBody>
      </p:sp>
      <p:sp>
        <p:nvSpPr>
          <p:cNvPr id="24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941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rgbClr val="F39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>
            <a:extLst>
              <a:ext uri="{FF2B5EF4-FFF2-40B4-BE49-F238E27FC236}">
                <a16:creationId xmlns:a16="http://schemas.microsoft.com/office/drawing/2014/main" id="{668C9194-8F93-456F-9251-C1139C2C323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9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40EAB2-92CA-4E4F-8117-430D10F1AF55}"/>
              </a:ext>
            </a:extLst>
          </p:cNvPr>
          <p:cNvSpPr/>
          <p:nvPr userDrawn="1"/>
        </p:nvSpPr>
        <p:spPr>
          <a:xfrm>
            <a:off x="256309" y="4821382"/>
            <a:ext cx="1911927" cy="2355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06590918-49AF-43BA-8FA0-B2EEAD9E5400}"/>
              </a:ext>
            </a:extLst>
          </p:cNvPr>
          <p:cNvSpPr txBox="1"/>
          <p:nvPr userDrawn="1"/>
        </p:nvSpPr>
        <p:spPr>
          <a:xfrm>
            <a:off x="1632931" y="2377914"/>
            <a:ext cx="4937760" cy="1816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+mn-lt"/>
                <a:ea typeface="Microsoft YaHei" panose="020B0503020204020204" pitchFamily="34" charset="-122"/>
              </a:rPr>
              <a:t>Thank</a:t>
            </a:r>
            <a:r>
              <a:rPr lang="en-US" altLang="zh-CN" sz="3200" b="1" baseline="0" dirty="0">
                <a:solidFill>
                  <a:schemeClr val="bg1"/>
                </a:solidFill>
                <a:latin typeface="+mn-lt"/>
                <a:ea typeface="Microsoft YaHei" panose="020B0503020204020204" pitchFamily="34" charset="-122"/>
              </a:rPr>
              <a:t> you </a:t>
            </a:r>
            <a:endParaRPr lang="en-US" altLang="zh-TW" sz="3200" b="1" dirty="0">
              <a:solidFill>
                <a:schemeClr val="bg1"/>
              </a:solidFill>
              <a:latin typeface="+mn-lt"/>
              <a:ea typeface="Microsoft YaHei" panose="020B0503020204020204" pitchFamily="34" charset="-122"/>
            </a:endParaRPr>
          </a:p>
          <a:p>
            <a:r>
              <a:rPr lang="en-US" altLang="zh-TW" sz="2000" b="1" dirty="0">
                <a:solidFill>
                  <a:schemeClr val="bg1"/>
                </a:solidFill>
                <a:latin typeface="+mn-lt"/>
                <a:ea typeface="Microsoft YaHei" panose="020B0503020204020204" pitchFamily="34" charset="-122"/>
              </a:rPr>
              <a:t>Question</a:t>
            </a:r>
            <a:r>
              <a:rPr lang="en-US" altLang="zh-TW" sz="2000" b="1" baseline="0" dirty="0">
                <a:solidFill>
                  <a:schemeClr val="bg1"/>
                </a:solidFill>
                <a:latin typeface="+mn-lt"/>
                <a:ea typeface="Microsoft YaHei" panose="020B0503020204020204" pitchFamily="34" charset="-122"/>
              </a:rPr>
              <a:t>s and Discussions</a:t>
            </a:r>
            <a:endParaRPr lang="en-US" altLang="zh-TW" sz="2000" b="1" dirty="0">
              <a:solidFill>
                <a:schemeClr val="bg1"/>
              </a:solidFill>
              <a:latin typeface="+mn-lt"/>
              <a:ea typeface="Microsoft YaHei" panose="020B0503020204020204" pitchFamily="34" charset="-122"/>
            </a:endParaRPr>
          </a:p>
        </p:txBody>
      </p:sp>
      <p:grpSp>
        <p:nvGrpSpPr>
          <p:cNvPr id="7" name="Group 5"/>
          <p:cNvGrpSpPr/>
          <p:nvPr userDrawn="1"/>
        </p:nvGrpSpPr>
        <p:grpSpPr>
          <a:xfrm rot="5400000">
            <a:off x="8527905" y="389877"/>
            <a:ext cx="1008353" cy="228600"/>
            <a:chOff x="14358" y="4632962"/>
            <a:chExt cx="901077" cy="241248"/>
          </a:xfrm>
        </p:grpSpPr>
        <p:sp>
          <p:nvSpPr>
            <p:cNvPr id="8" name="Rectangle 6"/>
            <p:cNvSpPr/>
            <p:nvPr/>
          </p:nvSpPr>
          <p:spPr>
            <a:xfrm>
              <a:off x="14358" y="4632962"/>
              <a:ext cx="898831" cy="241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98316" y="4680383"/>
              <a:ext cx="817119" cy="183091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900" dirty="0">
                  <a:solidFill>
                    <a:srgbClr val="F39A1E"/>
                  </a:solidFill>
                  <a:latin typeface="Calibri" panose="020F0502020204030204" pitchFamily="34" charset="0"/>
                </a:rPr>
                <a:t>CONFIDENTIAL C</a:t>
              </a:r>
            </a:p>
          </p:txBody>
        </p:sp>
      </p:grpSp>
      <p:grpSp>
        <p:nvGrpSpPr>
          <p:cNvPr id="10" name="群組 9"/>
          <p:cNvGrpSpPr/>
          <p:nvPr userDrawn="1"/>
        </p:nvGrpSpPr>
        <p:grpSpPr>
          <a:xfrm>
            <a:off x="283508" y="4754875"/>
            <a:ext cx="6014082" cy="281118"/>
            <a:chOff x="283508" y="4754875"/>
            <a:chExt cx="6014082" cy="281118"/>
          </a:xfrm>
        </p:grpSpPr>
        <p:sp>
          <p:nvSpPr>
            <p:cNvPr id="11" name="Footer Placeholder 3">
              <a:extLst>
                <a:ext uri="{FF2B5EF4-FFF2-40B4-BE49-F238E27FC236}">
                  <a16:creationId xmlns:a16="http://schemas.microsoft.com/office/drawing/2014/main" id="{996369C5-4144-4203-867D-86A1EF918D4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70542" y="4854908"/>
              <a:ext cx="5127048" cy="18108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271463" indent="-271463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69913" indent="-112713" algn="l" defTabSz="914400" rtl="0" eaLnBrk="1" latinLnBrk="0" hangingPunct="1">
                <a:lnSpc>
                  <a:spcPct val="90000"/>
                </a:lnSpc>
                <a:spcBef>
                  <a:spcPts val="900"/>
                </a:spcBef>
                <a:buFont typeface="Calibri Light" panose="020F0302020204030204" pitchFamily="34" charset="0"/>
                <a:buChar char="–"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28700" indent="-1206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-"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84313" indent="-1222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43100" indent="-1111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-"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zh-TW" sz="60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rPr>
                <a:t>MediaTek Proprietary and Confidential. © 2021 MediaTek Inc. All rights reserved</a:t>
              </a:r>
              <a:r>
                <a:rPr lang="en-US" altLang="zh-TW" sz="600" kern="1200" dirty="0"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  <a:ea typeface="+mn-ea"/>
                  <a:cs typeface="+mn-cs"/>
                </a:rPr>
                <a:t>.</a:t>
              </a:r>
              <a:endParaRPr lang="en-GB" sz="600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CC6B121D-85E8-4ED7-AF42-7E852007BA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3508" y="4754875"/>
              <a:ext cx="821446" cy="2243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312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rgbClr val="F39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0F29723-1978-4CBE-8209-372F4A1F2F7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82CBF49B-F09E-4FD8-AA32-33CCF5A10E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0950" y="2262187"/>
            <a:ext cx="15621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6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2339" y="4868937"/>
            <a:ext cx="277811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0AEF9A4B-07C9-404C-9053-A3A2AC3AD5D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23850" y="177670"/>
            <a:ext cx="8218488" cy="720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grpSp>
        <p:nvGrpSpPr>
          <p:cNvPr id="8" name="Group 2"/>
          <p:cNvGrpSpPr/>
          <p:nvPr userDrawn="1"/>
        </p:nvGrpSpPr>
        <p:grpSpPr>
          <a:xfrm rot="5400000">
            <a:off x="8526780" y="388620"/>
            <a:ext cx="1005840" cy="228600"/>
            <a:chOff x="17255" y="4635475"/>
            <a:chExt cx="898831" cy="241248"/>
          </a:xfrm>
          <a:solidFill>
            <a:srgbClr val="F39A1E"/>
          </a:solidFill>
        </p:grpSpPr>
        <p:sp>
          <p:nvSpPr>
            <p:cNvPr id="9" name="Rectangle 4"/>
            <p:cNvSpPr/>
            <p:nvPr/>
          </p:nvSpPr>
          <p:spPr>
            <a:xfrm>
              <a:off x="17255" y="4635475"/>
              <a:ext cx="898831" cy="2412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5"/>
            <p:cNvSpPr txBox="1"/>
            <p:nvPr/>
          </p:nvSpPr>
          <p:spPr>
            <a:xfrm>
              <a:off x="98316" y="4680383"/>
              <a:ext cx="817119" cy="183091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Calibri" panose="020F0502020204030204" pitchFamily="34" charset="0"/>
                </a:rPr>
                <a:t>CONFIDENTIAL</a:t>
              </a:r>
              <a:r>
                <a:rPr lang="en-US" sz="900" baseline="0" dirty="0">
                  <a:solidFill>
                    <a:schemeClr val="bg1"/>
                  </a:solidFill>
                  <a:latin typeface="Calibri" panose="020F0502020204030204" pitchFamily="34" charset="0"/>
                </a:rPr>
                <a:t> C</a:t>
              </a:r>
              <a:endParaRPr lang="en-US" sz="900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5" name="文字版面配置區 14"/>
          <p:cNvSpPr>
            <a:spLocks noGrp="1"/>
          </p:cNvSpPr>
          <p:nvPr>
            <p:ph type="body" idx="1"/>
          </p:nvPr>
        </p:nvSpPr>
        <p:spPr>
          <a:xfrm>
            <a:off x="323850" y="1028526"/>
            <a:ext cx="8218488" cy="3559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EE84146-8A19-4B1B-B93B-EBCBB4E6A89A}"/>
              </a:ext>
            </a:extLst>
          </p:cNvPr>
          <p:cNvSpPr txBox="1"/>
          <p:nvPr userDrawn="1"/>
        </p:nvSpPr>
        <p:spPr>
          <a:xfrm>
            <a:off x="0" y="4860819"/>
            <a:ext cx="12137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>
                <a:solidFill>
                  <a:schemeClr val="bg1">
                    <a:lumMod val="50000"/>
                  </a:schemeClr>
                </a:solidFill>
              </a:rPr>
              <a:t>WSD Smart Phone Audio</a:t>
            </a:r>
            <a:endParaRPr lang="zh-TW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576A70B-5122-48FD-9EA0-E7C767D31B3C}"/>
              </a:ext>
            </a:extLst>
          </p:cNvPr>
          <p:cNvSpPr txBox="1"/>
          <p:nvPr userDrawn="1"/>
        </p:nvSpPr>
        <p:spPr>
          <a:xfrm>
            <a:off x="0" y="4983891"/>
            <a:ext cx="17411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dirty="0">
                <a:solidFill>
                  <a:schemeClr val="bg1">
                    <a:lumMod val="50000"/>
                  </a:schemeClr>
                </a:solidFill>
              </a:rPr>
              <a:t>Copyright MediaTek Inc. All right reserved.</a:t>
            </a:r>
            <a:endParaRPr lang="zh-TW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373A3546-1E2D-4721-81CF-7E7E24375B85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1" y="4547569"/>
            <a:ext cx="941649" cy="341591"/>
          </a:xfrm>
          <a:prstGeom prst="rect">
            <a:avLst/>
          </a:prstGeom>
        </p:spPr>
      </p:pic>
      <p:sp>
        <p:nvSpPr>
          <p:cNvPr id="3" name="MSIPCMContentMarking" descr="{&quot;HashCode&quot;:1986194136,&quot;Placement&quot;:&quot;Header&quot;,&quot;Top&quot;:0.0,&quot;Left&quot;:626.335144,&quot;SlideWidth&quot;:720,&quot;SlideHeight&quot;:405}">
            <a:extLst>
              <a:ext uri="{FF2B5EF4-FFF2-40B4-BE49-F238E27FC236}">
                <a16:creationId xmlns:a16="http://schemas.microsoft.com/office/drawing/2014/main" id="{221A3D86-D976-451B-A2D7-067DEF2B31A3}"/>
              </a:ext>
            </a:extLst>
          </p:cNvPr>
          <p:cNvSpPr txBox="1"/>
          <p:nvPr userDrawn="1"/>
        </p:nvSpPr>
        <p:spPr>
          <a:xfrm>
            <a:off x="7954456" y="0"/>
            <a:ext cx="1189543" cy="29652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zh-TW" sz="1200">
                <a:solidFill>
                  <a:srgbClr val="FF0000"/>
                </a:solidFill>
                <a:latin typeface="Calibri" panose="020F0502020204030204" pitchFamily="34" charset="0"/>
              </a:rPr>
              <a:t>Confidential C</a:t>
            </a:r>
            <a:endParaRPr lang="zh-TW" altLang="en-US" sz="12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17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8" r:id="rId2"/>
    <p:sldLayoutId id="2147483809" r:id="rId3"/>
    <p:sldLayoutId id="2147483810" r:id="rId4"/>
    <p:sldLayoutId id="2147483811" r:id="rId5"/>
    <p:sldLayoutId id="2147483837" r:id="rId6"/>
    <p:sldLayoutId id="2147483838" r:id="rId7"/>
    <p:sldLayoutId id="2147483812" r:id="rId8"/>
    <p:sldLayoutId id="2147483822" r:id="rId9"/>
    <p:sldLayoutId id="2147483823" r:id="rId10"/>
    <p:sldLayoutId id="2147483824" r:id="rId11"/>
    <p:sldLayoutId id="2147483825" r:id="rId12"/>
    <p:sldLayoutId id="2147483827" r:id="rId13"/>
    <p:sldLayoutId id="2147483815" r:id="rId14"/>
    <p:sldLayoutId id="214748381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u="none" kern="1200" baseline="0">
          <a:solidFill>
            <a:srgbClr val="F39A1E"/>
          </a:solidFill>
          <a:latin typeface="+mj-lt"/>
          <a:ea typeface="+mj-ea"/>
          <a:cs typeface="Arial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lang="zh-TW" altLang="en-US" sz="2000" b="1" kern="1200" baseline="0" dirty="0" smtClean="0">
          <a:solidFill>
            <a:schemeClr val="tx1"/>
          </a:solidFill>
          <a:latin typeface="+mj-lt"/>
          <a:ea typeface="+mn-ea"/>
          <a:cs typeface="Arial"/>
        </a:defRPr>
      </a:lvl1pPr>
      <a:lvl2pPr marL="804863" indent="-358775" algn="l" defTabSz="914400" rtl="0" eaLnBrk="1" latinLnBrk="0" hangingPunct="1">
        <a:lnSpc>
          <a:spcPct val="90000"/>
        </a:lnSpc>
        <a:spcBef>
          <a:spcPts val="900"/>
        </a:spcBef>
        <a:buFont typeface="Calibri Light" panose="020F0302020204030204" pitchFamily="34" charset="0"/>
        <a:buChar char="–"/>
        <a:defRPr sz="1600" b="1" kern="1200" baseline="0">
          <a:solidFill>
            <a:schemeClr val="tx1"/>
          </a:solidFill>
          <a:latin typeface="+mj-lt"/>
          <a:ea typeface="+mn-ea"/>
          <a:cs typeface="Arial"/>
        </a:defRPr>
      </a:lvl2pPr>
      <a:lvl3pPr marL="1077913" indent="-174625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-"/>
        <a:defRPr sz="1200" kern="1200" baseline="0">
          <a:solidFill>
            <a:schemeClr val="tx1"/>
          </a:solidFill>
          <a:latin typeface="+mj-lt"/>
          <a:ea typeface="+mn-ea"/>
          <a:cs typeface="Arial"/>
        </a:defRPr>
      </a:lvl3pPr>
      <a:lvl4pPr marL="12573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/>
        </a:defRPr>
      </a:lvl4pPr>
      <a:lvl5pPr marL="14351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-"/>
        <a:defRPr sz="1100" kern="1200" baseline="0">
          <a:solidFill>
            <a:schemeClr val="tx1"/>
          </a:solidFill>
          <a:latin typeface="+mj-lt"/>
          <a:ea typeface="+mn-ea"/>
          <a:cs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556">
          <p15:clr>
            <a:srgbClr val="F26B43"/>
          </p15:clr>
        </p15:guide>
        <p15:guide id="2" orient="horz" pos="38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0">
            <a:extLst>
              <a:ext uri="{FF2B5EF4-FFF2-40B4-BE49-F238E27FC236}">
                <a16:creationId xmlns:a16="http://schemas.microsoft.com/office/drawing/2014/main" id="{0878BF3B-8DAC-42C9-92B7-F9EC0BA19F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70668" y="2093214"/>
            <a:ext cx="5841788" cy="121329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Audio DSP SWIP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dirty="0"/>
              <a:t>Build Library with </a:t>
            </a:r>
            <a:r>
              <a:rPr lang="en-US" altLang="zh-TW" dirty="0" err="1"/>
              <a:t>Xtensa</a:t>
            </a:r>
            <a:r>
              <a:rPr lang="en-US" altLang="zh-TW" dirty="0"/>
              <a:t> </a:t>
            </a:r>
            <a:r>
              <a:rPr lang="en-US" altLang="zh-TW" dirty="0" err="1"/>
              <a:t>Xplorer</a:t>
            </a:r>
            <a:r>
              <a:rPr lang="en-US" altLang="zh-TW" dirty="0"/>
              <a:t> IDE</a:t>
            </a:r>
            <a:endParaRPr lang="zh-TW" altLang="en-US" dirty="0"/>
          </a:p>
        </p:txBody>
      </p:sp>
      <p:sp>
        <p:nvSpPr>
          <p:cNvPr id="5" name="文字版面配置區 20">
            <a:extLst>
              <a:ext uri="{FF2B5EF4-FFF2-40B4-BE49-F238E27FC236}">
                <a16:creationId xmlns:a16="http://schemas.microsoft.com/office/drawing/2014/main" id="{6EF1C5E5-F541-45A7-A09E-49564F6BBF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0668" y="3179182"/>
            <a:ext cx="4218896" cy="64046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en-US" altLang="zh-TW" dirty="0" err="1"/>
              <a:t>Mediatek</a:t>
            </a:r>
            <a:r>
              <a:rPr lang="en-US" altLang="zh-TW" dirty="0"/>
              <a:t> Audio Team</a:t>
            </a:r>
          </a:p>
        </p:txBody>
      </p:sp>
    </p:spTree>
    <p:extLst>
      <p:ext uri="{BB962C8B-B14F-4D97-AF65-F5344CB8AC3E}">
        <p14:creationId xmlns:p14="http://schemas.microsoft.com/office/powerpoint/2010/main" val="286570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9" name="內容版面配置區 8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Create Project</a:t>
            </a:r>
          </a:p>
          <a:p>
            <a:r>
              <a:rPr lang="en-US" altLang="zh-TW" dirty="0"/>
              <a:t>Add Source Codes</a:t>
            </a:r>
          </a:p>
          <a:p>
            <a:r>
              <a:rPr lang="en-US" altLang="zh-TW" dirty="0"/>
              <a:t>Compiler Options</a:t>
            </a:r>
          </a:p>
          <a:p>
            <a:r>
              <a:rPr lang="en-US" altLang="zh-TW" dirty="0"/>
              <a:t>Build Library</a:t>
            </a:r>
          </a:p>
          <a:p>
            <a:r>
              <a:rPr lang="en-US" altLang="zh-TW" dirty="0"/>
              <a:t>Appendix</a:t>
            </a:r>
          </a:p>
          <a:p>
            <a:pPr lvl="1"/>
            <a:r>
              <a:rPr lang="en-US" altLang="zh-TW" dirty="0"/>
              <a:t>How to find config version</a:t>
            </a:r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6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93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0"/>
          </p:nvPr>
        </p:nvSpPr>
        <p:spPr>
          <a:xfrm>
            <a:off x="323850" y="1007706"/>
            <a:ext cx="2425520" cy="3707363"/>
          </a:xfrm>
        </p:spPr>
        <p:txBody>
          <a:bodyPr/>
          <a:lstStyle/>
          <a:p>
            <a:r>
              <a:rPr lang="en-US" altLang="en-US"/>
              <a:t>Mouse right click in empty area of the project explorer.</a:t>
            </a:r>
          </a:p>
          <a:p>
            <a:r>
              <a:rPr lang="en-US" altLang="zh-TW"/>
              <a:t>Choose New </a:t>
            </a:r>
            <a:r>
              <a:rPr lang="en-US" altLang="zh-TW">
                <a:sym typeface="Wingdings" panose="05000000000000000000" pitchFamily="2" charset="2"/>
              </a:rPr>
              <a:t> Xtensa C/C++ Project</a:t>
            </a:r>
            <a:endParaRPr lang="en-US" altLang="zh-TW" dirty="0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Create Project</a:t>
            </a:r>
            <a:endParaRPr 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369" y="177670"/>
            <a:ext cx="6394631" cy="496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9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0"/>
          </p:nvPr>
        </p:nvSpPr>
        <p:spPr>
          <a:xfrm>
            <a:off x="323849" y="1007706"/>
            <a:ext cx="2286001" cy="3707363"/>
          </a:xfrm>
        </p:spPr>
        <p:txBody>
          <a:bodyPr/>
          <a:lstStyle/>
          <a:p>
            <a:r>
              <a:rPr lang="en-US" altLang="en-US"/>
              <a:t>Name your project as your library name.</a:t>
            </a:r>
          </a:p>
          <a:p>
            <a:r>
              <a:rPr lang="en-US" altLang="zh-TW"/>
              <a:t>Project Type: Create a static library</a:t>
            </a:r>
            <a:endParaRPr lang="en-US" altLang="zh-TW" dirty="0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Create</a:t>
            </a:r>
            <a:r>
              <a:rPr lang="zh-TW" altLang="en-US"/>
              <a:t> </a:t>
            </a:r>
            <a:r>
              <a:rPr lang="en-US" altLang="zh-TW"/>
              <a:t>Project</a:t>
            </a:r>
            <a:endParaRPr 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850" y="142875"/>
            <a:ext cx="6534150" cy="4857750"/>
          </a:xfrm>
          <a:prstGeom prst="rect">
            <a:avLst/>
          </a:prstGeom>
        </p:spPr>
      </p:pic>
      <p:sp>
        <p:nvSpPr>
          <p:cNvPr id="4" name="箭號: 向右 3">
            <a:extLst>
              <a:ext uri="{FF2B5EF4-FFF2-40B4-BE49-F238E27FC236}">
                <a16:creationId xmlns:a16="http://schemas.microsoft.com/office/drawing/2014/main" id="{BFC78252-E8DA-4BD9-A50A-9426F69FD1A7}"/>
              </a:ext>
            </a:extLst>
          </p:cNvPr>
          <p:cNvSpPr/>
          <p:nvPr/>
        </p:nvSpPr>
        <p:spPr>
          <a:xfrm>
            <a:off x="1828800" y="2835797"/>
            <a:ext cx="891251" cy="335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30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dirty="0"/>
              <a:t>Put your source codes (all .h &amp; .c files) in the project workspace directory.</a:t>
            </a:r>
          </a:p>
          <a:p>
            <a:pPr lvl="1"/>
            <a:r>
              <a:rPr lang="en-US" altLang="zh-TW" dirty="0"/>
              <a:t>For example: </a:t>
            </a:r>
            <a:r>
              <a:rPr lang="en-US" altLang="zh-TW" dirty="0" err="1"/>
              <a:t>demo_exp.h</a:t>
            </a:r>
            <a:r>
              <a:rPr lang="en-US" altLang="zh-TW" dirty="0"/>
              <a:t> &amp; </a:t>
            </a:r>
            <a:r>
              <a:rPr lang="en-US" altLang="zh-TW" dirty="0" err="1"/>
              <a:t>demo_main.c</a:t>
            </a:r>
            <a:endParaRPr lang="en-US" altLang="zh-TW" dirty="0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Add Source Codes</a:t>
            </a:r>
            <a:endParaRPr 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844" y="1793943"/>
            <a:ext cx="5867400" cy="256222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43" y="1657211"/>
            <a:ext cx="2495550" cy="11525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568" y="2863837"/>
            <a:ext cx="24003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1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0"/>
          </p:nvPr>
        </p:nvSpPr>
        <p:spPr>
          <a:xfrm>
            <a:off x="323849" y="1007706"/>
            <a:ext cx="3848101" cy="3707363"/>
          </a:xfrm>
        </p:spPr>
        <p:txBody>
          <a:bodyPr/>
          <a:lstStyle/>
          <a:p>
            <a:r>
              <a:rPr lang="en-US" altLang="en-US" dirty="0"/>
              <a:t>Choose the project and press F5 to refresh for new added source codes.</a:t>
            </a:r>
          </a:p>
          <a:p>
            <a:r>
              <a:rPr lang="en-US" altLang="zh-TW" dirty="0"/>
              <a:t>Mouse right click on the project to choose build properties.</a:t>
            </a:r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Build Properties</a:t>
            </a:r>
            <a:endParaRPr 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671512"/>
            <a:ext cx="464820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dirty="0"/>
              <a:t>Target can choose “Debug”, “Release”, “</a:t>
            </a:r>
            <a:r>
              <a:rPr lang="en-US" altLang="en-US" dirty="0" err="1"/>
              <a:t>ReleaseSize</a:t>
            </a:r>
            <a:r>
              <a:rPr lang="en-US" altLang="en-US" dirty="0"/>
              <a:t>”, “</a:t>
            </a:r>
            <a:r>
              <a:rPr lang="en-US" altLang="en-US" dirty="0" err="1"/>
              <a:t>CommonTarget</a:t>
            </a:r>
            <a:r>
              <a:rPr lang="en-US" altLang="en-US" dirty="0"/>
              <a:t>” or add your own target for different compiler options.</a:t>
            </a:r>
          </a:p>
          <a:p>
            <a:r>
              <a:rPr lang="en-US" altLang="en-US" dirty="0"/>
              <a:t>Current audio HiFi3 compiler options in general: -O3  -Wall  -</a:t>
            </a:r>
            <a:r>
              <a:rPr lang="en-US" altLang="en-US" dirty="0" err="1"/>
              <a:t>mcoproc</a:t>
            </a:r>
            <a:r>
              <a:rPr lang="en-US" altLang="en-US" dirty="0"/>
              <a:t>  -</a:t>
            </a:r>
            <a:r>
              <a:rPr lang="en-US" altLang="en-US" dirty="0" err="1"/>
              <a:t>Werror</a:t>
            </a:r>
            <a:r>
              <a:rPr lang="en-US" altLang="en-US" dirty="0"/>
              <a:t>  -</a:t>
            </a:r>
            <a:r>
              <a:rPr lang="en-US" altLang="en-US" dirty="0" err="1"/>
              <a:t>mlongcalls</a:t>
            </a:r>
            <a:r>
              <a:rPr lang="en-US" altLang="en-US" dirty="0"/>
              <a:t>  -</a:t>
            </a:r>
            <a:r>
              <a:rPr lang="en-US" altLang="en-US" dirty="0" err="1"/>
              <a:t>LNO:simd</a:t>
            </a:r>
            <a:r>
              <a:rPr lang="en-US" altLang="en-US" dirty="0"/>
              <a:t>  -</a:t>
            </a:r>
            <a:r>
              <a:rPr lang="en-US" altLang="en-US" dirty="0" err="1"/>
              <a:t>ffunction</a:t>
            </a:r>
            <a:r>
              <a:rPr lang="en-US" altLang="en-US" dirty="0"/>
              <a:t>-sections  -</a:t>
            </a:r>
            <a:r>
              <a:rPr lang="en-US" altLang="en-US" dirty="0" err="1"/>
              <a:t>fdata</a:t>
            </a:r>
            <a:r>
              <a:rPr lang="en-US" altLang="en-US" dirty="0"/>
              <a:t>-sections  -</a:t>
            </a:r>
            <a:r>
              <a:rPr lang="en-US" altLang="en-US" dirty="0" err="1"/>
              <a:t>Wno</a:t>
            </a:r>
            <a:r>
              <a:rPr lang="en-US" altLang="en-US" dirty="0"/>
              <a:t>-error=format</a:t>
            </a:r>
          </a:p>
          <a:p>
            <a:r>
              <a:rPr lang="en-US" altLang="en-US" dirty="0"/>
              <a:t>Press “Apply”</a:t>
            </a:r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Compiler Options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17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Compiler Options: Optimization Tab</a:t>
            </a:r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378" y="827087"/>
            <a:ext cx="6537960" cy="427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6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Compiler Options: Warnings Tab</a:t>
            </a:r>
            <a:endParaRPr 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17" y="846772"/>
            <a:ext cx="6550343" cy="429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7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Compiler Options: Addl compiler Tab</a:t>
            </a:r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17" y="871537"/>
            <a:ext cx="6110764" cy="427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8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Compiler Options: Compiler Variant</a:t>
            </a:r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D30D72-5420-41FF-BFEA-4BFFEDF2B1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1" r="1"/>
          <a:stretch/>
        </p:blipFill>
        <p:spPr>
          <a:xfrm>
            <a:off x="2842462" y="1037781"/>
            <a:ext cx="5812588" cy="4105719"/>
          </a:xfrm>
          <a:prstGeom prst="rect">
            <a:avLst/>
          </a:prstGeom>
        </p:spPr>
      </p:pic>
      <p:sp>
        <p:nvSpPr>
          <p:cNvPr id="7" name="內容版面配置區 5">
            <a:extLst>
              <a:ext uri="{FF2B5EF4-FFF2-40B4-BE49-F238E27FC236}">
                <a16:creationId xmlns:a16="http://schemas.microsoft.com/office/drawing/2014/main" id="{F87797E7-E062-438F-BF56-881AED612A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3849" y="1007706"/>
            <a:ext cx="2518613" cy="3707363"/>
          </a:xfrm>
        </p:spPr>
        <p:txBody>
          <a:bodyPr/>
          <a:lstStyle/>
          <a:p>
            <a:r>
              <a:rPr lang="en-US" altLang="en-US" dirty="0"/>
              <a:t>Choose compiler type</a:t>
            </a:r>
          </a:p>
          <a:p>
            <a:pPr lvl="1"/>
            <a:r>
              <a:rPr lang="en-US" altLang="en-US" dirty="0" err="1"/>
              <a:t>xt</a:t>
            </a:r>
            <a:r>
              <a:rPr lang="en-US" altLang="en-US" dirty="0"/>
              <a:t>-clang is recommended for security concern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2944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dirty="0"/>
              <a:t>Choose P (Project), C (Configuration), T (Target), and then press “Build Active”</a:t>
            </a:r>
          </a:p>
          <a:p>
            <a:pPr lvl="1"/>
            <a:r>
              <a:rPr lang="en-US" altLang="zh-TW" dirty="0"/>
              <a:t>For example, P:libdemo, C:hifi3_prod_v5_RI_2019_1, T:Debug</a:t>
            </a:r>
          </a:p>
          <a:p>
            <a:pPr lvl="1"/>
            <a:r>
              <a:rPr lang="en-US" altLang="zh-TW" dirty="0"/>
              <a:t>If you want to rebuild the library, you can “Clean Active” and then “Build Active”, or just “Rebuild Active”.</a:t>
            </a:r>
          </a:p>
          <a:p>
            <a:pPr lvl="1"/>
            <a:r>
              <a:rPr lang="en-US" altLang="zh-TW" dirty="0"/>
              <a:t>Console will show if this build is “successful” or not.</a:t>
            </a:r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 to Build Library</a:t>
            </a:r>
            <a:endParaRPr 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9840"/>
            <a:ext cx="9144000" cy="13144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137272" y="2742756"/>
            <a:ext cx="3448280" cy="727113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935" y="3746537"/>
            <a:ext cx="6141489" cy="139696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905570" y="4546363"/>
            <a:ext cx="1222049" cy="151891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722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Your Library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395412"/>
            <a:ext cx="72009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8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C96FE97-20BB-45F9-B50A-A8BC0B09E8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Find Readme under </a:t>
            </a:r>
            <a:r>
              <a:rPr lang="en-US" altLang="zh-TW" dirty="0">
                <a:solidFill>
                  <a:srgbClr val="0070C0"/>
                </a:solidFill>
              </a:rPr>
              <a:t>Aurisys_exe_V1.21XX.01\CONFIG\</a:t>
            </a:r>
            <a:r>
              <a:rPr lang="en-US" altLang="zh-TW" dirty="0" err="1">
                <a:solidFill>
                  <a:srgbClr val="0070C0"/>
                </a:solidFill>
              </a:rPr>
              <a:t>HiFiX</a:t>
            </a:r>
            <a:endParaRPr lang="en-US" altLang="zh-TW" dirty="0">
              <a:solidFill>
                <a:srgbClr val="0070C0"/>
              </a:solidFill>
            </a:endParaRPr>
          </a:p>
          <a:p>
            <a:endParaRPr lang="zh-TW" altLang="en-US" dirty="0"/>
          </a:p>
        </p:txBody>
      </p:sp>
      <p:sp>
        <p:nvSpPr>
          <p:cNvPr id="11" name="標題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Appendix – H</a:t>
            </a:r>
            <a:r>
              <a:rPr lang="en-US" altLang="zh-TW" dirty="0"/>
              <a:t>ow to find config version</a:t>
            </a:r>
            <a:endParaRPr lang="en-US" dirty="0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2"/>
          <a:srcRect l="11611" t="8927" r="11514" b="77696"/>
          <a:stretch/>
        </p:blipFill>
        <p:spPr>
          <a:xfrm>
            <a:off x="1233928" y="1662326"/>
            <a:ext cx="4887098" cy="63637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E2565A9-C4C0-4507-B737-270FFDF23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AEF9A4B-07C9-404C-9053-A3A2AC3AD5D6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474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77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MediaTek">
  <a:themeElements>
    <a:clrScheme name="Mediatek_color">
      <a:dk1>
        <a:srgbClr val="353630"/>
      </a:dk1>
      <a:lt1>
        <a:sysClr val="window" lastClr="FFFFFF"/>
      </a:lt1>
      <a:dk2>
        <a:srgbClr val="9FA4A6"/>
      </a:dk2>
      <a:lt2>
        <a:srgbClr val="FE9B1E"/>
      </a:lt2>
      <a:accent1>
        <a:srgbClr val="FFCA05"/>
      </a:accent1>
      <a:accent2>
        <a:srgbClr val="69BE28"/>
      </a:accent2>
      <a:accent3>
        <a:srgbClr val="00A1DE"/>
      </a:accent3>
      <a:accent4>
        <a:srgbClr val="FF1E3C"/>
      </a:accent4>
      <a:accent5>
        <a:srgbClr val="036639"/>
      </a:accent5>
      <a:accent6>
        <a:srgbClr val="1717A3"/>
      </a:accent6>
      <a:hlink>
        <a:srgbClr val="00A1DE"/>
      </a:hlink>
      <a:folHlink>
        <a:srgbClr val="4472C4"/>
      </a:folHlink>
    </a:clrScheme>
    <a:fontScheme name="Mediatek_Calibri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none" lIns="0" tIns="0" rIns="0" bIns="0">
        <a:no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簡報18" id="{DD4796E1-B786-4870-8484-0F84C737FEC2}" vid="{FAEEC17E-6799-4B17-9379-8A15BD7C3B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atek_color">
    <a:dk1>
      <a:srgbClr val="353630"/>
    </a:dk1>
    <a:lt1>
      <a:sysClr val="window" lastClr="FFFFFF"/>
    </a:lt1>
    <a:dk2>
      <a:srgbClr val="9FA4A6"/>
    </a:dk2>
    <a:lt2>
      <a:srgbClr val="FE9B1E"/>
    </a:lt2>
    <a:accent1>
      <a:srgbClr val="FFCA05"/>
    </a:accent1>
    <a:accent2>
      <a:srgbClr val="69BE28"/>
    </a:accent2>
    <a:accent3>
      <a:srgbClr val="00A1DE"/>
    </a:accent3>
    <a:accent4>
      <a:srgbClr val="FF1E3C"/>
    </a:accent4>
    <a:accent5>
      <a:srgbClr val="036639"/>
    </a:accent5>
    <a:accent6>
      <a:srgbClr val="1717A3"/>
    </a:accent6>
    <a:hlink>
      <a:srgbClr val="00A1DE"/>
    </a:hlink>
    <a:folHlink>
      <a:srgbClr val="4472C4"/>
    </a:folHlink>
  </a:clrScheme>
</a:themeOverride>
</file>

<file path=ppt/theme/themeOverride2.xml><?xml version="1.0" encoding="utf-8"?>
<a:themeOverride xmlns:a="http://schemas.openxmlformats.org/drawingml/2006/main">
  <a:clrScheme name="Mediatek_color">
    <a:dk1>
      <a:srgbClr val="353630"/>
    </a:dk1>
    <a:lt1>
      <a:sysClr val="window" lastClr="FFFFFF"/>
    </a:lt1>
    <a:dk2>
      <a:srgbClr val="9FA4A6"/>
    </a:dk2>
    <a:lt2>
      <a:srgbClr val="FE9B1E"/>
    </a:lt2>
    <a:accent1>
      <a:srgbClr val="FFCA05"/>
    </a:accent1>
    <a:accent2>
      <a:srgbClr val="69BE28"/>
    </a:accent2>
    <a:accent3>
      <a:srgbClr val="00A1DE"/>
    </a:accent3>
    <a:accent4>
      <a:srgbClr val="FF1E3C"/>
    </a:accent4>
    <a:accent5>
      <a:srgbClr val="036639"/>
    </a:accent5>
    <a:accent6>
      <a:srgbClr val="1717A3"/>
    </a:accent6>
    <a:hlink>
      <a:srgbClr val="00A1DE"/>
    </a:hlink>
    <a:folHlink>
      <a:srgbClr val="4472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A53B7DB280546A20112FD2EF61E0F" ma:contentTypeVersion="8" ma:contentTypeDescription="Create a new document." ma:contentTypeScope="" ma:versionID="93dbae95c85826a351b64e5a9c00c7f1">
  <xsd:schema xmlns:xsd="http://www.w3.org/2001/XMLSchema" xmlns:xs="http://www.w3.org/2001/XMLSchema" xmlns:p="http://schemas.microsoft.com/office/2006/metadata/properties" xmlns:ns2="http://schemas.microsoft.com/sharepoint/v4" xmlns:ns3="8b8cf6ce-236f-4713-896e-b4ec346257bb" xmlns:ns4="58b0650e-828d-46c1-af00-111984e5092a" xmlns:ns5="7a58c3ed-4a22-4d08-9ddf-2c2b66cc6605" targetNamespace="http://schemas.microsoft.com/office/2006/metadata/properties" ma:root="true" ma:fieldsID="f8eeb43b36309ba801eb86731cfe2d05" ns2:_="" ns3:_="" ns4:_="" ns5:_="">
    <xsd:import namespace="http://schemas.microsoft.com/sharepoint/v4"/>
    <xsd:import namespace="8b8cf6ce-236f-4713-896e-b4ec346257bb"/>
    <xsd:import namespace="58b0650e-828d-46c1-af00-111984e5092a"/>
    <xsd:import namespace="7a58c3ed-4a22-4d08-9ddf-2c2b66cc6605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SharedWithUsers" minOccurs="0"/>
                <xsd:element ref="ns4:SharedWithDetails" minOccurs="0"/>
                <xsd:element ref="ns5:Sensi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cf6ce-236f-4713-896e-b4ec346257bb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0650e-828d-46c1-af00-111984e5092a" elementFormDefault="qualified">
    <xsd:import namespace="http://schemas.microsoft.com/office/2006/documentManagement/types"/>
    <xsd:import namespace="http://schemas.microsoft.com/office/infopath/2007/PartnerControls"/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58c3ed-4a22-4d08-9ddf-2c2b66cc6605" elementFormDefault="qualified">
    <xsd:import namespace="http://schemas.microsoft.com/office/2006/documentManagement/types"/>
    <xsd:import namespace="http://schemas.microsoft.com/office/infopath/2007/PartnerControls"/>
    <xsd:element name="Sensitivity" ma:index="11" nillable="true" ma:displayName="Sensitivity" ma:internalName="Sensitivit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Sensitivity xmlns="7a58c3ed-4a22-4d08-9ddf-2c2b66cc6605">Confidential C/No Encryption</Sensitivit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F9820D-A4E4-4537-A6DB-00CD417C9E40}"/>
</file>

<file path=customXml/itemProps2.xml><?xml version="1.0" encoding="utf-8"?>
<ds:datastoreItem xmlns:ds="http://schemas.openxmlformats.org/officeDocument/2006/customXml" ds:itemID="{1B290066-2FD5-4238-86DC-2E79CF94F98C}"/>
</file>

<file path=customXml/itemProps3.xml><?xml version="1.0" encoding="utf-8"?>
<ds:datastoreItem xmlns:ds="http://schemas.openxmlformats.org/officeDocument/2006/customXml" ds:itemID="{5045EA8B-AEFD-4CAB-A80B-5A2161D51A87}"/>
</file>

<file path=docProps/app.xml><?xml version="1.0" encoding="utf-8"?>
<Properties xmlns="http://schemas.openxmlformats.org/officeDocument/2006/extended-properties" xmlns:vt="http://schemas.openxmlformats.org/officeDocument/2006/docPropsVTypes">
  <Template>MediaTek_PPT_Template_Chinese_16x9_ConfidentialA_STELLA</Template>
  <TotalTime>29034</TotalTime>
  <Words>356</Words>
  <Application>Microsoft Office PowerPoint</Application>
  <PresentationFormat>如螢幕大小 (16:9)</PresentationFormat>
  <Paragraphs>66</Paragraphs>
  <Slides>15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Microsoft YaHei</vt:lpstr>
      <vt:lpstr>Riona Sans Regular</vt:lpstr>
      <vt:lpstr>Arial</vt:lpstr>
      <vt:lpstr>Calibri</vt:lpstr>
      <vt:lpstr>Calibri Light</vt:lpstr>
      <vt:lpstr>Wingdings</vt:lpstr>
      <vt:lpstr>1_MediaTek</vt:lpstr>
      <vt:lpstr>PowerPoint 簡報</vt:lpstr>
      <vt:lpstr>Outline</vt:lpstr>
      <vt:lpstr>Create Project</vt:lpstr>
      <vt:lpstr>Create Project</vt:lpstr>
      <vt:lpstr>Add Source Codes</vt:lpstr>
      <vt:lpstr>Build Properties</vt:lpstr>
      <vt:lpstr>Compiler Options</vt:lpstr>
      <vt:lpstr>Compiler Options: Optimization Tab</vt:lpstr>
      <vt:lpstr>Compiler Options: Warnings Tab</vt:lpstr>
      <vt:lpstr>Compiler Options: Addl compiler Tab</vt:lpstr>
      <vt:lpstr>Compiler Options: Compiler Variant</vt:lpstr>
      <vt:lpstr>Start to Build Library</vt:lpstr>
      <vt:lpstr>Get Your Library</vt:lpstr>
      <vt:lpstr>Appendix – How to find config version</vt:lpstr>
      <vt:lpstr>PowerPoint 簡報</vt:lpstr>
    </vt:vector>
  </TitlesOfParts>
  <Company>MediaTek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Audio_DSP_SWIP_Build_SOP</dc:title>
  <dc:creator>MediaTek DCC</dc:creator>
  <cp:keywords>Confidential C</cp:keywords>
  <cp:lastModifiedBy>Yuying Lin (林雨瑩)</cp:lastModifiedBy>
  <cp:revision>99</cp:revision>
  <dcterms:created xsi:type="dcterms:W3CDTF">2020-01-15T03:14:20Z</dcterms:created>
  <dcterms:modified xsi:type="dcterms:W3CDTF">2023-06-27T08:35:34Z</dcterms:modified>
  <cp:category>Confidential 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0x010100FC2A53B7DB280546A20112FD2EF61E0F</vt:lpwstr>
  </property>
  <property fmtid="{D5CDD505-2E9C-101B-9397-08002B2CF9AE}" pid="3" name="ExpireDate">
    <vt:lpwstr>Permanent</vt:lpwstr>
  </property>
  <property fmtid="{D5CDD505-2E9C-101B-9397-08002B2CF9AE}" pid="4" name="Publisher">
    <vt:lpwstr>Carmen Kuo (郭建伶)</vt:lpwstr>
  </property>
  <property fmtid="{D5CDD505-2E9C-101B-9397-08002B2CF9AE}" pid="5" name="MSIP_Label_70e9e632-9c24-4e48-b9cc-72066e7cfd15_Enabled">
    <vt:lpwstr>true</vt:lpwstr>
  </property>
  <property fmtid="{D5CDD505-2E9C-101B-9397-08002B2CF9AE}" pid="6" name="MSIP_Label_70e9e632-9c24-4e48-b9cc-72066e7cfd15_SetDate">
    <vt:lpwstr>2023-06-27T08:35:17Z</vt:lpwstr>
  </property>
  <property fmtid="{D5CDD505-2E9C-101B-9397-08002B2CF9AE}" pid="7" name="MSIP_Label_70e9e632-9c24-4e48-b9cc-72066e7cfd15_Method">
    <vt:lpwstr>Privileged</vt:lpwstr>
  </property>
  <property fmtid="{D5CDD505-2E9C-101B-9397-08002B2CF9AE}" pid="8" name="MSIP_Label_70e9e632-9c24-4e48-b9cc-72066e7cfd15_Name">
    <vt:lpwstr>MTK_Confidential_C_Normal</vt:lpwstr>
  </property>
  <property fmtid="{D5CDD505-2E9C-101B-9397-08002B2CF9AE}" pid="9" name="MSIP_Label_70e9e632-9c24-4e48-b9cc-72066e7cfd15_SiteId">
    <vt:lpwstr>a7687ede-7a6b-4ef6-bace-642f677fbe31</vt:lpwstr>
  </property>
  <property fmtid="{D5CDD505-2E9C-101B-9397-08002B2CF9AE}" pid="10" name="MSIP_Label_70e9e632-9c24-4e48-b9cc-72066e7cfd15_ActionId">
    <vt:lpwstr>d629c79c-826c-430c-aa77-dc67c0c825cb</vt:lpwstr>
  </property>
  <property fmtid="{D5CDD505-2E9C-101B-9397-08002B2CF9AE}" pid="11" name="MSIP_Label_70e9e632-9c24-4e48-b9cc-72066e7cfd15_ContentBits">
    <vt:lpwstr>1</vt:lpwstr>
  </property>
</Properties>
</file>