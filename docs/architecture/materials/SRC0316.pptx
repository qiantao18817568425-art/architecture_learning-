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5" r:id="rId4"/>
  </p:sldMasterIdLst>
  <p:notesMasterIdLst>
    <p:notesMasterId r:id="rId43"/>
  </p:notesMasterIdLst>
  <p:handoutMasterIdLst>
    <p:handoutMasterId r:id="rId44"/>
  </p:handoutMasterIdLst>
  <p:sldIdLst>
    <p:sldId id="289" r:id="rId5"/>
    <p:sldId id="290" r:id="rId6"/>
    <p:sldId id="291" r:id="rId7"/>
    <p:sldId id="293" r:id="rId8"/>
    <p:sldId id="294" r:id="rId9"/>
    <p:sldId id="295" r:id="rId10"/>
    <p:sldId id="266" r:id="rId11"/>
    <p:sldId id="286" r:id="rId12"/>
    <p:sldId id="296" r:id="rId13"/>
    <p:sldId id="297" r:id="rId14"/>
    <p:sldId id="330" r:id="rId15"/>
    <p:sldId id="298" r:id="rId16"/>
    <p:sldId id="307" r:id="rId17"/>
    <p:sldId id="305" r:id="rId18"/>
    <p:sldId id="308" r:id="rId19"/>
    <p:sldId id="311" r:id="rId20"/>
    <p:sldId id="267" r:id="rId21"/>
    <p:sldId id="312" r:id="rId22"/>
    <p:sldId id="327" r:id="rId23"/>
    <p:sldId id="328" r:id="rId24"/>
    <p:sldId id="329" r:id="rId25"/>
    <p:sldId id="315" r:id="rId26"/>
    <p:sldId id="316" r:id="rId27"/>
    <p:sldId id="317" r:id="rId28"/>
    <p:sldId id="318" r:id="rId29"/>
    <p:sldId id="319" r:id="rId30"/>
    <p:sldId id="320" r:id="rId31"/>
    <p:sldId id="292" r:id="rId32"/>
    <p:sldId id="321" r:id="rId33"/>
    <p:sldId id="322" r:id="rId34"/>
    <p:sldId id="269" r:id="rId35"/>
    <p:sldId id="257" r:id="rId36"/>
    <p:sldId id="323" r:id="rId37"/>
    <p:sldId id="324" r:id="rId38"/>
    <p:sldId id="283" r:id="rId39"/>
    <p:sldId id="325" r:id="rId40"/>
    <p:sldId id="285" r:id="rId41"/>
    <p:sldId id="288" r:id="rId4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960468-F64D-42BF-9CA8-27A3CFFF9B2E}">
          <p14:sldIdLst>
            <p14:sldId id="289"/>
            <p14:sldId id="290"/>
            <p14:sldId id="291"/>
            <p14:sldId id="293"/>
            <p14:sldId id="294"/>
            <p14:sldId id="295"/>
            <p14:sldId id="266"/>
            <p14:sldId id="286"/>
            <p14:sldId id="296"/>
            <p14:sldId id="297"/>
            <p14:sldId id="330"/>
            <p14:sldId id="298"/>
            <p14:sldId id="307"/>
            <p14:sldId id="305"/>
            <p14:sldId id="308"/>
            <p14:sldId id="311"/>
            <p14:sldId id="267"/>
            <p14:sldId id="312"/>
            <p14:sldId id="327"/>
            <p14:sldId id="328"/>
            <p14:sldId id="329"/>
            <p14:sldId id="315"/>
            <p14:sldId id="316"/>
            <p14:sldId id="317"/>
            <p14:sldId id="318"/>
            <p14:sldId id="319"/>
            <p14:sldId id="320"/>
            <p14:sldId id="292"/>
            <p14:sldId id="321"/>
            <p14:sldId id="322"/>
            <p14:sldId id="269"/>
            <p14:sldId id="257"/>
            <p14:sldId id="323"/>
            <p14:sldId id="324"/>
            <p14:sldId id="283"/>
            <p14:sldId id="325"/>
            <p14:sldId id="285"/>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lla Yao (姚冠伃)" initials="SY(" lastIdx="0" clrIdx="0">
    <p:extLst>
      <p:ext uri="{19B8F6BF-5375-455C-9EA6-DF929625EA0E}">
        <p15:presenceInfo xmlns:p15="http://schemas.microsoft.com/office/powerpoint/2012/main" userId="S-1-5-21-1711831044-1024940897-1435325219-17519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11E3C"/>
    <a:srgbClr val="F39A1E"/>
    <a:srgbClr val="69BE28"/>
    <a:srgbClr val="D71F85"/>
    <a:srgbClr val="FFCA05"/>
    <a:srgbClr val="1717A3"/>
    <a:srgbClr val="036639"/>
    <a:srgbClr val="00A1DE"/>
    <a:srgbClr val="FFFFFF"/>
    <a:srgbClr val="002C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淺色樣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0" autoAdjust="0"/>
    <p:restoredTop sz="92706" autoAdjust="0"/>
  </p:normalViewPr>
  <p:slideViewPr>
    <p:cSldViewPr snapToGrid="0" snapToObjects="1" showGuides="1">
      <p:cViewPr>
        <p:scale>
          <a:sx n="125" d="100"/>
          <a:sy n="125" d="100"/>
        </p:scale>
        <p:origin x="1056" y="34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83" d="100"/>
          <a:sy n="83" d="100"/>
        </p:scale>
        <p:origin x="313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E133BF5F-174E-40A4-9866-37369B60B4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9B48160D-002A-4C38-B685-9D01781CDFC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C3437A-2548-46BD-BA5A-B2CEE9B60B79}" type="datetimeFigureOut">
              <a:rPr lang="zh-TW" altLang="en-US" smtClean="0"/>
              <a:t>2024/10/14</a:t>
            </a:fld>
            <a:endParaRPr lang="zh-TW" altLang="en-US"/>
          </a:p>
        </p:txBody>
      </p:sp>
      <p:sp>
        <p:nvSpPr>
          <p:cNvPr id="4" name="頁尾版面配置區 3">
            <a:extLst>
              <a:ext uri="{FF2B5EF4-FFF2-40B4-BE49-F238E27FC236}">
                <a16:creationId xmlns:a16="http://schemas.microsoft.com/office/drawing/2014/main" id="{56C9DBB5-AEAC-42FF-B31A-63350E0F6F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BB254148-141F-4002-9FE0-E42D86596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57ED40-27C7-4C17-9AA3-9A8BEF720B9E}" type="slidenum">
              <a:rPr lang="zh-TW" altLang="en-US" smtClean="0"/>
              <a:t>‹#›</a:t>
            </a:fld>
            <a:endParaRPr lang="zh-TW" altLang="en-US"/>
          </a:p>
        </p:txBody>
      </p:sp>
    </p:spTree>
    <p:extLst>
      <p:ext uri="{BB962C8B-B14F-4D97-AF65-F5344CB8AC3E}">
        <p14:creationId xmlns:p14="http://schemas.microsoft.com/office/powerpoint/2010/main" val="3849185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E4A5B-860F-48A8-8317-191E0EF4C33B}" type="datetimeFigureOut">
              <a:rPr lang="en-GB" smtClean="0"/>
              <a:pPr/>
              <a:t>14/10/2024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ABA6D-F0DA-4F85-A720-04754C301D6D}" type="slidenum">
              <a:rPr lang="en-GB" smtClean="0"/>
              <a:pPr/>
              <a:t>‹#›</a:t>
            </a:fld>
            <a:endParaRPr lang="en-GB" dirty="0"/>
          </a:p>
        </p:txBody>
      </p:sp>
    </p:spTree>
    <p:extLst>
      <p:ext uri="{BB962C8B-B14F-4D97-AF65-F5344CB8AC3E}">
        <p14:creationId xmlns:p14="http://schemas.microsoft.com/office/powerpoint/2010/main" val="108823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Configuration</a:t>
            </a:r>
          </a:p>
          <a:p>
            <a:pPr lvl="1"/>
            <a:r>
              <a:rPr lang="en-US" dirty="0"/>
              <a:t>Lib test case?</a:t>
            </a:r>
          </a:p>
          <a:p>
            <a:pPr lvl="1"/>
            <a:r>
              <a:rPr lang="en-US" dirty="0"/>
              <a:t>Extend </a:t>
            </a:r>
            <a:r>
              <a:rPr lang="en-US" dirty="0" err="1"/>
              <a:t>device_config.h</a:t>
            </a:r>
            <a:endParaRPr lang="en-US" dirty="0"/>
          </a:p>
          <a:p>
            <a:r>
              <a:rPr lang="en-US" dirty="0"/>
              <a:t>Make</a:t>
            </a:r>
          </a:p>
          <a:p>
            <a:r>
              <a:rPr lang="en-US" dirty="0"/>
              <a:t>Run test</a:t>
            </a:r>
          </a:p>
          <a:p>
            <a:r>
              <a:rPr lang="en-US" dirty="0"/>
              <a:t>Check result</a:t>
            </a:r>
          </a:p>
          <a:p>
            <a:r>
              <a:rPr lang="en-US" altLang="zh-TW" dirty="0"/>
              <a:t>Feedback result/bugs to MTK</a:t>
            </a:r>
            <a:endParaRPr lang="en-US" dirty="0"/>
          </a:p>
          <a:p>
            <a:endParaRPr lang="en-US" dirty="0"/>
          </a:p>
        </p:txBody>
      </p:sp>
      <p:sp>
        <p:nvSpPr>
          <p:cNvPr id="4" name="投影片編號版面配置區 3"/>
          <p:cNvSpPr>
            <a:spLocks noGrp="1"/>
          </p:cNvSpPr>
          <p:nvPr>
            <p:ph type="sldNum" sz="quarter" idx="10"/>
          </p:nvPr>
        </p:nvSpPr>
        <p:spPr/>
        <p:txBody>
          <a:bodyPr/>
          <a:lstStyle/>
          <a:p>
            <a:fld id="{138603BB-9943-4D65-871D-3537C03A0376}" type="slidenum">
              <a:rPr lang="en-US" smtClean="0"/>
              <a:pPr/>
              <a:t>2</a:t>
            </a:fld>
            <a:endParaRPr lang="en-US"/>
          </a:p>
        </p:txBody>
      </p:sp>
    </p:spTree>
    <p:extLst>
      <p:ext uri="{BB962C8B-B14F-4D97-AF65-F5344CB8AC3E}">
        <p14:creationId xmlns:p14="http://schemas.microsoft.com/office/powerpoint/2010/main" val="3338181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What’s aurisys lib verifier</a:t>
            </a:r>
          </a:p>
          <a:p>
            <a:r>
              <a:rPr lang="en-US" dirty="0"/>
              <a:t>Aurisys</a:t>
            </a:r>
            <a:r>
              <a:rPr lang="en-US" baseline="0" dirty="0"/>
              <a:t> library </a:t>
            </a:r>
            <a:r>
              <a:rPr lang="en-US" baseline="0" dirty="0" err="1"/>
              <a:t>developemnt</a:t>
            </a:r>
            <a:r>
              <a:rPr lang="en-US" baseline="0" dirty="0"/>
              <a:t> flow</a:t>
            </a:r>
            <a:endParaRPr lang="en-US" dirty="0"/>
          </a:p>
        </p:txBody>
      </p:sp>
      <p:sp>
        <p:nvSpPr>
          <p:cNvPr id="4" name="投影片編號版面配置區 3"/>
          <p:cNvSpPr>
            <a:spLocks noGrp="1"/>
          </p:cNvSpPr>
          <p:nvPr>
            <p:ph type="sldNum" sz="quarter" idx="10"/>
          </p:nvPr>
        </p:nvSpPr>
        <p:spPr/>
        <p:txBody>
          <a:bodyPr/>
          <a:lstStyle/>
          <a:p>
            <a:fld id="{BCB0CB5D-3563-483F-A45A-08D826C649D1}" type="slidenum">
              <a:rPr lang="en-US" smtClean="0"/>
              <a:pPr/>
              <a:t>3</a:t>
            </a:fld>
            <a:endParaRPr lang="en-US"/>
          </a:p>
        </p:txBody>
      </p:sp>
    </p:spTree>
    <p:extLst>
      <p:ext uri="{BB962C8B-B14F-4D97-AF65-F5344CB8AC3E}">
        <p14:creationId xmlns:p14="http://schemas.microsoft.com/office/powerpoint/2010/main" val="2664512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err="1"/>
              <a:t>Lib_verifier</a:t>
            </a:r>
            <a:endParaRPr lang="en-US" dirty="0"/>
          </a:p>
          <a:p>
            <a:r>
              <a:rPr lang="en-US" dirty="0"/>
              <a:t>-IDE</a:t>
            </a:r>
          </a:p>
          <a:p>
            <a:r>
              <a:rPr lang="en-US" baseline="0" dirty="0"/>
              <a:t>  -RV</a:t>
            </a:r>
          </a:p>
          <a:p>
            <a:r>
              <a:rPr lang="en-US" baseline="0" dirty="0"/>
              <a:t>    -…</a:t>
            </a:r>
          </a:p>
          <a:p>
            <a:r>
              <a:rPr lang="en-US" baseline="0" dirty="0"/>
              <a:t>  -…</a:t>
            </a:r>
          </a:p>
          <a:p>
            <a:r>
              <a:rPr lang="en-US" baseline="0" dirty="0"/>
              <a:t>-</a:t>
            </a:r>
            <a:r>
              <a:rPr lang="en-US" baseline="0" dirty="0" err="1"/>
              <a:t>lib_verifier</a:t>
            </a:r>
            <a:endParaRPr lang="en-US" dirty="0"/>
          </a:p>
        </p:txBody>
      </p:sp>
      <p:sp>
        <p:nvSpPr>
          <p:cNvPr id="4" name="投影片編號版面配置區 3"/>
          <p:cNvSpPr>
            <a:spLocks noGrp="1"/>
          </p:cNvSpPr>
          <p:nvPr>
            <p:ph type="sldNum" sz="quarter" idx="10"/>
          </p:nvPr>
        </p:nvSpPr>
        <p:spPr/>
        <p:txBody>
          <a:bodyPr/>
          <a:lstStyle/>
          <a:p>
            <a:fld id="{138603BB-9943-4D65-871D-3537C03A0376}" type="slidenum">
              <a:rPr lang="en-US" smtClean="0"/>
              <a:pPr/>
              <a:t>11</a:t>
            </a:fld>
            <a:endParaRPr lang="en-US"/>
          </a:p>
        </p:txBody>
      </p:sp>
    </p:spTree>
    <p:extLst>
      <p:ext uri="{BB962C8B-B14F-4D97-AF65-F5344CB8AC3E}">
        <p14:creationId xmlns:p14="http://schemas.microsoft.com/office/powerpoint/2010/main" val="417308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err="1"/>
              <a:t>Lib_verifier</a:t>
            </a:r>
            <a:endParaRPr lang="en-US" dirty="0"/>
          </a:p>
          <a:p>
            <a:r>
              <a:rPr lang="en-US" dirty="0"/>
              <a:t>-IDE</a:t>
            </a:r>
          </a:p>
          <a:p>
            <a:r>
              <a:rPr lang="en-US" baseline="0" dirty="0"/>
              <a:t>  -RV</a:t>
            </a:r>
          </a:p>
          <a:p>
            <a:r>
              <a:rPr lang="en-US" baseline="0" dirty="0"/>
              <a:t>    -…</a:t>
            </a:r>
          </a:p>
          <a:p>
            <a:r>
              <a:rPr lang="en-US" baseline="0" dirty="0"/>
              <a:t>  -…</a:t>
            </a:r>
          </a:p>
          <a:p>
            <a:r>
              <a:rPr lang="en-US" baseline="0" dirty="0"/>
              <a:t>-</a:t>
            </a:r>
            <a:r>
              <a:rPr lang="en-US" baseline="0" dirty="0" err="1"/>
              <a:t>lib_verifier</a:t>
            </a:r>
            <a:endParaRPr lang="en-US" dirty="0"/>
          </a:p>
        </p:txBody>
      </p:sp>
      <p:sp>
        <p:nvSpPr>
          <p:cNvPr id="4" name="投影片編號版面配置區 3"/>
          <p:cNvSpPr>
            <a:spLocks noGrp="1"/>
          </p:cNvSpPr>
          <p:nvPr>
            <p:ph type="sldNum" sz="quarter" idx="10"/>
          </p:nvPr>
        </p:nvSpPr>
        <p:spPr/>
        <p:txBody>
          <a:bodyPr/>
          <a:lstStyle/>
          <a:p>
            <a:fld id="{138603BB-9943-4D65-871D-3537C03A0376}" type="slidenum">
              <a:rPr lang="en-US" smtClean="0"/>
              <a:pPr/>
              <a:t>12</a:t>
            </a:fld>
            <a:endParaRPr lang="en-US"/>
          </a:p>
        </p:txBody>
      </p:sp>
    </p:spTree>
    <p:extLst>
      <p:ext uri="{BB962C8B-B14F-4D97-AF65-F5344CB8AC3E}">
        <p14:creationId xmlns:p14="http://schemas.microsoft.com/office/powerpoint/2010/main" val="3428446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en-US" dirty="0"/>
          </a:p>
        </p:txBody>
      </p:sp>
      <p:sp>
        <p:nvSpPr>
          <p:cNvPr id="4" name="投影片編號版面配置區 3"/>
          <p:cNvSpPr>
            <a:spLocks noGrp="1"/>
          </p:cNvSpPr>
          <p:nvPr>
            <p:ph type="sldNum" sz="quarter" idx="10"/>
          </p:nvPr>
        </p:nvSpPr>
        <p:spPr/>
        <p:txBody>
          <a:bodyPr/>
          <a:lstStyle/>
          <a:p>
            <a:fld id="{138603BB-9943-4D65-871D-3537C03A0376}" type="slidenum">
              <a:rPr lang="en-US" smtClean="0"/>
              <a:pPr/>
              <a:t>28</a:t>
            </a:fld>
            <a:endParaRPr lang="en-US"/>
          </a:p>
        </p:txBody>
      </p:sp>
    </p:spTree>
    <p:extLst>
      <p:ext uri="{BB962C8B-B14F-4D97-AF65-F5344CB8AC3E}">
        <p14:creationId xmlns:p14="http://schemas.microsoft.com/office/powerpoint/2010/main" val="22619348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Formal">
    <p:bg>
      <p:bgPr>
        <a:solidFill>
          <a:srgbClr val="F39A1E"/>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2FC31B8-C0A5-4C17-8479-A454E6F28946}"/>
              </a:ext>
            </a:extLst>
          </p:cNvPr>
          <p:cNvSpPr/>
          <p:nvPr userDrawn="1"/>
        </p:nvSpPr>
        <p:spPr>
          <a:xfrm>
            <a:off x="346177" y="4721013"/>
            <a:ext cx="3713721" cy="292785"/>
          </a:xfrm>
          <a:prstGeom prst="rect">
            <a:avLst/>
          </a:prstGeom>
          <a:solidFill>
            <a:srgbClr val="F39A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zh-TW" sz="800" kern="1200" dirty="0">
                <a:solidFill>
                  <a:schemeClr val="bg1"/>
                </a:solidFill>
                <a:effectLst/>
                <a:latin typeface="+mn-lt"/>
                <a:ea typeface="+mn-ea"/>
                <a:cs typeface="+mn-cs"/>
              </a:rPr>
              <a:t>MediaTek Proprietary and Confidential. © 2022 MediaTek Inc. All rights reserved.</a:t>
            </a:r>
            <a:endParaRPr lang="en-GB" altLang="zh-TW" sz="800" dirty="0">
              <a:solidFill>
                <a:schemeClr val="bg1"/>
              </a:solidFill>
              <a:latin typeface="+mn-lt"/>
            </a:endParaRPr>
          </a:p>
        </p:txBody>
      </p:sp>
      <p:sp>
        <p:nvSpPr>
          <p:cNvPr id="4" name="文字方塊 3"/>
          <p:cNvSpPr txBox="1"/>
          <p:nvPr userDrawn="1"/>
        </p:nvSpPr>
        <p:spPr>
          <a:xfrm>
            <a:off x="2382251" y="3048755"/>
            <a:ext cx="6545703" cy="885571"/>
          </a:xfrm>
          <a:prstGeom prst="rect">
            <a:avLst/>
          </a:prstGeom>
        </p:spPr>
        <p:txBody>
          <a:bodyPr wrap="square" lIns="0" tIns="0" rIns="0" bIns="0" rtlCol="0">
            <a:noAutofit/>
          </a:bodyPr>
          <a:lstStyle/>
          <a:p>
            <a:endParaRPr lang="zh-TW" altLang="en-US" dirty="0"/>
          </a:p>
        </p:txBody>
      </p:sp>
      <p:sp>
        <p:nvSpPr>
          <p:cNvPr id="12"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2370668" y="2093214"/>
            <a:ext cx="5841788"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CN" altLang="en-US" dirty="0"/>
              <a:t>标题使用粗体</a:t>
            </a:r>
            <a:r>
              <a:rPr lang="en-US" altLang="zh-TW" dirty="0"/>
              <a:t>32pts</a:t>
            </a:r>
            <a:endParaRPr lang="zh-TW" altLang="en-US" dirty="0"/>
          </a:p>
        </p:txBody>
      </p:sp>
      <p:pic>
        <p:nvPicPr>
          <p:cNvPr id="13" name="圖片 12">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3736" y="1361899"/>
            <a:ext cx="1894918" cy="517459"/>
          </a:xfrm>
          <a:prstGeom prst="rect">
            <a:avLst/>
          </a:prstGeom>
        </p:spPr>
      </p:pic>
      <p:sp>
        <p:nvSpPr>
          <p:cNvPr id="14"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2370668" y="2733676"/>
            <a:ext cx="4218896"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Tree>
    <p:extLst>
      <p:ext uri="{BB962C8B-B14F-4D97-AF65-F5344CB8AC3E}">
        <p14:creationId xmlns:p14="http://schemas.microsoft.com/office/powerpoint/2010/main" val="396468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7" name="文字版面配置區 6"/>
          <p:cNvSpPr>
            <a:spLocks noGrp="1"/>
          </p:cNvSpPr>
          <p:nvPr>
            <p:ph type="body" sz="quarter" idx="10"/>
          </p:nvPr>
        </p:nvSpPr>
        <p:spPr>
          <a:xfrm>
            <a:off x="323850" y="1032588"/>
            <a:ext cx="8218488" cy="3427445"/>
          </a:xfrm>
          <a:prstGeom prst="rect">
            <a:avLst/>
          </a:prstGeom>
        </p:spPr>
        <p:txBody>
          <a:bodyPr/>
          <a:lstStyle>
            <a:lvl1pPr marL="514350" indent="-514350">
              <a:buFont typeface="Wingdings" panose="05000000000000000000" pitchFamily="2" charset="2"/>
              <a:buChar char="p"/>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90758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49" y="1007706"/>
            <a:ext cx="8218489" cy="3707363"/>
          </a:xfrm>
        </p:spPr>
        <p:txBody>
          <a:bodyPr/>
          <a:lstStyle>
            <a:lvl1pPr>
              <a:defRPr sz="1600" b="1">
                <a:latin typeface="+mj-lt"/>
              </a:defRPr>
            </a:lvl1pPr>
            <a:lvl2pPr>
              <a:defRPr sz="1400" b="1">
                <a:latin typeface="+mj-lt"/>
              </a:defRPr>
            </a:lvl2pPr>
            <a:lvl3pPr>
              <a:defRPr sz="1200">
                <a:latin typeface="+mj-lt"/>
              </a:defRPr>
            </a:lvl3pPr>
            <a:lvl4pPr>
              <a:defRPr sz="1100">
                <a:latin typeface="+mj-lt"/>
              </a:defRPr>
            </a:lvl4pPr>
            <a:lvl5pPr>
              <a:defRPr sz="1000">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36899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50" y="1007706"/>
            <a:ext cx="4032126"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25"/>
          <p:cNvSpPr>
            <a:spLocks noGrp="1"/>
          </p:cNvSpPr>
          <p:nvPr>
            <p:ph sz="quarter" idx="11"/>
          </p:nvPr>
        </p:nvSpPr>
        <p:spPr>
          <a:xfrm>
            <a:off x="4499992" y="1004972"/>
            <a:ext cx="4042347"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29803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lte only">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4048181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Tree>
    <p:extLst>
      <p:ext uri="{BB962C8B-B14F-4D97-AF65-F5344CB8AC3E}">
        <p14:creationId xmlns:p14="http://schemas.microsoft.com/office/powerpoint/2010/main" val="3790191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with subtitle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15DD189-F23A-4A72-A8E7-12D5CE2E8541}"/>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3"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311552" y="1818018"/>
            <a:ext cx="8230787" cy="255393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atin typeface="+mj-lt"/>
                <a:ea typeface="Microsoft YaHei" panose="020B0503020204020204" pitchFamily="34" charset="-122"/>
              </a:defRPr>
            </a:lvl1pPr>
          </a:lstStyle>
          <a:p>
            <a:pPr lvl="0"/>
            <a:r>
              <a:rPr lang="zh-TW" altLang="en-US" dirty="0"/>
              <a:t>內文使用</a:t>
            </a:r>
            <a:r>
              <a:rPr lang="en-US" altLang="zh-TW" dirty="0"/>
              <a:t>12pts</a:t>
            </a:r>
          </a:p>
        </p:txBody>
      </p:sp>
      <p:sp>
        <p:nvSpPr>
          <p:cNvPr id="21"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311552" y="1408099"/>
            <a:ext cx="8230786"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0">
                <a:latin typeface="+mj-lt"/>
                <a:ea typeface="Microsoft YaHei" panose="020B0503020204020204" pitchFamily="34" charset="-122"/>
              </a:defRPr>
            </a:lvl1pPr>
          </a:lstStyle>
          <a:p>
            <a:pPr lvl="0"/>
            <a:r>
              <a:rPr lang="zh-TW" altLang="en-US" dirty="0"/>
              <a:t>內文大标题使用</a:t>
            </a:r>
            <a:r>
              <a:rPr lang="en-US" altLang="zh-TW" dirty="0"/>
              <a:t>16pts</a:t>
            </a:r>
          </a:p>
        </p:txBody>
      </p:sp>
      <p:sp>
        <p:nvSpPr>
          <p:cNvPr id="22"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311551" y="4427059"/>
            <a:ext cx="3066022"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900" b="0">
                <a:latin typeface="Calibri" panose="020F0502020204030204" pitchFamily="34" charset="0"/>
              </a:defRPr>
            </a:lvl1pPr>
          </a:lstStyle>
          <a:p>
            <a:pPr lvl="0"/>
            <a:r>
              <a:rPr lang="en-US" altLang="zh-TW" dirty="0"/>
              <a:t>*Source:  Body text goes here in sentence case 9pts.</a:t>
            </a:r>
          </a:p>
        </p:txBody>
      </p:sp>
      <p:sp>
        <p:nvSpPr>
          <p:cNvPr id="24"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311551" y="998180"/>
            <a:ext cx="8230787"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latin typeface="+mj-lt"/>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
        <p:nvSpPr>
          <p:cNvPr id="9"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9266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map">
    <p:spTree>
      <p:nvGrpSpPr>
        <p:cNvPr id="1" name=""/>
        <p:cNvGrpSpPr/>
        <p:nvPr/>
      </p:nvGrpSpPr>
      <p:grpSpPr>
        <a:xfrm>
          <a:off x="0" y="0"/>
          <a:ext cx="0" cy="0"/>
          <a:chOff x="0" y="0"/>
          <a:chExt cx="0" cy="0"/>
        </a:xfrm>
      </p:grpSpPr>
      <p:pic>
        <p:nvPicPr>
          <p:cNvPr id="4" name="圖片 3" descr="一張含有 室外 的圖片&#10;&#10;描述是以高可信度產生">
            <a:extLst>
              <a:ext uri="{FF2B5EF4-FFF2-40B4-BE49-F238E27FC236}">
                <a16:creationId xmlns:a16="http://schemas.microsoft.com/office/drawing/2014/main" id="{DC2D0D50-67E3-4F36-B468-7911E277F4E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8526" y="751490"/>
            <a:ext cx="7973813" cy="3972910"/>
          </a:xfrm>
          <a:prstGeom prst="rect">
            <a:avLst/>
          </a:prstGeom>
        </p:spPr>
      </p:pic>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07234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map">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2" name="文字版面配置區 18">
            <a:extLst>
              <a:ext uri="{FF2B5EF4-FFF2-40B4-BE49-F238E27FC236}">
                <a16:creationId xmlns:a16="http://schemas.microsoft.com/office/drawing/2014/main" id="{5EC7FBC4-8594-4342-90DE-025774DA1F55}"/>
              </a:ext>
            </a:extLst>
          </p:cNvPr>
          <p:cNvSpPr>
            <a:spLocks noGrp="1"/>
          </p:cNvSpPr>
          <p:nvPr>
            <p:ph type="body" sz="quarter" idx="15" hasCustomPrompt="1"/>
          </p:nvPr>
        </p:nvSpPr>
        <p:spPr>
          <a:xfrm>
            <a:off x="-1" y="1239586"/>
            <a:ext cx="3067032" cy="442859"/>
          </a:xfrm>
          <a:prstGeom prst="rect">
            <a:avLst/>
          </a:prstGeom>
          <a:solidFill>
            <a:srgbClr val="FFCA05"/>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3" name="文字版面配置區 18">
            <a:extLst>
              <a:ext uri="{FF2B5EF4-FFF2-40B4-BE49-F238E27FC236}">
                <a16:creationId xmlns:a16="http://schemas.microsoft.com/office/drawing/2014/main" id="{E7D79B96-7A21-4C0C-B47D-23C03655A49D}"/>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4" name="圖片版面配置區 5">
            <a:extLst>
              <a:ext uri="{FF2B5EF4-FFF2-40B4-BE49-F238E27FC236}">
                <a16:creationId xmlns:a16="http://schemas.microsoft.com/office/drawing/2014/main" id="{FA7B9CDC-6840-44D5-B7F4-B7A5C7F1EC00}"/>
              </a:ext>
            </a:extLst>
          </p:cNvPr>
          <p:cNvSpPr>
            <a:spLocks noGrp="1"/>
          </p:cNvSpPr>
          <p:nvPr>
            <p:ph type="pic" sz="quarter" idx="18" hasCustomPrompt="1"/>
          </p:nvPr>
        </p:nvSpPr>
        <p:spPr>
          <a:xfrm>
            <a:off x="-1" y="1682444"/>
            <a:ext cx="3038482"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5" name="文字版面配置區 18">
            <a:extLst>
              <a:ext uri="{FF2B5EF4-FFF2-40B4-BE49-F238E27FC236}">
                <a16:creationId xmlns:a16="http://schemas.microsoft.com/office/drawing/2014/main" id="{266BDB66-2D52-4EC8-9493-68E1F60A8A43}"/>
              </a:ext>
            </a:extLst>
          </p:cNvPr>
          <p:cNvSpPr>
            <a:spLocks noGrp="1"/>
          </p:cNvSpPr>
          <p:nvPr>
            <p:ph type="body" sz="quarter" idx="19" hasCustomPrompt="1"/>
          </p:nvPr>
        </p:nvSpPr>
        <p:spPr>
          <a:xfrm>
            <a:off x="3038483" y="1239586"/>
            <a:ext cx="3067032" cy="442859"/>
          </a:xfrm>
          <a:prstGeom prst="rect">
            <a:avLst/>
          </a:prstGeom>
          <a:solidFill>
            <a:srgbClr val="69BE28"/>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6" name="文字版面配置區 18">
            <a:extLst>
              <a:ext uri="{FF2B5EF4-FFF2-40B4-BE49-F238E27FC236}">
                <a16:creationId xmlns:a16="http://schemas.microsoft.com/office/drawing/2014/main" id="{3C31F96A-9B22-4F64-960B-01D384DE939C}"/>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7" name="圖片版面配置區 5">
            <a:extLst>
              <a:ext uri="{FF2B5EF4-FFF2-40B4-BE49-F238E27FC236}">
                <a16:creationId xmlns:a16="http://schemas.microsoft.com/office/drawing/2014/main" id="{A298E8CE-357A-4140-B5E4-AD22FD39D943}"/>
              </a:ext>
            </a:extLst>
          </p:cNvPr>
          <p:cNvSpPr>
            <a:spLocks noGrp="1"/>
          </p:cNvSpPr>
          <p:nvPr>
            <p:ph type="pic" sz="quarter" idx="21" hasCustomPrompt="1"/>
          </p:nvPr>
        </p:nvSpPr>
        <p:spPr>
          <a:xfrm>
            <a:off x="3038483" y="1682444"/>
            <a:ext cx="3038483"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8" name="文字版面配置區 18">
            <a:extLst>
              <a:ext uri="{FF2B5EF4-FFF2-40B4-BE49-F238E27FC236}">
                <a16:creationId xmlns:a16="http://schemas.microsoft.com/office/drawing/2014/main" id="{33C4F6F6-31CE-4FD9-A3D7-A7D1D0FC0738}"/>
              </a:ext>
            </a:extLst>
          </p:cNvPr>
          <p:cNvSpPr>
            <a:spLocks noGrp="1"/>
          </p:cNvSpPr>
          <p:nvPr>
            <p:ph type="body" sz="quarter" idx="22" hasCustomPrompt="1"/>
          </p:nvPr>
        </p:nvSpPr>
        <p:spPr>
          <a:xfrm>
            <a:off x="6076968" y="1239586"/>
            <a:ext cx="3067032" cy="442859"/>
          </a:xfrm>
          <a:prstGeom prst="rect">
            <a:avLst/>
          </a:prstGeom>
          <a:solidFill>
            <a:schemeClr val="accent3"/>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9" name="文字版面配置區 18">
            <a:extLst>
              <a:ext uri="{FF2B5EF4-FFF2-40B4-BE49-F238E27FC236}">
                <a16:creationId xmlns:a16="http://schemas.microsoft.com/office/drawing/2014/main" id="{0BEF69B6-881A-4FBB-BBB0-3A32C94FE729}"/>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20" name="圖片版面配置區 5">
            <a:extLst>
              <a:ext uri="{FF2B5EF4-FFF2-40B4-BE49-F238E27FC236}">
                <a16:creationId xmlns:a16="http://schemas.microsoft.com/office/drawing/2014/main" id="{2B47372B-F0BA-4731-9A36-256296AEF419}"/>
              </a:ext>
            </a:extLst>
          </p:cNvPr>
          <p:cNvSpPr>
            <a:spLocks noGrp="1"/>
          </p:cNvSpPr>
          <p:nvPr>
            <p:ph type="pic" sz="quarter" idx="24" hasCustomPrompt="1"/>
          </p:nvPr>
        </p:nvSpPr>
        <p:spPr>
          <a:xfrm>
            <a:off x="6076968" y="1682444"/>
            <a:ext cx="3067031"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81763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map">
    <p:spTree>
      <p:nvGrpSpPr>
        <p:cNvPr id="1" name=""/>
        <p:cNvGrpSpPr/>
        <p:nvPr/>
      </p:nvGrpSpPr>
      <p:grpSpPr>
        <a:xfrm>
          <a:off x="0" y="0"/>
          <a:ext cx="0" cy="0"/>
          <a:chOff x="0" y="0"/>
          <a:chExt cx="0" cy="0"/>
        </a:xfrm>
      </p:grpSpPr>
      <p:sp>
        <p:nvSpPr>
          <p:cNvPr id="21"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0" y="1273722"/>
            <a:ext cx="9144001" cy="3408367"/>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Slide Number Placeholder 5">
            <a:extLst>
              <a:ext uri="{FF2B5EF4-FFF2-40B4-BE49-F238E27FC236}">
                <a16:creationId xmlns:a16="http://schemas.microsoft.com/office/drawing/2014/main" id="{ABE3C7CC-BFCC-4188-95AF-7C83305BB32B}"/>
              </a:ext>
            </a:extLst>
          </p:cNvPr>
          <p:cNvSpPr txBox="1">
            <a:spLocks/>
          </p:cNvSpPr>
          <p:nvPr userDrawn="1"/>
        </p:nvSpPr>
        <p:spPr>
          <a:xfrm>
            <a:off x="8542339" y="4863742"/>
            <a:ext cx="277811" cy="108000"/>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EF9A4B-07C9-404C-9053-A3A2AC3AD5D6}" type="slidenum">
              <a:rPr lang="en-GB" sz="600" smtClean="0"/>
              <a:pPr/>
              <a:t>‹#›</a:t>
            </a:fld>
            <a:endParaRPr lang="en-GB" sz="600"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75182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Content+Media_4">
    <p:spTree>
      <p:nvGrpSpPr>
        <p:cNvPr id="1" name=""/>
        <p:cNvGrpSpPr/>
        <p:nvPr/>
      </p:nvGrpSpPr>
      <p:grpSpPr>
        <a:xfrm>
          <a:off x="0" y="0"/>
          <a:ext cx="0" cy="0"/>
          <a:chOff x="0" y="0"/>
          <a:chExt cx="0" cy="0"/>
        </a:xfrm>
      </p:grpSpPr>
      <p:sp>
        <p:nvSpPr>
          <p:cNvPr id="6" name="文字版面配置區 18">
            <a:extLst>
              <a:ext uri="{FF2B5EF4-FFF2-40B4-BE49-F238E27FC236}">
                <a16:creationId xmlns:a16="http://schemas.microsoft.com/office/drawing/2014/main" id="{94F6F4E3-E8D1-4DC2-B0CA-56809F531971}"/>
              </a:ext>
            </a:extLst>
          </p:cNvPr>
          <p:cNvSpPr>
            <a:spLocks noGrp="1"/>
          </p:cNvSpPr>
          <p:nvPr>
            <p:ph type="body" sz="quarter" idx="15" hasCustomPrompt="1"/>
          </p:nvPr>
        </p:nvSpPr>
        <p:spPr>
          <a:xfrm>
            <a:off x="-1" y="1239586"/>
            <a:ext cx="2284770" cy="442859"/>
          </a:xfrm>
          <a:prstGeom prst="rect">
            <a:avLst/>
          </a:prstGeom>
          <a:solidFill>
            <a:srgbClr val="FFCA05"/>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7" name="文字版面配置區 18">
            <a:extLst>
              <a:ext uri="{FF2B5EF4-FFF2-40B4-BE49-F238E27FC236}">
                <a16:creationId xmlns:a16="http://schemas.microsoft.com/office/drawing/2014/main" id="{E6608BD1-147C-46FB-9D31-B120B8336A37}"/>
              </a:ext>
            </a:extLst>
          </p:cNvPr>
          <p:cNvSpPr>
            <a:spLocks noGrp="1"/>
          </p:cNvSpPr>
          <p:nvPr>
            <p:ph type="body" sz="quarter" idx="17" hasCustomPrompt="1"/>
          </p:nvPr>
        </p:nvSpPr>
        <p:spPr>
          <a:xfrm>
            <a:off x="0" y="3770915"/>
            <a:ext cx="2291624"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8" name="圖片版面配置區 5">
            <a:extLst>
              <a:ext uri="{FF2B5EF4-FFF2-40B4-BE49-F238E27FC236}">
                <a16:creationId xmlns:a16="http://schemas.microsoft.com/office/drawing/2014/main" id="{746E0EF0-E653-4F9A-A28C-A9866E6936CF}"/>
              </a:ext>
            </a:extLst>
          </p:cNvPr>
          <p:cNvSpPr>
            <a:spLocks noGrp="1"/>
          </p:cNvSpPr>
          <p:nvPr>
            <p:ph type="pic" sz="quarter" idx="18" hasCustomPrompt="1"/>
          </p:nvPr>
        </p:nvSpPr>
        <p:spPr>
          <a:xfrm>
            <a:off x="-2" y="1682445"/>
            <a:ext cx="22860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文字版面配置區 18">
            <a:extLst>
              <a:ext uri="{FF2B5EF4-FFF2-40B4-BE49-F238E27FC236}">
                <a16:creationId xmlns:a16="http://schemas.microsoft.com/office/drawing/2014/main" id="{A8EB9369-73F7-40EF-926B-8E8F9DCA2A37}"/>
              </a:ext>
            </a:extLst>
          </p:cNvPr>
          <p:cNvSpPr>
            <a:spLocks noGrp="1"/>
          </p:cNvSpPr>
          <p:nvPr>
            <p:ph type="body" sz="quarter" idx="19" hasCustomPrompt="1"/>
          </p:nvPr>
        </p:nvSpPr>
        <p:spPr>
          <a:xfrm>
            <a:off x="2286314" y="1239586"/>
            <a:ext cx="2291419" cy="442859"/>
          </a:xfrm>
          <a:prstGeom prst="rect">
            <a:avLst/>
          </a:prstGeom>
          <a:solidFill>
            <a:srgbClr val="69BE28"/>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marL="0" marR="0" lvl="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Body text/Calibri/16pts</a:t>
            </a:r>
          </a:p>
        </p:txBody>
      </p:sp>
      <p:sp>
        <p:nvSpPr>
          <p:cNvPr id="10" name="文字版面配置區 18">
            <a:extLst>
              <a:ext uri="{FF2B5EF4-FFF2-40B4-BE49-F238E27FC236}">
                <a16:creationId xmlns:a16="http://schemas.microsoft.com/office/drawing/2014/main" id="{A4EB6D35-3FED-4EA7-812B-8D9A1B299B49}"/>
              </a:ext>
            </a:extLst>
          </p:cNvPr>
          <p:cNvSpPr>
            <a:spLocks noGrp="1"/>
          </p:cNvSpPr>
          <p:nvPr>
            <p:ph type="body" sz="quarter" idx="20" hasCustomPrompt="1"/>
          </p:nvPr>
        </p:nvSpPr>
        <p:spPr>
          <a:xfrm>
            <a:off x="2286314" y="3770915"/>
            <a:ext cx="2293200"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1" name="圖片版面配置區 5">
            <a:extLst>
              <a:ext uri="{FF2B5EF4-FFF2-40B4-BE49-F238E27FC236}">
                <a16:creationId xmlns:a16="http://schemas.microsoft.com/office/drawing/2014/main" id="{341012BD-8152-49EB-B750-8ED9203DC7A7}"/>
              </a:ext>
            </a:extLst>
          </p:cNvPr>
          <p:cNvSpPr>
            <a:spLocks noGrp="1"/>
          </p:cNvSpPr>
          <p:nvPr>
            <p:ph type="pic" sz="quarter" idx="21" hasCustomPrompt="1"/>
          </p:nvPr>
        </p:nvSpPr>
        <p:spPr>
          <a:xfrm>
            <a:off x="2286314" y="1682445"/>
            <a:ext cx="22932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2" name="文字版面配置區 18">
            <a:extLst>
              <a:ext uri="{FF2B5EF4-FFF2-40B4-BE49-F238E27FC236}">
                <a16:creationId xmlns:a16="http://schemas.microsoft.com/office/drawing/2014/main" id="{2A945E46-21BF-4204-B82A-311E0C5989B3}"/>
              </a:ext>
            </a:extLst>
          </p:cNvPr>
          <p:cNvSpPr>
            <a:spLocks noGrp="1"/>
          </p:cNvSpPr>
          <p:nvPr>
            <p:ph type="body" sz="quarter" idx="22" hasCustomPrompt="1"/>
          </p:nvPr>
        </p:nvSpPr>
        <p:spPr>
          <a:xfrm>
            <a:off x="4574744" y="1239586"/>
            <a:ext cx="2288055" cy="442859"/>
          </a:xfrm>
          <a:prstGeom prst="rect">
            <a:avLst/>
          </a:prstGeom>
          <a:solidFill>
            <a:schemeClr val="accent3"/>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13" name="文字版面配置區 18">
            <a:extLst>
              <a:ext uri="{FF2B5EF4-FFF2-40B4-BE49-F238E27FC236}">
                <a16:creationId xmlns:a16="http://schemas.microsoft.com/office/drawing/2014/main" id="{B15D2412-C687-405A-87B5-0966A0787007}"/>
              </a:ext>
            </a:extLst>
          </p:cNvPr>
          <p:cNvSpPr>
            <a:spLocks noGrp="1"/>
          </p:cNvSpPr>
          <p:nvPr>
            <p:ph type="body" sz="quarter" idx="23" hasCustomPrompt="1"/>
          </p:nvPr>
        </p:nvSpPr>
        <p:spPr>
          <a:xfrm>
            <a:off x="4574744" y="3770915"/>
            <a:ext cx="2289600"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0" name="圖片版面配置區 5">
            <a:extLst>
              <a:ext uri="{FF2B5EF4-FFF2-40B4-BE49-F238E27FC236}">
                <a16:creationId xmlns:a16="http://schemas.microsoft.com/office/drawing/2014/main" id="{5D451D69-658C-4F56-915A-B2DDF385F574}"/>
              </a:ext>
            </a:extLst>
          </p:cNvPr>
          <p:cNvSpPr>
            <a:spLocks noGrp="1"/>
          </p:cNvSpPr>
          <p:nvPr>
            <p:ph type="pic" sz="quarter" idx="26" hasCustomPrompt="1"/>
          </p:nvPr>
        </p:nvSpPr>
        <p:spPr>
          <a:xfrm>
            <a:off x="4574744" y="1682443"/>
            <a:ext cx="22896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9" name="文字版面配置區 18">
            <a:extLst>
              <a:ext uri="{FF2B5EF4-FFF2-40B4-BE49-F238E27FC236}">
                <a16:creationId xmlns:a16="http://schemas.microsoft.com/office/drawing/2014/main" id="{2664A5B3-17FB-451A-82B2-8B5845DFCE9E}"/>
              </a:ext>
            </a:extLst>
          </p:cNvPr>
          <p:cNvSpPr>
            <a:spLocks noGrp="1"/>
          </p:cNvSpPr>
          <p:nvPr>
            <p:ph type="body" sz="quarter" idx="25" hasCustomPrompt="1"/>
          </p:nvPr>
        </p:nvSpPr>
        <p:spPr>
          <a:xfrm>
            <a:off x="6855944" y="1239585"/>
            <a:ext cx="2288055" cy="442859"/>
          </a:xfrm>
          <a:prstGeom prst="rect">
            <a:avLst/>
          </a:prstGeom>
          <a:solidFill>
            <a:srgbClr val="E11E3C"/>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21" name="圖片版面配置區 5">
            <a:extLst>
              <a:ext uri="{FF2B5EF4-FFF2-40B4-BE49-F238E27FC236}">
                <a16:creationId xmlns:a16="http://schemas.microsoft.com/office/drawing/2014/main" id="{C1F9C1EC-D04E-48C1-AB5B-9CD4F3191691}"/>
              </a:ext>
            </a:extLst>
          </p:cNvPr>
          <p:cNvSpPr>
            <a:spLocks noGrp="1"/>
          </p:cNvSpPr>
          <p:nvPr>
            <p:ph type="pic" sz="quarter" idx="27" hasCustomPrompt="1"/>
          </p:nvPr>
        </p:nvSpPr>
        <p:spPr>
          <a:xfrm>
            <a:off x="6855944" y="1682444"/>
            <a:ext cx="2288057"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文字版面配置區 18">
            <a:extLst>
              <a:ext uri="{FF2B5EF4-FFF2-40B4-BE49-F238E27FC236}">
                <a16:creationId xmlns:a16="http://schemas.microsoft.com/office/drawing/2014/main" id="{8EBBAF9D-9D09-44E0-AE17-74DDD789997C}"/>
              </a:ext>
            </a:extLst>
          </p:cNvPr>
          <p:cNvSpPr>
            <a:spLocks noGrp="1"/>
          </p:cNvSpPr>
          <p:nvPr>
            <p:ph type="body" sz="quarter" idx="28" hasCustomPrompt="1"/>
          </p:nvPr>
        </p:nvSpPr>
        <p:spPr>
          <a:xfrm>
            <a:off x="6852376" y="3770914"/>
            <a:ext cx="2287858" cy="820040"/>
          </a:xfrm>
          <a:prstGeom prst="rect">
            <a:avLst/>
          </a:prstGeom>
          <a:solidFill>
            <a:srgbClr val="E11E3C"/>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7" name="Slide Number Placeholder 5">
            <a:extLst>
              <a:ext uri="{FF2B5EF4-FFF2-40B4-BE49-F238E27FC236}">
                <a16:creationId xmlns:a16="http://schemas.microsoft.com/office/drawing/2014/main" id="{10528E65-22FD-4291-A407-01274D3B90F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246087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Content+Media_5">
    <p:spTree>
      <p:nvGrpSpPr>
        <p:cNvPr id="1" name=""/>
        <p:cNvGrpSpPr/>
        <p:nvPr/>
      </p:nvGrpSpPr>
      <p:grpSpPr>
        <a:xfrm>
          <a:off x="0" y="0"/>
          <a:ext cx="0" cy="0"/>
          <a:chOff x="0" y="0"/>
          <a:chExt cx="0" cy="0"/>
        </a:xfrm>
      </p:grpSpPr>
      <p:sp>
        <p:nvSpPr>
          <p:cNvPr id="51" name="文字版面配置區 18">
            <a:extLst>
              <a:ext uri="{FF2B5EF4-FFF2-40B4-BE49-F238E27FC236}">
                <a16:creationId xmlns:a16="http://schemas.microsoft.com/office/drawing/2014/main" id="{94C54889-0B56-4C2C-B071-26B97FB413DB}"/>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圖片版面配置區 5">
            <a:extLst>
              <a:ext uri="{FF2B5EF4-FFF2-40B4-BE49-F238E27FC236}">
                <a16:creationId xmlns:a16="http://schemas.microsoft.com/office/drawing/2014/main" id="{E4ADABB1-0AF9-41A0-89CB-EECD15C83E39}"/>
              </a:ext>
            </a:extLst>
          </p:cNvPr>
          <p:cNvSpPr>
            <a:spLocks noGrp="1"/>
          </p:cNvSpPr>
          <p:nvPr>
            <p:ph type="pic" sz="quarter" idx="18" hasCustomPrompt="1"/>
          </p:nvPr>
        </p:nvSpPr>
        <p:spPr>
          <a:xfrm>
            <a:off x="-1" y="1232094"/>
            <a:ext cx="3038482"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3" name="文字版面配置區 18">
            <a:extLst>
              <a:ext uri="{FF2B5EF4-FFF2-40B4-BE49-F238E27FC236}">
                <a16:creationId xmlns:a16="http://schemas.microsoft.com/office/drawing/2014/main" id="{83154691-5907-4558-A4CD-08A7C25A98ED}"/>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4" name="圖片版面配置區 5">
            <a:extLst>
              <a:ext uri="{FF2B5EF4-FFF2-40B4-BE49-F238E27FC236}">
                <a16:creationId xmlns:a16="http://schemas.microsoft.com/office/drawing/2014/main" id="{9F5E9543-5742-4D77-97CE-64898B1CF43A}"/>
              </a:ext>
            </a:extLst>
          </p:cNvPr>
          <p:cNvSpPr>
            <a:spLocks noGrp="1"/>
          </p:cNvSpPr>
          <p:nvPr>
            <p:ph type="pic" sz="quarter" idx="21" hasCustomPrompt="1"/>
          </p:nvPr>
        </p:nvSpPr>
        <p:spPr>
          <a:xfrm>
            <a:off x="3038483" y="1232094"/>
            <a:ext cx="3038483"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5" name="文字版面配置區 18">
            <a:extLst>
              <a:ext uri="{FF2B5EF4-FFF2-40B4-BE49-F238E27FC236}">
                <a16:creationId xmlns:a16="http://schemas.microsoft.com/office/drawing/2014/main" id="{510C9066-B83E-49DB-9DF0-C3F84CB0A170}"/>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6" name="圖片版面配置區 5">
            <a:extLst>
              <a:ext uri="{FF2B5EF4-FFF2-40B4-BE49-F238E27FC236}">
                <a16:creationId xmlns:a16="http://schemas.microsoft.com/office/drawing/2014/main" id="{8ECD9BC5-B71B-4F9D-A5F8-88E1049130BA}"/>
              </a:ext>
            </a:extLst>
          </p:cNvPr>
          <p:cNvSpPr>
            <a:spLocks noGrp="1"/>
          </p:cNvSpPr>
          <p:nvPr>
            <p:ph type="pic" sz="quarter" idx="24" hasCustomPrompt="1"/>
          </p:nvPr>
        </p:nvSpPr>
        <p:spPr>
          <a:xfrm>
            <a:off x="6076968" y="1232094"/>
            <a:ext cx="3067031"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63" name="文字版面配置區 20">
            <a:extLst>
              <a:ext uri="{FF2B5EF4-FFF2-40B4-BE49-F238E27FC236}">
                <a16:creationId xmlns:a16="http://schemas.microsoft.com/office/drawing/2014/main" id="{E84AABBE-C906-4DE2-9B7E-749E90AB7A08}"/>
              </a:ext>
            </a:extLst>
          </p:cNvPr>
          <p:cNvSpPr>
            <a:spLocks noGrp="1"/>
          </p:cNvSpPr>
          <p:nvPr>
            <p:ph type="body" sz="quarter" idx="25" hasCustomPrompt="1"/>
          </p:nvPr>
        </p:nvSpPr>
        <p:spPr>
          <a:xfrm>
            <a:off x="845244" y="2587845"/>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a:t>
            </a:r>
            <a:endParaRPr lang="zh-TW" altLang="en-US" dirty="0"/>
          </a:p>
        </p:txBody>
      </p:sp>
      <p:sp>
        <p:nvSpPr>
          <p:cNvPr id="64" name="文字版面配置區 20">
            <a:extLst>
              <a:ext uri="{FF2B5EF4-FFF2-40B4-BE49-F238E27FC236}">
                <a16:creationId xmlns:a16="http://schemas.microsoft.com/office/drawing/2014/main" id="{E91BD225-CAB6-4E90-9F8F-F335537BF65D}"/>
              </a:ext>
            </a:extLst>
          </p:cNvPr>
          <p:cNvSpPr>
            <a:spLocks noGrp="1"/>
          </p:cNvSpPr>
          <p:nvPr>
            <p:ph type="body" sz="quarter" idx="26" hasCustomPrompt="1"/>
          </p:nvPr>
        </p:nvSpPr>
        <p:spPr>
          <a:xfrm>
            <a:off x="1560442" y="3224518"/>
            <a:ext cx="811089"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Microsoft YaHei" panose="020B0503020204020204" pitchFamily="34" charset="-122"/>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億</a:t>
            </a:r>
          </a:p>
        </p:txBody>
      </p:sp>
      <p:sp>
        <p:nvSpPr>
          <p:cNvPr id="65" name="文字版面配置區 20">
            <a:extLst>
              <a:ext uri="{FF2B5EF4-FFF2-40B4-BE49-F238E27FC236}">
                <a16:creationId xmlns:a16="http://schemas.microsoft.com/office/drawing/2014/main" id="{3A34AD3F-9140-4A65-9DAE-F7014F9578B6}"/>
              </a:ext>
            </a:extLst>
          </p:cNvPr>
          <p:cNvSpPr>
            <a:spLocks noGrp="1"/>
          </p:cNvSpPr>
          <p:nvPr>
            <p:ph type="body" sz="quarter" idx="27" hasCustomPrompt="1"/>
          </p:nvPr>
        </p:nvSpPr>
        <p:spPr>
          <a:xfrm>
            <a:off x="3671379"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2</a:t>
            </a:r>
            <a:endParaRPr lang="zh-TW" altLang="en-US" dirty="0"/>
          </a:p>
        </p:txBody>
      </p:sp>
      <p:sp>
        <p:nvSpPr>
          <p:cNvPr id="66" name="文字版面配置區 20">
            <a:extLst>
              <a:ext uri="{FF2B5EF4-FFF2-40B4-BE49-F238E27FC236}">
                <a16:creationId xmlns:a16="http://schemas.microsoft.com/office/drawing/2014/main" id="{A083966D-F9B8-430C-93F1-940333B06F45}"/>
              </a:ext>
            </a:extLst>
          </p:cNvPr>
          <p:cNvSpPr>
            <a:spLocks noGrp="1"/>
          </p:cNvSpPr>
          <p:nvPr>
            <p:ph type="body" sz="quarter" idx="28" hasCustomPrompt="1"/>
          </p:nvPr>
        </p:nvSpPr>
        <p:spPr>
          <a:xfrm>
            <a:off x="4386577" y="3238481"/>
            <a:ext cx="1126032"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NTD</a:t>
            </a:r>
            <a:endParaRPr lang="zh-TW" altLang="en-US" dirty="0"/>
          </a:p>
        </p:txBody>
      </p:sp>
      <p:sp>
        <p:nvSpPr>
          <p:cNvPr id="67" name="文字版面配置區 20">
            <a:extLst>
              <a:ext uri="{FF2B5EF4-FFF2-40B4-BE49-F238E27FC236}">
                <a16:creationId xmlns:a16="http://schemas.microsoft.com/office/drawing/2014/main" id="{810B07CB-3E23-4C00-B891-73E329430015}"/>
              </a:ext>
            </a:extLst>
          </p:cNvPr>
          <p:cNvSpPr>
            <a:spLocks noGrp="1"/>
          </p:cNvSpPr>
          <p:nvPr>
            <p:ph type="body" sz="quarter" idx="29" hasCustomPrompt="1"/>
          </p:nvPr>
        </p:nvSpPr>
        <p:spPr>
          <a:xfrm>
            <a:off x="7061305"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3</a:t>
            </a:r>
            <a:endParaRPr lang="zh-TW" altLang="en-US" dirty="0"/>
          </a:p>
        </p:txBody>
      </p:sp>
      <p:sp>
        <p:nvSpPr>
          <p:cNvPr id="68" name="文字版面配置區 20">
            <a:extLst>
              <a:ext uri="{FF2B5EF4-FFF2-40B4-BE49-F238E27FC236}">
                <a16:creationId xmlns:a16="http://schemas.microsoft.com/office/drawing/2014/main" id="{39A05554-0D22-4D7A-B41F-49142CACADAE}"/>
              </a:ext>
            </a:extLst>
          </p:cNvPr>
          <p:cNvSpPr>
            <a:spLocks noGrp="1"/>
          </p:cNvSpPr>
          <p:nvPr>
            <p:ph type="body" sz="quarter" idx="30" hasCustomPrompt="1"/>
          </p:nvPr>
        </p:nvSpPr>
        <p:spPr>
          <a:xfrm>
            <a:off x="7776503" y="3238481"/>
            <a:ext cx="460373"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a:p>
            <a:pPr lvl="0"/>
            <a:endParaRPr lang="zh-TW" altLang="en-US" dirty="0"/>
          </a:p>
        </p:txBody>
      </p:sp>
      <p:sp>
        <p:nvSpPr>
          <p:cNvPr id="69" name="Slide Number Placeholder 5">
            <a:extLst>
              <a:ext uri="{FF2B5EF4-FFF2-40B4-BE49-F238E27FC236}">
                <a16:creationId xmlns:a16="http://schemas.microsoft.com/office/drawing/2014/main" id="{7B29BBBD-3AC2-4704-9937-C6A4A785F0E2}"/>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7"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74331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Content_1">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3511B9-1220-48E6-B393-404168BBFEC4}"/>
              </a:ext>
            </a:extLst>
          </p:cNvPr>
          <p:cNvSpPr>
            <a:spLocks noGrp="1"/>
          </p:cNvSpPr>
          <p:nvPr>
            <p:ph type="sldNum" sz="quarter" idx="10"/>
          </p:nvPr>
        </p:nvSpPr>
        <p:spPr/>
        <p:txBody>
          <a:bodyPr/>
          <a:lstStyle>
            <a:lvl1pPr>
              <a:defRPr sz="600"/>
            </a:lvl1pPr>
          </a:lstStyle>
          <a:p>
            <a:fld id="{0AEF9A4B-07C9-404C-9053-A3A2AC3AD5D6}" type="slidenum">
              <a:rPr lang="en-GB" smtClean="0"/>
              <a:pPr/>
              <a:t>‹#›</a:t>
            </a:fld>
            <a:endParaRPr lang="en-GB" dirty="0"/>
          </a:p>
        </p:txBody>
      </p:sp>
      <p:sp>
        <p:nvSpPr>
          <p:cNvPr id="22" name="TextBox 38">
            <a:extLst>
              <a:ext uri="{FF2B5EF4-FFF2-40B4-BE49-F238E27FC236}">
                <a16:creationId xmlns:a16="http://schemas.microsoft.com/office/drawing/2014/main" id="{419493DC-0923-4185-BFFB-247A57270438}"/>
              </a:ext>
            </a:extLst>
          </p:cNvPr>
          <p:cNvSpPr txBox="1"/>
          <p:nvPr userDrawn="1"/>
        </p:nvSpPr>
        <p:spPr>
          <a:xfrm>
            <a:off x="810918" y="2014815"/>
            <a:ext cx="2947139" cy="543522"/>
          </a:xfrm>
          <a:prstGeom prst="rect">
            <a:avLst/>
          </a:prstGeom>
        </p:spPr>
        <p:txBody>
          <a:bodyPr wrap="square" lIns="0" tIns="0" rIns="0" bIns="0" rtlCol="0">
            <a:noAutofit/>
          </a:bodyPr>
          <a:lstStyle/>
          <a:p>
            <a:pPr algn="ctr"/>
            <a:r>
              <a:rPr lang="en-US" sz="1200" dirty="0">
                <a:solidFill>
                  <a:schemeClr val="bg1"/>
                </a:solidFill>
                <a:latin typeface="Riona Sans Regular" panose="01000000000000000000" pitchFamily="50" charset="0"/>
              </a:rPr>
              <a:t>Placed orders in wafer foundries greater than TWD 530BN in past 10 years</a:t>
            </a:r>
          </a:p>
        </p:txBody>
      </p:sp>
      <p:sp>
        <p:nvSpPr>
          <p:cNvPr id="38" name="文字版面配置區 18">
            <a:extLst>
              <a:ext uri="{FF2B5EF4-FFF2-40B4-BE49-F238E27FC236}">
                <a16:creationId xmlns:a16="http://schemas.microsoft.com/office/drawing/2014/main" id="{8D0FCABE-AF67-4776-87EA-71326C26E5E1}"/>
              </a:ext>
            </a:extLst>
          </p:cNvPr>
          <p:cNvSpPr>
            <a:spLocks noGrp="1"/>
          </p:cNvSpPr>
          <p:nvPr>
            <p:ph type="body" sz="quarter" idx="17" hasCustomPrompt="1"/>
          </p:nvPr>
        </p:nvSpPr>
        <p:spPr>
          <a:xfrm>
            <a:off x="-2578" y="1227653"/>
            <a:ext cx="4567652" cy="1664089"/>
          </a:xfrm>
          <a:prstGeom prst="rect">
            <a:avLst/>
          </a:prstGeom>
          <a:solidFill>
            <a:srgbClr val="FFCA05"/>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39" name="文字版面配置區 20">
            <a:extLst>
              <a:ext uri="{FF2B5EF4-FFF2-40B4-BE49-F238E27FC236}">
                <a16:creationId xmlns:a16="http://schemas.microsoft.com/office/drawing/2014/main" id="{685CEC30-ADC6-4106-A668-F67E0A931110}"/>
              </a:ext>
            </a:extLst>
          </p:cNvPr>
          <p:cNvSpPr>
            <a:spLocks noGrp="1"/>
          </p:cNvSpPr>
          <p:nvPr>
            <p:ph type="body" sz="quarter" idx="13" hasCustomPrompt="1"/>
          </p:nvPr>
        </p:nvSpPr>
        <p:spPr>
          <a:xfrm>
            <a:off x="1665323" y="159214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0" name="文字版面配置區 20">
            <a:extLst>
              <a:ext uri="{FF2B5EF4-FFF2-40B4-BE49-F238E27FC236}">
                <a16:creationId xmlns:a16="http://schemas.microsoft.com/office/drawing/2014/main" id="{E462A135-5745-4AE6-8705-DDA97E7B2B41}"/>
              </a:ext>
            </a:extLst>
          </p:cNvPr>
          <p:cNvSpPr>
            <a:spLocks noGrp="1"/>
          </p:cNvSpPr>
          <p:nvPr>
            <p:ph type="body" sz="quarter" idx="18" hasCustomPrompt="1"/>
          </p:nvPr>
        </p:nvSpPr>
        <p:spPr>
          <a:xfrm>
            <a:off x="2515377" y="192104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1" name="文字版面配置區 18">
            <a:extLst>
              <a:ext uri="{FF2B5EF4-FFF2-40B4-BE49-F238E27FC236}">
                <a16:creationId xmlns:a16="http://schemas.microsoft.com/office/drawing/2014/main" id="{12208CFE-A144-4D8E-A81A-F1B716075E17}"/>
              </a:ext>
            </a:extLst>
          </p:cNvPr>
          <p:cNvSpPr>
            <a:spLocks noGrp="1"/>
          </p:cNvSpPr>
          <p:nvPr>
            <p:ph type="body" sz="quarter" idx="19" hasCustomPrompt="1"/>
          </p:nvPr>
        </p:nvSpPr>
        <p:spPr>
          <a:xfrm>
            <a:off x="4565074" y="1227694"/>
            <a:ext cx="4583965" cy="1664089"/>
          </a:xfrm>
          <a:prstGeom prst="rect">
            <a:avLst/>
          </a:prstGeom>
          <a:solidFill>
            <a:srgbClr val="69BE28"/>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2" name="文字版面配置區 20">
            <a:extLst>
              <a:ext uri="{FF2B5EF4-FFF2-40B4-BE49-F238E27FC236}">
                <a16:creationId xmlns:a16="http://schemas.microsoft.com/office/drawing/2014/main" id="{4C71CE92-CCCC-4E54-8190-A01893E1D9A7}"/>
              </a:ext>
            </a:extLst>
          </p:cNvPr>
          <p:cNvSpPr>
            <a:spLocks noGrp="1"/>
          </p:cNvSpPr>
          <p:nvPr>
            <p:ph type="body" sz="quarter" idx="20" hasCustomPrompt="1"/>
          </p:nvPr>
        </p:nvSpPr>
        <p:spPr>
          <a:xfrm>
            <a:off x="6244940" y="1592183"/>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3" name="文字版面配置區 20">
            <a:extLst>
              <a:ext uri="{FF2B5EF4-FFF2-40B4-BE49-F238E27FC236}">
                <a16:creationId xmlns:a16="http://schemas.microsoft.com/office/drawing/2014/main" id="{E787113F-C9FE-4326-BE23-11EDE7AAF2A2}"/>
              </a:ext>
            </a:extLst>
          </p:cNvPr>
          <p:cNvSpPr>
            <a:spLocks noGrp="1"/>
          </p:cNvSpPr>
          <p:nvPr>
            <p:ph type="body" sz="quarter" idx="21" hasCustomPrompt="1"/>
          </p:nvPr>
        </p:nvSpPr>
        <p:spPr>
          <a:xfrm>
            <a:off x="7094994" y="1921088"/>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5" name="文字版面配置區 18">
            <a:extLst>
              <a:ext uri="{FF2B5EF4-FFF2-40B4-BE49-F238E27FC236}">
                <a16:creationId xmlns:a16="http://schemas.microsoft.com/office/drawing/2014/main" id="{464EEFDA-5CD6-418C-A47C-55ECA4E7B1CF}"/>
              </a:ext>
            </a:extLst>
          </p:cNvPr>
          <p:cNvSpPr>
            <a:spLocks noGrp="1"/>
          </p:cNvSpPr>
          <p:nvPr>
            <p:ph type="body" sz="quarter" idx="22" hasCustomPrompt="1"/>
          </p:nvPr>
        </p:nvSpPr>
        <p:spPr>
          <a:xfrm>
            <a:off x="-2578" y="2891743"/>
            <a:ext cx="2289600" cy="1694064"/>
          </a:xfrm>
          <a:prstGeom prst="rect">
            <a:avLst/>
          </a:prstGeom>
          <a:solidFill>
            <a:srgbClr val="00A1DE"/>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6" name="文字版面配置區 20">
            <a:extLst>
              <a:ext uri="{FF2B5EF4-FFF2-40B4-BE49-F238E27FC236}">
                <a16:creationId xmlns:a16="http://schemas.microsoft.com/office/drawing/2014/main" id="{C9D1CCEB-7E90-4826-8AB3-562AB0C635AF}"/>
              </a:ext>
            </a:extLst>
          </p:cNvPr>
          <p:cNvSpPr>
            <a:spLocks noGrp="1"/>
          </p:cNvSpPr>
          <p:nvPr>
            <p:ph type="body" sz="quarter" idx="23" hasCustomPrompt="1"/>
          </p:nvPr>
        </p:nvSpPr>
        <p:spPr>
          <a:xfrm>
            <a:off x="538235"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7" name="文字版面配置區 20">
            <a:extLst>
              <a:ext uri="{FF2B5EF4-FFF2-40B4-BE49-F238E27FC236}">
                <a16:creationId xmlns:a16="http://schemas.microsoft.com/office/drawing/2014/main" id="{AC5A051B-5BC0-47CD-A780-84938DD0592C}"/>
              </a:ext>
            </a:extLst>
          </p:cNvPr>
          <p:cNvSpPr>
            <a:spLocks noGrp="1"/>
          </p:cNvSpPr>
          <p:nvPr>
            <p:ph type="body" sz="quarter" idx="24" hasCustomPrompt="1"/>
          </p:nvPr>
        </p:nvSpPr>
        <p:spPr>
          <a:xfrm>
            <a:off x="1388289"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8" name="文字版面配置區 18">
            <a:extLst>
              <a:ext uri="{FF2B5EF4-FFF2-40B4-BE49-F238E27FC236}">
                <a16:creationId xmlns:a16="http://schemas.microsoft.com/office/drawing/2014/main" id="{4E9F919C-75AF-4751-8FE3-9601FEFC2CC7}"/>
              </a:ext>
            </a:extLst>
          </p:cNvPr>
          <p:cNvSpPr>
            <a:spLocks noGrp="1"/>
          </p:cNvSpPr>
          <p:nvPr>
            <p:ph type="body" sz="quarter" idx="25" hasCustomPrompt="1"/>
          </p:nvPr>
        </p:nvSpPr>
        <p:spPr>
          <a:xfrm>
            <a:off x="2283091" y="2891743"/>
            <a:ext cx="2289600" cy="1694064"/>
          </a:xfrm>
          <a:prstGeom prst="rect">
            <a:avLst/>
          </a:prstGeom>
          <a:solidFill>
            <a:srgbClr val="E11E3C"/>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9" name="文字版面配置區 20">
            <a:extLst>
              <a:ext uri="{FF2B5EF4-FFF2-40B4-BE49-F238E27FC236}">
                <a16:creationId xmlns:a16="http://schemas.microsoft.com/office/drawing/2014/main" id="{FBC7B4DE-50E2-4A0F-88E0-1DDB9A572A38}"/>
              </a:ext>
            </a:extLst>
          </p:cNvPr>
          <p:cNvSpPr>
            <a:spLocks noGrp="1"/>
          </p:cNvSpPr>
          <p:nvPr>
            <p:ph type="body" sz="quarter" idx="26" hasCustomPrompt="1"/>
          </p:nvPr>
        </p:nvSpPr>
        <p:spPr>
          <a:xfrm>
            <a:off x="2823904"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0" name="文字版面配置區 20">
            <a:extLst>
              <a:ext uri="{FF2B5EF4-FFF2-40B4-BE49-F238E27FC236}">
                <a16:creationId xmlns:a16="http://schemas.microsoft.com/office/drawing/2014/main" id="{909C1222-638E-470E-B9E1-FC4D606B1456}"/>
              </a:ext>
            </a:extLst>
          </p:cNvPr>
          <p:cNvSpPr>
            <a:spLocks noGrp="1"/>
          </p:cNvSpPr>
          <p:nvPr>
            <p:ph type="body" sz="quarter" idx="27" hasCustomPrompt="1"/>
          </p:nvPr>
        </p:nvSpPr>
        <p:spPr>
          <a:xfrm>
            <a:off x="3673958"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1" name="文字版面配置區 18">
            <a:extLst>
              <a:ext uri="{FF2B5EF4-FFF2-40B4-BE49-F238E27FC236}">
                <a16:creationId xmlns:a16="http://schemas.microsoft.com/office/drawing/2014/main" id="{C446EE38-EAAB-407A-B1C9-C1A135082D78}"/>
              </a:ext>
            </a:extLst>
          </p:cNvPr>
          <p:cNvSpPr>
            <a:spLocks noGrp="1"/>
          </p:cNvSpPr>
          <p:nvPr>
            <p:ph type="body" sz="quarter" idx="28" hasCustomPrompt="1"/>
          </p:nvPr>
        </p:nvSpPr>
        <p:spPr>
          <a:xfrm>
            <a:off x="4569422" y="2891743"/>
            <a:ext cx="2289600" cy="1694064"/>
          </a:xfrm>
          <a:prstGeom prst="rect">
            <a:avLst/>
          </a:prstGeom>
          <a:solidFill>
            <a:srgbClr val="036639"/>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文字版面配置區 20">
            <a:extLst>
              <a:ext uri="{FF2B5EF4-FFF2-40B4-BE49-F238E27FC236}">
                <a16:creationId xmlns:a16="http://schemas.microsoft.com/office/drawing/2014/main" id="{447FD56C-B88A-4A5D-9F66-72C92D51F036}"/>
              </a:ext>
            </a:extLst>
          </p:cNvPr>
          <p:cNvSpPr>
            <a:spLocks noGrp="1"/>
          </p:cNvSpPr>
          <p:nvPr>
            <p:ph type="body" sz="quarter" idx="29" hasCustomPrompt="1"/>
          </p:nvPr>
        </p:nvSpPr>
        <p:spPr>
          <a:xfrm>
            <a:off x="5110235" y="3150184"/>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3" name="文字版面配置區 20">
            <a:extLst>
              <a:ext uri="{FF2B5EF4-FFF2-40B4-BE49-F238E27FC236}">
                <a16:creationId xmlns:a16="http://schemas.microsoft.com/office/drawing/2014/main" id="{1D8D1BCE-B5CD-4F50-91A7-A5DAD74F21F2}"/>
              </a:ext>
            </a:extLst>
          </p:cNvPr>
          <p:cNvSpPr>
            <a:spLocks noGrp="1"/>
          </p:cNvSpPr>
          <p:nvPr>
            <p:ph type="body" sz="quarter" idx="30" hasCustomPrompt="1"/>
          </p:nvPr>
        </p:nvSpPr>
        <p:spPr>
          <a:xfrm>
            <a:off x="5960289" y="3479089"/>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4" name="文字版面配置區 18">
            <a:extLst>
              <a:ext uri="{FF2B5EF4-FFF2-40B4-BE49-F238E27FC236}">
                <a16:creationId xmlns:a16="http://schemas.microsoft.com/office/drawing/2014/main" id="{C7E1CE88-35E0-437D-B317-F6C943D2A398}"/>
              </a:ext>
            </a:extLst>
          </p:cNvPr>
          <p:cNvSpPr>
            <a:spLocks noGrp="1"/>
          </p:cNvSpPr>
          <p:nvPr>
            <p:ph type="body" sz="quarter" idx="31" hasCustomPrompt="1"/>
          </p:nvPr>
        </p:nvSpPr>
        <p:spPr>
          <a:xfrm>
            <a:off x="6859439" y="2891743"/>
            <a:ext cx="2289600" cy="1694064"/>
          </a:xfrm>
          <a:prstGeom prst="rect">
            <a:avLst/>
          </a:prstGeom>
          <a:solidFill>
            <a:srgbClr val="1717A3"/>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5" name="文字版面配置區 20">
            <a:extLst>
              <a:ext uri="{FF2B5EF4-FFF2-40B4-BE49-F238E27FC236}">
                <a16:creationId xmlns:a16="http://schemas.microsoft.com/office/drawing/2014/main" id="{5F198E52-2C68-449B-9805-6833DF0381BF}"/>
              </a:ext>
            </a:extLst>
          </p:cNvPr>
          <p:cNvSpPr>
            <a:spLocks noGrp="1"/>
          </p:cNvSpPr>
          <p:nvPr>
            <p:ph type="body" sz="quarter" idx="32" hasCustomPrompt="1"/>
          </p:nvPr>
        </p:nvSpPr>
        <p:spPr>
          <a:xfrm>
            <a:off x="7400252"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6" name="文字版面配置區 20">
            <a:extLst>
              <a:ext uri="{FF2B5EF4-FFF2-40B4-BE49-F238E27FC236}">
                <a16:creationId xmlns:a16="http://schemas.microsoft.com/office/drawing/2014/main" id="{4486E9A9-6EC2-4184-84F7-3800857882F1}"/>
              </a:ext>
            </a:extLst>
          </p:cNvPr>
          <p:cNvSpPr>
            <a:spLocks noGrp="1"/>
          </p:cNvSpPr>
          <p:nvPr>
            <p:ph type="body" sz="quarter" idx="33" hasCustomPrompt="1"/>
          </p:nvPr>
        </p:nvSpPr>
        <p:spPr>
          <a:xfrm>
            <a:off x="8250306"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24"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8941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F39A1E"/>
        </a:solidFill>
        <a:effectLst/>
      </p:bgPr>
    </p:bg>
    <p:spTree>
      <p:nvGrpSpPr>
        <p:cNvPr id="1" name=""/>
        <p:cNvGrpSpPr/>
        <p:nvPr/>
      </p:nvGrpSpPr>
      <p:grpSpPr>
        <a:xfrm>
          <a:off x="0" y="0"/>
          <a:ext cx="0" cy="0"/>
          <a:chOff x="0" y="0"/>
          <a:chExt cx="0" cy="0"/>
        </a:xfrm>
      </p:grpSpPr>
      <p:grpSp>
        <p:nvGrpSpPr>
          <p:cNvPr id="10" name="群組 9"/>
          <p:cNvGrpSpPr/>
          <p:nvPr userDrawn="1"/>
        </p:nvGrpSpPr>
        <p:grpSpPr>
          <a:xfrm>
            <a:off x="260351" y="4754875"/>
            <a:ext cx="6037239" cy="281118"/>
            <a:chOff x="260351" y="4754875"/>
            <a:chExt cx="6037239" cy="281118"/>
          </a:xfrm>
        </p:grpSpPr>
        <p:sp>
          <p:nvSpPr>
            <p:cNvPr id="11"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solidFill>
                  <a:effectLst/>
                  <a:latin typeface="+mn-lt"/>
                  <a:ea typeface="+mn-ea"/>
                  <a:cs typeface="+mn-cs"/>
                </a:rPr>
                <a:t>MediaTek Proprietary and Confidential. © 2022 MediaTek Inc. All rights reserved</a:t>
              </a:r>
              <a:r>
                <a:rPr lang="en-US" altLang="zh-TW" sz="600" kern="1200" dirty="0">
                  <a:solidFill>
                    <a:schemeClr val="bg1">
                      <a:lumMod val="50000"/>
                    </a:schemeClr>
                  </a:solidFill>
                  <a:effectLst/>
                  <a:latin typeface="+mn-lt"/>
                  <a:ea typeface="+mn-ea"/>
                  <a:cs typeface="+mn-cs"/>
                </a:rPr>
                <a:t>.</a:t>
              </a:r>
              <a:endParaRPr lang="en-GB" sz="600" dirty="0">
                <a:solidFill>
                  <a:schemeClr val="bg1">
                    <a:lumMod val="50000"/>
                  </a:schemeClr>
                </a:solidFill>
                <a:latin typeface="+mn-lt"/>
              </a:endParaRPr>
            </a:p>
          </p:txBody>
        </p:sp>
        <p:pic>
          <p:nvPicPr>
            <p:cNvPr id="12" name="圖片 11">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0351" y="4754875"/>
              <a:ext cx="885824" cy="224318"/>
            </a:xfrm>
            <a:prstGeom prst="rect">
              <a:avLst/>
            </a:prstGeom>
          </p:spPr>
        </p:pic>
      </p:grpSp>
    </p:spTree>
    <p:extLst>
      <p:ext uri="{BB962C8B-B14F-4D97-AF65-F5344CB8AC3E}">
        <p14:creationId xmlns:p14="http://schemas.microsoft.com/office/powerpoint/2010/main" val="97312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p:bg>
      <p:bgPr>
        <a:solidFill>
          <a:srgbClr val="F39A1E"/>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F29723-1978-4CBE-8209-372F4A1F2F78}"/>
              </a:ext>
            </a:extLst>
          </p:cNvPr>
          <p:cNvSpPr/>
          <p:nvPr userDrawn="1"/>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形 4">
            <a:extLst>
              <a:ext uri="{FF2B5EF4-FFF2-40B4-BE49-F238E27FC236}">
                <a16:creationId xmlns:a16="http://schemas.microsoft.com/office/drawing/2014/main" id="{82CBF49B-F09E-4FD8-AA32-33CCF5A10E2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90950" y="2262187"/>
            <a:ext cx="1562100" cy="619125"/>
          </a:xfrm>
          <a:prstGeom prst="rect">
            <a:avLst/>
          </a:prstGeom>
        </p:spPr>
      </p:pic>
    </p:spTree>
    <p:extLst>
      <p:ext uri="{BB962C8B-B14F-4D97-AF65-F5344CB8AC3E}">
        <p14:creationId xmlns:p14="http://schemas.microsoft.com/office/powerpoint/2010/main" val="215866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allpaper Title Slide">
    <p:bg>
      <p:bgPr>
        <a:solidFill>
          <a:srgbClr val="F39A1E"/>
        </a:solidFill>
        <a:effectLst/>
      </p:bgPr>
    </p:bg>
    <p:spTree>
      <p:nvGrpSpPr>
        <p:cNvPr id="1" name=""/>
        <p:cNvGrpSpPr/>
        <p:nvPr/>
      </p:nvGrpSpPr>
      <p:grpSpPr>
        <a:xfrm>
          <a:off x="0" y="0"/>
          <a:ext cx="0" cy="0"/>
          <a:chOff x="0" y="0"/>
          <a:chExt cx="0" cy="0"/>
        </a:xfrm>
      </p:grpSpPr>
      <p:pic>
        <p:nvPicPr>
          <p:cNvPr id="546" name="圖片 545">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2213" y="407670"/>
            <a:ext cx="1461513" cy="399106"/>
          </a:xfrm>
          <a:prstGeom prst="rect">
            <a:avLst/>
          </a:prstGeom>
        </p:spPr>
      </p:pic>
      <p:sp>
        <p:nvSpPr>
          <p:cNvPr id="1104" name="文字方塊 1103"/>
          <p:cNvSpPr txBox="1"/>
          <p:nvPr userDrawn="1"/>
        </p:nvSpPr>
        <p:spPr>
          <a:xfrm>
            <a:off x="196973" y="2982436"/>
            <a:ext cx="6839255" cy="1969770"/>
          </a:xfrm>
          <a:prstGeom prst="rect">
            <a:avLst/>
          </a:prstGeom>
          <a:noFill/>
        </p:spPr>
        <p:txBody>
          <a:bodyPr wrap="square" rtlCol="0">
            <a:spAutoFit/>
          </a:bodyPr>
          <a:lstStyle/>
          <a:p>
            <a:r>
              <a:rPr lang="en-US" altLang="zh-TW" sz="900" b="1" kern="1200" dirty="0" err="1">
                <a:solidFill>
                  <a:schemeClr val="bg1"/>
                </a:solidFill>
                <a:effectLst/>
                <a:latin typeface="+mn-lt"/>
                <a:ea typeface="+mn-ea"/>
                <a:cs typeface="+mn-cs"/>
              </a:rPr>
              <a:t>MediaTek</a:t>
            </a:r>
            <a:r>
              <a:rPr lang="en-US" altLang="zh-TW" sz="900" b="1" kern="1200" dirty="0">
                <a:solidFill>
                  <a:schemeClr val="bg1"/>
                </a:solidFill>
                <a:effectLst/>
                <a:latin typeface="+mn-lt"/>
                <a:ea typeface="+mn-ea"/>
                <a:cs typeface="+mn-cs"/>
              </a:rPr>
              <a:t> Proprietary and Confidential</a:t>
            </a:r>
            <a:endParaRPr lang="zh-TW" altLang="zh-TW" sz="900" b="1" kern="1200" dirty="0">
              <a:solidFill>
                <a:schemeClr val="bg1"/>
              </a:solidFill>
              <a:effectLst/>
              <a:latin typeface="+mn-lt"/>
              <a:ea typeface="+mn-ea"/>
              <a:cs typeface="+mn-cs"/>
            </a:endParaRPr>
          </a:p>
          <a:p>
            <a:r>
              <a:rPr lang="en-US" altLang="zh-TW" sz="900" b="1" kern="1200" dirty="0">
                <a:solidFill>
                  <a:schemeClr val="bg1"/>
                </a:solidFill>
                <a:effectLst/>
                <a:latin typeface="+mn-lt"/>
                <a:ea typeface="+mn-ea"/>
                <a:cs typeface="+mn-cs"/>
              </a:rPr>
              <a:t> </a:t>
            </a:r>
            <a:endParaRPr lang="zh-TW" altLang="zh-TW" sz="900" b="1"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2022 MediaTek Inc. All rights reserved. The term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refers to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Inc. and/or its affiliates.</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This document has been prepared solely for informational purposes. The content herein is made available to a restricted number of clients or partners, for internal use, pursuant to a license agreement or any other applicable agreement and subject to this notice. THIS DOCUMENT AND ANY ORAL INFORMATION PROVIDED BY MEDIATEK IN CONNECTION WITH THIS DOCUMENT (COLLECTIVELY THIS “DOCUMENT”), IF ANY, ARE PROVIDED “AS IS” WITHOUT WARRANTY OF ANY KIND, WHETHER EXPRESS, IMPLIED, STATUTORY, OR OTHERWISE. MEDIATEK DOES NOT WARRANT OR MAKE ANY REPRESENTATIONS OR GUARANTEE REGARDING THE USE OR THE RESULT OF THE USE OF THIS DOCUMENT IN TERMS OF CORRECTNESS, ACCURACY, TIMELINESS, RELIABILITY, OR OTHERWISE. </a:t>
            </a:r>
            <a:r>
              <a:rPr lang="en-US" altLang="zh-TW" sz="800" kern="1200" cap="all" dirty="0" err="1">
                <a:solidFill>
                  <a:schemeClr val="bg1"/>
                </a:solidFill>
                <a:effectLst/>
                <a:latin typeface="+mn-lt"/>
                <a:ea typeface="+mn-ea"/>
                <a:cs typeface="+mn-cs"/>
              </a:rPr>
              <a:t>MediaTek</a:t>
            </a:r>
            <a:r>
              <a:rPr lang="en-US" altLang="zh-TW" sz="800" kern="1200" cap="all" dirty="0">
                <a:solidFill>
                  <a:schemeClr val="bg1"/>
                </a:solidFill>
                <a:effectLst/>
                <a:latin typeface="+mn-lt"/>
                <a:ea typeface="+mn-ea"/>
                <a:cs typeface="+mn-cs"/>
              </a:rPr>
              <a:t> specifically disclaims all warranties of merchantability, non-infringement and fitness for a particular purpose and any warranties arising out of course of performance, course of dealing or usage of trade. </a:t>
            </a:r>
            <a:r>
              <a:rPr lang="en-US" altLang="zh-TW" sz="800" kern="1200" dirty="0">
                <a:solidFill>
                  <a:schemeClr val="bg1"/>
                </a:solidFill>
                <a:effectLst/>
                <a:latin typeface="+mn-lt"/>
                <a:ea typeface="+mn-ea"/>
                <a:cs typeface="+mn-cs"/>
              </a:rPr>
              <a:t>This Document must be held in strict confidence and may not be communicated, reproduced, distributed or disclosed to any third party or to any other person, or being referred to publicly, in whole or in part at any time except with </a:t>
            </a:r>
            <a:r>
              <a:rPr lang="en-US" altLang="zh-TW" sz="800" kern="1200" dirty="0" err="1">
                <a:solidFill>
                  <a:schemeClr val="bg1"/>
                </a:solidFill>
                <a:effectLst/>
                <a:latin typeface="+mn-lt"/>
                <a:ea typeface="+mn-ea"/>
                <a:cs typeface="+mn-cs"/>
              </a:rPr>
              <a:t>MediaTek’s</a:t>
            </a:r>
            <a:r>
              <a:rPr lang="en-US" altLang="zh-TW" sz="800" kern="1200" dirty="0">
                <a:solidFill>
                  <a:schemeClr val="bg1"/>
                </a:solidFill>
                <a:effectLst/>
                <a:latin typeface="+mn-lt"/>
                <a:ea typeface="+mn-ea"/>
                <a:cs typeface="+mn-cs"/>
              </a:rPr>
              <a:t> prior written consent, which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reserves the right to deny for any reason. You agree to indemnify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for any loss or damages suffered by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for your unauthorized use or disclosure of this Document, in whole or in part.  If you are not the intended recipient of this document, please delete and destroy all copies immediately.</a:t>
            </a:r>
            <a:endParaRPr lang="zh-TW" altLang="zh-TW" sz="800" kern="1200" dirty="0">
              <a:solidFill>
                <a:schemeClr val="bg1"/>
              </a:solidFill>
              <a:effectLst/>
              <a:latin typeface="+mn-lt"/>
              <a:ea typeface="+mn-ea"/>
              <a:cs typeface="+mn-cs"/>
            </a:endParaRPr>
          </a:p>
        </p:txBody>
      </p:sp>
    </p:spTree>
    <p:extLst>
      <p:ext uri="{BB962C8B-B14F-4D97-AF65-F5344CB8AC3E}">
        <p14:creationId xmlns:p14="http://schemas.microsoft.com/office/powerpoint/2010/main" val="130560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80">
          <p15:clr>
            <a:srgbClr val="FBAE40"/>
          </p15:clr>
        </p15:guide>
        <p15:guide id="3" pos="317">
          <p15:clr>
            <a:srgbClr val="FBAE40"/>
          </p15:clr>
        </p15:guide>
        <p15:guide id="4" orient="horz" pos="130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1_Title Slide">
    <p:bg>
      <p:bgPr>
        <a:gradFill flip="none" rotWithShape="1">
          <a:gsLst>
            <a:gs pos="40000">
              <a:schemeClr val="bg1"/>
            </a:gs>
            <a:gs pos="0">
              <a:schemeClr val="bg1">
                <a:lumMod val="95000"/>
              </a:schemeClr>
            </a:gs>
          </a:gsLst>
          <a:lin ang="16200000" scaled="0"/>
          <a:tileRect/>
        </a:gradFill>
        <a:effectLst/>
      </p:bgPr>
    </p:bg>
    <p:spTree>
      <p:nvGrpSpPr>
        <p:cNvPr id="1" name=""/>
        <p:cNvGrpSpPr/>
        <p:nvPr/>
      </p:nvGrpSpPr>
      <p:grpSpPr>
        <a:xfrm>
          <a:off x="0" y="0"/>
          <a:ext cx="0" cy="0"/>
          <a:chOff x="0" y="0"/>
          <a:chExt cx="0" cy="0"/>
        </a:xfrm>
      </p:grpSpPr>
      <p:pic>
        <p:nvPicPr>
          <p:cNvPr id="5" name="Picture 4" descr="Logotyp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012" y="1154449"/>
            <a:ext cx="2370836" cy="438341"/>
          </a:xfrm>
          <a:prstGeom prst="rect">
            <a:avLst/>
          </a:prstGeom>
          <a:effectLst/>
        </p:spPr>
      </p:pic>
      <p:sp>
        <p:nvSpPr>
          <p:cNvPr id="6" name="Footer Placeholder 4"/>
          <p:cNvSpPr txBox="1">
            <a:spLocks/>
          </p:cNvSpPr>
          <p:nvPr/>
        </p:nvSpPr>
        <p:spPr>
          <a:xfrm>
            <a:off x="3594100" y="823456"/>
            <a:ext cx="1612900" cy="273844"/>
          </a:xfrm>
          <a:prstGeom prst="rect">
            <a:avLst/>
          </a:prstGeom>
        </p:spPr>
        <p:txBody>
          <a:bodyPr vert="horz" lIns="68580" tIns="34290" rIns="68580" bIns="3429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600" b="1" dirty="0">
                <a:solidFill>
                  <a:srgbClr val="69BE28"/>
                </a:solidFill>
              </a:rPr>
              <a:t>INTERNAL USE</a:t>
            </a:r>
          </a:p>
        </p:txBody>
      </p:sp>
      <p:sp>
        <p:nvSpPr>
          <p:cNvPr id="7" name="Subtitle 2"/>
          <p:cNvSpPr>
            <a:spLocks noGrp="1"/>
          </p:cNvSpPr>
          <p:nvPr>
            <p:ph type="subTitle" idx="1"/>
          </p:nvPr>
        </p:nvSpPr>
        <p:spPr>
          <a:xfrm>
            <a:off x="3594100" y="2876552"/>
            <a:ext cx="5092700" cy="793748"/>
          </a:xfrm>
          <a:prstGeom prst="rect">
            <a:avLst/>
          </a:prstGeom>
        </p:spPr>
        <p:txBody>
          <a:bodyPr/>
          <a:lstStyle>
            <a:lvl1pPr marL="0" indent="0" algn="l">
              <a:lnSpc>
                <a:spcPct val="80000"/>
              </a:lnSpc>
              <a:buNone/>
              <a:defRPr spc="-113">
                <a:solidFill>
                  <a:srgbClr val="F3821E"/>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a:t>按一下以編輯母片副標題樣式</a:t>
            </a:r>
            <a:endParaRPr lang="en-US" dirty="0"/>
          </a:p>
        </p:txBody>
      </p:sp>
      <p:sp>
        <p:nvSpPr>
          <p:cNvPr id="8" name="Title 8"/>
          <p:cNvSpPr>
            <a:spLocks noGrp="1"/>
          </p:cNvSpPr>
          <p:nvPr>
            <p:ph type="title"/>
          </p:nvPr>
        </p:nvSpPr>
        <p:spPr>
          <a:xfrm>
            <a:off x="3594100" y="1097300"/>
            <a:ext cx="5092700" cy="1779253"/>
          </a:xfrm>
        </p:spPr>
        <p:txBody>
          <a:bodyPr anchor="t"/>
          <a:lstStyle>
            <a:lvl1pPr algn="l">
              <a:lnSpc>
                <a:spcPct val="80000"/>
              </a:lnSpc>
              <a:defRPr b="1" spc="-113">
                <a:solidFill>
                  <a:schemeClr val="tx1"/>
                </a:solidFill>
              </a:defRPr>
            </a:lvl1pPr>
          </a:lstStyle>
          <a:p>
            <a:r>
              <a:rPr lang="zh-TW" altLang="en-US"/>
              <a:t>按一下以編輯母片標題樣式</a:t>
            </a:r>
            <a:endParaRPr lang="en-US" dirty="0"/>
          </a:p>
        </p:txBody>
      </p:sp>
      <p:pic>
        <p:nvPicPr>
          <p:cNvPr id="10" name="Picture 9" descr="pattern.png"/>
          <p:cNvPicPr>
            <a:picLocks noChangeAspect="1"/>
          </p:cNvPicPr>
          <p:nvPr/>
        </p:nvPicPr>
        <p:blipFill rotWithShape="1">
          <a:blip r:embed="rId3" cstate="print">
            <a:extLst>
              <a:ext uri="{28A0092B-C50C-407E-A947-70E740481C1C}">
                <a14:useLocalDpi xmlns:a14="http://schemas.microsoft.com/office/drawing/2010/main" val="0"/>
              </a:ext>
            </a:extLst>
          </a:blip>
          <a:srcRect t="67407"/>
          <a:stretch/>
        </p:blipFill>
        <p:spPr>
          <a:xfrm>
            <a:off x="0" y="3670300"/>
            <a:ext cx="9144000" cy="1473200"/>
          </a:xfrm>
          <a:prstGeom prst="rect">
            <a:avLst/>
          </a:prstGeom>
        </p:spPr>
      </p:pic>
    </p:spTree>
    <p:extLst>
      <p:ext uri="{BB962C8B-B14F-4D97-AF65-F5344CB8AC3E}">
        <p14:creationId xmlns:p14="http://schemas.microsoft.com/office/powerpoint/2010/main" val="5463651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457200" y="324000"/>
            <a:ext cx="8229600" cy="952350"/>
          </a:xfrm>
        </p:spPr>
        <p:txBody>
          <a:bodyPr tIns="0"/>
          <a:lstStyle>
            <a:lvl1pPr>
              <a:defRPr>
                <a:solidFill>
                  <a:schemeClr val="accent1"/>
                </a:solidFill>
              </a:defRPr>
            </a:lvl1pPr>
          </a:lstStyle>
          <a:p>
            <a:r>
              <a:rPr lang="zh-TW" altLang="en-US"/>
              <a:t>按一下以編輯母片標題樣式</a:t>
            </a:r>
            <a:endParaRPr lang="en-US" dirty="0"/>
          </a:p>
        </p:txBody>
      </p:sp>
      <p:sp>
        <p:nvSpPr>
          <p:cNvPr id="4" name="Date Placeholder 3"/>
          <p:cNvSpPr>
            <a:spLocks noGrp="1"/>
          </p:cNvSpPr>
          <p:nvPr>
            <p:ph type="dt" sz="half" idx="10"/>
          </p:nvPr>
        </p:nvSpPr>
        <p:spPr>
          <a:xfrm>
            <a:off x="6699250" y="4709004"/>
            <a:ext cx="927434" cy="273844"/>
          </a:xfrm>
          <a:prstGeom prst="rect">
            <a:avLst/>
          </a:prstGeom>
        </p:spPr>
        <p:txBody>
          <a:bodyPr/>
          <a:lstStyle/>
          <a:p>
            <a:fld id="{E0737E51-C802-423F-891C-490A0648D2C3}" type="datetime1">
              <a:rPr lang="zh-TW" altLang="en-US" smtClean="0"/>
              <a:t>2024/10/14</a:t>
            </a:fld>
            <a:endParaRPr lang="zh-TW" altLang="en-US"/>
          </a:p>
        </p:txBody>
      </p:sp>
      <p:sp>
        <p:nvSpPr>
          <p:cNvPr id="5" name="Footer Placeholder 4"/>
          <p:cNvSpPr>
            <a:spLocks noGrp="1"/>
          </p:cNvSpPr>
          <p:nvPr>
            <p:ph type="ftr" sz="quarter" idx="11"/>
          </p:nvPr>
        </p:nvSpPr>
        <p:spPr>
          <a:xfrm>
            <a:off x="3663950" y="4709004"/>
            <a:ext cx="3035300" cy="273844"/>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7626684" y="4709004"/>
            <a:ext cx="1060116" cy="273844"/>
          </a:xfrm>
          <a:prstGeom prst="rect">
            <a:avLst/>
          </a:prstGeom>
        </p:spPr>
        <p:txBody>
          <a:bodyPr/>
          <a:lstStyle/>
          <a:p>
            <a:fld id="{0E646775-B2E7-47D2-938B-19843E53D65D}" type="slidenum">
              <a:rPr lang="zh-TW" altLang="en-US" smtClean="0"/>
              <a:pPr/>
              <a:t>‹#›</a:t>
            </a:fld>
            <a:endParaRPr lang="zh-TW" altLang="en-US"/>
          </a:p>
        </p:txBody>
      </p:sp>
      <p:sp>
        <p:nvSpPr>
          <p:cNvPr id="8" name="Content Placeholder 7"/>
          <p:cNvSpPr>
            <a:spLocks noGrp="1"/>
          </p:cNvSpPr>
          <p:nvPr>
            <p:ph sz="quarter" idx="13"/>
          </p:nvPr>
        </p:nvSpPr>
        <p:spPr>
          <a:xfrm>
            <a:off x="457200" y="1400175"/>
            <a:ext cx="8229600" cy="321707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Tree>
    <p:extLst>
      <p:ext uri="{BB962C8B-B14F-4D97-AF65-F5344CB8AC3E}">
        <p14:creationId xmlns:p14="http://schemas.microsoft.com/office/powerpoint/2010/main" val="339466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3097363"/>
            <a:ext cx="7772400" cy="1021556"/>
          </a:xfrm>
        </p:spPr>
        <p:txBody>
          <a:bodyPr anchor="t">
            <a:normAutofit/>
          </a:bodyPr>
          <a:lstStyle>
            <a:lvl1pPr algn="l">
              <a:defRPr sz="2250" b="1" cap="all" spc="0"/>
            </a:lvl1pPr>
          </a:lstStyle>
          <a:p>
            <a:r>
              <a:rPr lang="zh-TW" altLang="en-US"/>
              <a:t>按一下以編輯母片標題樣式</a:t>
            </a:r>
            <a:endParaRPr lang="en-US" dirty="0"/>
          </a:p>
        </p:txBody>
      </p:sp>
      <p:sp>
        <p:nvSpPr>
          <p:cNvPr id="3" name="Text Placeholder 2"/>
          <p:cNvSpPr>
            <a:spLocks noGrp="1"/>
          </p:cNvSpPr>
          <p:nvPr>
            <p:ph type="body" idx="1"/>
          </p:nvPr>
        </p:nvSpPr>
        <p:spPr>
          <a:xfrm>
            <a:off x="733233" y="1964479"/>
            <a:ext cx="7772400" cy="1125140"/>
          </a:xfrm>
          <a:prstGeom prst="rect">
            <a:avLst/>
          </a:prstGeom>
        </p:spPr>
        <p:txBody>
          <a:bodyPr anchor="b"/>
          <a:lstStyle>
            <a:lvl1pPr marL="0" indent="0">
              <a:buNone/>
              <a:defRPr sz="1500" b="1" i="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a:xfrm>
            <a:off x="6699250" y="4709004"/>
            <a:ext cx="927434" cy="273844"/>
          </a:xfrm>
          <a:prstGeom prst="rect">
            <a:avLst/>
          </a:prstGeom>
        </p:spPr>
        <p:txBody>
          <a:bodyPr/>
          <a:lstStyle/>
          <a:p>
            <a:fld id="{BAA81FC0-E49B-4187-A04F-4BA9AB917097}" type="datetime1">
              <a:rPr lang="zh-TW" altLang="en-US" smtClean="0"/>
              <a:t>2024/10/14</a:t>
            </a:fld>
            <a:endParaRPr lang="zh-TW" altLang="en-US"/>
          </a:p>
        </p:txBody>
      </p:sp>
      <p:sp>
        <p:nvSpPr>
          <p:cNvPr id="5" name="Footer Placeholder 4"/>
          <p:cNvSpPr>
            <a:spLocks noGrp="1"/>
          </p:cNvSpPr>
          <p:nvPr>
            <p:ph type="ftr" sz="quarter" idx="11"/>
          </p:nvPr>
        </p:nvSpPr>
        <p:spPr>
          <a:xfrm>
            <a:off x="3663950" y="4709004"/>
            <a:ext cx="3035300" cy="273844"/>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7626684" y="4709004"/>
            <a:ext cx="1060116" cy="273844"/>
          </a:xfrm>
          <a:prstGeom prst="rect">
            <a:avLst/>
          </a:prstGeom>
        </p:spPr>
        <p:txBody>
          <a:bodyPr/>
          <a:lstStyle/>
          <a:p>
            <a:fld id="{0E646775-B2E7-47D2-938B-19843E53D65D}" type="slidenum">
              <a:rPr lang="zh-TW" altLang="en-US" smtClean="0"/>
              <a:pPr/>
              <a:t>‹#›</a:t>
            </a:fld>
            <a:endParaRPr lang="zh-TW" altLang="en-US"/>
          </a:p>
        </p:txBody>
      </p:sp>
    </p:spTree>
    <p:extLst>
      <p:ext uri="{BB962C8B-B14F-4D97-AF65-F5344CB8AC3E}">
        <p14:creationId xmlns:p14="http://schemas.microsoft.com/office/powerpoint/2010/main" val="39401519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a:xfrm>
            <a:off x="6699250" y="4709004"/>
            <a:ext cx="927434" cy="273844"/>
          </a:xfrm>
          <a:prstGeom prst="rect">
            <a:avLst/>
          </a:prstGeom>
        </p:spPr>
        <p:txBody>
          <a:bodyPr/>
          <a:lstStyle/>
          <a:p>
            <a:fld id="{2F73171E-B9BE-4FC6-B163-59D0AF300C41}" type="datetime1">
              <a:rPr lang="zh-TW" altLang="en-US" smtClean="0"/>
              <a:t>2024/10/14</a:t>
            </a:fld>
            <a:endParaRPr lang="zh-TW" altLang="en-US"/>
          </a:p>
        </p:txBody>
      </p:sp>
      <p:sp>
        <p:nvSpPr>
          <p:cNvPr id="4" name="Footer Placeholder 3"/>
          <p:cNvSpPr>
            <a:spLocks noGrp="1"/>
          </p:cNvSpPr>
          <p:nvPr>
            <p:ph type="ftr" sz="quarter" idx="11"/>
          </p:nvPr>
        </p:nvSpPr>
        <p:spPr>
          <a:xfrm>
            <a:off x="3663950" y="4709004"/>
            <a:ext cx="3035300" cy="273844"/>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7626684" y="4709004"/>
            <a:ext cx="1060116" cy="273844"/>
          </a:xfrm>
          <a:prstGeom prst="rect">
            <a:avLst/>
          </a:prstGeom>
        </p:spPr>
        <p:txBody>
          <a:bodyPr/>
          <a:lstStyle/>
          <a:p>
            <a:fld id="{0E646775-B2E7-47D2-938B-19843E53D65D}" type="slidenum">
              <a:rPr lang="zh-TW" altLang="en-US" smtClean="0"/>
              <a:pPr/>
              <a:t>‹#›</a:t>
            </a:fld>
            <a:endParaRPr lang="zh-TW" altLang="en-US"/>
          </a:p>
        </p:txBody>
      </p:sp>
    </p:spTree>
    <p:extLst>
      <p:ext uri="{BB962C8B-B14F-4D97-AF65-F5344CB8AC3E}">
        <p14:creationId xmlns:p14="http://schemas.microsoft.com/office/powerpoint/2010/main" val="3797549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15" name="文字版面配置區 14"/>
          <p:cNvSpPr>
            <a:spLocks noGrp="1"/>
          </p:cNvSpPr>
          <p:nvPr>
            <p:ph type="body" idx="1"/>
          </p:nvPr>
        </p:nvSpPr>
        <p:spPr>
          <a:xfrm>
            <a:off x="323850" y="1028526"/>
            <a:ext cx="8218488" cy="3559447"/>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grpSp>
        <p:nvGrpSpPr>
          <p:cNvPr id="4" name="群組 3"/>
          <p:cNvGrpSpPr/>
          <p:nvPr userDrawn="1"/>
        </p:nvGrpSpPr>
        <p:grpSpPr>
          <a:xfrm>
            <a:off x="323850" y="4760384"/>
            <a:ext cx="5973740" cy="275609"/>
            <a:chOff x="323850" y="4760384"/>
            <a:chExt cx="5973740" cy="275609"/>
          </a:xfrm>
        </p:grpSpPr>
        <p:sp>
          <p:nvSpPr>
            <p:cNvPr id="5"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lumMod val="50000"/>
                    </a:schemeClr>
                  </a:solidFill>
                  <a:effectLst/>
                  <a:latin typeface="+mn-lt"/>
                  <a:ea typeface="+mn-ea"/>
                  <a:cs typeface="+mn-cs"/>
                </a:rPr>
                <a:t>MediaTek Proprietary and Confidential. © 2022 MediaTek Inc. All rights reserved.</a:t>
              </a:r>
              <a:endParaRPr lang="en-GB" sz="600" dirty="0">
                <a:solidFill>
                  <a:schemeClr val="bg1">
                    <a:lumMod val="50000"/>
                  </a:schemeClr>
                </a:solidFill>
                <a:latin typeface="+mn-lt"/>
              </a:endParaRPr>
            </a:p>
          </p:txBody>
        </p:sp>
        <p:pic>
          <p:nvPicPr>
            <p:cNvPr id="3" name="圖片 2"/>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323850" y="4760384"/>
              <a:ext cx="759123" cy="217106"/>
            </a:xfrm>
            <a:prstGeom prst="rect">
              <a:avLst/>
            </a:prstGeom>
          </p:spPr>
        </p:pic>
      </p:grpSp>
      <p:sp>
        <p:nvSpPr>
          <p:cNvPr id="7" name="MSIPCMContentMarking" descr="{&quot;HashCode&quot;:1986194136,&quot;Placement&quot;:&quot;Header&quot;,&quot;Top&quot;:0.0,&quot;Left&quot;:626.335144,&quot;SlideWidth&quot;:720,&quot;SlideHeight&quot;:405}">
            <a:extLst>
              <a:ext uri="{FF2B5EF4-FFF2-40B4-BE49-F238E27FC236}">
                <a16:creationId xmlns:a16="http://schemas.microsoft.com/office/drawing/2014/main" id="{F405ED9A-D3A9-482A-95D3-6CD148C43710}"/>
              </a:ext>
            </a:extLst>
          </p:cNvPr>
          <p:cNvSpPr txBox="1"/>
          <p:nvPr userDrawn="1"/>
        </p:nvSpPr>
        <p:spPr>
          <a:xfrm>
            <a:off x="7954456" y="0"/>
            <a:ext cx="1189543" cy="296525"/>
          </a:xfrm>
          <a:prstGeom prst="rect">
            <a:avLst/>
          </a:prstGeom>
        </p:spPr>
        <p:txBody>
          <a:bodyPr vert="horz" wrap="square" lIns="0" tIns="0" rIns="0" bIns="0" rtlCol="0" anchor="ctr" anchorCtr="1">
            <a:noAutofit/>
          </a:bodyPr>
          <a:lstStyle/>
          <a:p>
            <a:pPr algn="r">
              <a:spcBef>
                <a:spcPts val="0"/>
              </a:spcBef>
              <a:spcAft>
                <a:spcPts val="0"/>
              </a:spcAft>
            </a:pPr>
            <a:r>
              <a:rPr lang="en-US" altLang="zh-TW" sz="1200">
                <a:solidFill>
                  <a:srgbClr val="FF0000"/>
                </a:solidFill>
                <a:latin typeface="Calibri" panose="020F0502020204030204" pitchFamily="34" charset="0"/>
              </a:rPr>
              <a:t>Confidential C</a:t>
            </a:r>
            <a:endParaRPr lang="zh-TW" altLang="en-US" sz="1200" dirty="0">
              <a:solidFill>
                <a:srgbClr val="FF0000"/>
              </a:solidFill>
              <a:latin typeface="Calibri" panose="020F0502020204030204" pitchFamily="34" charset="0"/>
            </a:endParaRPr>
          </a:p>
        </p:txBody>
      </p:sp>
    </p:spTree>
    <p:extLst>
      <p:ext uri="{BB962C8B-B14F-4D97-AF65-F5344CB8AC3E}">
        <p14:creationId xmlns:p14="http://schemas.microsoft.com/office/powerpoint/2010/main" val="2240172516"/>
      </p:ext>
    </p:extLst>
  </p:cSld>
  <p:clrMap bg1="lt1" tx1="dk1" bg2="lt2" tx2="dk2" accent1="accent1" accent2="accent2" accent3="accent3" accent4="accent4" accent5="accent5" accent6="accent6" hlink="hlink" folHlink="folHlink"/>
  <p:sldLayoutIdLst>
    <p:sldLayoutId id="2147483806" r:id="rId1"/>
    <p:sldLayoutId id="2147483808" r:id="rId2"/>
    <p:sldLayoutId id="2147483809" r:id="rId3"/>
    <p:sldLayoutId id="2147483810" r:id="rId4"/>
    <p:sldLayoutId id="2147483811" r:id="rId5"/>
    <p:sldLayoutId id="2147483837" r:id="rId6"/>
    <p:sldLayoutId id="2147483838" r:id="rId7"/>
    <p:sldLayoutId id="2147483812" r:id="rId8"/>
    <p:sldLayoutId id="2147483822" r:id="rId9"/>
    <p:sldLayoutId id="2147483823" r:id="rId10"/>
    <p:sldLayoutId id="2147483824" r:id="rId11"/>
    <p:sldLayoutId id="2147483825" r:id="rId12"/>
    <p:sldLayoutId id="2147483827" r:id="rId13"/>
    <p:sldLayoutId id="2147483815" r:id="rId14"/>
    <p:sldLayoutId id="2147483816" r:id="rId15"/>
    <p:sldLayoutId id="2147483855" r:id="rId16"/>
    <p:sldLayoutId id="2147483856" r:id="rId17"/>
    <p:sldLayoutId id="2147483857" r:id="rId18"/>
    <p:sldLayoutId id="2147483858" r:id="rId19"/>
    <p:sldLayoutId id="2147483859"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800" b="1" u="none" kern="1200" baseline="0">
          <a:solidFill>
            <a:srgbClr val="F39A1E"/>
          </a:solidFill>
          <a:latin typeface="+mj-lt"/>
          <a:ea typeface="+mj-ea"/>
          <a:cs typeface="Arial"/>
        </a:defRPr>
      </a:lvl1pPr>
    </p:titleStyle>
    <p:bodyStyle>
      <a:lvl1pPr marL="271463" indent="-271463" algn="l" defTabSz="914400" rtl="0" eaLnBrk="1" latinLnBrk="0" hangingPunct="1">
        <a:lnSpc>
          <a:spcPct val="90000"/>
        </a:lnSpc>
        <a:spcBef>
          <a:spcPts val="1200"/>
        </a:spcBef>
        <a:buFont typeface="Arial" panose="020B0604020202020204" pitchFamily="34" charset="0"/>
        <a:buChar char="•"/>
        <a:defRPr lang="zh-TW" altLang="en-US" sz="2000" b="1" kern="1200" baseline="0" dirty="0" smtClean="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6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556">
          <p15:clr>
            <a:srgbClr val="F26B43"/>
          </p15:clr>
        </p15:guide>
        <p15:guide id="2" orient="horz" pos="38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8.xml"/><Relationship Id="rId5" Type="http://schemas.openxmlformats.org/officeDocument/2006/relationships/image" Target="../media/image51.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8.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body" sz="quarter" idx="13"/>
          </p:nvPr>
        </p:nvSpPr>
        <p:spPr>
          <a:xfrm>
            <a:off x="2370668" y="2093214"/>
            <a:ext cx="5841788" cy="640462"/>
          </a:xfrm>
        </p:spPr>
        <p:txBody>
          <a:bodyPr>
            <a:normAutofit/>
          </a:bodyPr>
          <a:lstStyle/>
          <a:p>
            <a:r>
              <a:rPr lang="en-US" altLang="zh-TW" dirty="0"/>
              <a:t>Aurisys Lib Verifier User Guide</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type="body" sz="quarter" idx="10"/>
          </p:nvPr>
        </p:nvSpPr>
        <p:spPr>
          <a:xfrm>
            <a:off x="323850" y="1032588"/>
            <a:ext cx="3884895" cy="3427445"/>
          </a:xfrm>
        </p:spPr>
        <p:txBody>
          <a:bodyPr>
            <a:noAutofit/>
          </a:bodyPr>
          <a:lstStyle/>
          <a:p>
            <a:r>
              <a:rPr lang="en-US" sz="1500" dirty="0"/>
              <a:t>Lib verifier introduction</a:t>
            </a:r>
          </a:p>
          <a:p>
            <a:r>
              <a:rPr lang="en-US" sz="1500" dirty="0"/>
              <a:t>Aurisys interface version</a:t>
            </a:r>
          </a:p>
          <a:p>
            <a:r>
              <a:rPr lang="en-US" sz="1500" dirty="0"/>
              <a:t>File/Folder structure description</a:t>
            </a:r>
          </a:p>
          <a:p>
            <a:r>
              <a:rPr lang="en-US" sz="1500" dirty="0"/>
              <a:t>Build/run the demo lib &amp; lib verifier</a:t>
            </a:r>
          </a:p>
          <a:p>
            <a:pPr lvl="1"/>
            <a:r>
              <a:rPr lang="en-US" sz="1350" dirty="0"/>
              <a:t>For x86 Linux environment</a:t>
            </a:r>
          </a:p>
          <a:p>
            <a:pPr lvl="1"/>
            <a:r>
              <a:rPr lang="en-US" sz="1350" dirty="0"/>
              <a:t>For Android</a:t>
            </a:r>
          </a:p>
          <a:p>
            <a:pPr lvl="1"/>
            <a:r>
              <a:rPr lang="en-US" altLang="zh-TW" sz="1350" dirty="0"/>
              <a:t>For Xplorer simulator</a:t>
            </a:r>
          </a:p>
          <a:p>
            <a:pPr lvl="1"/>
            <a:r>
              <a:rPr lang="en-US" sz="1350" dirty="0"/>
              <a:t>For MRV PDK</a:t>
            </a:r>
          </a:p>
        </p:txBody>
      </p:sp>
      <p:sp>
        <p:nvSpPr>
          <p:cNvPr id="2" name="標題 1"/>
          <p:cNvSpPr>
            <a:spLocks noGrp="1"/>
          </p:cNvSpPr>
          <p:nvPr>
            <p:ph type="title"/>
          </p:nvPr>
        </p:nvSpPr>
        <p:spPr/>
        <p:txBody>
          <a:bodyPr/>
          <a:lstStyle/>
          <a:p>
            <a:r>
              <a:rPr lang="en-US" dirty="0"/>
              <a:t>Outline</a:t>
            </a:r>
          </a:p>
        </p:txBody>
      </p:sp>
      <p:sp>
        <p:nvSpPr>
          <p:cNvPr id="4" name="內容版面配置區 2">
            <a:extLst>
              <a:ext uri="{FF2B5EF4-FFF2-40B4-BE49-F238E27FC236}">
                <a16:creationId xmlns:a16="http://schemas.microsoft.com/office/drawing/2014/main" id="{71E3322F-F0E4-460B-9DDA-6132C27E5E04}"/>
              </a:ext>
            </a:extLst>
          </p:cNvPr>
          <p:cNvSpPr txBox="1">
            <a:spLocks/>
          </p:cNvSpPr>
          <p:nvPr/>
        </p:nvSpPr>
        <p:spPr>
          <a:xfrm>
            <a:off x="4657443" y="1032588"/>
            <a:ext cx="3884895" cy="3427445"/>
          </a:xfrm>
          <a:prstGeom prst="rect">
            <a:avLst/>
          </a:prstGeom>
        </p:spPr>
        <p:txBody>
          <a:bodyPr vert="horz" lIns="91440" tIns="45720" rIns="91440" bIns="45720" rtlCol="0">
            <a:noAutofit/>
          </a:bodyPr>
          <a:lstStyle>
            <a:lvl1pPr marL="514350" indent="-514350" algn="l" defTabSz="914400" rtl="0" eaLnBrk="1" latinLnBrk="0" hangingPunct="1">
              <a:lnSpc>
                <a:spcPct val="90000"/>
              </a:lnSpc>
              <a:spcBef>
                <a:spcPts val="1200"/>
              </a:spcBef>
              <a:buFont typeface="Wingdings" panose="05000000000000000000" pitchFamily="2" charset="2"/>
              <a:buChar char="p"/>
              <a:defRPr lang="zh-TW" altLang="en-US" sz="2000" b="1" kern="1200" baseline="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6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t>3</a:t>
            </a:r>
            <a:r>
              <a:rPr lang="en-US" sz="1500" baseline="30000" dirty="0"/>
              <a:t>rd</a:t>
            </a:r>
            <a:r>
              <a:rPr lang="en-US" sz="1500" dirty="0"/>
              <a:t> party lib verification</a:t>
            </a:r>
          </a:p>
          <a:p>
            <a:pPr lvl="1"/>
            <a:r>
              <a:rPr lang="en-US" sz="1350" dirty="0"/>
              <a:t>Verification flow</a:t>
            </a:r>
          </a:p>
          <a:p>
            <a:pPr lvl="1"/>
            <a:r>
              <a:rPr lang="en-US" sz="1350" dirty="0"/>
              <a:t>Test Config Structure</a:t>
            </a:r>
          </a:p>
          <a:p>
            <a:pPr lvl="1"/>
            <a:r>
              <a:rPr lang="en-US" sz="1350" dirty="0"/>
              <a:t>Update makefile/Android.mk</a:t>
            </a:r>
          </a:p>
          <a:p>
            <a:pPr lvl="1"/>
            <a:r>
              <a:rPr lang="en-US" sz="1350" dirty="0"/>
              <a:t>Check test result</a:t>
            </a:r>
          </a:p>
          <a:p>
            <a:pPr lvl="1"/>
            <a:r>
              <a:rPr lang="en-US" sz="1350" dirty="0"/>
              <a:t>Lib dump parser</a:t>
            </a:r>
          </a:p>
          <a:p>
            <a:r>
              <a:rPr lang="en-US" altLang="zh-TW" sz="1500" dirty="0"/>
              <a:t>3</a:t>
            </a:r>
            <a:r>
              <a:rPr lang="en-US" altLang="zh-TW" sz="1500" baseline="30000" dirty="0"/>
              <a:t>rd</a:t>
            </a:r>
            <a:r>
              <a:rPr lang="en-US" altLang="zh-TW" sz="1500" dirty="0"/>
              <a:t> party release package to mtk</a:t>
            </a:r>
            <a:endParaRPr lang="en-US" sz="1500" dirty="0"/>
          </a:p>
        </p:txBody>
      </p:sp>
      <p:sp>
        <p:nvSpPr>
          <p:cNvPr id="5" name="投影片編號版面配置區 4">
            <a:extLst>
              <a:ext uri="{FF2B5EF4-FFF2-40B4-BE49-F238E27FC236}">
                <a16:creationId xmlns:a16="http://schemas.microsoft.com/office/drawing/2014/main" id="{2698DA00-E995-449C-8146-41A1DFC5DE7D}"/>
              </a:ext>
            </a:extLst>
          </p:cNvPr>
          <p:cNvSpPr>
            <a:spLocks noGrp="1"/>
          </p:cNvSpPr>
          <p:nvPr>
            <p:ph type="sldNum" sz="quarter" idx="4"/>
          </p:nvPr>
        </p:nvSpPr>
        <p:spPr/>
        <p:txBody>
          <a:bodyPr/>
          <a:lstStyle/>
          <a:p>
            <a:fld id="{0AEF9A4B-07C9-404C-9053-A3A2AC3AD5D6}" type="slidenum">
              <a:rPr lang="en-GB" smtClean="0"/>
              <a:pPr/>
              <a:t>2</a:t>
            </a:fld>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0"/>
          </p:nvPr>
        </p:nvSpPr>
        <p:spPr>
          <a:prstGeom prst="rect">
            <a:avLst/>
          </a:prstGeom>
        </p:spPr>
        <p:txBody>
          <a:bodyPr>
            <a:normAutofit/>
          </a:bodyPr>
          <a:lstStyle/>
          <a:p>
            <a:r>
              <a:rPr lang="en-US" sz="1800" dirty="0"/>
              <a:t>Aurisys lib verifier package include</a:t>
            </a:r>
          </a:p>
          <a:p>
            <a:pPr lvl="1"/>
            <a:r>
              <a:rPr lang="en-US" sz="1350" dirty="0"/>
              <a:t>A reference implementation of aurisys library</a:t>
            </a:r>
          </a:p>
          <a:p>
            <a:pPr lvl="1"/>
            <a:r>
              <a:rPr lang="en-US" sz="1350" dirty="0"/>
              <a:t>Simple test environment to</a:t>
            </a:r>
          </a:p>
          <a:p>
            <a:pPr lvl="2"/>
            <a:r>
              <a:rPr lang="en-US" dirty="0"/>
              <a:t>Development &amp; test 3</a:t>
            </a:r>
            <a:r>
              <a:rPr lang="en-US" baseline="30000" dirty="0"/>
              <a:t>rd</a:t>
            </a:r>
            <a:r>
              <a:rPr lang="en-US" dirty="0"/>
              <a:t> party aurisys wrapper on </a:t>
            </a:r>
            <a:r>
              <a:rPr lang="en-US" b="1" dirty="0"/>
              <a:t>simulator of DSP</a:t>
            </a:r>
          </a:p>
          <a:p>
            <a:pPr lvl="2"/>
            <a:r>
              <a:rPr lang="en-US" dirty="0"/>
              <a:t>Help 3</a:t>
            </a:r>
            <a:r>
              <a:rPr lang="en-US" baseline="30000" dirty="0"/>
              <a:t>rd</a:t>
            </a:r>
            <a:r>
              <a:rPr lang="en-US" dirty="0"/>
              <a:t> party to do unit test before release to MTK </a:t>
            </a:r>
          </a:p>
        </p:txBody>
      </p:sp>
      <p:sp>
        <p:nvSpPr>
          <p:cNvPr id="2" name="標題 1"/>
          <p:cNvSpPr>
            <a:spLocks noGrp="1"/>
          </p:cNvSpPr>
          <p:nvPr>
            <p:ph type="title"/>
          </p:nvPr>
        </p:nvSpPr>
        <p:spPr/>
        <p:txBody>
          <a:bodyPr/>
          <a:lstStyle/>
          <a:p>
            <a:r>
              <a:rPr lang="en-US" dirty="0"/>
              <a:t>Aurisys Lib Verifier Introduction</a:t>
            </a:r>
          </a:p>
        </p:txBody>
      </p:sp>
      <p:sp>
        <p:nvSpPr>
          <p:cNvPr id="4" name="矩形 3"/>
          <p:cNvSpPr/>
          <p:nvPr/>
        </p:nvSpPr>
        <p:spPr>
          <a:xfrm>
            <a:off x="3761910" y="2759477"/>
            <a:ext cx="1512168" cy="104744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350"/>
          </a:p>
        </p:txBody>
      </p:sp>
      <p:sp>
        <p:nvSpPr>
          <p:cNvPr id="8" name="文字方塊 7"/>
          <p:cNvSpPr txBox="1"/>
          <p:nvPr/>
        </p:nvSpPr>
        <p:spPr>
          <a:xfrm>
            <a:off x="3779774" y="3482883"/>
            <a:ext cx="1524776" cy="253916"/>
          </a:xfrm>
          <a:prstGeom prst="rect">
            <a:avLst/>
          </a:prstGeom>
          <a:noFill/>
        </p:spPr>
        <p:txBody>
          <a:bodyPr wrap="none" rtlCol="0">
            <a:spAutoFit/>
          </a:bodyPr>
          <a:lstStyle/>
          <a:p>
            <a:r>
              <a:rPr lang="en-US" sz="1050" b="1" dirty="0"/>
              <a:t>Lib verifier on simulator</a:t>
            </a:r>
          </a:p>
        </p:txBody>
      </p:sp>
      <p:sp>
        <p:nvSpPr>
          <p:cNvPr id="9" name="矩形 8"/>
          <p:cNvSpPr/>
          <p:nvPr/>
        </p:nvSpPr>
        <p:spPr>
          <a:xfrm>
            <a:off x="6138174" y="2747337"/>
            <a:ext cx="1674186" cy="100557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350"/>
          </a:p>
        </p:txBody>
      </p:sp>
      <p:sp>
        <p:nvSpPr>
          <p:cNvPr id="10" name="文字方塊 9"/>
          <p:cNvSpPr txBox="1"/>
          <p:nvPr/>
        </p:nvSpPr>
        <p:spPr>
          <a:xfrm>
            <a:off x="6115550" y="3482883"/>
            <a:ext cx="1808508" cy="253916"/>
          </a:xfrm>
          <a:prstGeom prst="rect">
            <a:avLst/>
          </a:prstGeom>
          <a:noFill/>
        </p:spPr>
        <p:txBody>
          <a:bodyPr wrap="none" rtlCol="0">
            <a:spAutoFit/>
          </a:bodyPr>
          <a:lstStyle/>
          <a:p>
            <a:r>
              <a:rPr lang="en-US" sz="1050" b="1" dirty="0"/>
              <a:t>Aurisys framework on device</a:t>
            </a:r>
          </a:p>
        </p:txBody>
      </p:sp>
      <p:sp>
        <p:nvSpPr>
          <p:cNvPr id="14" name="圓角矩形圖說文字 13"/>
          <p:cNvSpPr/>
          <p:nvPr/>
        </p:nvSpPr>
        <p:spPr>
          <a:xfrm>
            <a:off x="3653898" y="3956007"/>
            <a:ext cx="1782198" cy="357504"/>
          </a:xfrm>
          <a:prstGeom prst="wedgeRoundRectCallout">
            <a:avLst>
              <a:gd name="adj1" fmla="val 9537"/>
              <a:gd name="adj2" fmla="val -8548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3</a:t>
            </a:r>
            <a:r>
              <a:rPr lang="en-US" sz="900" baseline="30000" dirty="0">
                <a:solidFill>
                  <a:schemeClr val="tx1"/>
                </a:solidFill>
              </a:rPr>
              <a:t>rd</a:t>
            </a:r>
            <a:r>
              <a:rPr lang="en-US" sz="900" dirty="0">
                <a:solidFill>
                  <a:schemeClr val="tx1"/>
                </a:solidFill>
              </a:rPr>
              <a:t> party </a:t>
            </a:r>
            <a:r>
              <a:rPr lang="en-US" sz="900" b="1" u="sng" dirty="0">
                <a:solidFill>
                  <a:srgbClr val="FF0000"/>
                </a:solidFill>
              </a:rPr>
              <a:t>MUST</a:t>
            </a:r>
            <a:r>
              <a:rPr lang="en-US" sz="900" b="1" dirty="0">
                <a:solidFill>
                  <a:srgbClr val="FF0000"/>
                </a:solidFill>
              </a:rPr>
              <a:t> </a:t>
            </a:r>
            <a:r>
              <a:rPr lang="en-US" sz="900" dirty="0">
                <a:solidFill>
                  <a:schemeClr val="tx1"/>
                </a:solidFill>
              </a:rPr>
              <a:t>do the library verification before release</a:t>
            </a:r>
          </a:p>
        </p:txBody>
      </p:sp>
      <p:sp>
        <p:nvSpPr>
          <p:cNvPr id="15" name="向右箭號 14"/>
          <p:cNvSpPr/>
          <p:nvPr/>
        </p:nvSpPr>
        <p:spPr>
          <a:xfrm>
            <a:off x="5474969" y="3142364"/>
            <a:ext cx="432048" cy="21602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6" name="文字方塊 15"/>
          <p:cNvSpPr txBox="1"/>
          <p:nvPr/>
        </p:nvSpPr>
        <p:spPr>
          <a:xfrm>
            <a:off x="5271831" y="3412394"/>
            <a:ext cx="912429" cy="230832"/>
          </a:xfrm>
          <a:prstGeom prst="rect">
            <a:avLst/>
          </a:prstGeom>
          <a:noFill/>
        </p:spPr>
        <p:txBody>
          <a:bodyPr wrap="none" rtlCol="0">
            <a:spAutoFit/>
          </a:bodyPr>
          <a:lstStyle/>
          <a:p>
            <a:r>
              <a:rPr lang="en-US" sz="900" dirty="0"/>
              <a:t>Release to MTK</a:t>
            </a:r>
          </a:p>
        </p:txBody>
      </p:sp>
      <p:sp>
        <p:nvSpPr>
          <p:cNvPr id="17" name="圓角矩形圖說文字 16"/>
          <p:cNvSpPr/>
          <p:nvPr/>
        </p:nvSpPr>
        <p:spPr>
          <a:xfrm>
            <a:off x="5976156" y="3935469"/>
            <a:ext cx="1944216" cy="357504"/>
          </a:xfrm>
          <a:prstGeom prst="wedgeRoundRectCallout">
            <a:avLst>
              <a:gd name="adj1" fmla="val 9537"/>
              <a:gd name="adj2" fmla="val -8548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MTK integrate the 3</a:t>
            </a:r>
            <a:r>
              <a:rPr lang="en-US" sz="900" baseline="30000" dirty="0">
                <a:solidFill>
                  <a:schemeClr val="tx1"/>
                </a:solidFill>
              </a:rPr>
              <a:t>rd</a:t>
            </a:r>
            <a:r>
              <a:rPr lang="en-US" sz="900" dirty="0">
                <a:solidFill>
                  <a:schemeClr val="tx1"/>
                </a:solidFill>
              </a:rPr>
              <a:t> party on device</a:t>
            </a:r>
          </a:p>
        </p:txBody>
      </p:sp>
      <p:sp>
        <p:nvSpPr>
          <p:cNvPr id="26" name="矩形 25"/>
          <p:cNvSpPr/>
          <p:nvPr/>
        </p:nvSpPr>
        <p:spPr>
          <a:xfrm>
            <a:off x="1331640" y="2780805"/>
            <a:ext cx="1458162" cy="104665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350"/>
          </a:p>
        </p:txBody>
      </p:sp>
      <p:sp>
        <p:nvSpPr>
          <p:cNvPr id="27" name="圓角矩形 26"/>
          <p:cNvSpPr/>
          <p:nvPr/>
        </p:nvSpPr>
        <p:spPr>
          <a:xfrm>
            <a:off x="1439653" y="2954079"/>
            <a:ext cx="1188131" cy="488949"/>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050" dirty="0"/>
              <a:t>Demo</a:t>
            </a:r>
          </a:p>
          <a:p>
            <a:pPr algn="ctr"/>
            <a:r>
              <a:rPr lang="en-US" sz="1050" dirty="0"/>
              <a:t>Aurisys Library</a:t>
            </a:r>
          </a:p>
        </p:txBody>
      </p:sp>
      <p:sp>
        <p:nvSpPr>
          <p:cNvPr id="30" name="文字方塊 29"/>
          <p:cNvSpPr txBox="1"/>
          <p:nvPr/>
        </p:nvSpPr>
        <p:spPr>
          <a:xfrm>
            <a:off x="1329046" y="3503421"/>
            <a:ext cx="1528205" cy="253916"/>
          </a:xfrm>
          <a:prstGeom prst="rect">
            <a:avLst/>
          </a:prstGeom>
          <a:noFill/>
        </p:spPr>
        <p:txBody>
          <a:bodyPr wrap="square" rtlCol="0">
            <a:spAutoFit/>
          </a:bodyPr>
          <a:lstStyle/>
          <a:p>
            <a:r>
              <a:rPr lang="en-US" sz="1050" b="1" dirty="0"/>
              <a:t>Lib verifier on simulator</a:t>
            </a:r>
          </a:p>
        </p:txBody>
      </p:sp>
      <p:sp>
        <p:nvSpPr>
          <p:cNvPr id="31" name="向右箭號 30"/>
          <p:cNvSpPr/>
          <p:nvPr/>
        </p:nvSpPr>
        <p:spPr>
          <a:xfrm>
            <a:off x="3059832" y="3136634"/>
            <a:ext cx="432048" cy="21602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2" name="文字方塊 31"/>
          <p:cNvSpPr txBox="1"/>
          <p:nvPr/>
        </p:nvSpPr>
        <p:spPr>
          <a:xfrm>
            <a:off x="2711310" y="3406664"/>
            <a:ext cx="1124027" cy="369332"/>
          </a:xfrm>
          <a:prstGeom prst="rect">
            <a:avLst/>
          </a:prstGeom>
          <a:noFill/>
        </p:spPr>
        <p:txBody>
          <a:bodyPr wrap="none" rtlCol="0">
            <a:spAutoFit/>
          </a:bodyPr>
          <a:lstStyle/>
          <a:p>
            <a:pPr algn="ctr"/>
            <a:r>
              <a:rPr lang="en-US" sz="900" dirty="0"/>
              <a:t>3</a:t>
            </a:r>
            <a:r>
              <a:rPr lang="en-US" sz="900" baseline="30000" dirty="0"/>
              <a:t>rd</a:t>
            </a:r>
            <a:r>
              <a:rPr lang="en-US" sz="900" dirty="0"/>
              <a:t> party implement</a:t>
            </a:r>
          </a:p>
          <a:p>
            <a:pPr algn="ctr"/>
            <a:r>
              <a:rPr lang="en-US" sz="900" dirty="0"/>
              <a:t>Aurisys library</a:t>
            </a:r>
          </a:p>
        </p:txBody>
      </p:sp>
      <p:sp>
        <p:nvSpPr>
          <p:cNvPr id="33" name="圓角矩形圖說文字 32"/>
          <p:cNvSpPr/>
          <p:nvPr/>
        </p:nvSpPr>
        <p:spPr>
          <a:xfrm>
            <a:off x="1331640" y="3989475"/>
            <a:ext cx="1512168" cy="357504"/>
          </a:xfrm>
          <a:prstGeom prst="wedgeRoundRectCallout">
            <a:avLst>
              <a:gd name="adj1" fmla="val 9537"/>
              <a:gd name="adj2" fmla="val -8548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MTK provide demo library &amp; lib verifier</a:t>
            </a:r>
          </a:p>
        </p:txBody>
      </p:sp>
      <p:sp>
        <p:nvSpPr>
          <p:cNvPr id="34" name="文字方塊 33"/>
          <p:cNvSpPr txBox="1"/>
          <p:nvPr/>
        </p:nvSpPr>
        <p:spPr>
          <a:xfrm>
            <a:off x="3275856" y="4400985"/>
            <a:ext cx="2626168" cy="300082"/>
          </a:xfrm>
          <a:prstGeom prst="rect">
            <a:avLst/>
          </a:prstGeom>
          <a:noFill/>
        </p:spPr>
        <p:txBody>
          <a:bodyPr wrap="none" rtlCol="0">
            <a:spAutoFit/>
          </a:bodyPr>
          <a:lstStyle/>
          <a:p>
            <a:r>
              <a:rPr lang="en-US" sz="1350" b="1" dirty="0"/>
              <a:t>Aurisys Library Development Flow</a:t>
            </a:r>
          </a:p>
        </p:txBody>
      </p:sp>
      <p:sp>
        <p:nvSpPr>
          <p:cNvPr id="36" name="圓角矩形 35"/>
          <p:cNvSpPr/>
          <p:nvPr/>
        </p:nvSpPr>
        <p:spPr>
          <a:xfrm>
            <a:off x="3923929" y="2954078"/>
            <a:ext cx="1188131" cy="488949"/>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050" dirty="0"/>
              <a:t>3</a:t>
            </a:r>
            <a:r>
              <a:rPr lang="en-US" sz="1050" baseline="30000" dirty="0"/>
              <a:t>rd</a:t>
            </a:r>
            <a:r>
              <a:rPr lang="en-US" sz="1050" dirty="0"/>
              <a:t> party</a:t>
            </a:r>
          </a:p>
          <a:p>
            <a:pPr algn="ctr"/>
            <a:r>
              <a:rPr lang="en-US" sz="1050" dirty="0"/>
              <a:t>Aurisys Library</a:t>
            </a:r>
          </a:p>
        </p:txBody>
      </p:sp>
      <p:sp>
        <p:nvSpPr>
          <p:cNvPr id="37" name="圓角矩形 36"/>
          <p:cNvSpPr/>
          <p:nvPr/>
        </p:nvSpPr>
        <p:spPr>
          <a:xfrm>
            <a:off x="6354199" y="2942823"/>
            <a:ext cx="1188131" cy="488949"/>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sz="1050" dirty="0"/>
              <a:t>3</a:t>
            </a:r>
            <a:r>
              <a:rPr lang="en-US" sz="1050" baseline="30000" dirty="0"/>
              <a:t>rd</a:t>
            </a:r>
            <a:r>
              <a:rPr lang="en-US" sz="1050" dirty="0"/>
              <a:t> party</a:t>
            </a:r>
          </a:p>
          <a:p>
            <a:pPr algn="ctr"/>
            <a:r>
              <a:rPr lang="en-US" sz="1050" dirty="0"/>
              <a:t>Aurisys Library</a:t>
            </a:r>
          </a:p>
        </p:txBody>
      </p:sp>
      <p:sp>
        <p:nvSpPr>
          <p:cNvPr id="5" name="投影片編號版面配置區 4">
            <a:extLst>
              <a:ext uri="{FF2B5EF4-FFF2-40B4-BE49-F238E27FC236}">
                <a16:creationId xmlns:a16="http://schemas.microsoft.com/office/drawing/2014/main" id="{0465ACDB-AB6F-4916-8A1D-982F4391AFBC}"/>
              </a:ext>
            </a:extLst>
          </p:cNvPr>
          <p:cNvSpPr>
            <a:spLocks noGrp="1"/>
          </p:cNvSpPr>
          <p:nvPr>
            <p:ph type="sldNum" sz="quarter" idx="4"/>
          </p:nvPr>
        </p:nvSpPr>
        <p:spPr/>
        <p:txBody>
          <a:bodyPr/>
          <a:lstStyle/>
          <a:p>
            <a:fld id="{0AEF9A4B-07C9-404C-9053-A3A2AC3AD5D6}" type="slidenum">
              <a:rPr lang="en-GB" smtClean="0"/>
              <a:pPr/>
              <a:t>3</a:t>
            </a:fld>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177670"/>
            <a:ext cx="8218488" cy="599226"/>
          </a:xfrm>
        </p:spPr>
        <p:txBody>
          <a:bodyPr/>
          <a:lstStyle/>
          <a:p>
            <a:r>
              <a:rPr lang="en-US" dirty="0"/>
              <a:t>Lib Verifier Version</a:t>
            </a:r>
          </a:p>
        </p:txBody>
      </p:sp>
      <p:sp>
        <p:nvSpPr>
          <p:cNvPr id="4" name="投影片編號版面配置區 3">
            <a:extLst>
              <a:ext uri="{FF2B5EF4-FFF2-40B4-BE49-F238E27FC236}">
                <a16:creationId xmlns:a16="http://schemas.microsoft.com/office/drawing/2014/main" id="{688361B8-6080-4EEF-B50B-4C47CEB8DEA4}"/>
              </a:ext>
            </a:extLst>
          </p:cNvPr>
          <p:cNvSpPr>
            <a:spLocks noGrp="1"/>
          </p:cNvSpPr>
          <p:nvPr>
            <p:ph type="sldNum" sz="quarter" idx="4"/>
          </p:nvPr>
        </p:nvSpPr>
        <p:spPr/>
        <p:txBody>
          <a:bodyPr/>
          <a:lstStyle/>
          <a:p>
            <a:fld id="{0AEF9A4B-07C9-404C-9053-A3A2AC3AD5D6}" type="slidenum">
              <a:rPr lang="en-GB" smtClean="0"/>
              <a:pPr/>
              <a:t>4</a:t>
            </a:fld>
            <a:endParaRPr lang="en-GB" dirty="0"/>
          </a:p>
        </p:txBody>
      </p:sp>
      <p:graphicFrame>
        <p:nvGraphicFramePr>
          <p:cNvPr id="5" name="表格 5">
            <a:extLst>
              <a:ext uri="{FF2B5EF4-FFF2-40B4-BE49-F238E27FC236}">
                <a16:creationId xmlns:a16="http://schemas.microsoft.com/office/drawing/2014/main" id="{AD34F795-FBB9-8F4B-0FE4-9D0AA051F36F}"/>
              </a:ext>
            </a:extLst>
          </p:cNvPr>
          <p:cNvGraphicFramePr>
            <a:graphicFrameLocks noGrp="1"/>
          </p:cNvGraphicFramePr>
          <p:nvPr>
            <p:extLst>
              <p:ext uri="{D42A27DB-BD31-4B8C-83A1-F6EECF244321}">
                <p14:modId xmlns:p14="http://schemas.microsoft.com/office/powerpoint/2010/main" val="2877185216"/>
              </p:ext>
            </p:extLst>
          </p:nvPr>
        </p:nvGraphicFramePr>
        <p:xfrm>
          <a:off x="433137" y="1207752"/>
          <a:ext cx="4317618" cy="2743200"/>
        </p:xfrm>
        <a:graphic>
          <a:graphicData uri="http://schemas.openxmlformats.org/drawingml/2006/table">
            <a:tbl>
              <a:tblPr firstRow="1" bandRow="1">
                <a:tableStyleId>{7E9639D4-E3E2-4D34-9284-5A2195B3D0D7}</a:tableStyleId>
              </a:tblPr>
              <a:tblGrid>
                <a:gridCol w="1897551">
                  <a:extLst>
                    <a:ext uri="{9D8B030D-6E8A-4147-A177-3AD203B41FA5}">
                      <a16:colId xmlns:a16="http://schemas.microsoft.com/office/drawing/2014/main" val="3377497891"/>
                    </a:ext>
                  </a:extLst>
                </a:gridCol>
                <a:gridCol w="2420067">
                  <a:extLst>
                    <a:ext uri="{9D8B030D-6E8A-4147-A177-3AD203B41FA5}">
                      <a16:colId xmlns:a16="http://schemas.microsoft.com/office/drawing/2014/main" val="628569221"/>
                    </a:ext>
                  </a:extLst>
                </a:gridCol>
              </a:tblGrid>
              <a:tr h="251419">
                <a:tc>
                  <a:txBody>
                    <a:bodyPr/>
                    <a:lstStyle/>
                    <a:p>
                      <a:r>
                        <a:rPr lang="en-US" altLang="zh-TW" sz="1400" dirty="0" err="1"/>
                        <a:t>Aurisys</a:t>
                      </a:r>
                      <a:r>
                        <a:rPr lang="en-US" altLang="zh-TW" sz="1400" dirty="0"/>
                        <a:t> API Version</a:t>
                      </a:r>
                      <a:endParaRPr lang="zh-TW" altLang="en-US" sz="1400" dirty="0"/>
                    </a:p>
                  </a:txBody>
                  <a:tcPr>
                    <a:lnB w="12700" cap="flat" cmpd="sng" algn="ctr">
                      <a:solidFill>
                        <a:schemeClr val="tx1"/>
                      </a:solidFill>
                      <a:prstDash val="solid"/>
                      <a:round/>
                      <a:headEnd type="none" w="med" len="med"/>
                      <a:tailEnd type="none" w="med" len="med"/>
                    </a:lnB>
                  </a:tcPr>
                </a:tc>
                <a:tc>
                  <a:txBody>
                    <a:bodyPr/>
                    <a:lstStyle/>
                    <a:p>
                      <a:r>
                        <a:rPr lang="en-US" altLang="zh-TW" sz="1400" dirty="0"/>
                        <a:t>Support </a:t>
                      </a:r>
                      <a:r>
                        <a:rPr lang="en-US" altLang="zh-TW" sz="1400" dirty="0" err="1"/>
                        <a:t>Anrdroid</a:t>
                      </a:r>
                      <a:r>
                        <a:rPr lang="en-US" altLang="zh-TW" sz="1400" dirty="0"/>
                        <a:t> Version</a:t>
                      </a:r>
                      <a:endParaRPr lang="zh-TW" altLang="en-US" sz="14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156127"/>
                  </a:ext>
                </a:extLst>
              </a:tr>
              <a:tr h="304000">
                <a:tc>
                  <a:txBody>
                    <a:bodyPr/>
                    <a:lstStyle/>
                    <a:p>
                      <a:r>
                        <a:rPr lang="en-US" altLang="zh-TW" sz="1400" dirty="0"/>
                        <a:t>1.3.0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P</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41247671"/>
                  </a:ext>
                </a:extLst>
              </a:tr>
              <a:tr h="304000">
                <a:tc>
                  <a:txBody>
                    <a:bodyPr/>
                    <a:lstStyle/>
                    <a:p>
                      <a:r>
                        <a:rPr lang="en-US" altLang="zh-TW" sz="1400" dirty="0"/>
                        <a:t>1.4.0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Q</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5511337"/>
                  </a:ext>
                </a:extLst>
              </a:tr>
              <a:tr h="304000">
                <a:tc>
                  <a:txBody>
                    <a:bodyPr/>
                    <a:lstStyle/>
                    <a:p>
                      <a:r>
                        <a:rPr lang="en-US" altLang="zh-TW" sz="1400" dirty="0"/>
                        <a:t>1.5.0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R</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017996"/>
                  </a:ext>
                </a:extLst>
              </a:tr>
              <a:tr h="304000">
                <a:tc>
                  <a:txBody>
                    <a:bodyPr/>
                    <a:lstStyle/>
                    <a:p>
                      <a:r>
                        <a:rPr lang="en-US" altLang="zh-TW" sz="1400" dirty="0"/>
                        <a:t>1.6.0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S</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865453"/>
                  </a:ext>
                </a:extLst>
              </a:tr>
              <a:tr h="304000">
                <a:tc>
                  <a:txBody>
                    <a:bodyPr/>
                    <a:lstStyle/>
                    <a:p>
                      <a:r>
                        <a:rPr lang="en-US" altLang="zh-TW" sz="1400" dirty="0"/>
                        <a:t>1.7.0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T</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6244158"/>
                  </a:ext>
                </a:extLst>
              </a:tr>
              <a:tr h="304000">
                <a:tc>
                  <a:txBody>
                    <a:bodyPr/>
                    <a:lstStyle/>
                    <a:p>
                      <a:r>
                        <a:rPr lang="en-US" altLang="zh-TW" sz="1400" dirty="0"/>
                        <a:t>1.8.0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U, V</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5608429"/>
                  </a:ext>
                </a:extLst>
              </a:tr>
              <a:tr h="304000">
                <a:tc>
                  <a:txBody>
                    <a:bodyPr/>
                    <a:lstStyle/>
                    <a:p>
                      <a:r>
                        <a:rPr lang="en-US" altLang="zh-TW" sz="1400" dirty="0"/>
                        <a:t>1.9.0</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400" dirty="0"/>
                        <a:t>W</a:t>
                      </a:r>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0553825"/>
                  </a:ext>
                </a:extLst>
              </a:tr>
              <a:tr h="304000">
                <a:tc>
                  <a:txBody>
                    <a:bodyPr/>
                    <a:lstStyle/>
                    <a:p>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8178890"/>
                  </a:ext>
                </a:extLst>
              </a:tr>
            </a:tbl>
          </a:graphicData>
        </a:graphic>
      </p:graphicFrame>
      <p:sp>
        <p:nvSpPr>
          <p:cNvPr id="8" name="文字方塊 7">
            <a:extLst>
              <a:ext uri="{FF2B5EF4-FFF2-40B4-BE49-F238E27FC236}">
                <a16:creationId xmlns:a16="http://schemas.microsoft.com/office/drawing/2014/main" id="{010F39E9-C558-303E-9B7E-CB2278F2D8AF}"/>
              </a:ext>
            </a:extLst>
          </p:cNvPr>
          <p:cNvSpPr txBox="1"/>
          <p:nvPr/>
        </p:nvSpPr>
        <p:spPr>
          <a:xfrm>
            <a:off x="433137" y="894988"/>
            <a:ext cx="5998143" cy="227094"/>
          </a:xfrm>
          <a:prstGeom prst="rect">
            <a:avLst/>
          </a:prstGeom>
        </p:spPr>
        <p:txBody>
          <a:bodyPr wrap="none" lIns="0" tIns="0" rIns="0" bIns="0" rtlCol="0">
            <a:noAutofit/>
          </a:bodyPr>
          <a:lstStyle/>
          <a:p>
            <a:r>
              <a:rPr lang="en-US" altLang="zh-TW" sz="1300" dirty="0"/>
              <a:t>The following table describes which </a:t>
            </a:r>
            <a:r>
              <a:rPr lang="en-US" altLang="zh-TW" sz="1300" dirty="0" err="1"/>
              <a:t>Aurisys</a:t>
            </a:r>
            <a:r>
              <a:rPr lang="en-US" altLang="zh-TW" sz="1300" dirty="0"/>
              <a:t> API version is used in each Android version.</a:t>
            </a:r>
            <a:endParaRPr lang="zh-TW" altLang="en-US" sz="13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內容版面配置區 3"/>
          <p:cNvGraphicFramePr>
            <a:graphicFrameLocks noGrp="1"/>
          </p:cNvGraphicFramePr>
          <p:nvPr>
            <p:ph sz="quarter" idx="10"/>
            <p:extLst>
              <p:ext uri="{D42A27DB-BD31-4B8C-83A1-F6EECF244321}">
                <p14:modId xmlns:p14="http://schemas.microsoft.com/office/powerpoint/2010/main" val="3586542313"/>
              </p:ext>
            </p:extLst>
          </p:nvPr>
        </p:nvGraphicFramePr>
        <p:xfrm>
          <a:off x="462757" y="694475"/>
          <a:ext cx="8218486" cy="3960652"/>
        </p:xfrm>
        <a:graphic>
          <a:graphicData uri="http://schemas.openxmlformats.org/drawingml/2006/table">
            <a:tbl>
              <a:tblPr firstRow="1" bandRow="1">
                <a:tableStyleId>{F5AB1C69-6EDB-4FF4-983F-18BD219EF322}</a:tableStyleId>
              </a:tblPr>
              <a:tblGrid>
                <a:gridCol w="2406056">
                  <a:extLst>
                    <a:ext uri="{9D8B030D-6E8A-4147-A177-3AD203B41FA5}">
                      <a16:colId xmlns:a16="http://schemas.microsoft.com/office/drawing/2014/main" val="20000"/>
                    </a:ext>
                  </a:extLst>
                </a:gridCol>
                <a:gridCol w="2076367">
                  <a:extLst>
                    <a:ext uri="{9D8B030D-6E8A-4147-A177-3AD203B41FA5}">
                      <a16:colId xmlns:a16="http://schemas.microsoft.com/office/drawing/2014/main" val="20001"/>
                    </a:ext>
                  </a:extLst>
                </a:gridCol>
                <a:gridCol w="3736063">
                  <a:extLst>
                    <a:ext uri="{9D8B030D-6E8A-4147-A177-3AD203B41FA5}">
                      <a16:colId xmlns:a16="http://schemas.microsoft.com/office/drawing/2014/main" val="20002"/>
                    </a:ext>
                  </a:extLst>
                </a:gridCol>
              </a:tblGrid>
              <a:tr h="178916">
                <a:tc>
                  <a:txBody>
                    <a:bodyPr/>
                    <a:lstStyle/>
                    <a:p>
                      <a:pPr algn="ctr"/>
                      <a:r>
                        <a:rPr lang="en-US" sz="900" dirty="0"/>
                        <a:t>Folder/File name</a:t>
                      </a:r>
                    </a:p>
                  </a:txBody>
                  <a:tcPr marL="68580" marR="68580" marT="34290" marB="34290" anchor="ctr"/>
                </a:tc>
                <a:tc>
                  <a:txBody>
                    <a:bodyPr/>
                    <a:lstStyle/>
                    <a:p>
                      <a:pPr algn="ctr"/>
                      <a:r>
                        <a:rPr lang="en-US" sz="900" dirty="0"/>
                        <a:t>Allow 3</a:t>
                      </a:r>
                      <a:r>
                        <a:rPr lang="en-US" sz="900" baseline="30000" dirty="0"/>
                        <a:t>rd</a:t>
                      </a:r>
                      <a:r>
                        <a:rPr lang="en-US" sz="900" dirty="0"/>
                        <a:t> party </a:t>
                      </a:r>
                      <a:r>
                        <a:rPr lang="en-US" sz="900" dirty="0" err="1"/>
                        <a:t>modfiy</a:t>
                      </a:r>
                      <a:r>
                        <a:rPr lang="en-US" sz="900" dirty="0"/>
                        <a:t> it</a:t>
                      </a:r>
                    </a:p>
                  </a:txBody>
                  <a:tcPr marL="68580" marR="68580" marT="34290" marB="34290" anchor="ctr"/>
                </a:tc>
                <a:tc>
                  <a:txBody>
                    <a:bodyPr/>
                    <a:lstStyle/>
                    <a:p>
                      <a:pPr algn="ctr"/>
                      <a:r>
                        <a:rPr lang="en-US" sz="900" dirty="0"/>
                        <a:t>Description</a:t>
                      </a:r>
                    </a:p>
                  </a:txBody>
                  <a:tcPr marL="68580" marR="68580" marT="34290" marB="34290" anchor="ctr"/>
                </a:tc>
                <a:extLst>
                  <a:ext uri="{0D108BD9-81ED-4DB2-BD59-A6C34878D82A}">
                    <a16:rowId xmlns:a16="http://schemas.microsoft.com/office/drawing/2014/main" val="10000"/>
                  </a:ext>
                </a:extLst>
              </a:tr>
              <a:tr h="417470">
                <a:tc>
                  <a:txBody>
                    <a:bodyPr/>
                    <a:lstStyle/>
                    <a:p>
                      <a:r>
                        <a:rPr lang="en-US" sz="900" dirty="0"/>
                        <a:t>Interface/</a:t>
                      </a:r>
                    </a:p>
                  </a:txBody>
                  <a:tcPr marL="68580" marR="68580" marT="34290" marB="34290" anchor="ctr"/>
                </a:tc>
                <a:tc>
                  <a:txBody>
                    <a:bodyPr/>
                    <a:lstStyle/>
                    <a:p>
                      <a:pPr algn="ctr"/>
                      <a:r>
                        <a:rPr lang="en-US" sz="900" dirty="0">
                          <a:solidFill>
                            <a:srgbClr val="FF0000"/>
                          </a:solidFill>
                        </a:rPr>
                        <a:t>No</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900" b="0" dirty="0"/>
                        <a:t>aurisys lib interface header files </a:t>
                      </a:r>
                    </a:p>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900" dirty="0">
                          <a:solidFill>
                            <a:srgbClr val="FF0000"/>
                          </a:solidFill>
                        </a:rPr>
                        <a:t>[Except] Only allow 3</a:t>
                      </a:r>
                      <a:r>
                        <a:rPr lang="en-US" sz="900" baseline="30000" dirty="0">
                          <a:solidFill>
                            <a:srgbClr val="FF0000"/>
                          </a:solidFill>
                        </a:rPr>
                        <a:t>rd</a:t>
                      </a:r>
                      <a:r>
                        <a:rPr lang="en-US" sz="900" dirty="0">
                          <a:solidFill>
                            <a:srgbClr val="FF0000"/>
                          </a:solidFill>
                        </a:rPr>
                        <a:t> party to add</a:t>
                      </a:r>
                      <a:r>
                        <a:rPr lang="en-US" sz="900" baseline="0" dirty="0">
                          <a:solidFill>
                            <a:srgbClr val="FF0000"/>
                          </a:solidFill>
                        </a:rPr>
                        <a:t> library entry point to </a:t>
                      </a:r>
                      <a:r>
                        <a:rPr lang="en-US" altLang="zh-TW" sz="900" dirty="0" err="1">
                          <a:solidFill>
                            <a:srgbClr val="FF0000"/>
                          </a:solidFill>
                        </a:rPr>
                        <a:t>arsi_library_entry_points.h</a:t>
                      </a:r>
                      <a:endParaRPr lang="en-US" sz="900" dirty="0">
                        <a:solidFill>
                          <a:srgbClr val="FF0000"/>
                        </a:solidFill>
                      </a:endParaRPr>
                    </a:p>
                  </a:txBody>
                  <a:tcPr marL="68580" marR="68580" marT="34290" marB="34290" anchor="ctr"/>
                </a:tc>
                <a:extLst>
                  <a:ext uri="{0D108BD9-81ED-4DB2-BD59-A6C34878D82A}">
                    <a16:rowId xmlns:a16="http://schemas.microsoft.com/office/drawing/2014/main" val="10001"/>
                  </a:ext>
                </a:extLst>
              </a:tr>
              <a:tr h="178916">
                <a:tc>
                  <a:txBody>
                    <a:bodyPr/>
                    <a:lstStyle/>
                    <a:p>
                      <a:r>
                        <a:rPr lang="en-US" sz="900" dirty="0" err="1"/>
                        <a:t>libaurisysdemo</a:t>
                      </a:r>
                      <a:r>
                        <a:rPr lang="en-US" sz="900" dirty="0"/>
                        <a:t>/</a:t>
                      </a:r>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3</a:t>
                      </a:r>
                      <a:r>
                        <a:rPr lang="en-US" sz="900" b="0" baseline="30000" dirty="0"/>
                        <a:t>rd</a:t>
                      </a:r>
                      <a:r>
                        <a:rPr lang="en-US" sz="900" b="0" dirty="0"/>
                        <a:t> party aurisys lib reference implementation</a:t>
                      </a:r>
                    </a:p>
                  </a:txBody>
                  <a:tcPr marL="68580" marR="68580" marT="34290" marB="34290" anchor="ctr"/>
                </a:tc>
                <a:extLst>
                  <a:ext uri="{0D108BD9-81ED-4DB2-BD59-A6C34878D82A}">
                    <a16:rowId xmlns:a16="http://schemas.microsoft.com/office/drawing/2014/main" val="10002"/>
                  </a:ext>
                </a:extLst>
              </a:tr>
              <a:tr h="298193">
                <a:tc>
                  <a:txBody>
                    <a:bodyPr/>
                    <a:lstStyle/>
                    <a:p>
                      <a:r>
                        <a:rPr lang="en-US" sz="900" dirty="0" err="1"/>
                        <a:t>lib_dump_parser</a:t>
                      </a:r>
                      <a:r>
                        <a:rPr lang="en-US" sz="900" dirty="0"/>
                        <a:t>/</a:t>
                      </a:r>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3</a:t>
                      </a:r>
                      <a:r>
                        <a:rPr lang="en-US" sz="900" b="0" baseline="30000" dirty="0"/>
                        <a:t>rd</a:t>
                      </a:r>
                      <a:r>
                        <a:rPr lang="en-US" sz="900" b="0" baseline="0" dirty="0"/>
                        <a:t> party lib dump parser reference implementation</a:t>
                      </a:r>
                      <a:endParaRPr lang="en-US" sz="900" b="0" dirty="0"/>
                    </a:p>
                  </a:txBody>
                  <a:tcPr marL="68580" marR="68580" marT="34290" marB="34290" anchor="ctr"/>
                </a:tc>
                <a:extLst>
                  <a:ext uri="{0D108BD9-81ED-4DB2-BD59-A6C34878D82A}">
                    <a16:rowId xmlns:a16="http://schemas.microsoft.com/office/drawing/2014/main" val="10003"/>
                  </a:ext>
                </a:extLst>
              </a:tr>
              <a:tr h="178916">
                <a:tc>
                  <a:txBody>
                    <a:bodyPr/>
                    <a:lstStyle/>
                    <a:p>
                      <a:r>
                        <a:rPr lang="en-US" sz="900" dirty="0" err="1"/>
                        <a:t>lib_verifier</a:t>
                      </a:r>
                      <a:r>
                        <a:rPr lang="en-US" sz="900" dirty="0"/>
                        <a:t>/</a:t>
                      </a:r>
                      <a:r>
                        <a:rPr lang="en-US" sz="900" dirty="0" err="1"/>
                        <a:t>pcm</a:t>
                      </a:r>
                      <a:r>
                        <a:rPr lang="en-US" sz="900" dirty="0"/>
                        <a:t>/</a:t>
                      </a:r>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Input/output pcm folder</a:t>
                      </a:r>
                    </a:p>
                  </a:txBody>
                  <a:tcPr marL="68580" marR="68580" marT="34290" marB="34290" anchor="ctr"/>
                </a:tc>
                <a:extLst>
                  <a:ext uri="{0D108BD9-81ED-4DB2-BD59-A6C34878D82A}">
                    <a16:rowId xmlns:a16="http://schemas.microsoft.com/office/drawing/2014/main" val="10004"/>
                  </a:ext>
                </a:extLst>
              </a:tr>
              <a:tr h="178916">
                <a:tc>
                  <a:txBody>
                    <a:bodyPr/>
                    <a:lstStyle/>
                    <a:p>
                      <a:r>
                        <a:rPr lang="en-US" sz="900" dirty="0" err="1"/>
                        <a:t>lib_verifier</a:t>
                      </a:r>
                      <a:r>
                        <a:rPr lang="en-US" sz="900" dirty="0"/>
                        <a:t>/vendor/</a:t>
                      </a:r>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3</a:t>
                      </a:r>
                      <a:r>
                        <a:rPr lang="en-US" sz="900" b="0" baseline="30000" dirty="0"/>
                        <a:t>rd</a:t>
                      </a:r>
                      <a:r>
                        <a:rPr lang="en-US" sz="900" b="0" dirty="0"/>
                        <a:t> party parameter files</a:t>
                      </a:r>
                    </a:p>
                  </a:txBody>
                  <a:tcPr marL="68580" marR="68580" marT="34290" marB="34290" anchor="ctr"/>
                </a:tc>
                <a:extLst>
                  <a:ext uri="{0D108BD9-81ED-4DB2-BD59-A6C34878D82A}">
                    <a16:rowId xmlns:a16="http://schemas.microsoft.com/office/drawing/2014/main" val="10005"/>
                  </a:ext>
                </a:extLst>
              </a:tr>
              <a:tr h="178916">
                <a:tc>
                  <a:txBody>
                    <a:bodyPr/>
                    <a:lstStyle/>
                    <a:p>
                      <a:r>
                        <a:rPr lang="en-US" sz="900" dirty="0"/>
                        <a:t>lib_verifier/*.c &amp; .h</a:t>
                      </a:r>
                    </a:p>
                  </a:txBody>
                  <a:tcPr marL="68580" marR="68580" marT="34290" marB="34290" anchor="ctr"/>
                </a:tc>
                <a:tc>
                  <a:txBody>
                    <a:bodyPr/>
                    <a:lstStyle/>
                    <a:p>
                      <a:pPr algn="ctr"/>
                      <a:r>
                        <a:rPr lang="en-US" sz="900" dirty="0">
                          <a:solidFill>
                            <a:srgbClr val="FF0000"/>
                          </a:solidFill>
                        </a:rPr>
                        <a:t>No</a:t>
                      </a:r>
                    </a:p>
                  </a:txBody>
                  <a:tcPr marL="68580" marR="68580" marT="34290" marB="34290" anchor="ctr"/>
                </a:tc>
                <a:tc>
                  <a:txBody>
                    <a:bodyPr/>
                    <a:lstStyle/>
                    <a:p>
                      <a:r>
                        <a:rPr lang="en-US" sz="900" b="0" dirty="0"/>
                        <a:t>Lib verifier implementation</a:t>
                      </a:r>
                    </a:p>
                  </a:txBody>
                  <a:tcPr marL="68580" marR="68580" marT="34290" marB="34290" anchor="ctr"/>
                </a:tc>
                <a:extLst>
                  <a:ext uri="{0D108BD9-81ED-4DB2-BD59-A6C34878D82A}">
                    <a16:rowId xmlns:a16="http://schemas.microsoft.com/office/drawing/2014/main" val="10006"/>
                  </a:ext>
                </a:extLst>
              </a:tr>
              <a:tr h="178916">
                <a:tc>
                  <a:txBody>
                    <a:bodyPr/>
                    <a:lstStyle/>
                    <a:p>
                      <a:r>
                        <a:rPr lang="en-US" sz="900" dirty="0" err="1"/>
                        <a:t>lib_verifier</a:t>
                      </a:r>
                      <a:r>
                        <a:rPr lang="en-US" sz="900" dirty="0"/>
                        <a:t>/</a:t>
                      </a:r>
                      <a:r>
                        <a:rPr lang="en-US" sz="900" dirty="0" err="1"/>
                        <a:t>device_config.h</a:t>
                      </a:r>
                      <a:endParaRPr lang="en-US" sz="900" dirty="0"/>
                    </a:p>
                  </a:txBody>
                  <a:tcPr marL="68580" marR="68580" marT="34290" marB="34290" anchor="ctr"/>
                </a:tc>
                <a:tc>
                  <a:txBody>
                    <a:bodyPr/>
                    <a:lstStyle/>
                    <a:p>
                      <a:pPr algn="ctr"/>
                      <a:r>
                        <a:rPr lang="en-US" sz="900" dirty="0">
                          <a:solidFill>
                            <a:srgbClr val="00B050"/>
                          </a:solidFill>
                        </a:rPr>
                        <a:t>3</a:t>
                      </a:r>
                      <a:r>
                        <a:rPr lang="en-US" sz="900" baseline="30000" dirty="0">
                          <a:solidFill>
                            <a:srgbClr val="00B050"/>
                          </a:solidFill>
                        </a:rPr>
                        <a:t>rd</a:t>
                      </a:r>
                      <a:r>
                        <a:rPr lang="en-US" sz="900" dirty="0">
                          <a:solidFill>
                            <a:srgbClr val="00B050"/>
                          </a:solidFill>
                        </a:rPr>
                        <a:t> party can extend it</a:t>
                      </a:r>
                    </a:p>
                  </a:txBody>
                  <a:tcPr marL="68580" marR="68580" marT="34290" marB="34290" anchor="ctr"/>
                </a:tc>
                <a:tc>
                  <a:txBody>
                    <a:bodyPr/>
                    <a:lstStyle/>
                    <a:p>
                      <a:r>
                        <a:rPr lang="en-US" sz="900" b="0" dirty="0"/>
                        <a:t>Define the device’s configuration</a:t>
                      </a:r>
                    </a:p>
                  </a:txBody>
                  <a:tcPr marL="68580" marR="68580" marT="34290" marB="34290" anchor="ctr"/>
                </a:tc>
                <a:extLst>
                  <a:ext uri="{0D108BD9-81ED-4DB2-BD59-A6C34878D82A}">
                    <a16:rowId xmlns:a16="http://schemas.microsoft.com/office/drawing/2014/main" val="10007"/>
                  </a:ext>
                </a:extLst>
              </a:tr>
              <a:tr h="298193">
                <a:tc>
                  <a:txBody>
                    <a:bodyPr/>
                    <a:lstStyle/>
                    <a:p>
                      <a:r>
                        <a:rPr lang="en-US" sz="900" dirty="0" err="1"/>
                        <a:t>lib_verifier</a:t>
                      </a:r>
                      <a:r>
                        <a:rPr lang="en-US" sz="900" dirty="0"/>
                        <a:t>/</a:t>
                      </a:r>
                      <a:r>
                        <a:rPr lang="en-US" sz="900" dirty="0" err="1"/>
                        <a:t>test_case_config.h</a:t>
                      </a:r>
                      <a:endParaRPr lang="en-US" sz="900" dirty="0"/>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r>
                        <a:rPr lang="en-US" sz="900" b="0" dirty="0"/>
                        <a:t>Define the test case which is depends on aurisys</a:t>
                      </a:r>
                      <a:r>
                        <a:rPr lang="en-US" sz="900" b="0" baseline="0" dirty="0"/>
                        <a:t> lib’s capability</a:t>
                      </a:r>
                      <a:endParaRPr lang="en-US" sz="900" b="0" dirty="0"/>
                    </a:p>
                  </a:txBody>
                  <a:tcPr marL="68580" marR="68580" marT="34290" marB="34290" anchor="ctr"/>
                </a:tc>
                <a:extLst>
                  <a:ext uri="{0D108BD9-81ED-4DB2-BD59-A6C34878D82A}">
                    <a16:rowId xmlns:a16="http://schemas.microsoft.com/office/drawing/2014/main" val="10008"/>
                  </a:ext>
                </a:extLst>
              </a:tr>
              <a:tr h="178916">
                <a:tc>
                  <a:txBody>
                    <a:bodyPr/>
                    <a:lstStyle/>
                    <a:p>
                      <a:r>
                        <a:rPr lang="en-US" sz="900" dirty="0" err="1"/>
                        <a:t>lib_verifier</a:t>
                      </a:r>
                      <a:r>
                        <a:rPr lang="en-US" sz="900" dirty="0"/>
                        <a:t>/Android.mk</a:t>
                      </a:r>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err="1"/>
                        <a:t>Makefile</a:t>
                      </a:r>
                      <a:r>
                        <a:rPr lang="en-US" sz="900" b="0" dirty="0"/>
                        <a:t> for Android build system</a:t>
                      </a:r>
                    </a:p>
                  </a:txBody>
                  <a:tcPr marL="68580" marR="68580" marT="34290" marB="34290" anchor="ctr"/>
                </a:tc>
                <a:extLst>
                  <a:ext uri="{0D108BD9-81ED-4DB2-BD59-A6C34878D82A}">
                    <a16:rowId xmlns:a16="http://schemas.microsoft.com/office/drawing/2014/main" val="10009"/>
                  </a:ext>
                </a:extLst>
              </a:tr>
              <a:tr h="178916">
                <a:tc>
                  <a:txBody>
                    <a:bodyPr/>
                    <a:lstStyle/>
                    <a:p>
                      <a:r>
                        <a:rPr lang="en-US" sz="900" dirty="0"/>
                        <a:t>lib_verifier/</a:t>
                      </a:r>
                      <a:r>
                        <a:rPr lang="en-US" sz="900" dirty="0" err="1"/>
                        <a:t>makefile</a:t>
                      </a:r>
                      <a:endParaRPr lang="en-US" sz="900" dirty="0"/>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GNU </a:t>
                      </a:r>
                      <a:r>
                        <a:rPr lang="en-US" sz="900" b="0" dirty="0" err="1"/>
                        <a:t>makefile</a:t>
                      </a:r>
                      <a:r>
                        <a:rPr lang="en-US" sz="900" b="0" dirty="0"/>
                        <a:t> for linux</a:t>
                      </a:r>
                    </a:p>
                  </a:txBody>
                  <a:tcPr marL="68580" marR="68580" marT="34290" marB="34290" anchor="ctr"/>
                </a:tc>
                <a:extLst>
                  <a:ext uri="{0D108BD9-81ED-4DB2-BD59-A6C34878D82A}">
                    <a16:rowId xmlns:a16="http://schemas.microsoft.com/office/drawing/2014/main" val="10010"/>
                  </a:ext>
                </a:extLst>
              </a:tr>
              <a:tr h="775301">
                <a:tc>
                  <a:txBody>
                    <a:bodyPr/>
                    <a:lstStyle/>
                    <a:p>
                      <a:r>
                        <a:rPr lang="en-US" sz="900" dirty="0"/>
                        <a:t>.settings</a:t>
                      </a:r>
                    </a:p>
                    <a:p>
                      <a:r>
                        <a:rPr lang="en-US" sz="900" dirty="0"/>
                        <a:t>Bin</a:t>
                      </a:r>
                    </a:p>
                    <a:p>
                      <a:r>
                        <a:rPr lang="en-US" sz="900" dirty="0"/>
                        <a:t>.</a:t>
                      </a:r>
                      <a:r>
                        <a:rPr lang="en-US" sz="900" dirty="0" err="1"/>
                        <a:t>cproject</a:t>
                      </a:r>
                      <a:endParaRPr lang="en-US" sz="900" dirty="0"/>
                    </a:p>
                    <a:p>
                      <a:r>
                        <a:rPr lang="en-US" sz="900" dirty="0"/>
                        <a:t>.project</a:t>
                      </a:r>
                    </a:p>
                    <a:p>
                      <a:r>
                        <a:rPr lang="en-US" sz="900" dirty="0" err="1"/>
                        <a:t>Xxproject</a:t>
                      </a:r>
                      <a:endParaRPr lang="en-US" sz="900" dirty="0"/>
                    </a:p>
                    <a:p>
                      <a:r>
                        <a:rPr lang="en-US" sz="900" dirty="0" err="1"/>
                        <a:t>Makefile</a:t>
                      </a:r>
                      <a:endParaRPr lang="en-US" sz="900" dirty="0"/>
                    </a:p>
                  </a:txBody>
                  <a:tcPr marL="68580" marR="68580" marT="34290" marB="34290" anchor="ctr"/>
                </a:tc>
                <a:tc>
                  <a:txBody>
                    <a:bodyPr/>
                    <a:lstStyle/>
                    <a:p>
                      <a:pPr algn="ctr"/>
                      <a:r>
                        <a:rPr lang="en-US"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Xplorer simulator project</a:t>
                      </a:r>
                      <a:r>
                        <a:rPr lang="en-US" sz="900" b="0" baseline="0" dirty="0"/>
                        <a:t> files</a:t>
                      </a:r>
                      <a:endParaRPr lang="en-US" sz="900" b="0" dirty="0"/>
                    </a:p>
                  </a:txBody>
                  <a:tcPr marL="68580" marR="68580" marT="34290" marB="34290" anchor="ctr"/>
                </a:tc>
                <a:extLst>
                  <a:ext uri="{0D108BD9-81ED-4DB2-BD59-A6C34878D82A}">
                    <a16:rowId xmlns:a16="http://schemas.microsoft.com/office/drawing/2014/main" val="10011"/>
                  </a:ext>
                </a:extLst>
              </a:tr>
              <a:tr h="346746">
                <a:tc>
                  <a:txBody>
                    <a:bodyPr/>
                    <a:lstStyle/>
                    <a:p>
                      <a:r>
                        <a:rPr lang="en-US" sz="900" dirty="0" err="1"/>
                        <a:t>src</a:t>
                      </a:r>
                      <a:r>
                        <a:rPr lang="en-US" sz="900" dirty="0"/>
                        <a:t>/</a:t>
                      </a:r>
                    </a:p>
                    <a:p>
                      <a:r>
                        <a:rPr lang="en-US" sz="900" dirty="0"/>
                        <a:t>test/</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900" dirty="0">
                          <a:solidFill>
                            <a:srgbClr val="00B050"/>
                          </a:solidFill>
                        </a:rPr>
                        <a:t>Yes</a:t>
                      </a:r>
                    </a:p>
                  </a:txBody>
                  <a:tcPr marL="68580" marR="68580" marT="34290" marB="3429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b="0" dirty="0"/>
                        <a:t>MRV PDK project files</a:t>
                      </a:r>
                    </a:p>
                  </a:txBody>
                  <a:tcPr marL="68580" marR="68580" marT="34290" marB="34290" anchor="ctr"/>
                </a:tc>
                <a:extLst>
                  <a:ext uri="{0D108BD9-81ED-4DB2-BD59-A6C34878D82A}">
                    <a16:rowId xmlns:a16="http://schemas.microsoft.com/office/drawing/2014/main" val="989329291"/>
                  </a:ext>
                </a:extLst>
              </a:tr>
            </a:tbl>
          </a:graphicData>
        </a:graphic>
      </p:graphicFrame>
      <p:sp>
        <p:nvSpPr>
          <p:cNvPr id="2" name="標題 1"/>
          <p:cNvSpPr>
            <a:spLocks noGrp="1"/>
          </p:cNvSpPr>
          <p:nvPr>
            <p:ph type="title"/>
          </p:nvPr>
        </p:nvSpPr>
        <p:spPr>
          <a:xfrm>
            <a:off x="323850" y="31159"/>
            <a:ext cx="8218488" cy="720464"/>
          </a:xfrm>
        </p:spPr>
        <p:txBody>
          <a:bodyPr/>
          <a:lstStyle/>
          <a:p>
            <a:r>
              <a:rPr lang="en-US" dirty="0"/>
              <a:t>File/Folder Structure Description</a:t>
            </a:r>
          </a:p>
        </p:txBody>
      </p:sp>
      <p:sp>
        <p:nvSpPr>
          <p:cNvPr id="3" name="投影片編號版面配置區 2">
            <a:extLst>
              <a:ext uri="{FF2B5EF4-FFF2-40B4-BE49-F238E27FC236}">
                <a16:creationId xmlns:a16="http://schemas.microsoft.com/office/drawing/2014/main" id="{571B10A0-00A1-45CD-BFAB-51974053F898}"/>
              </a:ext>
            </a:extLst>
          </p:cNvPr>
          <p:cNvSpPr>
            <a:spLocks noGrp="1"/>
          </p:cNvSpPr>
          <p:nvPr>
            <p:ph type="sldNum" sz="quarter" idx="4"/>
          </p:nvPr>
        </p:nvSpPr>
        <p:spPr/>
        <p:txBody>
          <a:bodyPr/>
          <a:lstStyle/>
          <a:p>
            <a:fld id="{0AEF9A4B-07C9-404C-9053-A3A2AC3AD5D6}" type="slidenum">
              <a:rPr lang="en-GB" smtClean="0"/>
              <a:pPr/>
              <a:t>5</a:t>
            </a:fld>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0"/>
          </p:nvPr>
        </p:nvSpPr>
        <p:spPr/>
        <p:txBody>
          <a:bodyPr>
            <a:normAutofit/>
          </a:bodyPr>
          <a:lstStyle/>
          <a:p>
            <a:r>
              <a:rPr lang="en-US" dirty="0"/>
              <a:t>Build demo lib &amp; lib verifier</a:t>
            </a:r>
          </a:p>
          <a:p>
            <a:pPr lvl="1"/>
            <a:r>
              <a:rPr lang="en-US" dirty="0" err="1"/>
              <a:t>cd</a:t>
            </a:r>
            <a:r>
              <a:rPr lang="en-US" dirty="0"/>
              <a:t> API/V1.x.x/</a:t>
            </a:r>
            <a:r>
              <a:rPr lang="en-US" dirty="0" err="1"/>
              <a:t>lib_verifier</a:t>
            </a:r>
            <a:endParaRPr lang="en-US" dirty="0"/>
          </a:p>
          <a:p>
            <a:pPr lvl="1"/>
            <a:r>
              <a:rPr lang="en-US" dirty="0"/>
              <a:t>make</a:t>
            </a:r>
          </a:p>
          <a:p>
            <a:pPr lvl="1"/>
            <a:endParaRPr lang="en-US" dirty="0"/>
          </a:p>
          <a:p>
            <a:pPr lvl="1"/>
            <a:endParaRPr lang="en-US" dirty="0"/>
          </a:p>
          <a:p>
            <a:endParaRPr lang="en-US" dirty="0"/>
          </a:p>
          <a:p>
            <a:r>
              <a:rPr lang="en-US" dirty="0"/>
              <a:t>Run lib verifier &amp; output test result to test_result.txt</a:t>
            </a:r>
          </a:p>
          <a:p>
            <a:pPr lvl="1"/>
            <a:r>
              <a:rPr lang="en-US" dirty="0"/>
              <a:t>./</a:t>
            </a:r>
            <a:r>
              <a:rPr lang="en-US" dirty="0" err="1"/>
              <a:t>aurisys_lib_verifier</a:t>
            </a:r>
            <a:r>
              <a:rPr lang="en-US" dirty="0"/>
              <a:t> &gt; test_result.txt</a:t>
            </a:r>
          </a:p>
          <a:p>
            <a:r>
              <a:rPr lang="en-US" dirty="0"/>
              <a:t>You can check the test_result.txt to know the failure case &amp; related debug message</a:t>
            </a:r>
          </a:p>
          <a:p>
            <a:pPr lvl="1"/>
            <a:endParaRPr lang="en-US" dirty="0"/>
          </a:p>
          <a:p>
            <a:pPr lvl="1"/>
            <a:endParaRPr lang="en-US" dirty="0"/>
          </a:p>
        </p:txBody>
      </p:sp>
      <p:sp>
        <p:nvSpPr>
          <p:cNvPr id="2" name="標題 1"/>
          <p:cNvSpPr>
            <a:spLocks noGrp="1"/>
          </p:cNvSpPr>
          <p:nvPr>
            <p:ph type="title"/>
          </p:nvPr>
        </p:nvSpPr>
        <p:spPr/>
        <p:txBody>
          <a:bodyPr>
            <a:normAutofit fontScale="90000"/>
          </a:bodyPr>
          <a:lstStyle/>
          <a:p>
            <a:r>
              <a:rPr lang="en-US" dirty="0"/>
              <a:t>x86 linux environment </a:t>
            </a:r>
            <a:br>
              <a:rPr lang="en-US" dirty="0"/>
            </a:br>
            <a:r>
              <a:rPr lang="en-US" dirty="0"/>
              <a:t>-Build/Run Demo Lib &amp; Lib Verifier</a:t>
            </a:r>
          </a:p>
        </p:txBody>
      </p:sp>
      <p:pic>
        <p:nvPicPr>
          <p:cNvPr id="1027" name="Picture 3"/>
          <p:cNvPicPr>
            <a:picLocks noChangeAspect="1" noChangeArrowheads="1"/>
          </p:cNvPicPr>
          <p:nvPr/>
        </p:nvPicPr>
        <p:blipFill>
          <a:blip r:embed="rId2" cstate="print"/>
          <a:srcRect/>
          <a:stretch>
            <a:fillRect/>
          </a:stretch>
        </p:blipFill>
        <p:spPr bwMode="auto">
          <a:xfrm>
            <a:off x="1817694" y="2000393"/>
            <a:ext cx="6815818" cy="720464"/>
          </a:xfrm>
          <a:prstGeom prst="rect">
            <a:avLst/>
          </a:prstGeom>
          <a:noFill/>
          <a:ln w="9525">
            <a:noFill/>
            <a:miter lim="800000"/>
            <a:headEnd/>
            <a:tailEnd/>
          </a:ln>
        </p:spPr>
      </p:pic>
      <p:sp>
        <p:nvSpPr>
          <p:cNvPr id="4" name="投影片編號版面配置區 3">
            <a:extLst>
              <a:ext uri="{FF2B5EF4-FFF2-40B4-BE49-F238E27FC236}">
                <a16:creationId xmlns:a16="http://schemas.microsoft.com/office/drawing/2014/main" id="{62297162-AE47-4916-A398-9C69E00FDE7B}"/>
              </a:ext>
            </a:extLst>
          </p:cNvPr>
          <p:cNvSpPr>
            <a:spLocks noGrp="1"/>
          </p:cNvSpPr>
          <p:nvPr>
            <p:ph type="sldNum" sz="quarter" idx="4"/>
          </p:nvPr>
        </p:nvSpPr>
        <p:spPr/>
        <p:txBody>
          <a:bodyPr/>
          <a:lstStyle/>
          <a:p>
            <a:fld id="{0AEF9A4B-07C9-404C-9053-A3A2AC3AD5D6}" type="slidenum">
              <a:rPr lang="en-GB" smtClean="0"/>
              <a:pPr/>
              <a:t>6</a:t>
            </a:fld>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0"/>
          </p:nvPr>
        </p:nvSpPr>
        <p:spPr>
          <a:xfrm>
            <a:off x="323849" y="1007706"/>
            <a:ext cx="7467340" cy="3707363"/>
          </a:xfrm>
        </p:spPr>
        <p:txBody>
          <a:bodyPr>
            <a:noAutofit/>
          </a:bodyPr>
          <a:lstStyle/>
          <a:p>
            <a:r>
              <a:rPr lang="en-US" sz="1200" dirty="0"/>
              <a:t>Build demo lib &amp; lib verifier on Android BSP</a:t>
            </a:r>
          </a:p>
          <a:p>
            <a:pPr lvl="1"/>
            <a:r>
              <a:rPr lang="en-US" sz="1050" dirty="0"/>
              <a:t>Copy API/V1.x.x to $ANDROID_ROOT/vendor/</a:t>
            </a:r>
            <a:r>
              <a:rPr lang="en-US" sz="1050" dirty="0" err="1"/>
              <a:t>mediatek</a:t>
            </a:r>
            <a:r>
              <a:rPr lang="en-US" sz="1050" dirty="0"/>
              <a:t>/proprietary/external/</a:t>
            </a:r>
            <a:r>
              <a:rPr lang="en-US" sz="1050" dirty="0" err="1"/>
              <a:t>lib_verifier</a:t>
            </a:r>
            <a:endParaRPr lang="en-US" sz="1050" dirty="0"/>
          </a:p>
          <a:p>
            <a:pPr lvl="1"/>
            <a:r>
              <a:rPr lang="en-US" sz="1050" dirty="0" err="1"/>
              <a:t>cd</a:t>
            </a:r>
            <a:r>
              <a:rPr lang="en-US" sz="1050" dirty="0"/>
              <a:t> $ANDROID_ROOT</a:t>
            </a:r>
          </a:p>
          <a:p>
            <a:pPr lvl="1"/>
            <a:r>
              <a:rPr lang="en-US" sz="1050" dirty="0"/>
              <a:t>Build demo library</a:t>
            </a:r>
          </a:p>
          <a:p>
            <a:pPr lvl="2"/>
            <a:r>
              <a:rPr lang="en-US" sz="825" dirty="0"/>
              <a:t>make </a:t>
            </a:r>
            <a:r>
              <a:rPr lang="en-US" sz="825" dirty="0" err="1"/>
              <a:t>libaurisysdemo</a:t>
            </a:r>
            <a:endParaRPr lang="en-US" sz="825" dirty="0"/>
          </a:p>
          <a:p>
            <a:pPr lvl="1"/>
            <a:r>
              <a:rPr lang="en-US" sz="1050" dirty="0"/>
              <a:t>Build lib verifier</a:t>
            </a:r>
          </a:p>
          <a:p>
            <a:pPr lvl="2"/>
            <a:r>
              <a:rPr lang="en-US" sz="825" dirty="0"/>
              <a:t>make </a:t>
            </a:r>
            <a:r>
              <a:rPr lang="en-US" sz="825" dirty="0" err="1"/>
              <a:t>aurisys_lib_verifier</a:t>
            </a:r>
            <a:endParaRPr lang="en-US" sz="900" dirty="0"/>
          </a:p>
          <a:p>
            <a:r>
              <a:rPr lang="en-US" sz="1200" dirty="0"/>
              <a:t>Push demo lib &amp; lib verifier to device</a:t>
            </a:r>
          </a:p>
          <a:p>
            <a:pPr lvl="1"/>
            <a:r>
              <a:rPr lang="en-US" sz="1050" dirty="0" err="1"/>
              <a:t>adb</a:t>
            </a:r>
            <a:r>
              <a:rPr lang="en-US" sz="1050" dirty="0"/>
              <a:t> root &amp; </a:t>
            </a:r>
            <a:r>
              <a:rPr lang="en-US" sz="1050" dirty="0" err="1"/>
              <a:t>adb</a:t>
            </a:r>
            <a:r>
              <a:rPr lang="en-US" sz="1050" dirty="0"/>
              <a:t> remount</a:t>
            </a:r>
          </a:p>
          <a:p>
            <a:pPr lvl="1"/>
            <a:r>
              <a:rPr lang="en-US" sz="1050" dirty="0" err="1"/>
              <a:t>adb</a:t>
            </a:r>
            <a:r>
              <a:rPr lang="en-US" sz="1050" dirty="0"/>
              <a:t> push out/target/product/$PROJECT/vendor/lib/</a:t>
            </a:r>
            <a:r>
              <a:rPr lang="en-US" sz="1050" dirty="0" err="1"/>
              <a:t>libaurisysdemo.so</a:t>
            </a:r>
            <a:r>
              <a:rPr lang="en-US" sz="1050" dirty="0"/>
              <a:t> /vendor/lib/</a:t>
            </a:r>
          </a:p>
          <a:p>
            <a:pPr lvl="1"/>
            <a:r>
              <a:rPr lang="en-US" sz="1050" dirty="0" err="1"/>
              <a:t>adb</a:t>
            </a:r>
            <a:r>
              <a:rPr lang="en-US" sz="1050" dirty="0"/>
              <a:t> push out/target/product/$PROJECT/vendor/bin/</a:t>
            </a:r>
            <a:r>
              <a:rPr lang="en-US" sz="1050" dirty="0" err="1"/>
              <a:t>aurisys_lib_verifier</a:t>
            </a:r>
            <a:r>
              <a:rPr lang="en-US" sz="1050" dirty="0"/>
              <a:t> /vendor/bin/</a:t>
            </a:r>
          </a:p>
          <a:p>
            <a:pPr lvl="1"/>
            <a:r>
              <a:rPr lang="en-US" sz="1050" dirty="0" err="1"/>
              <a:t>adb</a:t>
            </a:r>
            <a:r>
              <a:rPr lang="en-US" sz="1050" dirty="0"/>
              <a:t> shell </a:t>
            </a:r>
            <a:r>
              <a:rPr lang="en-US" sz="1050" dirty="0" err="1"/>
              <a:t>chmod</a:t>
            </a:r>
            <a:r>
              <a:rPr lang="en-US" sz="1050" dirty="0"/>
              <a:t> 777 /vendor/bin/</a:t>
            </a:r>
            <a:r>
              <a:rPr lang="en-US" sz="1050" dirty="0" err="1"/>
              <a:t>aurisys_lib_verifier</a:t>
            </a:r>
            <a:endParaRPr lang="en-US" sz="1050" dirty="0"/>
          </a:p>
          <a:p>
            <a:r>
              <a:rPr lang="en-US" sz="1200" dirty="0"/>
              <a:t>Run lib verifier &amp; output log to lib_verifier_test_result.txt</a:t>
            </a:r>
          </a:p>
          <a:p>
            <a:pPr lvl="1"/>
            <a:r>
              <a:rPr lang="en-US" sz="1050" dirty="0" err="1"/>
              <a:t>adb</a:t>
            </a:r>
            <a:r>
              <a:rPr lang="en-US" sz="1050" dirty="0"/>
              <a:t> shell "</a:t>
            </a:r>
            <a:r>
              <a:rPr lang="en-US" sz="1050" dirty="0" err="1"/>
              <a:t>aurisys_lib_verifier</a:t>
            </a:r>
            <a:r>
              <a:rPr lang="en-US" sz="1050" dirty="0"/>
              <a:t> &gt; /</a:t>
            </a:r>
            <a:r>
              <a:rPr lang="en-US" sz="1050" dirty="0" err="1"/>
              <a:t>sdcard</a:t>
            </a:r>
            <a:r>
              <a:rPr lang="en-US" sz="1050" dirty="0"/>
              <a:t>/lib_verifier_test_result.txt"</a:t>
            </a:r>
          </a:p>
          <a:p>
            <a:r>
              <a:rPr lang="en-US" sz="1200" dirty="0"/>
              <a:t>You can check the lib_verifier_test_result.txt to know the failure case &amp; related debug message</a:t>
            </a:r>
          </a:p>
        </p:txBody>
      </p:sp>
      <p:sp>
        <p:nvSpPr>
          <p:cNvPr id="2" name="標題 1"/>
          <p:cNvSpPr>
            <a:spLocks noGrp="1"/>
          </p:cNvSpPr>
          <p:nvPr>
            <p:ph type="title"/>
          </p:nvPr>
        </p:nvSpPr>
        <p:spPr/>
        <p:txBody>
          <a:bodyPr>
            <a:normAutofit fontScale="90000"/>
          </a:bodyPr>
          <a:lstStyle/>
          <a:p>
            <a:r>
              <a:rPr lang="en-US" dirty="0"/>
              <a:t>Android environment </a:t>
            </a:r>
            <a:br>
              <a:rPr lang="en-US" dirty="0"/>
            </a:br>
            <a:r>
              <a:rPr lang="en-US" altLang="zh-TW" sz="2800" dirty="0"/>
              <a:t>– </a:t>
            </a:r>
            <a:r>
              <a:rPr lang="en-US" dirty="0"/>
              <a:t>Build/Run Demo Lib &amp; Lib Verifier</a:t>
            </a:r>
          </a:p>
        </p:txBody>
      </p:sp>
      <p:pic>
        <p:nvPicPr>
          <p:cNvPr id="1026" name="Picture 2"/>
          <p:cNvPicPr>
            <a:picLocks noChangeAspect="1" noChangeArrowheads="1"/>
          </p:cNvPicPr>
          <p:nvPr/>
        </p:nvPicPr>
        <p:blipFill>
          <a:blip r:embed="rId2" cstate="print"/>
          <a:srcRect/>
          <a:stretch>
            <a:fillRect/>
          </a:stretch>
        </p:blipFill>
        <p:spPr bwMode="auto">
          <a:xfrm>
            <a:off x="4823707" y="1591099"/>
            <a:ext cx="3996444" cy="671319"/>
          </a:xfrm>
          <a:prstGeom prst="rect">
            <a:avLst/>
          </a:prstGeom>
          <a:noFill/>
          <a:ln w="9525">
            <a:noFill/>
            <a:miter lim="800000"/>
            <a:headEnd/>
            <a:tailEnd/>
          </a:ln>
        </p:spPr>
      </p:pic>
      <p:sp>
        <p:nvSpPr>
          <p:cNvPr id="4" name="投影片編號版面配置區 3">
            <a:extLst>
              <a:ext uri="{FF2B5EF4-FFF2-40B4-BE49-F238E27FC236}">
                <a16:creationId xmlns:a16="http://schemas.microsoft.com/office/drawing/2014/main" id="{946D5885-8E0D-48B5-8151-FC4294AACAB8}"/>
              </a:ext>
            </a:extLst>
          </p:cNvPr>
          <p:cNvSpPr>
            <a:spLocks noGrp="1"/>
          </p:cNvSpPr>
          <p:nvPr>
            <p:ph type="sldNum" sz="quarter" idx="4"/>
          </p:nvPr>
        </p:nvSpPr>
        <p:spPr/>
        <p:txBody>
          <a:bodyPr/>
          <a:lstStyle/>
          <a:p>
            <a:fld id="{0AEF9A4B-07C9-404C-9053-A3A2AC3AD5D6}" type="slidenum">
              <a:rPr lang="en-GB" smtClean="0"/>
              <a:pPr/>
              <a:t>7</a:t>
            </a:fld>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txBox="1">
            <a:spLocks/>
          </p:cNvSpPr>
          <p:nvPr/>
        </p:nvSpPr>
        <p:spPr>
          <a:xfrm>
            <a:off x="1795890" y="1026672"/>
            <a:ext cx="6286500" cy="3543300"/>
          </a:xfrm>
          <a:prstGeom prst="rect">
            <a:avLst/>
          </a:prstGeom>
        </p:spPr>
        <p:txBody>
          <a:bodyPr>
            <a:normAutofit/>
          </a:bodyPr>
          <a:lstStyle/>
          <a:p>
            <a:pPr marL="385763" indent="-385763" defTabSz="342900">
              <a:spcBef>
                <a:spcPct val="20000"/>
              </a:spcBef>
              <a:buClr>
                <a:schemeClr val="accent1"/>
              </a:buClr>
              <a:buFont typeface="Lucida Grande"/>
              <a:buAutoNum type="arabicPeriod"/>
              <a:defRPr/>
            </a:pPr>
            <a:r>
              <a:rPr lang="en-US" sz="1200" dirty="0"/>
              <a:t>Put</a:t>
            </a:r>
            <a:r>
              <a:rPr lang="en-US" sz="1200" dirty="0">
                <a:solidFill>
                  <a:srgbClr val="0070C0"/>
                </a:solidFill>
              </a:rPr>
              <a:t> CONFIG\HiFi3</a:t>
            </a:r>
            <a:r>
              <a:rPr lang="en-US" altLang="zh-TW" sz="1200" dirty="0">
                <a:solidFill>
                  <a:srgbClr val="0070C0"/>
                </a:solidFill>
              </a:rPr>
              <a:t>\</a:t>
            </a:r>
            <a:r>
              <a:rPr lang="en-US" sz="1200" dirty="0">
                <a:solidFill>
                  <a:srgbClr val="0070C0"/>
                </a:solidFill>
              </a:rPr>
              <a:t>hifi3_eiger_win32.tgz </a:t>
            </a:r>
            <a:r>
              <a:rPr lang="en-US" sz="1200" dirty="0"/>
              <a:t>under {install root}\</a:t>
            </a:r>
            <a:r>
              <a:rPr lang="en-US" sz="1200" dirty="0" err="1"/>
              <a:t>XtDevTools</a:t>
            </a:r>
            <a:r>
              <a:rPr lang="en-US" sz="1200" dirty="0"/>
              <a:t>\downloads\RG-2016.4\builds </a:t>
            </a:r>
            <a:endParaRPr lang="en-US" sz="900" dirty="0"/>
          </a:p>
          <a:p>
            <a:pPr marL="385763" indent="-385763" defTabSz="342900">
              <a:spcBef>
                <a:spcPct val="20000"/>
              </a:spcBef>
              <a:buClr>
                <a:schemeClr val="accent1"/>
              </a:buClr>
              <a:buFont typeface="+mj-lt"/>
              <a:buAutoNum type="arabicPeriod" startAt="2"/>
              <a:defRPr/>
            </a:pPr>
            <a:r>
              <a:rPr lang="en-US" sz="1200" dirty="0"/>
              <a:t>IDE open XPG View and install </a:t>
            </a:r>
            <a:r>
              <a:rPr lang="en-US" sz="1200" dirty="0">
                <a:solidFill>
                  <a:srgbClr val="0070C0"/>
                </a:solidFill>
              </a:rPr>
              <a:t>hifi3_eiger_win32.tgz &amp; RG-2017-6 package</a:t>
            </a: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385763" indent="-385763" defTabSz="342900">
              <a:spcBef>
                <a:spcPct val="20000"/>
              </a:spcBef>
              <a:buClr>
                <a:schemeClr val="accent1"/>
              </a:buClr>
              <a:buFont typeface="Lucida Grande"/>
              <a:buAutoNum type="arabicPeriod" startAt="2"/>
              <a:defRPr/>
            </a:pPr>
            <a:endParaRPr lang="en-US" sz="1200" dirty="0"/>
          </a:p>
          <a:p>
            <a:pPr marL="257175" indent="-257175" defTabSz="342900">
              <a:spcBef>
                <a:spcPct val="20000"/>
              </a:spcBef>
              <a:buClr>
                <a:schemeClr val="accent1"/>
              </a:buClr>
              <a:buFont typeface="Lucida Grande"/>
              <a:buChar char="▪"/>
              <a:defRPr/>
            </a:pPr>
            <a:endParaRPr lang="en-US" sz="1200" dirty="0"/>
          </a:p>
          <a:p>
            <a:pPr marL="385763" indent="-385763" defTabSz="342900">
              <a:spcBef>
                <a:spcPct val="20000"/>
              </a:spcBef>
              <a:buClr>
                <a:schemeClr val="accent1"/>
              </a:buClr>
              <a:buFont typeface="Lucida Grande"/>
              <a:buAutoNum type="arabicPeriod" startAt="2"/>
              <a:defRPr/>
            </a:pPr>
            <a:r>
              <a:rPr lang="en-US" sz="1200" dirty="0"/>
              <a:t>After installation done, you can find the hifi3_eiger HW configure </a:t>
            </a:r>
          </a:p>
          <a:p>
            <a:pPr marL="385763" indent="-385763" defTabSz="342900">
              <a:spcBef>
                <a:spcPct val="20000"/>
              </a:spcBef>
              <a:buClr>
                <a:schemeClr val="accent1"/>
              </a:buClr>
              <a:buFont typeface="Lucida Grande"/>
              <a:buChar char="▪"/>
              <a:defRPr/>
            </a:pPr>
            <a:endParaRPr lang="en-US" sz="1200" dirty="0"/>
          </a:p>
          <a:p>
            <a:pPr marL="385763" indent="-385763" defTabSz="342900">
              <a:spcBef>
                <a:spcPct val="20000"/>
              </a:spcBef>
              <a:buClr>
                <a:schemeClr val="accent1"/>
              </a:buClr>
              <a:buFont typeface="Lucida Grande"/>
              <a:buChar char="▪"/>
              <a:defRPr/>
            </a:pPr>
            <a:r>
              <a:rPr lang="en-US" sz="1200" dirty="0"/>
              <a:t>	</a:t>
            </a:r>
          </a:p>
          <a:p>
            <a:pPr marL="385763" indent="-385763" defTabSz="342900">
              <a:spcBef>
                <a:spcPct val="20000"/>
              </a:spcBef>
              <a:buClr>
                <a:schemeClr val="accent1"/>
              </a:buClr>
              <a:buFont typeface="Lucida Grande"/>
              <a:buChar char="▪"/>
              <a:defRPr/>
            </a:pPr>
            <a:endParaRPr lang="en-US" sz="1200" dirty="0"/>
          </a:p>
        </p:txBody>
      </p:sp>
      <p:sp>
        <p:nvSpPr>
          <p:cNvPr id="2" name="標題 1"/>
          <p:cNvSpPr>
            <a:spLocks noGrp="1"/>
          </p:cNvSpPr>
          <p:nvPr>
            <p:ph type="title"/>
          </p:nvPr>
        </p:nvSpPr>
        <p:spPr/>
        <p:txBody>
          <a:bodyPr>
            <a:normAutofit fontScale="90000"/>
          </a:bodyPr>
          <a:lstStyle/>
          <a:p>
            <a:r>
              <a:rPr lang="en-US" sz="2400" dirty="0"/>
              <a:t>Xplorer Simulator </a:t>
            </a:r>
            <a:r>
              <a:rPr lang="en-US" altLang="zh-TW" sz="2400" dirty="0"/>
              <a:t>–</a:t>
            </a:r>
            <a:r>
              <a:rPr lang="en-US" sz="2400" dirty="0"/>
              <a:t> </a:t>
            </a:r>
            <a:r>
              <a:rPr lang="en-US" altLang="zh-TW" sz="2400" dirty="0"/>
              <a:t>Build/Run Demo Lib &amp; Lib Verifier</a:t>
            </a:r>
            <a:r>
              <a:rPr lang="zh-TW" altLang="en-US" sz="2400" dirty="0"/>
              <a:t> </a:t>
            </a:r>
            <a:br>
              <a:rPr lang="en-US" sz="2400" dirty="0"/>
            </a:br>
            <a:r>
              <a:rPr lang="en-US" altLang="zh-TW" sz="2400" dirty="0"/>
              <a:t>–</a:t>
            </a:r>
            <a:r>
              <a:rPr lang="zh-TW" altLang="en-US" sz="2400" dirty="0"/>
              <a:t> </a:t>
            </a:r>
            <a:r>
              <a:rPr lang="en-US" altLang="zh-TW" sz="2400" dirty="0"/>
              <a:t>Install MTK HW Configuration</a:t>
            </a:r>
            <a:endParaRPr lang="en-US" sz="2400" dirty="0"/>
          </a:p>
        </p:txBody>
      </p:sp>
      <p:pic>
        <p:nvPicPr>
          <p:cNvPr id="7" name="圖片 6"/>
          <p:cNvPicPr>
            <a:picLocks noChangeAspect="1"/>
          </p:cNvPicPr>
          <p:nvPr/>
        </p:nvPicPr>
        <p:blipFill>
          <a:blip r:embed="rId2" cstate="print"/>
          <a:stretch>
            <a:fillRect/>
          </a:stretch>
        </p:blipFill>
        <p:spPr>
          <a:xfrm>
            <a:off x="2148014" y="1750769"/>
            <a:ext cx="3396094" cy="982999"/>
          </a:xfrm>
          <a:prstGeom prst="rect">
            <a:avLst/>
          </a:prstGeom>
        </p:spPr>
      </p:pic>
      <p:sp>
        <p:nvSpPr>
          <p:cNvPr id="10" name="橢圓 9"/>
          <p:cNvSpPr/>
          <p:nvPr/>
        </p:nvSpPr>
        <p:spPr>
          <a:xfrm>
            <a:off x="2906233" y="1684111"/>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1</a:t>
            </a:r>
          </a:p>
        </p:txBody>
      </p:sp>
      <p:sp>
        <p:nvSpPr>
          <p:cNvPr id="11" name="橢圓 10"/>
          <p:cNvSpPr/>
          <p:nvPr/>
        </p:nvSpPr>
        <p:spPr>
          <a:xfrm>
            <a:off x="1925706" y="2339698"/>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2</a:t>
            </a:r>
          </a:p>
        </p:txBody>
      </p:sp>
      <p:sp>
        <p:nvSpPr>
          <p:cNvPr id="12" name="橢圓 11"/>
          <p:cNvSpPr/>
          <p:nvPr/>
        </p:nvSpPr>
        <p:spPr>
          <a:xfrm>
            <a:off x="3746188" y="2242268"/>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3</a:t>
            </a:r>
          </a:p>
        </p:txBody>
      </p:sp>
      <p:pic>
        <p:nvPicPr>
          <p:cNvPr id="8" name="圖片 7"/>
          <p:cNvPicPr>
            <a:picLocks noChangeAspect="1"/>
          </p:cNvPicPr>
          <p:nvPr/>
        </p:nvPicPr>
        <p:blipFill>
          <a:blip r:embed="rId3" cstate="print"/>
          <a:stretch>
            <a:fillRect/>
          </a:stretch>
        </p:blipFill>
        <p:spPr>
          <a:xfrm>
            <a:off x="2145604" y="2863653"/>
            <a:ext cx="2074919" cy="626199"/>
          </a:xfrm>
          <a:prstGeom prst="rect">
            <a:avLst/>
          </a:prstGeom>
        </p:spPr>
      </p:pic>
      <p:sp>
        <p:nvSpPr>
          <p:cNvPr id="13" name="橢圓 12"/>
          <p:cNvSpPr/>
          <p:nvPr/>
        </p:nvSpPr>
        <p:spPr>
          <a:xfrm>
            <a:off x="3129520" y="3241289"/>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4</a:t>
            </a:r>
          </a:p>
        </p:txBody>
      </p:sp>
      <p:pic>
        <p:nvPicPr>
          <p:cNvPr id="9" name="圖片 8"/>
          <p:cNvPicPr>
            <a:picLocks noChangeAspect="1"/>
          </p:cNvPicPr>
          <p:nvPr/>
        </p:nvPicPr>
        <p:blipFill>
          <a:blip r:embed="rId4" cstate="print"/>
          <a:stretch>
            <a:fillRect/>
          </a:stretch>
        </p:blipFill>
        <p:spPr>
          <a:xfrm>
            <a:off x="5914566" y="1707654"/>
            <a:ext cx="1807090" cy="1379243"/>
          </a:xfrm>
          <a:prstGeom prst="rect">
            <a:avLst/>
          </a:prstGeom>
        </p:spPr>
      </p:pic>
      <p:sp>
        <p:nvSpPr>
          <p:cNvPr id="14" name="橢圓 13"/>
          <p:cNvSpPr/>
          <p:nvPr/>
        </p:nvSpPr>
        <p:spPr>
          <a:xfrm>
            <a:off x="7666620" y="2634281"/>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5</a:t>
            </a:r>
          </a:p>
        </p:txBody>
      </p:sp>
      <p:pic>
        <p:nvPicPr>
          <p:cNvPr id="15" name="圖片 14"/>
          <p:cNvPicPr>
            <a:picLocks noChangeAspect="1"/>
          </p:cNvPicPr>
          <p:nvPr/>
        </p:nvPicPr>
        <p:blipFill>
          <a:blip r:embed="rId5" cstate="print"/>
          <a:stretch>
            <a:fillRect/>
          </a:stretch>
        </p:blipFill>
        <p:spPr>
          <a:xfrm>
            <a:off x="2370843" y="3867894"/>
            <a:ext cx="1391067" cy="1242138"/>
          </a:xfrm>
          <a:prstGeom prst="rect">
            <a:avLst/>
          </a:prstGeom>
        </p:spPr>
      </p:pic>
      <p:sp>
        <p:nvSpPr>
          <p:cNvPr id="16" name="矩形 15"/>
          <p:cNvSpPr/>
          <p:nvPr/>
        </p:nvSpPr>
        <p:spPr>
          <a:xfrm>
            <a:off x="2897814" y="4299942"/>
            <a:ext cx="270030" cy="10801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17" name="圖片 16"/>
          <p:cNvPicPr>
            <a:picLocks noChangeAspect="1"/>
          </p:cNvPicPr>
          <p:nvPr/>
        </p:nvPicPr>
        <p:blipFill>
          <a:blip r:embed="rId6" cstate="print"/>
          <a:stretch>
            <a:fillRect/>
          </a:stretch>
        </p:blipFill>
        <p:spPr>
          <a:xfrm>
            <a:off x="6341371" y="3225103"/>
            <a:ext cx="1579001" cy="1722911"/>
          </a:xfrm>
          <a:prstGeom prst="rect">
            <a:avLst/>
          </a:prstGeom>
        </p:spPr>
      </p:pic>
      <p:sp>
        <p:nvSpPr>
          <p:cNvPr id="18" name="橢圓 17"/>
          <p:cNvSpPr/>
          <p:nvPr/>
        </p:nvSpPr>
        <p:spPr>
          <a:xfrm>
            <a:off x="6931125" y="3986685"/>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6</a:t>
            </a:r>
          </a:p>
        </p:txBody>
      </p:sp>
      <p:sp>
        <p:nvSpPr>
          <p:cNvPr id="19" name="橢圓 18"/>
          <p:cNvSpPr/>
          <p:nvPr/>
        </p:nvSpPr>
        <p:spPr>
          <a:xfrm>
            <a:off x="6665407" y="4696903"/>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7</a:t>
            </a:r>
          </a:p>
        </p:txBody>
      </p:sp>
      <p:sp>
        <p:nvSpPr>
          <p:cNvPr id="22" name="圓角矩形圖說文字 21"/>
          <p:cNvSpPr/>
          <p:nvPr/>
        </p:nvSpPr>
        <p:spPr>
          <a:xfrm>
            <a:off x="4301970" y="1275606"/>
            <a:ext cx="3348372" cy="189456"/>
          </a:xfrm>
          <a:prstGeom prst="wedgeRoundRectCallout">
            <a:avLst>
              <a:gd name="adj1" fmla="val -36341"/>
              <a:gd name="adj2" fmla="val -80301"/>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25" dirty="0"/>
              <a:t>The config file is hw dependent, please contact the MTK </a:t>
            </a:r>
            <a:r>
              <a:rPr lang="en-US" sz="825" dirty="0" err="1"/>
              <a:t>adsp</a:t>
            </a:r>
            <a:r>
              <a:rPr lang="en-US" sz="825" dirty="0"/>
              <a:t> window</a:t>
            </a:r>
          </a:p>
        </p:txBody>
      </p:sp>
      <p:sp>
        <p:nvSpPr>
          <p:cNvPr id="25" name="投影片編號版面配置區 24">
            <a:extLst>
              <a:ext uri="{FF2B5EF4-FFF2-40B4-BE49-F238E27FC236}">
                <a16:creationId xmlns:a16="http://schemas.microsoft.com/office/drawing/2014/main" id="{CCF4FDD1-53EB-46D9-BA92-B032F2171C16}"/>
              </a:ext>
            </a:extLst>
          </p:cNvPr>
          <p:cNvSpPr>
            <a:spLocks noGrp="1"/>
          </p:cNvSpPr>
          <p:nvPr>
            <p:ph type="sldNum" sz="quarter" idx="4"/>
          </p:nvPr>
        </p:nvSpPr>
        <p:spPr/>
        <p:txBody>
          <a:bodyPr/>
          <a:lstStyle/>
          <a:p>
            <a:fld id="{0AEF9A4B-07C9-404C-9053-A3A2AC3AD5D6}" type="slidenum">
              <a:rPr lang="en-GB" smtClean="0"/>
              <a:pPr/>
              <a:t>8</a:t>
            </a:fld>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8">
            <a:extLst>
              <a:ext uri="{FF2B5EF4-FFF2-40B4-BE49-F238E27FC236}">
                <a16:creationId xmlns:a16="http://schemas.microsoft.com/office/drawing/2014/main" id="{F707A3A4-344B-4343-B12F-3401B46343EC}"/>
              </a:ext>
            </a:extLst>
          </p:cNvPr>
          <p:cNvSpPr>
            <a:spLocks noGrp="1"/>
          </p:cNvSpPr>
          <p:nvPr>
            <p:ph type="sldNum" sz="quarter" idx="4"/>
          </p:nvPr>
        </p:nvSpPr>
        <p:spPr/>
        <p:txBody>
          <a:bodyPr/>
          <a:lstStyle/>
          <a:p>
            <a:fld id="{0E646775-B2E7-47D2-938B-19843E53D65D}" type="slidenum">
              <a:rPr lang="zh-TW" altLang="en-US" smtClean="0"/>
              <a:pPr/>
              <a:t>9</a:t>
            </a:fld>
            <a:endParaRPr lang="zh-TW" altLang="en-US"/>
          </a:p>
        </p:txBody>
      </p:sp>
      <p:sp>
        <p:nvSpPr>
          <p:cNvPr id="17" name="內容版面配置區 16">
            <a:extLst>
              <a:ext uri="{FF2B5EF4-FFF2-40B4-BE49-F238E27FC236}">
                <a16:creationId xmlns:a16="http://schemas.microsoft.com/office/drawing/2014/main" id="{DFEAF453-30B1-44E1-8C4D-96A1EEAA5A1A}"/>
              </a:ext>
            </a:extLst>
          </p:cNvPr>
          <p:cNvSpPr>
            <a:spLocks noGrp="1"/>
          </p:cNvSpPr>
          <p:nvPr>
            <p:ph sz="quarter" idx="10"/>
          </p:nvPr>
        </p:nvSpPr>
        <p:spPr/>
        <p:txBody>
          <a:bodyPr/>
          <a:lstStyle/>
          <a:p>
            <a:endParaRPr lang="zh-TW" altLang="en-US" dirty="0"/>
          </a:p>
        </p:txBody>
      </p:sp>
      <p:sp>
        <p:nvSpPr>
          <p:cNvPr id="8" name="標題 7"/>
          <p:cNvSpPr>
            <a:spLocks noGrp="1"/>
          </p:cNvSpPr>
          <p:nvPr>
            <p:ph type="title"/>
          </p:nvPr>
        </p:nvSpPr>
        <p:spPr/>
        <p:txBody>
          <a:bodyPr>
            <a:normAutofit fontScale="90000"/>
          </a:bodyPr>
          <a:lstStyle/>
          <a:p>
            <a:r>
              <a:rPr lang="en-US" sz="2400" dirty="0"/>
              <a:t>Xplorer Simulator</a:t>
            </a:r>
            <a:br>
              <a:rPr lang="en-US" sz="2400" dirty="0"/>
            </a:br>
            <a:r>
              <a:rPr lang="en-US" sz="2400" dirty="0"/>
              <a:t>- Import Lib Verifier Workspace</a:t>
            </a:r>
          </a:p>
        </p:txBody>
      </p:sp>
      <p:pic>
        <p:nvPicPr>
          <p:cNvPr id="5" name="圖片 4"/>
          <p:cNvPicPr>
            <a:picLocks noChangeAspect="1"/>
          </p:cNvPicPr>
          <p:nvPr/>
        </p:nvPicPr>
        <p:blipFill>
          <a:blip r:embed="rId2" cstate="print"/>
          <a:stretch>
            <a:fillRect/>
          </a:stretch>
        </p:blipFill>
        <p:spPr>
          <a:xfrm>
            <a:off x="2411761" y="1113588"/>
            <a:ext cx="1332686" cy="1960425"/>
          </a:xfrm>
          <a:prstGeom prst="rect">
            <a:avLst/>
          </a:prstGeom>
        </p:spPr>
      </p:pic>
      <p:sp>
        <p:nvSpPr>
          <p:cNvPr id="10" name="橢圓 9"/>
          <p:cNvSpPr/>
          <p:nvPr/>
        </p:nvSpPr>
        <p:spPr>
          <a:xfrm>
            <a:off x="2210273" y="2617037"/>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1</a:t>
            </a:r>
          </a:p>
        </p:txBody>
      </p:sp>
      <p:pic>
        <p:nvPicPr>
          <p:cNvPr id="6" name="圖片 5"/>
          <p:cNvPicPr>
            <a:picLocks noChangeAspect="1"/>
          </p:cNvPicPr>
          <p:nvPr/>
        </p:nvPicPr>
        <p:blipFill>
          <a:blip r:embed="rId3" cstate="print"/>
          <a:stretch>
            <a:fillRect/>
          </a:stretch>
        </p:blipFill>
        <p:spPr>
          <a:xfrm>
            <a:off x="4463988" y="1113588"/>
            <a:ext cx="2207267" cy="1960425"/>
          </a:xfrm>
          <a:prstGeom prst="rect">
            <a:avLst/>
          </a:prstGeom>
        </p:spPr>
      </p:pic>
      <p:sp>
        <p:nvSpPr>
          <p:cNvPr id="11" name="橢圓 10"/>
          <p:cNvSpPr/>
          <p:nvPr/>
        </p:nvSpPr>
        <p:spPr>
          <a:xfrm>
            <a:off x="4472127" y="1872115"/>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2</a:t>
            </a:r>
          </a:p>
        </p:txBody>
      </p:sp>
      <p:pic>
        <p:nvPicPr>
          <p:cNvPr id="7" name="圖片 6"/>
          <p:cNvPicPr>
            <a:picLocks noChangeAspect="1"/>
          </p:cNvPicPr>
          <p:nvPr/>
        </p:nvPicPr>
        <p:blipFill>
          <a:blip r:embed="rId4" cstate="print"/>
          <a:stretch>
            <a:fillRect/>
          </a:stretch>
        </p:blipFill>
        <p:spPr>
          <a:xfrm>
            <a:off x="2465767" y="3273828"/>
            <a:ext cx="2432383" cy="1761660"/>
          </a:xfrm>
          <a:prstGeom prst="rect">
            <a:avLst/>
          </a:prstGeom>
        </p:spPr>
      </p:pic>
      <p:sp>
        <p:nvSpPr>
          <p:cNvPr id="12" name="橢圓 11"/>
          <p:cNvSpPr/>
          <p:nvPr/>
        </p:nvSpPr>
        <p:spPr>
          <a:xfrm>
            <a:off x="4898150" y="3560136"/>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3</a:t>
            </a:r>
          </a:p>
        </p:txBody>
      </p:sp>
      <p:sp>
        <p:nvSpPr>
          <p:cNvPr id="13" name="橢圓 12"/>
          <p:cNvSpPr/>
          <p:nvPr/>
        </p:nvSpPr>
        <p:spPr>
          <a:xfrm>
            <a:off x="4301971" y="4625153"/>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4</a:t>
            </a:r>
          </a:p>
        </p:txBody>
      </p:sp>
      <p:sp>
        <p:nvSpPr>
          <p:cNvPr id="14" name="文字方塊 13"/>
          <p:cNvSpPr txBox="1"/>
          <p:nvPr/>
        </p:nvSpPr>
        <p:spPr>
          <a:xfrm>
            <a:off x="5112061" y="3543858"/>
            <a:ext cx="2286203" cy="253916"/>
          </a:xfrm>
          <a:prstGeom prst="rect">
            <a:avLst/>
          </a:prstGeom>
          <a:noFill/>
        </p:spPr>
        <p:txBody>
          <a:bodyPr wrap="none" rtlCol="0">
            <a:spAutoFit/>
          </a:bodyPr>
          <a:lstStyle/>
          <a:p>
            <a:r>
              <a:rPr lang="en-US" sz="1050" dirty="0"/>
              <a:t>Select the lib verifier workspace folder</a:t>
            </a:r>
          </a:p>
        </p:txBody>
      </p:sp>
      <p:pic>
        <p:nvPicPr>
          <p:cNvPr id="15" name="圖片 14"/>
          <p:cNvPicPr>
            <a:picLocks noChangeAspect="1"/>
          </p:cNvPicPr>
          <p:nvPr/>
        </p:nvPicPr>
        <p:blipFill>
          <a:blip r:embed="rId5" cstate="print"/>
          <a:stretch>
            <a:fillRect/>
          </a:stretch>
        </p:blipFill>
        <p:spPr>
          <a:xfrm>
            <a:off x="6293742" y="3864300"/>
            <a:ext cx="978559" cy="1153586"/>
          </a:xfrm>
          <a:prstGeom prst="rect">
            <a:avLst/>
          </a:prstGeom>
        </p:spPr>
      </p:pic>
      <p:sp>
        <p:nvSpPr>
          <p:cNvPr id="16" name="向右箭號 15"/>
          <p:cNvSpPr/>
          <p:nvPr/>
        </p:nvSpPr>
        <p:spPr>
          <a:xfrm>
            <a:off x="5097895" y="4529698"/>
            <a:ext cx="1040279" cy="210590"/>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1350"/>
          </a:p>
        </p:txBody>
      </p:sp>
      <p:sp>
        <p:nvSpPr>
          <p:cNvPr id="18" name="文字方塊 17"/>
          <p:cNvSpPr txBox="1"/>
          <p:nvPr/>
        </p:nvSpPr>
        <p:spPr>
          <a:xfrm>
            <a:off x="5019791" y="4329953"/>
            <a:ext cx="1172116" cy="230832"/>
          </a:xfrm>
          <a:prstGeom prst="rect">
            <a:avLst/>
          </a:prstGeom>
          <a:noFill/>
        </p:spPr>
        <p:txBody>
          <a:bodyPr wrap="none" rtlCol="0">
            <a:spAutoFit/>
          </a:bodyPr>
          <a:lstStyle/>
          <a:p>
            <a:r>
              <a:rPr lang="en-US" sz="900" dirty="0"/>
              <a:t>Workspace imported</a:t>
            </a:r>
          </a:p>
        </p:txBody>
      </p:sp>
    </p:spTree>
    <p:extLst>
      <p:ext uri="{BB962C8B-B14F-4D97-AF65-F5344CB8AC3E}">
        <p14:creationId xmlns:p14="http://schemas.microsoft.com/office/powerpoint/2010/main" val="3016506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p:cNvPicPr>
            <a:picLocks noChangeAspect="1"/>
          </p:cNvPicPr>
          <p:nvPr/>
        </p:nvPicPr>
        <p:blipFill>
          <a:blip r:embed="rId2" cstate="print"/>
          <a:stretch>
            <a:fillRect/>
          </a:stretch>
        </p:blipFill>
        <p:spPr>
          <a:xfrm>
            <a:off x="1277634" y="2949792"/>
            <a:ext cx="6588732" cy="1366327"/>
          </a:xfrm>
          <a:prstGeom prst="rect">
            <a:avLst/>
          </a:prstGeom>
        </p:spPr>
      </p:pic>
      <p:sp>
        <p:nvSpPr>
          <p:cNvPr id="2" name="投影片編號版面配置區 1">
            <a:extLst>
              <a:ext uri="{FF2B5EF4-FFF2-40B4-BE49-F238E27FC236}">
                <a16:creationId xmlns:a16="http://schemas.microsoft.com/office/drawing/2014/main" id="{2A403765-FB11-4C07-955A-142F38A7FF05}"/>
              </a:ext>
            </a:extLst>
          </p:cNvPr>
          <p:cNvSpPr>
            <a:spLocks noGrp="1"/>
          </p:cNvSpPr>
          <p:nvPr>
            <p:ph type="sldNum" sz="quarter" idx="4"/>
          </p:nvPr>
        </p:nvSpPr>
        <p:spPr/>
        <p:txBody>
          <a:bodyPr/>
          <a:lstStyle/>
          <a:p>
            <a:fld id="{0E646775-B2E7-47D2-938B-19843E53D65D}" type="slidenum">
              <a:rPr lang="zh-TW" altLang="en-US" smtClean="0"/>
              <a:pPr/>
              <a:t>10</a:t>
            </a:fld>
            <a:endParaRPr lang="zh-TW" altLang="en-US"/>
          </a:p>
        </p:txBody>
      </p:sp>
      <p:sp>
        <p:nvSpPr>
          <p:cNvPr id="10" name="內容版面配置區 9"/>
          <p:cNvSpPr>
            <a:spLocks noGrp="1"/>
          </p:cNvSpPr>
          <p:nvPr>
            <p:ph sz="quarter" idx="10"/>
          </p:nvPr>
        </p:nvSpPr>
        <p:spPr>
          <a:prstGeom prst="rect">
            <a:avLst/>
          </a:prstGeom>
        </p:spPr>
        <p:txBody>
          <a:bodyPr>
            <a:normAutofit/>
          </a:bodyPr>
          <a:lstStyle/>
          <a:p>
            <a:pPr marL="342900" indent="-342900">
              <a:buFont typeface="+mj-lt"/>
              <a:buAutoNum type="arabicPeriod"/>
            </a:pPr>
            <a:r>
              <a:rPr lang="en-US" sz="1800" dirty="0"/>
              <a:t>Select the target project with </a:t>
            </a:r>
            <a:r>
              <a:rPr lang="en-US" sz="1800" dirty="0" err="1"/>
              <a:t>LibVerifier</a:t>
            </a:r>
            <a:r>
              <a:rPr lang="en-US" sz="1800" dirty="0"/>
              <a:t> </a:t>
            </a:r>
          </a:p>
          <a:p>
            <a:pPr marL="342900" indent="-342900">
              <a:buFont typeface="+mj-lt"/>
              <a:buAutoNum type="arabicPeriod"/>
            </a:pPr>
            <a:r>
              <a:rPr lang="en-US" sz="1800" dirty="0"/>
              <a:t>Configure HW configuration with hifi3_eiger</a:t>
            </a:r>
          </a:p>
          <a:p>
            <a:pPr marL="342900" indent="-342900">
              <a:buFont typeface="+mj-lt"/>
              <a:buAutoNum type="arabicPeriod"/>
            </a:pPr>
            <a:r>
              <a:rPr lang="en-US" sz="1800" dirty="0"/>
              <a:t>build project</a:t>
            </a:r>
          </a:p>
          <a:p>
            <a:pPr marL="342900" indent="-342900">
              <a:buFont typeface="+mj-lt"/>
              <a:buAutoNum type="arabicPeriod"/>
            </a:pPr>
            <a:r>
              <a:rPr lang="en-US" sz="1800" dirty="0"/>
              <a:t>Run or debug</a:t>
            </a:r>
          </a:p>
        </p:txBody>
      </p:sp>
      <p:sp>
        <p:nvSpPr>
          <p:cNvPr id="9" name="標題 8"/>
          <p:cNvSpPr>
            <a:spLocks noGrp="1"/>
          </p:cNvSpPr>
          <p:nvPr>
            <p:ph type="title"/>
          </p:nvPr>
        </p:nvSpPr>
        <p:spPr/>
        <p:txBody>
          <a:bodyPr>
            <a:normAutofit fontScale="90000"/>
          </a:bodyPr>
          <a:lstStyle/>
          <a:p>
            <a:r>
              <a:rPr lang="en-US" sz="2700" dirty="0"/>
              <a:t>Xplorer Simulator</a:t>
            </a:r>
            <a:br>
              <a:rPr lang="en-US" sz="2700" dirty="0"/>
            </a:br>
            <a:r>
              <a:rPr lang="en-US" sz="2700" dirty="0"/>
              <a:t>- Build &amp; Run Lib Verifier</a:t>
            </a:r>
          </a:p>
        </p:txBody>
      </p:sp>
      <p:sp>
        <p:nvSpPr>
          <p:cNvPr id="12" name="橢圓 11"/>
          <p:cNvSpPr/>
          <p:nvPr/>
        </p:nvSpPr>
        <p:spPr>
          <a:xfrm>
            <a:off x="4139280" y="3057923"/>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1</a:t>
            </a:r>
          </a:p>
        </p:txBody>
      </p:sp>
      <p:sp>
        <p:nvSpPr>
          <p:cNvPr id="13" name="橢圓 12"/>
          <p:cNvSpPr/>
          <p:nvPr/>
        </p:nvSpPr>
        <p:spPr>
          <a:xfrm>
            <a:off x="4842030" y="3057804"/>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2</a:t>
            </a:r>
          </a:p>
        </p:txBody>
      </p:sp>
      <p:sp>
        <p:nvSpPr>
          <p:cNvPr id="14" name="橢圓 13"/>
          <p:cNvSpPr/>
          <p:nvPr/>
        </p:nvSpPr>
        <p:spPr>
          <a:xfrm>
            <a:off x="5923518" y="3057804"/>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3</a:t>
            </a:r>
          </a:p>
        </p:txBody>
      </p:sp>
      <p:sp>
        <p:nvSpPr>
          <p:cNvPr id="17" name="橢圓 16"/>
          <p:cNvSpPr/>
          <p:nvPr/>
        </p:nvSpPr>
        <p:spPr>
          <a:xfrm>
            <a:off x="6694512" y="3057804"/>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4</a:t>
            </a:r>
          </a:p>
        </p:txBody>
      </p:sp>
      <p:sp>
        <p:nvSpPr>
          <p:cNvPr id="18" name="橢圓 17"/>
          <p:cNvSpPr/>
          <p:nvPr/>
        </p:nvSpPr>
        <p:spPr>
          <a:xfrm>
            <a:off x="7450596" y="3057804"/>
            <a:ext cx="199746" cy="19974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900" dirty="0"/>
              <a:t>4</a:t>
            </a:r>
          </a:p>
        </p:txBody>
      </p:sp>
    </p:spTree>
    <p:extLst>
      <p:ext uri="{BB962C8B-B14F-4D97-AF65-F5344CB8AC3E}">
        <p14:creationId xmlns:p14="http://schemas.microsoft.com/office/powerpoint/2010/main" val="333085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5AFBBF5E-97FA-21E0-C3E0-1EC9DF81D603}"/>
              </a:ext>
            </a:extLst>
          </p:cNvPr>
          <p:cNvPicPr>
            <a:picLocks noChangeAspect="1"/>
          </p:cNvPicPr>
          <p:nvPr/>
        </p:nvPicPr>
        <p:blipFill rotWithShape="1">
          <a:blip r:embed="rId3"/>
          <a:srcRect l="4386"/>
          <a:stretch/>
        </p:blipFill>
        <p:spPr>
          <a:xfrm>
            <a:off x="6619834" y="781232"/>
            <a:ext cx="1510110" cy="2353945"/>
          </a:xfrm>
          <a:prstGeom prst="rect">
            <a:avLst/>
          </a:prstGeom>
        </p:spPr>
      </p:pic>
      <p:sp>
        <p:nvSpPr>
          <p:cNvPr id="3" name="投影片編號版面配置區 2">
            <a:extLst>
              <a:ext uri="{FF2B5EF4-FFF2-40B4-BE49-F238E27FC236}">
                <a16:creationId xmlns:a16="http://schemas.microsoft.com/office/drawing/2014/main" id="{DA83139A-F4FD-4DF2-8A0D-08962DB2FCED}"/>
              </a:ext>
            </a:extLst>
          </p:cNvPr>
          <p:cNvSpPr>
            <a:spLocks noGrp="1"/>
          </p:cNvSpPr>
          <p:nvPr>
            <p:ph type="sldNum" sz="quarter" idx="4"/>
          </p:nvPr>
        </p:nvSpPr>
        <p:spPr/>
        <p:txBody>
          <a:bodyPr/>
          <a:lstStyle/>
          <a:p>
            <a:fld id="{0E646775-B2E7-47D2-938B-19843E53D65D}" type="slidenum">
              <a:rPr lang="zh-TW" altLang="en-US" smtClean="0"/>
              <a:pPr/>
              <a:t>11</a:t>
            </a:fld>
            <a:endParaRPr lang="zh-TW" altLang="en-US"/>
          </a:p>
        </p:txBody>
      </p:sp>
      <p:sp>
        <p:nvSpPr>
          <p:cNvPr id="5" name="內容版面配置區 4"/>
          <p:cNvSpPr>
            <a:spLocks noGrp="1"/>
          </p:cNvSpPr>
          <p:nvPr>
            <p:ph sz="quarter" idx="10"/>
          </p:nvPr>
        </p:nvSpPr>
        <p:spPr>
          <a:xfrm>
            <a:off x="323849" y="1007706"/>
            <a:ext cx="4248151" cy="3707363"/>
          </a:xfrm>
        </p:spPr>
        <p:txBody>
          <a:bodyPr>
            <a:normAutofit/>
          </a:bodyPr>
          <a:lstStyle/>
          <a:p>
            <a:pPr marL="342900" indent="-342900">
              <a:buFont typeface="Wingdings" pitchFamily="2" charset="2"/>
              <a:buChar char="§"/>
            </a:pPr>
            <a:r>
              <a:rPr lang="en-US" sz="1200" dirty="0"/>
              <a:t>Please install RV PDK first</a:t>
            </a:r>
          </a:p>
          <a:p>
            <a:pPr marL="342900" indent="-342900">
              <a:buFont typeface="Wingdings" pitchFamily="2" charset="2"/>
              <a:buChar char="§"/>
            </a:pPr>
            <a:r>
              <a:rPr lang="en-US" sz="1200" dirty="0"/>
              <a:t>Add </a:t>
            </a:r>
            <a:r>
              <a:rPr lang="en-US" sz="1200" dirty="0" err="1"/>
              <a:t>LibVerifier</a:t>
            </a:r>
            <a:r>
              <a:rPr lang="en-US" sz="1200" dirty="0"/>
              <a:t> to MRV PDK workspace</a:t>
            </a:r>
          </a:p>
          <a:p>
            <a:pPr marL="642938" lvl="1" indent="-342900">
              <a:buFont typeface="+mj-lt"/>
              <a:buAutoNum type="arabicPeriod"/>
            </a:pPr>
            <a:r>
              <a:rPr lang="en-US" sz="1050" dirty="0"/>
              <a:t>Create “</a:t>
            </a:r>
            <a:r>
              <a:rPr lang="en-US" sz="1050" dirty="0" err="1"/>
              <a:t>LibVerifier</a:t>
            </a:r>
            <a:r>
              <a:rPr lang="en-US" sz="1050" dirty="0"/>
              <a:t>” folder in {PDK_ROOT}/</a:t>
            </a:r>
            <a:r>
              <a:rPr lang="en-US" sz="1050" dirty="0" err="1"/>
              <a:t>sdk</a:t>
            </a:r>
            <a:r>
              <a:rPr lang="en-US" sz="1050" dirty="0"/>
              <a:t>/Demo folder</a:t>
            </a:r>
          </a:p>
          <a:p>
            <a:pPr marL="642938" lvl="1" indent="-342900">
              <a:buFont typeface="+mj-lt"/>
              <a:buAutoNum type="arabicPeriod"/>
            </a:pPr>
            <a:r>
              <a:rPr lang="en-US" altLang="zh-TW" sz="1050" dirty="0"/>
              <a:t>Copy lib verifier sources to the</a:t>
            </a:r>
            <a:r>
              <a:rPr lang="en-US" sz="1050" dirty="0"/>
              <a:t> “</a:t>
            </a:r>
            <a:r>
              <a:rPr lang="en-US" sz="1050" dirty="0" err="1"/>
              <a:t>LibVerifier</a:t>
            </a:r>
            <a:r>
              <a:rPr lang="en-US" sz="1050" dirty="0"/>
              <a:t>” folder</a:t>
            </a:r>
          </a:p>
          <a:p>
            <a:pPr marL="109538" indent="-342900"/>
            <a:r>
              <a:rPr lang="en-US" sz="1250" dirty="0"/>
              <a:t>Generate </a:t>
            </a:r>
            <a:r>
              <a:rPr lang="en-US" sz="1250" dirty="0" err="1"/>
              <a:t>makefiles</a:t>
            </a:r>
            <a:endParaRPr lang="en-US" sz="1250" dirty="0"/>
          </a:p>
          <a:p>
            <a:pPr marL="642938" lvl="1" indent="-342900">
              <a:buFont typeface="+mj-lt"/>
              <a:buAutoNum type="arabicPeriod"/>
            </a:pPr>
            <a:r>
              <a:rPr lang="en-US" sz="1050" dirty="0"/>
              <a:t>Run configure.py in </a:t>
            </a:r>
            <a:r>
              <a:rPr lang="en-US" altLang="zh-TW" sz="1050" dirty="0"/>
              <a:t>{PDK_ROOT}/</a:t>
            </a:r>
            <a:r>
              <a:rPr lang="en-US" altLang="zh-TW" sz="1050" dirty="0" err="1"/>
              <a:t>sdk</a:t>
            </a:r>
            <a:r>
              <a:rPr lang="en-US" altLang="zh-TW" sz="1050" dirty="0"/>
              <a:t>/</a:t>
            </a:r>
          </a:p>
          <a:p>
            <a:pPr marL="109538" indent="-342900"/>
            <a:r>
              <a:rPr lang="en-US" sz="1250" dirty="0"/>
              <a:t>Open MRV PDK IDE</a:t>
            </a:r>
          </a:p>
          <a:p>
            <a:pPr marL="642938" lvl="1" indent="-342900">
              <a:buFont typeface="+mj-lt"/>
              <a:buAutoNum type="arabicPeriod"/>
            </a:pPr>
            <a:r>
              <a:rPr lang="en-US" sz="1050" dirty="0"/>
              <a:t>Run runIDE.sh in </a:t>
            </a:r>
            <a:r>
              <a:rPr lang="en-US" altLang="zh-TW" sz="1050" dirty="0"/>
              <a:t>{PDK_ROOT}/</a:t>
            </a:r>
            <a:r>
              <a:rPr lang="en-US" altLang="zh-TW" sz="1050" dirty="0" err="1"/>
              <a:t>sdk</a:t>
            </a:r>
            <a:r>
              <a:rPr lang="en-US" altLang="zh-TW" sz="1050" dirty="0"/>
              <a:t>/Demo</a:t>
            </a:r>
          </a:p>
        </p:txBody>
      </p:sp>
      <p:sp>
        <p:nvSpPr>
          <p:cNvPr id="2" name="標題 1"/>
          <p:cNvSpPr>
            <a:spLocks noGrp="1"/>
          </p:cNvSpPr>
          <p:nvPr>
            <p:ph type="title"/>
          </p:nvPr>
        </p:nvSpPr>
        <p:spPr/>
        <p:txBody>
          <a:bodyPr>
            <a:normAutofit fontScale="90000"/>
          </a:bodyPr>
          <a:lstStyle/>
          <a:p>
            <a:r>
              <a:rPr lang="en-US" sz="2400" dirty="0"/>
              <a:t>MRV PDK</a:t>
            </a:r>
            <a:br>
              <a:rPr lang="en-US" sz="2400" dirty="0"/>
            </a:br>
            <a:r>
              <a:rPr lang="en-US" sz="2400" dirty="0"/>
              <a:t>- Import PDK Lib Verifier Projects</a:t>
            </a:r>
          </a:p>
        </p:txBody>
      </p:sp>
      <p:pic>
        <p:nvPicPr>
          <p:cNvPr id="6" name="圖片 5">
            <a:extLst>
              <a:ext uri="{FF2B5EF4-FFF2-40B4-BE49-F238E27FC236}">
                <a16:creationId xmlns:a16="http://schemas.microsoft.com/office/drawing/2014/main" id="{273AFFCB-BF88-95C2-6E0D-0C2CCD1F0A1F}"/>
              </a:ext>
            </a:extLst>
          </p:cNvPr>
          <p:cNvPicPr>
            <a:picLocks noChangeAspect="1"/>
          </p:cNvPicPr>
          <p:nvPr/>
        </p:nvPicPr>
        <p:blipFill>
          <a:blip r:embed="rId4"/>
          <a:stretch>
            <a:fillRect/>
          </a:stretch>
        </p:blipFill>
        <p:spPr>
          <a:xfrm>
            <a:off x="4802912" y="776874"/>
            <a:ext cx="1404529" cy="2358303"/>
          </a:xfrm>
          <a:prstGeom prst="rect">
            <a:avLst/>
          </a:prstGeom>
        </p:spPr>
      </p:pic>
      <p:sp>
        <p:nvSpPr>
          <p:cNvPr id="7" name="文字方塊 18">
            <a:extLst>
              <a:ext uri="{FF2B5EF4-FFF2-40B4-BE49-F238E27FC236}">
                <a16:creationId xmlns:a16="http://schemas.microsoft.com/office/drawing/2014/main" id="{B6A57922-8CBB-A7C5-7F91-FC87ABBBA9DD}"/>
              </a:ext>
            </a:extLst>
          </p:cNvPr>
          <p:cNvSpPr txBox="1"/>
          <p:nvPr/>
        </p:nvSpPr>
        <p:spPr>
          <a:xfrm>
            <a:off x="4572000" y="3244749"/>
            <a:ext cx="1202573" cy="230832"/>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u="sng" dirty="0"/>
              <a:t>Aurisys dev packages</a:t>
            </a:r>
          </a:p>
        </p:txBody>
      </p:sp>
      <p:sp>
        <p:nvSpPr>
          <p:cNvPr id="10" name="橢圓 9">
            <a:extLst>
              <a:ext uri="{FF2B5EF4-FFF2-40B4-BE49-F238E27FC236}">
                <a16:creationId xmlns:a16="http://schemas.microsoft.com/office/drawing/2014/main" id="{D2CF23FB-523F-A36F-4DA9-162ACF40F008}"/>
              </a:ext>
            </a:extLst>
          </p:cNvPr>
          <p:cNvSpPr/>
          <p:nvPr/>
        </p:nvSpPr>
        <p:spPr>
          <a:xfrm>
            <a:off x="7650920" y="1350070"/>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750" dirty="0"/>
              <a:t>1</a:t>
            </a:r>
          </a:p>
        </p:txBody>
      </p:sp>
      <p:sp>
        <p:nvSpPr>
          <p:cNvPr id="11" name="文字方塊 25">
            <a:extLst>
              <a:ext uri="{FF2B5EF4-FFF2-40B4-BE49-F238E27FC236}">
                <a16:creationId xmlns:a16="http://schemas.microsoft.com/office/drawing/2014/main" id="{33A17502-EE2D-FFE6-0880-5B68AF146A21}"/>
              </a:ext>
            </a:extLst>
          </p:cNvPr>
          <p:cNvSpPr txBox="1"/>
          <p:nvPr/>
        </p:nvSpPr>
        <p:spPr>
          <a:xfrm>
            <a:off x="7758932" y="1333792"/>
            <a:ext cx="1314784" cy="230832"/>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Create </a:t>
            </a:r>
            <a:r>
              <a:rPr lang="en-US" sz="900" dirty="0" err="1"/>
              <a:t>LibVerifier</a:t>
            </a:r>
            <a:r>
              <a:rPr lang="en-US" sz="900" dirty="0"/>
              <a:t> folder</a:t>
            </a:r>
          </a:p>
        </p:txBody>
      </p:sp>
      <p:sp>
        <p:nvSpPr>
          <p:cNvPr id="14" name="矩形 13">
            <a:extLst>
              <a:ext uri="{FF2B5EF4-FFF2-40B4-BE49-F238E27FC236}">
                <a16:creationId xmlns:a16="http://schemas.microsoft.com/office/drawing/2014/main" id="{612F4B34-4DCC-2892-12A2-9941C96FE6FC}"/>
              </a:ext>
            </a:extLst>
          </p:cNvPr>
          <p:cNvSpPr/>
          <p:nvPr/>
        </p:nvSpPr>
        <p:spPr>
          <a:xfrm>
            <a:off x="4905611" y="2178350"/>
            <a:ext cx="813056" cy="956827"/>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15" name="矩形 14">
            <a:extLst>
              <a:ext uri="{FF2B5EF4-FFF2-40B4-BE49-F238E27FC236}">
                <a16:creationId xmlns:a16="http://schemas.microsoft.com/office/drawing/2014/main" id="{B3C8D977-C30D-B84F-C919-92CE47E43664}"/>
              </a:ext>
            </a:extLst>
          </p:cNvPr>
          <p:cNvSpPr/>
          <p:nvPr/>
        </p:nvSpPr>
        <p:spPr>
          <a:xfrm>
            <a:off x="6840829" y="1657351"/>
            <a:ext cx="862297" cy="882793"/>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cxnSp>
        <p:nvCxnSpPr>
          <p:cNvPr id="16" name="直線單箭頭接點 15">
            <a:extLst>
              <a:ext uri="{FF2B5EF4-FFF2-40B4-BE49-F238E27FC236}">
                <a16:creationId xmlns:a16="http://schemas.microsoft.com/office/drawing/2014/main" id="{9F274F68-1514-D952-B3C2-64B97ACBDCE1}"/>
              </a:ext>
            </a:extLst>
          </p:cNvPr>
          <p:cNvCxnSpPr>
            <a:cxnSpLocks/>
            <a:endCxn id="15" idx="1"/>
          </p:cNvCxnSpPr>
          <p:nvPr/>
        </p:nvCxnSpPr>
        <p:spPr>
          <a:xfrm flipV="1">
            <a:off x="5718667" y="2098748"/>
            <a:ext cx="1122162" cy="4348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文字方塊 17">
            <a:extLst>
              <a:ext uri="{FF2B5EF4-FFF2-40B4-BE49-F238E27FC236}">
                <a16:creationId xmlns:a16="http://schemas.microsoft.com/office/drawing/2014/main" id="{1C139494-0F2E-B4AF-C64E-4EAB18BFD6F2}"/>
              </a:ext>
            </a:extLst>
          </p:cNvPr>
          <p:cNvSpPr txBox="1"/>
          <p:nvPr/>
        </p:nvSpPr>
        <p:spPr>
          <a:xfrm>
            <a:off x="5990982" y="2589513"/>
            <a:ext cx="638316" cy="230832"/>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Copy files</a:t>
            </a:r>
          </a:p>
        </p:txBody>
      </p:sp>
      <p:sp>
        <p:nvSpPr>
          <p:cNvPr id="18" name="橢圓 17">
            <a:extLst>
              <a:ext uri="{FF2B5EF4-FFF2-40B4-BE49-F238E27FC236}">
                <a16:creationId xmlns:a16="http://schemas.microsoft.com/office/drawing/2014/main" id="{54E9E2E6-403F-5B03-131B-81DF0899AB78}"/>
              </a:ext>
            </a:extLst>
          </p:cNvPr>
          <p:cNvSpPr/>
          <p:nvPr/>
        </p:nvSpPr>
        <p:spPr>
          <a:xfrm>
            <a:off x="6237270" y="2415807"/>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750" dirty="0"/>
              <a:t>2</a:t>
            </a:r>
          </a:p>
        </p:txBody>
      </p:sp>
      <p:sp>
        <p:nvSpPr>
          <p:cNvPr id="21" name="圓角矩形圖說文字 31">
            <a:extLst>
              <a:ext uri="{FF2B5EF4-FFF2-40B4-BE49-F238E27FC236}">
                <a16:creationId xmlns:a16="http://schemas.microsoft.com/office/drawing/2014/main" id="{E47C43F3-0753-85FA-8FA5-B54C3C2EDC59}"/>
              </a:ext>
            </a:extLst>
          </p:cNvPr>
          <p:cNvSpPr/>
          <p:nvPr/>
        </p:nvSpPr>
        <p:spPr>
          <a:xfrm>
            <a:off x="3686100" y="2386733"/>
            <a:ext cx="1063842" cy="540060"/>
          </a:xfrm>
          <a:prstGeom prst="wedgeRoundRectCallout">
            <a:avLst>
              <a:gd name="adj1" fmla="val 62690"/>
              <a:gd name="adj2" fmla="val 52476"/>
              <a:gd name="adj3" fmla="val 16667"/>
            </a:avLst>
          </a:prstGeom>
        </p:spPr>
        <p:style>
          <a:lnRef idx="1">
            <a:schemeClr val="accent3"/>
          </a:lnRef>
          <a:fillRef idx="3">
            <a:schemeClr val="accent3"/>
          </a:fillRef>
          <a:effectRef idx="2">
            <a:schemeClr val="accent3"/>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750" dirty="0"/>
              <a:t>Choose what Lib Verifier version you want</a:t>
            </a:r>
          </a:p>
          <a:p>
            <a:r>
              <a:rPr lang="en-US" sz="750" dirty="0"/>
              <a:t>Ex: For U OS: 1.8.0</a:t>
            </a:r>
          </a:p>
        </p:txBody>
      </p:sp>
      <p:sp>
        <p:nvSpPr>
          <p:cNvPr id="22" name="文字方塊 19">
            <a:extLst>
              <a:ext uri="{FF2B5EF4-FFF2-40B4-BE49-F238E27FC236}">
                <a16:creationId xmlns:a16="http://schemas.microsoft.com/office/drawing/2014/main" id="{C1637F75-B1A9-D5A5-0AB9-CD2CA545CE12}"/>
              </a:ext>
            </a:extLst>
          </p:cNvPr>
          <p:cNvSpPr txBox="1"/>
          <p:nvPr/>
        </p:nvSpPr>
        <p:spPr>
          <a:xfrm>
            <a:off x="6629298" y="3248156"/>
            <a:ext cx="1535998" cy="230832"/>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u="sng" dirty="0"/>
              <a:t>RV PDK Demo project folder</a:t>
            </a:r>
          </a:p>
        </p:txBody>
      </p:sp>
      <p:pic>
        <p:nvPicPr>
          <p:cNvPr id="24" name="圖片 23">
            <a:extLst>
              <a:ext uri="{FF2B5EF4-FFF2-40B4-BE49-F238E27FC236}">
                <a16:creationId xmlns:a16="http://schemas.microsoft.com/office/drawing/2014/main" id="{CB81A681-C73C-6D75-4315-F7BC41ADA732}"/>
              </a:ext>
            </a:extLst>
          </p:cNvPr>
          <p:cNvPicPr>
            <a:picLocks noChangeAspect="1"/>
          </p:cNvPicPr>
          <p:nvPr/>
        </p:nvPicPr>
        <p:blipFill>
          <a:blip r:embed="rId5"/>
          <a:stretch>
            <a:fillRect/>
          </a:stretch>
        </p:blipFill>
        <p:spPr>
          <a:xfrm>
            <a:off x="4812711" y="3943168"/>
            <a:ext cx="3140598" cy="838200"/>
          </a:xfrm>
          <a:prstGeom prst="rect">
            <a:avLst/>
          </a:prstGeom>
        </p:spPr>
      </p:pic>
      <p:sp>
        <p:nvSpPr>
          <p:cNvPr id="25" name="矩形 24">
            <a:extLst>
              <a:ext uri="{FF2B5EF4-FFF2-40B4-BE49-F238E27FC236}">
                <a16:creationId xmlns:a16="http://schemas.microsoft.com/office/drawing/2014/main" id="{1EB4AE99-C4A7-A629-B3D7-EE0288ABCA29}"/>
              </a:ext>
            </a:extLst>
          </p:cNvPr>
          <p:cNvSpPr/>
          <p:nvPr/>
        </p:nvSpPr>
        <p:spPr>
          <a:xfrm>
            <a:off x="4800587" y="4667250"/>
            <a:ext cx="2432063" cy="114118"/>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Tree>
    <p:extLst>
      <p:ext uri="{BB962C8B-B14F-4D97-AF65-F5344CB8AC3E}">
        <p14:creationId xmlns:p14="http://schemas.microsoft.com/office/powerpoint/2010/main" val="345462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D079F562-43E1-C455-6F6B-E91EC191CD2A}"/>
              </a:ext>
            </a:extLst>
          </p:cNvPr>
          <p:cNvPicPr>
            <a:picLocks noChangeAspect="1"/>
          </p:cNvPicPr>
          <p:nvPr/>
        </p:nvPicPr>
        <p:blipFill>
          <a:blip r:embed="rId3"/>
          <a:stretch>
            <a:fillRect/>
          </a:stretch>
        </p:blipFill>
        <p:spPr>
          <a:xfrm>
            <a:off x="6422194" y="2762879"/>
            <a:ext cx="1567760" cy="1175820"/>
          </a:xfrm>
          <a:prstGeom prst="rect">
            <a:avLst/>
          </a:prstGeom>
        </p:spPr>
      </p:pic>
      <p:pic>
        <p:nvPicPr>
          <p:cNvPr id="6" name="圖片 5">
            <a:extLst>
              <a:ext uri="{FF2B5EF4-FFF2-40B4-BE49-F238E27FC236}">
                <a16:creationId xmlns:a16="http://schemas.microsoft.com/office/drawing/2014/main" id="{3EFE5E95-317D-CCFE-D14E-36CBC56BE22A}"/>
              </a:ext>
            </a:extLst>
          </p:cNvPr>
          <p:cNvPicPr>
            <a:picLocks noChangeAspect="1"/>
          </p:cNvPicPr>
          <p:nvPr/>
        </p:nvPicPr>
        <p:blipFill>
          <a:blip r:embed="rId4"/>
          <a:stretch>
            <a:fillRect/>
          </a:stretch>
        </p:blipFill>
        <p:spPr>
          <a:xfrm>
            <a:off x="4609997" y="2762879"/>
            <a:ext cx="1728396" cy="1901705"/>
          </a:xfrm>
          <a:prstGeom prst="rect">
            <a:avLst/>
          </a:prstGeom>
        </p:spPr>
      </p:pic>
      <p:sp>
        <p:nvSpPr>
          <p:cNvPr id="3" name="投影片編號版面配置區 2">
            <a:extLst>
              <a:ext uri="{FF2B5EF4-FFF2-40B4-BE49-F238E27FC236}">
                <a16:creationId xmlns:a16="http://schemas.microsoft.com/office/drawing/2014/main" id="{DA83139A-F4FD-4DF2-8A0D-08962DB2FCED}"/>
              </a:ext>
            </a:extLst>
          </p:cNvPr>
          <p:cNvSpPr>
            <a:spLocks noGrp="1"/>
          </p:cNvSpPr>
          <p:nvPr>
            <p:ph type="sldNum" sz="quarter" idx="4"/>
          </p:nvPr>
        </p:nvSpPr>
        <p:spPr/>
        <p:txBody>
          <a:bodyPr/>
          <a:lstStyle/>
          <a:p>
            <a:fld id="{0E646775-B2E7-47D2-938B-19843E53D65D}" type="slidenum">
              <a:rPr lang="zh-TW" altLang="en-US" smtClean="0"/>
              <a:pPr/>
              <a:t>12</a:t>
            </a:fld>
            <a:endParaRPr lang="zh-TW" altLang="en-US"/>
          </a:p>
        </p:txBody>
      </p:sp>
      <p:sp>
        <p:nvSpPr>
          <p:cNvPr id="5" name="內容版面配置區 4"/>
          <p:cNvSpPr>
            <a:spLocks noGrp="1"/>
          </p:cNvSpPr>
          <p:nvPr>
            <p:ph sz="quarter" idx="10"/>
          </p:nvPr>
        </p:nvSpPr>
        <p:spPr>
          <a:xfrm>
            <a:off x="323849" y="1007706"/>
            <a:ext cx="4248151" cy="3707363"/>
          </a:xfrm>
        </p:spPr>
        <p:txBody>
          <a:bodyPr>
            <a:normAutofit/>
          </a:bodyPr>
          <a:lstStyle/>
          <a:p>
            <a:pPr marL="342900" indent="-342900">
              <a:buFont typeface="Wingdings" pitchFamily="2" charset="2"/>
              <a:buChar char="§"/>
            </a:pPr>
            <a:r>
              <a:rPr lang="en-US" sz="1200" dirty="0"/>
              <a:t>Import the generated project - </a:t>
            </a:r>
            <a:r>
              <a:rPr lang="en-US" altLang="zh-TW" sz="1200" dirty="0" err="1"/>
              <a:t>LibVerifier</a:t>
            </a:r>
            <a:endParaRPr lang="en-US" sz="1200" dirty="0"/>
          </a:p>
          <a:p>
            <a:pPr marL="642938" lvl="1" indent="-342900">
              <a:buFont typeface="+mj-lt"/>
              <a:buAutoNum type="arabicPeriod"/>
            </a:pPr>
            <a:r>
              <a:rPr lang="en-US" sz="1050" dirty="0"/>
              <a:t>File -&gt; Import</a:t>
            </a:r>
          </a:p>
          <a:p>
            <a:pPr marL="642938" lvl="1" indent="-342900">
              <a:buFont typeface="+mj-lt"/>
              <a:buAutoNum type="arabicPeriod"/>
            </a:pPr>
            <a:r>
              <a:rPr lang="en-US" sz="1050" dirty="0"/>
              <a:t>Existing Projects into Workspace -&gt; Next</a:t>
            </a:r>
          </a:p>
          <a:p>
            <a:pPr marL="642938" lvl="1" indent="-342900">
              <a:buFont typeface="+mj-lt"/>
              <a:buAutoNum type="arabicPeriod"/>
            </a:pPr>
            <a:r>
              <a:rPr lang="en-US" sz="1050" dirty="0"/>
              <a:t>Click the Browse  button of Select root directory</a:t>
            </a:r>
          </a:p>
          <a:p>
            <a:pPr marL="642938" lvl="1" indent="-342900">
              <a:buFont typeface="+mj-lt"/>
              <a:buAutoNum type="arabicPeriod"/>
            </a:pPr>
            <a:r>
              <a:rPr lang="en-US" sz="1050" dirty="0"/>
              <a:t>Select the “build” folder of RV PDK and click OK button</a:t>
            </a:r>
          </a:p>
          <a:p>
            <a:pPr marL="642938" lvl="1" indent="-342900">
              <a:buFont typeface="+mj-lt"/>
              <a:buAutoNum type="arabicPeriod"/>
            </a:pPr>
            <a:r>
              <a:rPr lang="en-US" sz="1050" dirty="0"/>
              <a:t>Select the Projects of “</a:t>
            </a:r>
            <a:r>
              <a:rPr lang="en-US" sz="1050" dirty="0" err="1"/>
              <a:t>LibVerifier</a:t>
            </a:r>
            <a:r>
              <a:rPr lang="en-US" sz="1050" dirty="0"/>
              <a:t>”</a:t>
            </a:r>
          </a:p>
          <a:p>
            <a:pPr marL="642938" lvl="1" indent="-342900">
              <a:buFont typeface="+mj-lt"/>
              <a:buAutoNum type="arabicPeriod"/>
            </a:pPr>
            <a:r>
              <a:rPr lang="en-US" sz="1050" dirty="0"/>
              <a:t>Click “Finish” button</a:t>
            </a:r>
          </a:p>
        </p:txBody>
      </p:sp>
      <p:sp>
        <p:nvSpPr>
          <p:cNvPr id="2" name="標題 1"/>
          <p:cNvSpPr>
            <a:spLocks noGrp="1"/>
          </p:cNvSpPr>
          <p:nvPr>
            <p:ph type="title"/>
          </p:nvPr>
        </p:nvSpPr>
        <p:spPr/>
        <p:txBody>
          <a:bodyPr>
            <a:normAutofit fontScale="90000"/>
          </a:bodyPr>
          <a:lstStyle/>
          <a:p>
            <a:r>
              <a:rPr lang="en-US" sz="2400" dirty="0"/>
              <a:t>MRV PDK</a:t>
            </a:r>
            <a:br>
              <a:rPr lang="en-US" sz="2400" dirty="0"/>
            </a:br>
            <a:r>
              <a:rPr lang="en-US" sz="2400" dirty="0"/>
              <a:t>- Import PDK </a:t>
            </a:r>
            <a:r>
              <a:rPr lang="en-US" altLang="zh-TW" sz="2400" dirty="0"/>
              <a:t>Lib Verifier</a:t>
            </a:r>
            <a:r>
              <a:rPr lang="en-US" sz="2400" dirty="0"/>
              <a:t> Projects</a:t>
            </a:r>
          </a:p>
        </p:txBody>
      </p:sp>
      <p:pic>
        <p:nvPicPr>
          <p:cNvPr id="1030" name="Picture 6"/>
          <p:cNvPicPr>
            <a:picLocks noChangeAspect="1" noChangeArrowheads="1"/>
          </p:cNvPicPr>
          <p:nvPr/>
        </p:nvPicPr>
        <p:blipFill>
          <a:blip r:embed="rId5" cstate="print"/>
          <a:srcRect/>
          <a:stretch>
            <a:fillRect/>
          </a:stretch>
        </p:blipFill>
        <p:spPr bwMode="auto">
          <a:xfrm>
            <a:off x="4609997" y="286280"/>
            <a:ext cx="1312298" cy="2180555"/>
          </a:xfrm>
          <a:prstGeom prst="rect">
            <a:avLst/>
          </a:prstGeom>
          <a:noFill/>
          <a:ln w="9525">
            <a:noFill/>
            <a:miter lim="800000"/>
            <a:headEnd/>
            <a:tailEnd/>
          </a:ln>
        </p:spPr>
      </p:pic>
      <p:pic>
        <p:nvPicPr>
          <p:cNvPr id="28" name="Picture 2"/>
          <p:cNvPicPr>
            <a:picLocks noChangeAspect="1" noChangeArrowheads="1"/>
          </p:cNvPicPr>
          <p:nvPr/>
        </p:nvPicPr>
        <p:blipFill>
          <a:blip r:embed="rId6" cstate="print"/>
          <a:srcRect/>
          <a:stretch>
            <a:fillRect/>
          </a:stretch>
        </p:blipFill>
        <p:spPr bwMode="auto">
          <a:xfrm>
            <a:off x="5960147" y="286280"/>
            <a:ext cx="1640630" cy="2010110"/>
          </a:xfrm>
          <a:prstGeom prst="rect">
            <a:avLst/>
          </a:prstGeom>
          <a:noFill/>
          <a:ln w="9525">
            <a:noFill/>
            <a:miter lim="800000"/>
            <a:headEnd/>
            <a:tailEnd/>
          </a:ln>
        </p:spPr>
      </p:pic>
      <p:sp>
        <p:nvSpPr>
          <p:cNvPr id="30" name="橢圓 29"/>
          <p:cNvSpPr/>
          <p:nvPr/>
        </p:nvSpPr>
        <p:spPr>
          <a:xfrm>
            <a:off x="4447979" y="1852453"/>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1</a:t>
            </a:r>
          </a:p>
        </p:txBody>
      </p:sp>
      <p:sp>
        <p:nvSpPr>
          <p:cNvPr id="31" name="橢圓 30"/>
          <p:cNvSpPr/>
          <p:nvPr/>
        </p:nvSpPr>
        <p:spPr>
          <a:xfrm>
            <a:off x="5960147" y="934351"/>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2</a:t>
            </a:r>
          </a:p>
        </p:txBody>
      </p:sp>
      <p:sp>
        <p:nvSpPr>
          <p:cNvPr id="32" name="橢圓 31"/>
          <p:cNvSpPr/>
          <p:nvPr/>
        </p:nvSpPr>
        <p:spPr>
          <a:xfrm>
            <a:off x="6608219" y="2122483"/>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2</a:t>
            </a:r>
          </a:p>
        </p:txBody>
      </p:sp>
      <p:sp>
        <p:nvSpPr>
          <p:cNvPr id="34" name="橢圓 33"/>
          <p:cNvSpPr/>
          <p:nvPr/>
        </p:nvSpPr>
        <p:spPr>
          <a:xfrm>
            <a:off x="5564630" y="3002862"/>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3</a:t>
            </a:r>
          </a:p>
        </p:txBody>
      </p:sp>
      <p:sp>
        <p:nvSpPr>
          <p:cNvPr id="36" name="橢圓 35"/>
          <p:cNvSpPr/>
          <p:nvPr/>
        </p:nvSpPr>
        <p:spPr>
          <a:xfrm>
            <a:off x="7857652" y="3670969"/>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4</a:t>
            </a:r>
          </a:p>
        </p:txBody>
      </p:sp>
      <p:sp>
        <p:nvSpPr>
          <p:cNvPr id="38" name="橢圓 37"/>
          <p:cNvSpPr/>
          <p:nvPr/>
        </p:nvSpPr>
        <p:spPr>
          <a:xfrm>
            <a:off x="4474021" y="3339699"/>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5</a:t>
            </a:r>
          </a:p>
        </p:txBody>
      </p:sp>
      <p:sp>
        <p:nvSpPr>
          <p:cNvPr id="39" name="橢圓 38"/>
          <p:cNvSpPr/>
          <p:nvPr/>
        </p:nvSpPr>
        <p:spPr>
          <a:xfrm>
            <a:off x="6078610" y="4647980"/>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6</a:t>
            </a:r>
          </a:p>
        </p:txBody>
      </p:sp>
      <p:sp>
        <p:nvSpPr>
          <p:cNvPr id="9" name="橢圓 8">
            <a:extLst>
              <a:ext uri="{FF2B5EF4-FFF2-40B4-BE49-F238E27FC236}">
                <a16:creationId xmlns:a16="http://schemas.microsoft.com/office/drawing/2014/main" id="{8BC65101-7161-2E5D-B8AA-6C5BD1E9A335}"/>
              </a:ext>
            </a:extLst>
          </p:cNvPr>
          <p:cNvSpPr/>
          <p:nvPr/>
        </p:nvSpPr>
        <p:spPr>
          <a:xfrm>
            <a:off x="7060334" y="3029913"/>
            <a:ext cx="145740" cy="14574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750" dirty="0"/>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E71AB76-3340-4400-9FE3-E2E587DD74C4}"/>
              </a:ext>
            </a:extLst>
          </p:cNvPr>
          <p:cNvSpPr>
            <a:spLocks noGrp="1"/>
          </p:cNvSpPr>
          <p:nvPr>
            <p:ph type="sldNum" sz="quarter" idx="4"/>
          </p:nvPr>
        </p:nvSpPr>
        <p:spPr/>
        <p:txBody>
          <a:bodyPr/>
          <a:lstStyle/>
          <a:p>
            <a:fld id="{0E646775-B2E7-47D2-938B-19843E53D65D}" type="slidenum">
              <a:rPr lang="zh-TW" altLang="en-US" smtClean="0"/>
              <a:pPr/>
              <a:t>13</a:t>
            </a:fld>
            <a:endParaRPr lang="zh-TW" altLang="en-US"/>
          </a:p>
        </p:txBody>
      </p:sp>
      <p:sp>
        <p:nvSpPr>
          <p:cNvPr id="3" name="內容版面配置區 2"/>
          <p:cNvSpPr>
            <a:spLocks noGrp="1"/>
          </p:cNvSpPr>
          <p:nvPr>
            <p:ph sz="quarter" idx="10"/>
          </p:nvPr>
        </p:nvSpPr>
        <p:spPr/>
        <p:txBody>
          <a:bodyPr>
            <a:normAutofit/>
          </a:bodyPr>
          <a:lstStyle/>
          <a:p>
            <a:r>
              <a:rPr lang="en-US" altLang="zh-TW" sz="1800" dirty="0"/>
              <a:t>Double click the “Build Targets” you want (ex: [exe]RV55.elf)</a:t>
            </a:r>
          </a:p>
          <a:p>
            <a:endParaRPr lang="en-US" sz="1800" dirty="0"/>
          </a:p>
          <a:p>
            <a:endParaRPr lang="en-US" sz="1800" dirty="0"/>
          </a:p>
          <a:p>
            <a:endParaRPr lang="en-US" sz="1800" dirty="0"/>
          </a:p>
          <a:p>
            <a:endParaRPr lang="en-US" sz="1800" dirty="0"/>
          </a:p>
          <a:p>
            <a:pPr marL="0" indent="0">
              <a:buNone/>
            </a:pPr>
            <a:endParaRPr lang="en-US" sz="1800" dirty="0"/>
          </a:p>
          <a:p>
            <a:r>
              <a:rPr lang="en-US" sz="1800" dirty="0"/>
              <a:t>Check build pass log</a:t>
            </a:r>
          </a:p>
        </p:txBody>
      </p:sp>
      <p:sp>
        <p:nvSpPr>
          <p:cNvPr id="2" name="標題 1"/>
          <p:cNvSpPr>
            <a:spLocks noGrp="1"/>
          </p:cNvSpPr>
          <p:nvPr>
            <p:ph type="title"/>
          </p:nvPr>
        </p:nvSpPr>
        <p:spPr/>
        <p:txBody>
          <a:bodyPr>
            <a:normAutofit fontScale="90000"/>
          </a:bodyPr>
          <a:lstStyle/>
          <a:p>
            <a:r>
              <a:rPr lang="en-US" dirty="0"/>
              <a:t>MRV PDK</a:t>
            </a:r>
            <a:br>
              <a:rPr lang="en-US" dirty="0"/>
            </a:br>
            <a:r>
              <a:rPr lang="en-US" dirty="0"/>
              <a:t>- Build</a:t>
            </a:r>
          </a:p>
        </p:txBody>
      </p:sp>
      <p:pic>
        <p:nvPicPr>
          <p:cNvPr id="7" name="Picture 2"/>
          <p:cNvPicPr>
            <a:picLocks noChangeAspect="1" noChangeArrowheads="1"/>
          </p:cNvPicPr>
          <p:nvPr/>
        </p:nvPicPr>
        <p:blipFill>
          <a:blip r:embed="rId2" cstate="print"/>
          <a:srcRect/>
          <a:stretch>
            <a:fillRect/>
          </a:stretch>
        </p:blipFill>
        <p:spPr bwMode="auto">
          <a:xfrm>
            <a:off x="1925706" y="1457092"/>
            <a:ext cx="1717494" cy="1904432"/>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a:stretch>
            <a:fillRect/>
          </a:stretch>
        </p:blipFill>
        <p:spPr bwMode="auto">
          <a:xfrm>
            <a:off x="1925706" y="3778163"/>
            <a:ext cx="5211198" cy="715262"/>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069E2BB5-8E68-07E5-AE30-FB7E03106155}"/>
              </a:ext>
            </a:extLst>
          </p:cNvPr>
          <p:cNvPicPr>
            <a:picLocks noChangeAspect="1"/>
          </p:cNvPicPr>
          <p:nvPr/>
        </p:nvPicPr>
        <p:blipFill>
          <a:blip r:embed="rId2"/>
          <a:stretch>
            <a:fillRect/>
          </a:stretch>
        </p:blipFill>
        <p:spPr>
          <a:xfrm>
            <a:off x="5104487" y="890038"/>
            <a:ext cx="2413741" cy="2013975"/>
          </a:xfrm>
          <a:prstGeom prst="rect">
            <a:avLst/>
          </a:prstGeom>
        </p:spPr>
      </p:pic>
      <p:sp>
        <p:nvSpPr>
          <p:cNvPr id="4" name="投影片編號版面配置區 3">
            <a:extLst>
              <a:ext uri="{FF2B5EF4-FFF2-40B4-BE49-F238E27FC236}">
                <a16:creationId xmlns:a16="http://schemas.microsoft.com/office/drawing/2014/main" id="{0687B759-82A4-404D-B926-93FEFA88B151}"/>
              </a:ext>
            </a:extLst>
          </p:cNvPr>
          <p:cNvSpPr>
            <a:spLocks noGrp="1"/>
          </p:cNvSpPr>
          <p:nvPr>
            <p:ph type="sldNum" sz="quarter" idx="4"/>
          </p:nvPr>
        </p:nvSpPr>
        <p:spPr/>
        <p:txBody>
          <a:bodyPr/>
          <a:lstStyle/>
          <a:p>
            <a:fld id="{0E646775-B2E7-47D2-938B-19843E53D65D}" type="slidenum">
              <a:rPr lang="zh-TW" altLang="en-US" smtClean="0"/>
              <a:pPr/>
              <a:t>14</a:t>
            </a:fld>
            <a:endParaRPr lang="zh-TW" altLang="en-US"/>
          </a:p>
        </p:txBody>
      </p:sp>
      <p:sp>
        <p:nvSpPr>
          <p:cNvPr id="3" name="內容版面配置區 2"/>
          <p:cNvSpPr>
            <a:spLocks noGrp="1"/>
          </p:cNvSpPr>
          <p:nvPr>
            <p:ph sz="quarter" idx="10"/>
          </p:nvPr>
        </p:nvSpPr>
        <p:spPr/>
        <p:txBody>
          <a:bodyPr>
            <a:normAutofit/>
          </a:bodyPr>
          <a:lstStyle/>
          <a:p>
            <a:r>
              <a:rPr lang="en-US" sz="1050" dirty="0"/>
              <a:t>Run projects</a:t>
            </a:r>
          </a:p>
          <a:p>
            <a:pPr marL="600075" lvl="1" indent="-257175">
              <a:buFont typeface="+mj-lt"/>
              <a:buAutoNum type="arabicPeriod"/>
            </a:pPr>
            <a:r>
              <a:rPr lang="en-US" sz="900" dirty="0"/>
              <a:t>Click the run button</a:t>
            </a:r>
          </a:p>
          <a:p>
            <a:pPr marL="600075" lvl="1" indent="-257175">
              <a:buFont typeface="+mj-lt"/>
              <a:buAutoNum type="arabicPeriod"/>
            </a:pPr>
            <a:r>
              <a:rPr lang="en-US" sz="900" dirty="0"/>
              <a:t>Click the “Run Configuration” item</a:t>
            </a:r>
          </a:p>
          <a:p>
            <a:pPr marL="600075" lvl="1" indent="-257175">
              <a:buFont typeface="+mj-lt"/>
              <a:buAutoNum type="arabicPeriod"/>
            </a:pPr>
            <a:r>
              <a:rPr lang="en-US" sz="900" dirty="0"/>
              <a:t>Double click the “Hardware Debugging” item to new configuration</a:t>
            </a:r>
          </a:p>
          <a:p>
            <a:pPr marL="600075" lvl="1" indent="-257175">
              <a:buFont typeface="+mj-lt"/>
              <a:buAutoNum type="arabicPeriod"/>
            </a:pPr>
            <a:r>
              <a:rPr lang="en-US" sz="900" dirty="0"/>
              <a:t>Select the elf file of </a:t>
            </a:r>
            <a:r>
              <a:rPr lang="en-US" sz="900" dirty="0" err="1"/>
              <a:t>LibVerifier</a:t>
            </a:r>
            <a:r>
              <a:rPr lang="en-US" sz="900" dirty="0"/>
              <a:t> project to run</a:t>
            </a:r>
          </a:p>
          <a:p>
            <a:pPr marL="900113" lvl="2" indent="-257175"/>
            <a:r>
              <a:rPr lang="en-US" sz="788" dirty="0"/>
              <a:t>Ex: XXX/Demo/</a:t>
            </a:r>
            <a:r>
              <a:rPr lang="en-US" sz="788" b="1" dirty="0"/>
              <a:t>build</a:t>
            </a:r>
            <a:r>
              <a:rPr lang="en-US" sz="788" dirty="0"/>
              <a:t>/</a:t>
            </a:r>
            <a:r>
              <a:rPr lang="en-US" sz="788" dirty="0" err="1"/>
              <a:t>LibVerifier</a:t>
            </a:r>
            <a:r>
              <a:rPr lang="en-US" sz="788" dirty="0"/>
              <a:t>/test/</a:t>
            </a:r>
            <a:r>
              <a:rPr lang="en-US" sz="788" b="1" dirty="0"/>
              <a:t>MRV55.elf</a:t>
            </a:r>
          </a:p>
          <a:p>
            <a:pPr marL="600075" lvl="1" indent="-257175">
              <a:buFont typeface="+mj-lt"/>
              <a:buAutoNum type="arabicPeriod"/>
            </a:pPr>
            <a:r>
              <a:rPr lang="en-US" sz="900" dirty="0"/>
              <a:t>Select the Configuration you want</a:t>
            </a:r>
          </a:p>
          <a:p>
            <a:pPr marL="900113" lvl="2" indent="-257175"/>
            <a:r>
              <a:rPr lang="en-US" sz="600" dirty="0"/>
              <a:t>“RV55 Moderate Simulation” : For profiling the cycle count of RV55</a:t>
            </a:r>
          </a:p>
          <a:p>
            <a:pPr marL="600075" lvl="1" indent="-257175">
              <a:buFont typeface="+mj-lt"/>
              <a:buAutoNum type="arabicPeriod"/>
            </a:pPr>
            <a:r>
              <a:rPr lang="en-US" sz="900" dirty="0"/>
              <a:t>Click the “Run” button</a:t>
            </a:r>
          </a:p>
        </p:txBody>
      </p:sp>
      <p:sp>
        <p:nvSpPr>
          <p:cNvPr id="2" name="標題 1"/>
          <p:cNvSpPr>
            <a:spLocks noGrp="1"/>
          </p:cNvSpPr>
          <p:nvPr>
            <p:ph type="title"/>
          </p:nvPr>
        </p:nvSpPr>
        <p:spPr/>
        <p:txBody>
          <a:bodyPr>
            <a:normAutofit fontScale="90000"/>
          </a:bodyPr>
          <a:lstStyle/>
          <a:p>
            <a:r>
              <a:rPr lang="en-US" dirty="0"/>
              <a:t>MRV PDK</a:t>
            </a:r>
            <a:br>
              <a:rPr lang="en-US" dirty="0"/>
            </a:br>
            <a:r>
              <a:rPr lang="en-US" dirty="0"/>
              <a:t>- Run</a:t>
            </a:r>
          </a:p>
        </p:txBody>
      </p:sp>
      <p:pic>
        <p:nvPicPr>
          <p:cNvPr id="2054" name="Picture 6"/>
          <p:cNvPicPr>
            <a:picLocks noChangeAspect="1" noChangeArrowheads="1"/>
          </p:cNvPicPr>
          <p:nvPr/>
        </p:nvPicPr>
        <p:blipFill>
          <a:blip r:embed="rId3" cstate="print"/>
          <a:srcRect/>
          <a:stretch>
            <a:fillRect/>
          </a:stretch>
        </p:blipFill>
        <p:spPr bwMode="auto">
          <a:xfrm>
            <a:off x="4409982" y="3381841"/>
            <a:ext cx="3384825" cy="1551221"/>
          </a:xfrm>
          <a:prstGeom prst="rect">
            <a:avLst/>
          </a:prstGeom>
          <a:noFill/>
          <a:ln w="9525">
            <a:noFill/>
            <a:miter lim="800000"/>
            <a:headEnd/>
            <a:tailEnd/>
          </a:ln>
        </p:spPr>
      </p:pic>
      <p:grpSp>
        <p:nvGrpSpPr>
          <p:cNvPr id="15" name="群組 14"/>
          <p:cNvGrpSpPr/>
          <p:nvPr/>
        </p:nvGrpSpPr>
        <p:grpSpPr>
          <a:xfrm>
            <a:off x="5104488" y="304068"/>
            <a:ext cx="2413741" cy="523782"/>
            <a:chOff x="755576" y="2492896"/>
            <a:chExt cx="3650369" cy="914400"/>
          </a:xfrm>
        </p:grpSpPr>
        <p:pic>
          <p:nvPicPr>
            <p:cNvPr id="9219" name="Picture 3"/>
            <p:cNvPicPr>
              <a:picLocks noChangeAspect="1" noChangeArrowheads="1"/>
            </p:cNvPicPr>
            <p:nvPr/>
          </p:nvPicPr>
          <p:blipFill>
            <a:blip r:embed="rId4" cstate="print"/>
            <a:srcRect/>
            <a:stretch>
              <a:fillRect/>
            </a:stretch>
          </p:blipFill>
          <p:spPr bwMode="auto">
            <a:xfrm>
              <a:off x="755576" y="2492896"/>
              <a:ext cx="3650369" cy="910977"/>
            </a:xfrm>
            <a:prstGeom prst="rect">
              <a:avLst/>
            </a:prstGeom>
            <a:noFill/>
            <a:ln w="9525">
              <a:noFill/>
              <a:miter lim="800000"/>
              <a:headEnd/>
              <a:tailEnd/>
            </a:ln>
          </p:spPr>
        </p:pic>
        <p:sp>
          <p:nvSpPr>
            <p:cNvPr id="12" name="橢圓 11"/>
            <p:cNvSpPr/>
            <p:nvPr/>
          </p:nvSpPr>
          <p:spPr>
            <a:xfrm>
              <a:off x="2649488" y="2874640"/>
              <a:ext cx="194320" cy="19432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50" dirty="0"/>
                <a:t>1</a:t>
              </a:r>
            </a:p>
          </p:txBody>
        </p:sp>
        <p:sp>
          <p:nvSpPr>
            <p:cNvPr id="13" name="橢圓 12"/>
            <p:cNvSpPr/>
            <p:nvPr/>
          </p:nvSpPr>
          <p:spPr>
            <a:xfrm>
              <a:off x="3059832" y="3212976"/>
              <a:ext cx="194320" cy="19432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50" dirty="0"/>
                <a:t>2</a:t>
              </a:r>
            </a:p>
          </p:txBody>
        </p:sp>
      </p:grpSp>
      <p:sp>
        <p:nvSpPr>
          <p:cNvPr id="14" name="橢圓 13"/>
          <p:cNvSpPr/>
          <p:nvPr/>
        </p:nvSpPr>
        <p:spPr>
          <a:xfrm>
            <a:off x="4958748" y="1383462"/>
            <a:ext cx="145740" cy="1457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50" dirty="0"/>
              <a:t>3</a:t>
            </a:r>
          </a:p>
        </p:txBody>
      </p:sp>
      <p:sp>
        <p:nvSpPr>
          <p:cNvPr id="16" name="橢圓 15"/>
          <p:cNvSpPr/>
          <p:nvPr/>
        </p:nvSpPr>
        <p:spPr>
          <a:xfrm>
            <a:off x="5552814" y="1664835"/>
            <a:ext cx="145740" cy="1457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50" dirty="0"/>
              <a:t>5</a:t>
            </a:r>
          </a:p>
        </p:txBody>
      </p:sp>
      <p:sp>
        <p:nvSpPr>
          <p:cNvPr id="20" name="橢圓 19"/>
          <p:cNvSpPr/>
          <p:nvPr/>
        </p:nvSpPr>
        <p:spPr>
          <a:xfrm>
            <a:off x="5552814" y="1438097"/>
            <a:ext cx="145740" cy="1457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50" dirty="0"/>
              <a:t>4</a:t>
            </a:r>
          </a:p>
        </p:txBody>
      </p:sp>
      <p:sp>
        <p:nvSpPr>
          <p:cNvPr id="21" name="橢圓 20"/>
          <p:cNvSpPr/>
          <p:nvPr/>
        </p:nvSpPr>
        <p:spPr>
          <a:xfrm>
            <a:off x="7423118" y="2715647"/>
            <a:ext cx="145740" cy="1457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50" dirty="0"/>
              <a:t>6</a:t>
            </a:r>
          </a:p>
        </p:txBody>
      </p:sp>
      <p:sp>
        <p:nvSpPr>
          <p:cNvPr id="23" name="文字方塊 22"/>
          <p:cNvSpPr txBox="1"/>
          <p:nvPr/>
        </p:nvSpPr>
        <p:spPr>
          <a:xfrm>
            <a:off x="4409982" y="3111811"/>
            <a:ext cx="1755481" cy="276999"/>
          </a:xfrm>
          <a:prstGeom prst="rect">
            <a:avLst/>
          </a:prstGeom>
          <a:noFill/>
        </p:spPr>
        <p:txBody>
          <a:bodyPr wrap="none" rtlCol="0">
            <a:spAutoFit/>
          </a:bodyPr>
          <a:lstStyle/>
          <a:p>
            <a:r>
              <a:rPr lang="en-US" sz="1200" b="1" u="sng" dirty="0"/>
              <a:t>The log of running result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7DD9BAE-5FE2-4C51-A1CE-7E85FCD36B04}"/>
              </a:ext>
            </a:extLst>
          </p:cNvPr>
          <p:cNvSpPr>
            <a:spLocks noGrp="1"/>
          </p:cNvSpPr>
          <p:nvPr>
            <p:ph type="sldNum" sz="quarter" idx="4"/>
          </p:nvPr>
        </p:nvSpPr>
        <p:spPr/>
        <p:txBody>
          <a:bodyPr/>
          <a:lstStyle/>
          <a:p>
            <a:fld id="{0E646775-B2E7-47D2-938B-19843E53D65D}" type="slidenum">
              <a:rPr lang="zh-TW" altLang="en-US" smtClean="0"/>
              <a:pPr/>
              <a:t>15</a:t>
            </a:fld>
            <a:endParaRPr lang="zh-TW" altLang="en-US"/>
          </a:p>
        </p:txBody>
      </p:sp>
      <p:sp>
        <p:nvSpPr>
          <p:cNvPr id="3" name="內容版面配置區 2">
            <a:extLst>
              <a:ext uri="{FF2B5EF4-FFF2-40B4-BE49-F238E27FC236}">
                <a16:creationId xmlns:a16="http://schemas.microsoft.com/office/drawing/2014/main" id="{06266C08-3E03-4045-836D-2B0DE907586F}"/>
              </a:ext>
            </a:extLst>
          </p:cNvPr>
          <p:cNvSpPr>
            <a:spLocks noGrp="1"/>
          </p:cNvSpPr>
          <p:nvPr>
            <p:ph sz="quarter" idx="10"/>
          </p:nvPr>
        </p:nvSpPr>
        <p:spPr/>
        <p:txBody>
          <a:bodyPr/>
          <a:lstStyle/>
          <a:p>
            <a:r>
              <a:rPr lang="en-US" altLang="zh-TW" dirty="0"/>
              <a:t>If you got build error message like below</a:t>
            </a:r>
          </a:p>
          <a:p>
            <a:endParaRPr lang="en-US" altLang="zh-TW" dirty="0"/>
          </a:p>
          <a:p>
            <a:endParaRPr lang="en-US" altLang="zh-TW" dirty="0"/>
          </a:p>
          <a:p>
            <a:endParaRPr lang="en-US" altLang="zh-TW" dirty="0"/>
          </a:p>
          <a:p>
            <a:endParaRPr lang="en-US" altLang="zh-TW" dirty="0"/>
          </a:p>
          <a:p>
            <a:endParaRPr lang="en-US" altLang="zh-TW" dirty="0"/>
          </a:p>
          <a:p>
            <a:r>
              <a:rPr lang="en-US" altLang="zh-TW" dirty="0"/>
              <a:t>CFLAG follow the recommended setting</a:t>
            </a:r>
          </a:p>
          <a:p>
            <a:pPr lvl="1"/>
            <a:r>
              <a:rPr lang="en-US" altLang="zh-TW" sz="1350" i="1" dirty="0">
                <a:latin typeface="Calibri" panose="020F0502020204030204" pitchFamily="34" charset="0"/>
                <a:ea typeface="新細明體" panose="02020500000000000000" pitchFamily="18" charset="-120"/>
              </a:rPr>
              <a:t>-Wall  -</a:t>
            </a:r>
            <a:r>
              <a:rPr lang="en-US" altLang="zh-TW" sz="1350" i="1" dirty="0" err="1">
                <a:latin typeface="Calibri" panose="020F0502020204030204" pitchFamily="34" charset="0"/>
                <a:ea typeface="新細明體" panose="02020500000000000000" pitchFamily="18" charset="-120"/>
              </a:rPr>
              <a:t>mcoproc</a:t>
            </a:r>
            <a:r>
              <a:rPr lang="en-US" altLang="zh-TW" sz="1350" i="1" dirty="0">
                <a:latin typeface="Calibri" panose="020F0502020204030204" pitchFamily="34" charset="0"/>
                <a:ea typeface="新細明體" panose="02020500000000000000" pitchFamily="18" charset="-120"/>
              </a:rPr>
              <a:t>  -</a:t>
            </a:r>
            <a:r>
              <a:rPr lang="en-US" altLang="zh-TW" sz="1350" i="1" dirty="0" err="1">
                <a:latin typeface="Calibri" panose="020F0502020204030204" pitchFamily="34" charset="0"/>
                <a:ea typeface="新細明體" panose="02020500000000000000" pitchFamily="18" charset="-120"/>
              </a:rPr>
              <a:t>Werror</a:t>
            </a:r>
            <a:r>
              <a:rPr lang="en-US" altLang="zh-TW" sz="1350" i="1" dirty="0">
                <a:latin typeface="Calibri" panose="020F0502020204030204" pitchFamily="34" charset="0"/>
                <a:ea typeface="新細明體" panose="02020500000000000000" pitchFamily="18" charset="-120"/>
              </a:rPr>
              <a:t>  </a:t>
            </a:r>
            <a:r>
              <a:rPr lang="en-US" altLang="zh-TW" sz="1350" i="1" dirty="0">
                <a:solidFill>
                  <a:srgbClr val="FF0000"/>
                </a:solidFill>
                <a:latin typeface="Calibri" panose="020F0502020204030204" pitchFamily="34" charset="0"/>
                <a:ea typeface="新細明體" panose="02020500000000000000" pitchFamily="18" charset="-120"/>
              </a:rPr>
              <a:t>-</a:t>
            </a:r>
            <a:r>
              <a:rPr lang="en-US" altLang="zh-TW" sz="1350" i="1" dirty="0" err="1">
                <a:solidFill>
                  <a:srgbClr val="FF0000"/>
                </a:solidFill>
                <a:latin typeface="Calibri" panose="020F0502020204030204" pitchFamily="34" charset="0"/>
                <a:ea typeface="新細明體" panose="02020500000000000000" pitchFamily="18" charset="-120"/>
              </a:rPr>
              <a:t>mlongcalls</a:t>
            </a:r>
            <a:r>
              <a:rPr lang="en-US" altLang="zh-TW" sz="1350" i="1" dirty="0">
                <a:solidFill>
                  <a:srgbClr val="FF0000"/>
                </a:solidFill>
                <a:latin typeface="Calibri" panose="020F0502020204030204" pitchFamily="34" charset="0"/>
                <a:ea typeface="新細明體" panose="02020500000000000000" pitchFamily="18" charset="-120"/>
              </a:rPr>
              <a:t>  </a:t>
            </a:r>
            <a:r>
              <a:rPr lang="en-US" altLang="zh-TW" sz="1350" i="1" dirty="0">
                <a:latin typeface="Calibri" panose="020F0502020204030204" pitchFamily="34" charset="0"/>
                <a:ea typeface="新細明體" panose="02020500000000000000" pitchFamily="18" charset="-120"/>
              </a:rPr>
              <a:t>-</a:t>
            </a:r>
            <a:r>
              <a:rPr lang="en-US" altLang="zh-TW" sz="1350" i="1" dirty="0" err="1">
                <a:latin typeface="Calibri" panose="020F0502020204030204" pitchFamily="34" charset="0"/>
                <a:ea typeface="新細明體" panose="02020500000000000000" pitchFamily="18" charset="-120"/>
              </a:rPr>
              <a:t>LNO:simd</a:t>
            </a:r>
            <a:r>
              <a:rPr lang="en-US" altLang="zh-TW" sz="1350" i="1" dirty="0">
                <a:latin typeface="Calibri" panose="020F0502020204030204" pitchFamily="34" charset="0"/>
                <a:ea typeface="新細明體" panose="02020500000000000000" pitchFamily="18" charset="-120"/>
              </a:rPr>
              <a:t>  -</a:t>
            </a:r>
            <a:r>
              <a:rPr lang="en-US" altLang="zh-TW" sz="1350" i="1" dirty="0" err="1">
                <a:latin typeface="Calibri" panose="020F0502020204030204" pitchFamily="34" charset="0"/>
                <a:ea typeface="新細明體" panose="02020500000000000000" pitchFamily="18" charset="-120"/>
              </a:rPr>
              <a:t>ffunction</a:t>
            </a:r>
            <a:r>
              <a:rPr lang="en-US" altLang="zh-TW" sz="1350" i="1" dirty="0">
                <a:latin typeface="Calibri" panose="020F0502020204030204" pitchFamily="34" charset="0"/>
                <a:ea typeface="新細明體" panose="02020500000000000000" pitchFamily="18" charset="-120"/>
              </a:rPr>
              <a:t>-sections  -</a:t>
            </a:r>
            <a:r>
              <a:rPr lang="en-US" altLang="zh-TW" sz="1350" i="1" dirty="0" err="1">
                <a:latin typeface="Calibri" panose="020F0502020204030204" pitchFamily="34" charset="0"/>
                <a:ea typeface="新細明體" panose="02020500000000000000" pitchFamily="18" charset="-120"/>
              </a:rPr>
              <a:t>Wno</a:t>
            </a:r>
            <a:r>
              <a:rPr lang="en-US" altLang="zh-TW" sz="1350" i="1" dirty="0">
                <a:latin typeface="Calibri" panose="020F0502020204030204" pitchFamily="34" charset="0"/>
                <a:ea typeface="新細明體" panose="02020500000000000000" pitchFamily="18" charset="-120"/>
              </a:rPr>
              <a:t>-error=format -</a:t>
            </a:r>
            <a:r>
              <a:rPr lang="en-US" altLang="zh-TW" sz="1350" i="1" dirty="0" err="1">
                <a:latin typeface="Calibri" panose="020F0502020204030204" pitchFamily="34" charset="0"/>
                <a:ea typeface="新細明體" panose="02020500000000000000" pitchFamily="18" charset="-120"/>
              </a:rPr>
              <a:t>fdata</a:t>
            </a:r>
            <a:r>
              <a:rPr lang="en-US" altLang="zh-TW" sz="1350" i="1" dirty="0">
                <a:latin typeface="Calibri" panose="020F0502020204030204" pitchFamily="34" charset="0"/>
                <a:ea typeface="新細明體" panose="02020500000000000000" pitchFamily="18" charset="-120"/>
              </a:rPr>
              <a:t>-sections</a:t>
            </a:r>
            <a:endParaRPr lang="zh-TW" altLang="en-US" dirty="0"/>
          </a:p>
        </p:txBody>
      </p:sp>
      <p:sp>
        <p:nvSpPr>
          <p:cNvPr id="2" name="標題 1">
            <a:extLst>
              <a:ext uri="{FF2B5EF4-FFF2-40B4-BE49-F238E27FC236}">
                <a16:creationId xmlns:a16="http://schemas.microsoft.com/office/drawing/2014/main" id="{7CD0EE45-53C7-4F43-841E-6A351FD8C04E}"/>
              </a:ext>
            </a:extLst>
          </p:cNvPr>
          <p:cNvSpPr>
            <a:spLocks noGrp="1"/>
          </p:cNvSpPr>
          <p:nvPr>
            <p:ph type="title"/>
          </p:nvPr>
        </p:nvSpPr>
        <p:spPr/>
        <p:txBody>
          <a:bodyPr/>
          <a:lstStyle/>
          <a:p>
            <a:r>
              <a:rPr lang="en-US" altLang="zh-TW" dirty="0"/>
              <a:t>Trouble Shooting</a:t>
            </a:r>
            <a:endParaRPr lang="zh-TW" altLang="en-US" dirty="0"/>
          </a:p>
        </p:txBody>
      </p:sp>
      <p:pic>
        <p:nvPicPr>
          <p:cNvPr id="5" name="圖片 4">
            <a:extLst>
              <a:ext uri="{FF2B5EF4-FFF2-40B4-BE49-F238E27FC236}">
                <a16:creationId xmlns:a16="http://schemas.microsoft.com/office/drawing/2014/main" id="{CF609EAC-F3A0-48CA-A0D9-77467FF3E3B1}"/>
              </a:ext>
            </a:extLst>
          </p:cNvPr>
          <p:cNvPicPr>
            <a:picLocks noChangeAspect="1"/>
          </p:cNvPicPr>
          <p:nvPr/>
        </p:nvPicPr>
        <p:blipFill>
          <a:blip r:embed="rId2" cstate="print"/>
          <a:stretch>
            <a:fillRect/>
          </a:stretch>
        </p:blipFill>
        <p:spPr>
          <a:xfrm>
            <a:off x="2101416" y="1372358"/>
            <a:ext cx="4941168" cy="1745826"/>
          </a:xfrm>
          <a:prstGeom prst="rect">
            <a:avLst/>
          </a:prstGeom>
        </p:spPr>
      </p:pic>
    </p:spTree>
    <p:extLst>
      <p:ext uri="{BB962C8B-B14F-4D97-AF65-F5344CB8AC3E}">
        <p14:creationId xmlns:p14="http://schemas.microsoft.com/office/powerpoint/2010/main" val="344642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dirty="0"/>
              <a:t>3</a:t>
            </a:r>
            <a:r>
              <a:rPr lang="en-US" baseline="30000" dirty="0"/>
              <a:t>rd</a:t>
            </a:r>
            <a:r>
              <a:rPr lang="en-US" dirty="0"/>
              <a:t> party lib verification</a:t>
            </a:r>
          </a:p>
        </p:txBody>
      </p:sp>
      <p:sp>
        <p:nvSpPr>
          <p:cNvPr id="6" name="文字版面配置區 5">
            <a:extLst>
              <a:ext uri="{FF2B5EF4-FFF2-40B4-BE49-F238E27FC236}">
                <a16:creationId xmlns:a16="http://schemas.microsoft.com/office/drawing/2014/main" id="{15C9AB61-D2BE-42C3-B790-97EC88BAA567}"/>
              </a:ext>
            </a:extLst>
          </p:cNvPr>
          <p:cNvSpPr>
            <a:spLocks noGrp="1"/>
          </p:cNvSpPr>
          <p:nvPr>
            <p:ph type="body" idx="1"/>
          </p:nvPr>
        </p:nvSpPr>
        <p:spPr/>
        <p:txBody>
          <a:bodyPr/>
          <a:lstStyle/>
          <a:p>
            <a:endParaRPr lang="zh-TW" altLang="en-US" dirty="0"/>
          </a:p>
        </p:txBody>
      </p:sp>
      <p:sp>
        <p:nvSpPr>
          <p:cNvPr id="2" name="投影片編號版面配置區 1">
            <a:extLst>
              <a:ext uri="{FF2B5EF4-FFF2-40B4-BE49-F238E27FC236}">
                <a16:creationId xmlns:a16="http://schemas.microsoft.com/office/drawing/2014/main" id="{30E85A6E-FB24-410D-833A-977CB3DCD4A1}"/>
              </a:ext>
            </a:extLst>
          </p:cNvPr>
          <p:cNvSpPr>
            <a:spLocks noGrp="1"/>
          </p:cNvSpPr>
          <p:nvPr>
            <p:ph type="sldNum" sz="quarter" idx="12"/>
          </p:nvPr>
        </p:nvSpPr>
        <p:spPr/>
        <p:txBody>
          <a:bodyPr/>
          <a:lstStyle/>
          <a:p>
            <a:fld id="{0E646775-B2E7-47D2-938B-19843E53D65D}"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968678" y="1739524"/>
            <a:ext cx="2268252" cy="809142"/>
          </a:xfrm>
          <a:prstGeom prst="rect">
            <a:avLst/>
          </a:prstGeom>
          <a:noFill/>
          <a:ln w="9525">
            <a:noFill/>
            <a:miter lim="800000"/>
            <a:headEnd/>
            <a:tailEnd/>
          </a:ln>
        </p:spPr>
      </p:pic>
      <p:sp>
        <p:nvSpPr>
          <p:cNvPr id="4" name="投影片編號版面配置區 3">
            <a:extLst>
              <a:ext uri="{FF2B5EF4-FFF2-40B4-BE49-F238E27FC236}">
                <a16:creationId xmlns:a16="http://schemas.microsoft.com/office/drawing/2014/main" id="{1147C324-6883-45A9-AEEA-927F5D0A3E81}"/>
              </a:ext>
            </a:extLst>
          </p:cNvPr>
          <p:cNvSpPr>
            <a:spLocks noGrp="1"/>
          </p:cNvSpPr>
          <p:nvPr>
            <p:ph type="sldNum" sz="quarter" idx="4"/>
          </p:nvPr>
        </p:nvSpPr>
        <p:spPr/>
        <p:txBody>
          <a:bodyPr/>
          <a:lstStyle/>
          <a:p>
            <a:fld id="{0E646775-B2E7-47D2-938B-19843E53D65D}" type="slidenum">
              <a:rPr lang="zh-TW" altLang="en-US" smtClean="0"/>
              <a:pPr/>
              <a:t>17</a:t>
            </a:fld>
            <a:endParaRPr lang="zh-TW" altLang="en-US"/>
          </a:p>
        </p:txBody>
      </p:sp>
      <p:sp>
        <p:nvSpPr>
          <p:cNvPr id="3" name="內容版面配置區 2"/>
          <p:cNvSpPr>
            <a:spLocks noGrp="1"/>
          </p:cNvSpPr>
          <p:nvPr>
            <p:ph sz="quarter" idx="10"/>
          </p:nvPr>
        </p:nvSpPr>
        <p:spPr/>
        <p:txBody>
          <a:bodyPr>
            <a:normAutofit fontScale="62500" lnSpcReduction="20000"/>
          </a:bodyPr>
          <a:lstStyle/>
          <a:p>
            <a:pPr marL="342900" indent="-342900">
              <a:buFont typeface="+mj-lt"/>
              <a:buAutoNum type="arabicPeriod"/>
            </a:pPr>
            <a:r>
              <a:rPr lang="en-US" sz="1800" dirty="0"/>
              <a:t>3</a:t>
            </a:r>
            <a:r>
              <a:rPr lang="en-US" sz="1800" baseline="30000" dirty="0"/>
              <a:t>rd</a:t>
            </a:r>
            <a:r>
              <a:rPr lang="en-US" sz="1800" dirty="0"/>
              <a:t> party library source code integration</a:t>
            </a:r>
          </a:p>
          <a:p>
            <a:pPr marL="642938" lvl="1" indent="-342900"/>
            <a:r>
              <a:rPr lang="en-US" sz="1500" dirty="0"/>
              <a:t>Replace the demo lib implementation in </a:t>
            </a:r>
            <a:r>
              <a:rPr lang="en-US" sz="1500" dirty="0" err="1"/>
              <a:t>libaurisysdemo</a:t>
            </a:r>
            <a:r>
              <a:rPr lang="en-US" sz="1500" dirty="0"/>
              <a:t>/ with yours</a:t>
            </a:r>
          </a:p>
          <a:p>
            <a:pPr marL="342900" indent="-342900">
              <a:buFont typeface="+mj-lt"/>
              <a:buAutoNum type="arabicPeriod"/>
            </a:pPr>
            <a:r>
              <a:rPr lang="en-US" sz="1800" dirty="0"/>
              <a:t>Add 3</a:t>
            </a:r>
            <a:r>
              <a:rPr lang="en-US" sz="1800" baseline="30000" dirty="0"/>
              <a:t>rd</a:t>
            </a:r>
            <a:r>
              <a:rPr lang="en-US" sz="1800" dirty="0"/>
              <a:t> party library entry function declaration to interface/</a:t>
            </a:r>
            <a:r>
              <a:rPr lang="en-US" altLang="zh-TW" sz="1800" dirty="0" err="1"/>
              <a:t>arsi_library_entry_points.h</a:t>
            </a:r>
            <a:endParaRPr lang="en-US" altLang="zh-TW" sz="1800" dirty="0"/>
          </a:p>
          <a:p>
            <a:pPr marL="342900" indent="-342900">
              <a:buFont typeface="+mj-lt"/>
              <a:buAutoNum type="arabicPeriod"/>
            </a:pPr>
            <a:endParaRPr lang="en-US" sz="1800" dirty="0"/>
          </a:p>
          <a:p>
            <a:pPr marL="342900" indent="-342900">
              <a:buFont typeface="+mj-lt"/>
              <a:buAutoNum type="arabicPeriod"/>
            </a:pP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Configure the test case in </a:t>
            </a:r>
            <a:r>
              <a:rPr lang="en-US" sz="1800" dirty="0" err="1"/>
              <a:t>lib_verifier</a:t>
            </a:r>
            <a:r>
              <a:rPr lang="en-US" sz="1800" dirty="0"/>
              <a:t>/</a:t>
            </a:r>
            <a:r>
              <a:rPr lang="en-US" sz="1800" dirty="0" err="1"/>
              <a:t>test_case_config.h</a:t>
            </a:r>
            <a:endParaRPr lang="en-US" sz="1800" dirty="0"/>
          </a:p>
          <a:p>
            <a:pPr marL="642938" lvl="1" indent="-342900"/>
            <a:r>
              <a:rPr lang="en-US" sz="1050" dirty="0"/>
              <a:t>Playback: </a:t>
            </a:r>
            <a:r>
              <a:rPr lang="en-US" sz="1050" dirty="0" err="1"/>
              <a:t>mtk_playback_test_case_list</a:t>
            </a:r>
            <a:endParaRPr lang="en-US" sz="1050" dirty="0"/>
          </a:p>
          <a:p>
            <a:pPr marL="642938" lvl="1" indent="-342900"/>
            <a:r>
              <a:rPr lang="en-US" sz="1050" dirty="0"/>
              <a:t>Record: </a:t>
            </a:r>
            <a:r>
              <a:rPr lang="en-US" sz="1050" dirty="0" err="1"/>
              <a:t>mtk_record_test_case_list</a:t>
            </a:r>
            <a:endParaRPr lang="en-US" sz="1050" dirty="0"/>
          </a:p>
          <a:p>
            <a:pPr marL="642938" lvl="1" indent="-342900"/>
            <a:r>
              <a:rPr lang="en-US" sz="1050" dirty="0"/>
              <a:t>VoIP: </a:t>
            </a:r>
            <a:r>
              <a:rPr lang="en-US" sz="1050" dirty="0" err="1"/>
              <a:t>mtk_voip_test_case_list</a:t>
            </a:r>
            <a:endParaRPr lang="en-US" sz="1050" dirty="0"/>
          </a:p>
          <a:p>
            <a:pPr marL="642938" lvl="1" indent="-342900"/>
            <a:r>
              <a:rPr lang="en-US" sz="1050" dirty="0"/>
              <a:t>Phone call: </a:t>
            </a:r>
            <a:r>
              <a:rPr lang="en-US" sz="1050" dirty="0" err="1"/>
              <a:t>mtk_phone_call_test_case_list</a:t>
            </a:r>
            <a:endParaRPr lang="en-US" sz="1050" dirty="0"/>
          </a:p>
          <a:p>
            <a:pPr marL="342900" indent="-342900">
              <a:buFont typeface="+mj-lt"/>
              <a:buAutoNum type="arabicPeriod"/>
            </a:pPr>
            <a:r>
              <a:rPr lang="en-US" sz="1800" dirty="0"/>
              <a:t>Update </a:t>
            </a:r>
            <a:r>
              <a:rPr lang="en-US" sz="1800" dirty="0" err="1"/>
              <a:t>makefile</a:t>
            </a:r>
            <a:endParaRPr lang="en-US" sz="1800" dirty="0"/>
          </a:p>
          <a:p>
            <a:pPr marL="642938" lvl="1" indent="-342900"/>
            <a:r>
              <a:rPr lang="en-US" sz="1500" dirty="0"/>
              <a:t>Update </a:t>
            </a:r>
            <a:r>
              <a:rPr lang="en-US" sz="1500" dirty="0" err="1"/>
              <a:t>makefile</a:t>
            </a:r>
            <a:r>
              <a:rPr lang="en-US" sz="1500" dirty="0"/>
              <a:t> or Android.mk if you add new source files</a:t>
            </a:r>
          </a:p>
          <a:p>
            <a:pPr marL="342900" indent="-342900">
              <a:buFont typeface="+mj-lt"/>
              <a:buAutoNum type="arabicPeriod"/>
            </a:pPr>
            <a:r>
              <a:rPr lang="en-US" sz="1800" dirty="0"/>
              <a:t>Compile &amp; Run</a:t>
            </a:r>
            <a:endParaRPr lang="en-US" sz="1500" dirty="0"/>
          </a:p>
          <a:p>
            <a:pPr marL="342900" indent="-342900">
              <a:buFont typeface="+mj-lt"/>
              <a:buAutoNum type="arabicPeriod"/>
            </a:pPr>
            <a:r>
              <a:rPr lang="en-US" sz="1800" dirty="0"/>
              <a:t>Check the test result </a:t>
            </a:r>
          </a:p>
        </p:txBody>
      </p:sp>
      <p:sp>
        <p:nvSpPr>
          <p:cNvPr id="2" name="標題 1"/>
          <p:cNvSpPr>
            <a:spLocks noGrp="1"/>
          </p:cNvSpPr>
          <p:nvPr>
            <p:ph type="title"/>
          </p:nvPr>
        </p:nvSpPr>
        <p:spPr/>
        <p:txBody>
          <a:bodyPr/>
          <a:lstStyle/>
          <a:p>
            <a:r>
              <a:rPr lang="en-US" dirty="0"/>
              <a:t>Verification Flow</a:t>
            </a:r>
          </a:p>
        </p:txBody>
      </p:sp>
      <p:sp>
        <p:nvSpPr>
          <p:cNvPr id="22" name="文字方塊 21"/>
          <p:cNvSpPr txBox="1"/>
          <p:nvPr/>
        </p:nvSpPr>
        <p:spPr>
          <a:xfrm>
            <a:off x="4572000" y="1970715"/>
            <a:ext cx="2583721" cy="276999"/>
          </a:xfrm>
          <a:prstGeom prst="rect">
            <a:avLst/>
          </a:prstGeom>
          <a:noFill/>
        </p:spPr>
        <p:txBody>
          <a:bodyPr wrap="none" rtlCol="0">
            <a:spAutoFit/>
          </a:bodyPr>
          <a:lstStyle/>
          <a:p>
            <a:r>
              <a:rPr lang="en-US" sz="1200" dirty="0"/>
              <a:t>Add 3</a:t>
            </a:r>
            <a:r>
              <a:rPr lang="en-US" sz="1200" baseline="30000" dirty="0"/>
              <a:t>rd</a:t>
            </a:r>
            <a:r>
              <a:rPr lang="en-US" sz="1200" dirty="0"/>
              <a:t> party library’s declaration here</a:t>
            </a:r>
          </a:p>
        </p:txBody>
      </p:sp>
      <p:cxnSp>
        <p:nvCxnSpPr>
          <p:cNvPr id="21" name="直線單箭頭接點 20"/>
          <p:cNvCxnSpPr/>
          <p:nvPr/>
        </p:nvCxnSpPr>
        <p:spPr>
          <a:xfrm flipH="1">
            <a:off x="3750875" y="2116618"/>
            <a:ext cx="81009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A622446E-CB90-4255-9F6B-F7B7EA2F9175}"/>
              </a:ext>
            </a:extLst>
          </p:cNvPr>
          <p:cNvSpPr>
            <a:spLocks noGrp="1"/>
          </p:cNvSpPr>
          <p:nvPr>
            <p:ph type="sldNum" sz="quarter" idx="4"/>
          </p:nvPr>
        </p:nvSpPr>
        <p:spPr/>
        <p:txBody>
          <a:bodyPr/>
          <a:lstStyle/>
          <a:p>
            <a:fld id="{0E646775-B2E7-47D2-938B-19843E53D65D}" type="slidenum">
              <a:rPr lang="zh-TW" altLang="en-US" smtClean="0"/>
              <a:pPr/>
              <a:t>18</a:t>
            </a:fld>
            <a:endParaRPr lang="zh-TW" altLang="en-US"/>
          </a:p>
        </p:txBody>
      </p:sp>
      <p:sp>
        <p:nvSpPr>
          <p:cNvPr id="5" name="內容版面配置區 4"/>
          <p:cNvSpPr>
            <a:spLocks noGrp="1"/>
          </p:cNvSpPr>
          <p:nvPr>
            <p:ph sz="quarter" idx="10"/>
          </p:nvPr>
        </p:nvSpPr>
        <p:spPr/>
        <p:txBody>
          <a:bodyPr>
            <a:normAutofit/>
          </a:bodyPr>
          <a:lstStyle/>
          <a:p>
            <a:r>
              <a:rPr lang="en-US" sz="1800" dirty="0" err="1"/>
              <a:t>Config</a:t>
            </a:r>
            <a:r>
              <a:rPr lang="en-US" sz="1800" dirty="0"/>
              <a:t> the test case with 3rd party library's capability</a:t>
            </a:r>
          </a:p>
        </p:txBody>
      </p:sp>
      <p:sp>
        <p:nvSpPr>
          <p:cNvPr id="2" name="標題 1"/>
          <p:cNvSpPr>
            <a:spLocks noGrp="1"/>
          </p:cNvSpPr>
          <p:nvPr>
            <p:ph type="title"/>
          </p:nvPr>
        </p:nvSpPr>
        <p:spPr/>
        <p:txBody>
          <a:bodyPr/>
          <a:lstStyle/>
          <a:p>
            <a:r>
              <a:rPr lang="en-US" dirty="0" err="1"/>
              <a:t>Test_case_config.h</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210317" y="1563392"/>
            <a:ext cx="6723366" cy="1297995"/>
          </a:xfrm>
          <a:prstGeom prst="rect">
            <a:avLst/>
          </a:prstGeom>
          <a:noFill/>
          <a:ln w="9525">
            <a:noFill/>
            <a:miter lim="800000"/>
            <a:headEnd/>
            <a:tailEnd/>
          </a:ln>
        </p:spPr>
      </p:pic>
      <p:sp>
        <p:nvSpPr>
          <p:cNvPr id="6" name="內容版面配置區 4">
            <a:extLst>
              <a:ext uri="{FF2B5EF4-FFF2-40B4-BE49-F238E27FC236}">
                <a16:creationId xmlns:a16="http://schemas.microsoft.com/office/drawing/2014/main" id="{4F2D3CEC-C822-404F-A1AE-34A45FFE96D5}"/>
              </a:ext>
            </a:extLst>
          </p:cNvPr>
          <p:cNvSpPr txBox="1">
            <a:spLocks/>
          </p:cNvSpPr>
          <p:nvPr/>
        </p:nvSpPr>
        <p:spPr>
          <a:xfrm>
            <a:off x="1520190" y="3381840"/>
            <a:ext cx="6172200" cy="432048"/>
          </a:xfrm>
          <a:prstGeom prst="rect">
            <a:avLst/>
          </a:prstGeom>
        </p:spPr>
        <p:txBody>
          <a:bodyPr vert="horz" lIns="68580" tIns="34290" rIns="68580" bIns="34290" rtlCol="0">
            <a:normAutofit/>
          </a:bodyPr>
          <a:lstStyle>
            <a:lvl1pPr marL="342900" indent="-342900" algn="l" defTabSz="457200" rtl="0" eaLnBrk="1" latinLnBrk="0" hangingPunct="1">
              <a:spcBef>
                <a:spcPct val="20000"/>
              </a:spcBef>
              <a:buClr>
                <a:schemeClr val="accent1"/>
              </a:buClr>
              <a:buFont typeface="Lucida Grande"/>
              <a:buChar char="▪"/>
              <a:defRPr sz="3200" kern="1200" spc="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spc="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Lucida Grande"/>
              <a:buChar char="▪"/>
              <a:defRPr sz="2400" kern="1200" spc="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4pPr>
            <a:lvl5pPr marL="2057400" indent="-228600" algn="l" defTabSz="457200" rtl="0" eaLnBrk="1" latinLnBrk="0" hangingPunct="1">
              <a:spcBef>
                <a:spcPct val="20000"/>
              </a:spcBef>
              <a:buClr>
                <a:schemeClr val="accent1"/>
              </a:buClr>
              <a:buFont typeface="Arial"/>
              <a:buChar char="▪"/>
              <a:defRPr sz="2000" kern="1200" spc="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050" dirty="0"/>
              <a:t>Note: </a:t>
            </a:r>
          </a:p>
          <a:p>
            <a:pPr marL="0" indent="0">
              <a:buNone/>
            </a:pPr>
            <a:r>
              <a:rPr lang="en-US" sz="1050" dirty="0"/>
              <a:t>1. Add l2sram size test list since V1.8.0, and 3</a:t>
            </a:r>
            <a:r>
              <a:rPr lang="en-US" sz="1050" baseline="30000" dirty="0"/>
              <a:t>rd</a:t>
            </a:r>
            <a:r>
              <a:rPr lang="en-US" sz="1050" dirty="0"/>
              <a:t> party can extend 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C47228F-C75B-420E-9A2B-4281FEE0ACBE}"/>
              </a:ext>
            </a:extLst>
          </p:cNvPr>
          <p:cNvSpPr>
            <a:spLocks noGrp="1"/>
          </p:cNvSpPr>
          <p:nvPr>
            <p:ph type="sldNum" sz="quarter" idx="4"/>
          </p:nvPr>
        </p:nvSpPr>
        <p:spPr/>
        <p:txBody>
          <a:bodyPr/>
          <a:lstStyle/>
          <a:p>
            <a:fld id="{0AEF9A4B-07C9-404C-9053-A3A2AC3AD5D6}" type="slidenum">
              <a:rPr lang="en-GB" smtClean="0"/>
              <a:pPr/>
              <a:t>19</a:t>
            </a:fld>
            <a:endParaRPr lang="en-GB" dirty="0"/>
          </a:p>
        </p:txBody>
      </p:sp>
      <p:sp>
        <p:nvSpPr>
          <p:cNvPr id="3" name="內容版面配置區 2">
            <a:extLst>
              <a:ext uri="{FF2B5EF4-FFF2-40B4-BE49-F238E27FC236}">
                <a16:creationId xmlns:a16="http://schemas.microsoft.com/office/drawing/2014/main" id="{880F3D92-4979-4E93-907B-6D535358C9AD}"/>
              </a:ext>
            </a:extLst>
          </p:cNvPr>
          <p:cNvSpPr>
            <a:spLocks noGrp="1"/>
          </p:cNvSpPr>
          <p:nvPr>
            <p:ph sz="quarter" idx="10"/>
          </p:nvPr>
        </p:nvSpPr>
        <p:spPr/>
        <p:txBody>
          <a:bodyPr/>
          <a:lstStyle/>
          <a:p>
            <a:endParaRPr lang="zh-TW" altLang="en-US"/>
          </a:p>
        </p:txBody>
      </p:sp>
      <p:sp>
        <p:nvSpPr>
          <p:cNvPr id="4" name="標題 3">
            <a:extLst>
              <a:ext uri="{FF2B5EF4-FFF2-40B4-BE49-F238E27FC236}">
                <a16:creationId xmlns:a16="http://schemas.microsoft.com/office/drawing/2014/main" id="{9DF4592E-3AFB-4378-8B1F-99FD3FEDA03E}"/>
              </a:ext>
            </a:extLst>
          </p:cNvPr>
          <p:cNvSpPr>
            <a:spLocks noGrp="1"/>
          </p:cNvSpPr>
          <p:nvPr>
            <p:ph type="title"/>
          </p:nvPr>
        </p:nvSpPr>
        <p:spPr>
          <a:xfrm>
            <a:off x="323851" y="-149924"/>
            <a:ext cx="8218488" cy="720464"/>
          </a:xfrm>
        </p:spPr>
        <p:txBody>
          <a:bodyPr/>
          <a:lstStyle/>
          <a:p>
            <a:r>
              <a:rPr lang="en-US" altLang="zh-TW" sz="2800" dirty="0"/>
              <a:t>Playback Test Config Structure</a:t>
            </a:r>
            <a:endParaRPr lang="zh-TW" altLang="en-US" dirty="0"/>
          </a:p>
        </p:txBody>
      </p:sp>
      <p:graphicFrame>
        <p:nvGraphicFramePr>
          <p:cNvPr id="5" name="內容版面配置區 6">
            <a:extLst>
              <a:ext uri="{FF2B5EF4-FFF2-40B4-BE49-F238E27FC236}">
                <a16:creationId xmlns:a16="http://schemas.microsoft.com/office/drawing/2014/main" id="{ABAAE48F-A5E9-4652-B8A7-268ADFA65FF7}"/>
              </a:ext>
            </a:extLst>
          </p:cNvPr>
          <p:cNvGraphicFramePr>
            <a:graphicFrameLocks/>
          </p:cNvGraphicFramePr>
          <p:nvPr>
            <p:extLst>
              <p:ext uri="{D42A27DB-BD31-4B8C-83A1-F6EECF244321}">
                <p14:modId xmlns:p14="http://schemas.microsoft.com/office/powerpoint/2010/main" val="1420814489"/>
              </p:ext>
            </p:extLst>
          </p:nvPr>
        </p:nvGraphicFramePr>
        <p:xfrm>
          <a:off x="1485900" y="509673"/>
          <a:ext cx="6172200" cy="4526280"/>
        </p:xfrm>
        <a:graphic>
          <a:graphicData uri="http://schemas.openxmlformats.org/drawingml/2006/table">
            <a:tbl>
              <a:tblPr firstRow="1" bandRow="1">
                <a:tableStyleId>{F5AB1C69-6EDB-4FF4-983F-18BD219EF322}</a:tableStyleId>
              </a:tblPr>
              <a:tblGrid>
                <a:gridCol w="2700300">
                  <a:extLst>
                    <a:ext uri="{9D8B030D-6E8A-4147-A177-3AD203B41FA5}">
                      <a16:colId xmlns:a16="http://schemas.microsoft.com/office/drawing/2014/main" val="20000"/>
                    </a:ext>
                  </a:extLst>
                </a:gridCol>
                <a:gridCol w="3471900">
                  <a:extLst>
                    <a:ext uri="{9D8B030D-6E8A-4147-A177-3AD203B41FA5}">
                      <a16:colId xmlns:a16="http://schemas.microsoft.com/office/drawing/2014/main" val="20001"/>
                    </a:ext>
                  </a:extLst>
                </a:gridCol>
              </a:tblGrid>
              <a:tr h="205740">
                <a:tc gridSpan="2">
                  <a:txBody>
                    <a:bodyPr/>
                    <a:lstStyle/>
                    <a:p>
                      <a:pPr algn="ctr"/>
                      <a:r>
                        <a:rPr lang="en-US" sz="900" dirty="0" err="1"/>
                        <a:t>struct</a:t>
                      </a:r>
                      <a:r>
                        <a:rPr lang="en-US" sz="900" dirty="0"/>
                        <a:t> </a:t>
                      </a:r>
                      <a:r>
                        <a:rPr lang="en-US" sz="900" dirty="0" err="1"/>
                        <a:t>playback_test_case_config_t</a:t>
                      </a:r>
                      <a:endParaRPr lang="en-US" sz="900" dirty="0"/>
                    </a:p>
                  </a:txBody>
                  <a:tcPr marL="68580" marR="68580" marT="34290" marB="34290"/>
                </a:tc>
                <a:tc hMerge="1">
                  <a:txBody>
                    <a:bodyPr/>
                    <a:lstStyle/>
                    <a:p>
                      <a:pPr algn="ctr"/>
                      <a:endParaRPr lang="en-US" sz="1200" dirty="0"/>
                    </a:p>
                  </a:txBody>
                  <a:tcPr/>
                </a:tc>
                <a:extLst>
                  <a:ext uri="{0D108BD9-81ED-4DB2-BD59-A6C34878D82A}">
                    <a16:rowId xmlns:a16="http://schemas.microsoft.com/office/drawing/2014/main" val="10000"/>
                  </a:ext>
                </a:extLst>
              </a:tr>
              <a:tr h="205740">
                <a:tc>
                  <a:txBody>
                    <a:bodyPr/>
                    <a:lstStyle/>
                    <a:p>
                      <a:pPr algn="ctr"/>
                      <a:r>
                        <a:rPr lang="en-US" sz="900" b="1" dirty="0"/>
                        <a:t>Member</a:t>
                      </a:r>
                    </a:p>
                  </a:txBody>
                  <a:tcPr marL="68580" marR="68580" marT="34290" marB="34290"/>
                </a:tc>
                <a:tc>
                  <a:txBody>
                    <a:bodyPr/>
                    <a:lstStyle/>
                    <a:p>
                      <a:pPr algn="ctr"/>
                      <a:r>
                        <a:rPr lang="en-US" sz="900" b="1" dirty="0"/>
                        <a:t>Description</a:t>
                      </a:r>
                    </a:p>
                  </a:txBody>
                  <a:tcPr marL="68580" marR="68580" marT="34290" marB="34290"/>
                </a:tc>
                <a:extLst>
                  <a:ext uri="{0D108BD9-81ED-4DB2-BD59-A6C34878D82A}">
                    <a16:rowId xmlns:a16="http://schemas.microsoft.com/office/drawing/2014/main" val="10001"/>
                  </a:ext>
                </a:extLst>
              </a:tr>
              <a:tr h="342900">
                <a:tc>
                  <a:txBody>
                    <a:bodyPr/>
                    <a:lstStyle/>
                    <a:p>
                      <a:r>
                        <a:rPr lang="en-US" sz="900" dirty="0"/>
                        <a:t>const char *</a:t>
                      </a:r>
                      <a:r>
                        <a:rPr lang="en-US" sz="900" dirty="0" err="1"/>
                        <a:t>test_case_name</a:t>
                      </a:r>
                      <a:endParaRPr lang="en-US" sz="900" dirty="0"/>
                    </a:p>
                  </a:txBody>
                  <a:tcPr marL="68580" marR="68580" marT="34290" marB="34290"/>
                </a:tc>
                <a:tc>
                  <a:txBody>
                    <a:bodyPr/>
                    <a:lstStyle/>
                    <a:p>
                      <a:pPr>
                        <a:buFont typeface="Arial" pitchFamily="34" charset="0"/>
                        <a:buChar char="•"/>
                      </a:pPr>
                      <a:r>
                        <a:rPr lang="en-US" sz="900" dirty="0">
                          <a:solidFill>
                            <a:schemeClr val="tx1"/>
                          </a:solidFill>
                        </a:rPr>
                        <a:t>This</a:t>
                      </a:r>
                      <a:r>
                        <a:rPr lang="en-US" sz="900" baseline="0" dirty="0">
                          <a:solidFill>
                            <a:schemeClr val="tx1"/>
                          </a:solidFill>
                        </a:rPr>
                        <a:t> string is used to show in test result</a:t>
                      </a:r>
                    </a:p>
                    <a:p>
                      <a:pPr>
                        <a:buFont typeface="Arial" pitchFamily="34" charset="0"/>
                        <a:buChar char="•"/>
                      </a:pPr>
                      <a:r>
                        <a:rPr lang="en-US" sz="900" baseline="0" dirty="0">
                          <a:solidFill>
                            <a:schemeClr val="tx1"/>
                          </a:solidFill>
                        </a:rPr>
                        <a:t>NULL string imply it’s end of test case list</a:t>
                      </a:r>
                      <a:endParaRPr lang="en-US" sz="900" dirty="0">
                        <a:solidFill>
                          <a:schemeClr val="tx1"/>
                        </a:solidFill>
                      </a:endParaRPr>
                    </a:p>
                  </a:txBody>
                  <a:tcPr marL="68580" marR="68580" marT="34290" marB="34290"/>
                </a:tc>
                <a:extLst>
                  <a:ext uri="{0D108BD9-81ED-4DB2-BD59-A6C34878D82A}">
                    <a16:rowId xmlns:a16="http://schemas.microsoft.com/office/drawing/2014/main" val="10002"/>
                  </a:ext>
                </a:extLst>
              </a:tr>
              <a:tr h="205740">
                <a:tc>
                  <a:txBody>
                    <a:bodyPr/>
                    <a:lstStyle/>
                    <a:p>
                      <a:r>
                        <a:rPr lang="en-US" sz="900" dirty="0"/>
                        <a:t>void (*</a:t>
                      </a:r>
                      <a:r>
                        <a:rPr lang="en-US" sz="900" dirty="0" err="1"/>
                        <a:t>arsi_assign_lib_fp</a:t>
                      </a:r>
                      <a:r>
                        <a:rPr lang="en-US" sz="900" dirty="0"/>
                        <a:t>)(AurisysLibInterface *lib)</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900" dirty="0">
                          <a:solidFill>
                            <a:schemeClr val="tx1"/>
                          </a:solidFill>
                        </a:rPr>
                        <a:t>Configure the entry</a:t>
                      </a:r>
                      <a:r>
                        <a:rPr lang="en-US" sz="900" baseline="0" dirty="0">
                          <a:solidFill>
                            <a:schemeClr val="tx1"/>
                          </a:solidFill>
                        </a:rPr>
                        <a:t> function of test case</a:t>
                      </a:r>
                      <a:endParaRPr lang="en-US" sz="900" dirty="0">
                        <a:solidFill>
                          <a:schemeClr val="tx1"/>
                        </a:solidFill>
                      </a:endParaRPr>
                    </a:p>
                  </a:txBody>
                  <a:tcPr marL="68580" marR="68580" marT="34290" marB="34290"/>
                </a:tc>
                <a:extLst>
                  <a:ext uri="{0D108BD9-81ED-4DB2-BD59-A6C34878D82A}">
                    <a16:rowId xmlns:a16="http://schemas.microsoft.com/office/drawing/2014/main" val="10003"/>
                  </a:ext>
                </a:extLst>
              </a:tr>
              <a:tr h="205740">
                <a:tc>
                  <a:txBody>
                    <a:bodyPr/>
                    <a:lstStyle/>
                    <a:p>
                      <a:r>
                        <a:rPr lang="en-US" sz="900" dirty="0" err="1"/>
                        <a:t>string_buf_t</a:t>
                      </a:r>
                      <a:r>
                        <a:rPr lang="en-US" sz="900" dirty="0"/>
                        <a:t> </a:t>
                      </a:r>
                      <a:r>
                        <a:rPr lang="en-US" sz="900" dirty="0" err="1"/>
                        <a:t>param_file_path</a:t>
                      </a:r>
                      <a:endParaRPr lang="en-US" sz="9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900" dirty="0">
                          <a:solidFill>
                            <a:schemeClr val="tx1"/>
                          </a:solidFill>
                        </a:rPr>
                        <a:t>The</a:t>
                      </a:r>
                      <a:r>
                        <a:rPr lang="en-US" sz="900" baseline="0" dirty="0">
                          <a:solidFill>
                            <a:schemeClr val="tx1"/>
                          </a:solidFill>
                        </a:rPr>
                        <a:t> library’s parameter file path</a:t>
                      </a:r>
                      <a:endParaRPr lang="en-US" sz="900" dirty="0">
                        <a:solidFill>
                          <a:schemeClr val="tx1"/>
                        </a:solidFill>
                      </a:endParaRPr>
                    </a:p>
                  </a:txBody>
                  <a:tcPr marL="68580" marR="68580" marT="34290" marB="34290"/>
                </a:tc>
                <a:extLst>
                  <a:ext uri="{0D108BD9-81ED-4DB2-BD59-A6C34878D82A}">
                    <a16:rowId xmlns:a16="http://schemas.microsoft.com/office/drawing/2014/main" val="10004"/>
                  </a:ext>
                </a:extLst>
              </a:tr>
              <a:tr h="205740">
                <a:tc>
                  <a:txBody>
                    <a:bodyPr/>
                    <a:lstStyle/>
                    <a:p>
                      <a:r>
                        <a:rPr lang="en-US" sz="900" dirty="0" err="1"/>
                        <a:t>task_scene_t</a:t>
                      </a:r>
                      <a:r>
                        <a:rPr lang="en-US" sz="900" dirty="0"/>
                        <a:t> </a:t>
                      </a:r>
                      <a:r>
                        <a:rPr lang="en-US" sz="900" dirty="0" err="1"/>
                        <a:t>task_scene</a:t>
                      </a:r>
                      <a:endParaRPr lang="en-US" sz="900" dirty="0"/>
                    </a:p>
                  </a:txBody>
                  <a:tcPr marL="68580" marR="68580" marT="34290" marB="34290"/>
                </a:tc>
                <a:tc>
                  <a:txBody>
                    <a:bodyPr/>
                    <a:lstStyle/>
                    <a:p>
                      <a:pPr>
                        <a:buFont typeface="Arial" pitchFamily="34" charset="0"/>
                        <a:buChar char="•"/>
                      </a:pPr>
                      <a:r>
                        <a:rPr lang="en-US" sz="900" dirty="0"/>
                        <a:t>Define the working</a:t>
                      </a:r>
                      <a:r>
                        <a:rPr lang="en-US" sz="900" baseline="0" dirty="0"/>
                        <a:t> scene of test case</a:t>
                      </a:r>
                      <a:endParaRPr lang="en-US" sz="900" dirty="0"/>
                    </a:p>
                  </a:txBody>
                  <a:tcPr marL="68580" marR="68580" marT="34290" marB="34290"/>
                </a:tc>
                <a:extLst>
                  <a:ext uri="{0D108BD9-81ED-4DB2-BD59-A6C34878D82A}">
                    <a16:rowId xmlns:a16="http://schemas.microsoft.com/office/drawing/2014/main" val="10005"/>
                  </a:ext>
                </a:extLst>
              </a:tr>
              <a:tr h="480060">
                <a:tc>
                  <a:txBody>
                    <a:bodyPr/>
                    <a:lstStyle/>
                    <a:p>
                      <a:r>
                        <a:rPr lang="en-US" sz="900" dirty="0"/>
                        <a:t>uint32_t </a:t>
                      </a:r>
                      <a:r>
                        <a:rPr lang="en-US" sz="900" dirty="0" err="1"/>
                        <a:t>frame_size</a:t>
                      </a:r>
                      <a:endParaRPr lang="en-US" sz="900" dirty="0"/>
                    </a:p>
                  </a:txBody>
                  <a:tcPr marL="68580" marR="68580" marT="34290" marB="34290"/>
                </a:tc>
                <a:tc>
                  <a:txBody>
                    <a:bodyPr/>
                    <a:lstStyle/>
                    <a:p>
                      <a:pPr>
                        <a:buFont typeface="Arial" pitchFamily="34" charset="0"/>
                        <a:buChar char="•"/>
                      </a:pPr>
                      <a:r>
                        <a:rPr lang="en-US" sz="900" dirty="0"/>
                        <a:t>Define the frame size of</a:t>
                      </a:r>
                      <a:r>
                        <a:rPr lang="en-US" sz="900" baseline="0" dirty="0"/>
                        <a:t> test case</a:t>
                      </a:r>
                    </a:p>
                    <a:p>
                      <a:pPr>
                        <a:buFont typeface="Arial" pitchFamily="34" charset="0"/>
                        <a:buChar char="•"/>
                      </a:pPr>
                      <a:r>
                        <a:rPr lang="en-US" sz="900" baseline="0" dirty="0"/>
                        <a:t>You can define many frame size which library supported</a:t>
                      </a:r>
                    </a:p>
                    <a:p>
                      <a:pPr>
                        <a:buFont typeface="Arial" pitchFamily="34" charset="0"/>
                        <a:buChar char="•"/>
                      </a:pPr>
                      <a:r>
                        <a:rPr lang="en-US" sz="900" baseline="0" dirty="0"/>
                        <a:t>Ex: {5,20}</a:t>
                      </a:r>
                    </a:p>
                  </a:txBody>
                  <a:tcPr marL="68580" marR="68580" marT="34290" marB="34290"/>
                </a:tc>
                <a:extLst>
                  <a:ext uri="{0D108BD9-81ED-4DB2-BD59-A6C34878D82A}">
                    <a16:rowId xmlns:a16="http://schemas.microsoft.com/office/drawing/2014/main" val="10006"/>
                  </a:ext>
                </a:extLst>
              </a:tr>
              <a:tr h="480060">
                <a:tc>
                  <a:txBody>
                    <a:bodyPr/>
                    <a:lstStyle/>
                    <a:p>
                      <a:r>
                        <a:rPr lang="en-US" sz="900" dirty="0"/>
                        <a:t>uint32_t </a:t>
                      </a:r>
                      <a:r>
                        <a:rPr lang="en-US" sz="900" dirty="0" err="1"/>
                        <a:t>working_sample_rate</a:t>
                      </a:r>
                      <a:endParaRPr lang="en-US" sz="900" dirty="0"/>
                    </a:p>
                  </a:txBody>
                  <a:tcPr marL="68580" marR="68580" marT="34290" marB="34290"/>
                </a:tc>
                <a:tc>
                  <a:txBody>
                    <a:bodyPr/>
                    <a:lstStyle/>
                    <a:p>
                      <a:pPr>
                        <a:buFont typeface="Arial" pitchFamily="34" charset="0"/>
                        <a:buChar char="•"/>
                      </a:pPr>
                      <a:r>
                        <a:rPr lang="en-US" sz="900" dirty="0"/>
                        <a:t>Define the sample rate of test case</a:t>
                      </a:r>
                    </a:p>
                    <a:p>
                      <a:pPr>
                        <a:buFont typeface="Arial" pitchFamily="34" charset="0"/>
                        <a:buChar char="•"/>
                      </a:pPr>
                      <a:r>
                        <a:rPr lang="en-US" sz="900" baseline="0" dirty="0"/>
                        <a:t>You can define many sample rate which library supported</a:t>
                      </a:r>
                    </a:p>
                    <a:p>
                      <a:pPr>
                        <a:buFont typeface="Arial" pitchFamily="34" charset="0"/>
                        <a:buChar char="•"/>
                      </a:pPr>
                      <a:r>
                        <a:rPr lang="en-US" sz="900" baseline="0" dirty="0"/>
                        <a:t>Ex: {8000, 16000}</a:t>
                      </a:r>
                      <a:endParaRPr lang="en-US" sz="900" dirty="0"/>
                    </a:p>
                  </a:txBody>
                  <a:tcPr marL="68580" marR="68580" marT="34290" marB="34290"/>
                </a:tc>
                <a:extLst>
                  <a:ext uri="{0D108BD9-81ED-4DB2-BD59-A6C34878D82A}">
                    <a16:rowId xmlns:a16="http://schemas.microsoft.com/office/drawing/2014/main" val="10007"/>
                  </a:ext>
                </a:extLst>
              </a:tr>
              <a:tr h="480060">
                <a:tc>
                  <a:txBody>
                    <a:bodyPr/>
                    <a:lstStyle/>
                    <a:p>
                      <a:r>
                        <a:rPr lang="en-US" sz="900" dirty="0"/>
                        <a:t>uint32_t </a:t>
                      </a:r>
                      <a:r>
                        <a:rPr lang="en-US" sz="900" dirty="0" err="1"/>
                        <a:t>audio_format</a:t>
                      </a:r>
                      <a:endParaRPr lang="en-US" sz="900" dirty="0"/>
                    </a:p>
                  </a:txBody>
                  <a:tcPr marL="68580" marR="68580" marT="34290" marB="34290"/>
                </a:tc>
                <a:tc>
                  <a:txBody>
                    <a:bodyPr/>
                    <a:lstStyle/>
                    <a:p>
                      <a:pPr>
                        <a:buFont typeface="Arial" pitchFamily="34" charset="0"/>
                        <a:buChar char="•"/>
                      </a:pPr>
                      <a:r>
                        <a:rPr lang="en-US" sz="900" dirty="0"/>
                        <a:t>Define the audio format of test case</a:t>
                      </a:r>
                    </a:p>
                    <a:p>
                      <a:pPr>
                        <a:buFont typeface="Arial" pitchFamily="34" charset="0"/>
                        <a:buChar char="•"/>
                      </a:pPr>
                      <a:r>
                        <a:rPr lang="en-US" sz="900" baseline="0" dirty="0"/>
                        <a:t>You can define many </a:t>
                      </a:r>
                      <a:r>
                        <a:rPr lang="en-US" sz="900" dirty="0"/>
                        <a:t>audio format</a:t>
                      </a:r>
                      <a:r>
                        <a:rPr lang="en-US" sz="900" baseline="0" dirty="0"/>
                        <a:t> which library supported</a:t>
                      </a:r>
                    </a:p>
                    <a:p>
                      <a:pPr>
                        <a:buFont typeface="Arial" pitchFamily="34" charset="0"/>
                        <a:buChar char="•"/>
                      </a:pPr>
                      <a:r>
                        <a:rPr lang="en-US" sz="900" baseline="0" dirty="0"/>
                        <a:t>Ex: {AUDIO_FORMAT_PCM_16_BIT,AUDIO_FORMAT_PCM_32_BIT}</a:t>
                      </a:r>
                      <a:endParaRPr lang="en-US" sz="900" dirty="0"/>
                    </a:p>
                  </a:txBody>
                  <a:tcPr marL="68580" marR="68580" marT="34290" marB="34290"/>
                </a:tc>
                <a:extLst>
                  <a:ext uri="{0D108BD9-81ED-4DB2-BD59-A6C34878D82A}">
                    <a16:rowId xmlns:a16="http://schemas.microsoft.com/office/drawing/2014/main" val="10008"/>
                  </a:ext>
                </a:extLst>
              </a:tr>
              <a:tr h="480060">
                <a:tc>
                  <a:txBody>
                    <a:bodyPr/>
                    <a:lstStyle/>
                    <a:p>
                      <a:r>
                        <a:rPr lang="en-US" sz="900" dirty="0"/>
                        <a:t>uint8_t interleave</a:t>
                      </a:r>
                    </a:p>
                  </a:txBody>
                  <a:tcPr marL="68580" marR="68580" marT="34290" marB="34290"/>
                </a:tc>
                <a:tc>
                  <a:txBody>
                    <a:bodyPr/>
                    <a:lstStyle/>
                    <a:p>
                      <a:pPr>
                        <a:buFont typeface="Arial" pitchFamily="34" charset="0"/>
                        <a:buChar char="•"/>
                      </a:pPr>
                      <a:r>
                        <a:rPr lang="en-US" sz="900" dirty="0"/>
                        <a:t>Define the pcm is interleave</a:t>
                      </a:r>
                      <a:r>
                        <a:rPr lang="en-US" sz="900" baseline="0" dirty="0"/>
                        <a:t> or not</a:t>
                      </a:r>
                      <a:endParaRPr lang="en-US" sz="900" dirty="0"/>
                    </a:p>
                    <a:p>
                      <a:pPr>
                        <a:buFont typeface="Arial" pitchFamily="34" charset="0"/>
                        <a:buChar char="•"/>
                      </a:pPr>
                      <a:r>
                        <a:rPr lang="en-US" sz="900" b="1" baseline="0" dirty="0"/>
                        <a:t>Lib verifier only support non-interleave format now</a:t>
                      </a:r>
                    </a:p>
                    <a:p>
                      <a:pPr>
                        <a:buFont typeface="Arial" pitchFamily="34" charset="0"/>
                        <a:buChar char="•"/>
                      </a:pPr>
                      <a:r>
                        <a:rPr lang="en-US" sz="900" b="1" baseline="0" dirty="0"/>
                        <a:t>Will support interleave format soon</a:t>
                      </a:r>
                    </a:p>
                  </a:txBody>
                  <a:tcPr marL="68580" marR="68580" marT="34290" marB="34290"/>
                </a:tc>
                <a:extLst>
                  <a:ext uri="{0D108BD9-81ED-4DB2-BD59-A6C34878D82A}">
                    <a16:rowId xmlns:a16="http://schemas.microsoft.com/office/drawing/2014/main" val="10009"/>
                  </a:ext>
                </a:extLst>
              </a:tr>
              <a:tr h="205740">
                <a:tc>
                  <a:txBody>
                    <a:bodyPr/>
                    <a:lstStyle/>
                    <a:p>
                      <a:r>
                        <a:rPr lang="en-US" sz="900" dirty="0"/>
                        <a:t>uint8_t </a:t>
                      </a:r>
                      <a:r>
                        <a:rPr lang="en-US" sz="900" dirty="0" err="1"/>
                        <a:t>dl_in_ch</a:t>
                      </a:r>
                      <a:endParaRPr lang="en-US" sz="900" dirty="0"/>
                    </a:p>
                  </a:txBody>
                  <a:tcPr marL="68580" marR="68580" marT="34290" marB="34290"/>
                </a:tc>
                <a:tc>
                  <a:txBody>
                    <a:bodyPr/>
                    <a:lstStyle/>
                    <a:p>
                      <a:pPr>
                        <a:buFont typeface="Arial" pitchFamily="34" charset="0"/>
                        <a:buChar char="•"/>
                      </a:pPr>
                      <a:r>
                        <a:rPr lang="en-US" sz="900" dirty="0"/>
                        <a:t>Define</a:t>
                      </a:r>
                      <a:r>
                        <a:rPr lang="en-US" sz="900" baseline="0" dirty="0"/>
                        <a:t> the number of downlink input channel of test case</a:t>
                      </a:r>
                      <a:endParaRPr lang="en-US" sz="900" dirty="0"/>
                    </a:p>
                  </a:txBody>
                  <a:tcPr marL="68580" marR="68580" marT="34290" marB="34290"/>
                </a:tc>
                <a:extLst>
                  <a:ext uri="{0D108BD9-81ED-4DB2-BD59-A6C34878D82A}">
                    <a16:rowId xmlns:a16="http://schemas.microsoft.com/office/drawing/2014/main" val="10010"/>
                  </a:ext>
                </a:extLst>
              </a:tr>
              <a:tr h="205740">
                <a:tc>
                  <a:txBody>
                    <a:bodyPr/>
                    <a:lstStyle/>
                    <a:p>
                      <a:r>
                        <a:rPr lang="en-US" sz="900" dirty="0"/>
                        <a:t>uint8_t </a:t>
                      </a:r>
                      <a:r>
                        <a:rPr lang="en-US" sz="900" dirty="0" err="1"/>
                        <a:t>dl_out_ch</a:t>
                      </a:r>
                      <a:endParaRPr lang="en-US" sz="900" dirty="0"/>
                    </a:p>
                  </a:txBody>
                  <a:tcPr marL="68580" marR="68580" marT="34290" marB="34290"/>
                </a:tc>
                <a:tc>
                  <a:txBody>
                    <a:bodyPr/>
                    <a:lstStyle/>
                    <a:p>
                      <a:pPr>
                        <a:buFont typeface="Arial" pitchFamily="34" charset="0"/>
                        <a:buChar char="•"/>
                      </a:pPr>
                      <a:r>
                        <a:rPr lang="en-US" sz="900" dirty="0"/>
                        <a:t>Define</a:t>
                      </a:r>
                      <a:r>
                        <a:rPr lang="en-US" sz="900" baseline="0" dirty="0"/>
                        <a:t> the number of downlink output channel of test case</a:t>
                      </a:r>
                      <a:endParaRPr lang="en-US" sz="900" dirty="0"/>
                    </a:p>
                  </a:txBody>
                  <a:tcPr marL="68580" marR="68580" marT="34290" marB="34290"/>
                </a:tc>
                <a:extLst>
                  <a:ext uri="{0D108BD9-81ED-4DB2-BD59-A6C34878D82A}">
                    <a16:rowId xmlns:a16="http://schemas.microsoft.com/office/drawing/2014/main" val="10011"/>
                  </a:ext>
                </a:extLst>
              </a:tr>
              <a:tr h="205740">
                <a:tc>
                  <a:txBody>
                    <a:bodyPr/>
                    <a:lstStyle/>
                    <a:p>
                      <a:r>
                        <a:rPr lang="en-US" sz="900" dirty="0" err="1"/>
                        <a:t>profile_config_t</a:t>
                      </a:r>
                      <a:r>
                        <a:rPr lang="en-US" sz="900" dirty="0"/>
                        <a:t> </a:t>
                      </a:r>
                      <a:r>
                        <a:rPr lang="en-US" sz="900" dirty="0" err="1"/>
                        <a:t>profile_config</a:t>
                      </a:r>
                      <a:endParaRPr lang="en-US" sz="900" dirty="0"/>
                    </a:p>
                  </a:txBody>
                  <a:tcPr marL="68580" marR="68580" marT="34290" marB="34290"/>
                </a:tc>
                <a:tc>
                  <a:txBody>
                    <a:bodyPr/>
                    <a:lstStyle/>
                    <a:p>
                      <a:pPr>
                        <a:buFont typeface="Arial" pitchFamily="34" charset="0"/>
                        <a:buChar char="•"/>
                      </a:pPr>
                      <a:r>
                        <a:rPr lang="en-US" sz="900" dirty="0"/>
                        <a:t>Define</a:t>
                      </a:r>
                      <a:r>
                        <a:rPr lang="en-US" sz="900" baseline="0" dirty="0"/>
                        <a:t> the profiles of test case</a:t>
                      </a:r>
                      <a:endParaRPr lang="en-US" sz="900" dirty="0"/>
                    </a:p>
                  </a:txBody>
                  <a:tcPr marL="68580" marR="68580" marT="34290" marB="34290"/>
                </a:tc>
                <a:extLst>
                  <a:ext uri="{0D108BD9-81ED-4DB2-BD59-A6C34878D82A}">
                    <a16:rowId xmlns:a16="http://schemas.microsoft.com/office/drawing/2014/main" val="10012"/>
                  </a:ext>
                </a:extLst>
              </a:tr>
              <a:tr h="205740">
                <a:tc>
                  <a:txBody>
                    <a:bodyPr/>
                    <a:lstStyle/>
                    <a:p>
                      <a:r>
                        <a:rPr lang="en-US" sz="900" dirty="0"/>
                        <a:t>int8_t </a:t>
                      </a:r>
                      <a:r>
                        <a:rPr lang="en-US" sz="900" dirty="0" err="1"/>
                        <a:t>audio_mode</a:t>
                      </a:r>
                      <a:endParaRPr lang="en-US" sz="900" dirty="0"/>
                    </a:p>
                  </a:txBody>
                  <a:tcPr marL="68580" marR="68580" marT="34290" marB="34290"/>
                </a:tc>
                <a:tc>
                  <a:txBody>
                    <a:bodyPr/>
                    <a:lstStyle/>
                    <a:p>
                      <a:pPr>
                        <a:buFont typeface="Arial" pitchFamily="34" charset="0"/>
                        <a:buChar char="•"/>
                      </a:pPr>
                      <a:r>
                        <a:rPr lang="en-US" sz="900" dirty="0"/>
                        <a:t>Define</a:t>
                      </a:r>
                      <a:r>
                        <a:rPr lang="en-US" sz="900" baseline="0" dirty="0"/>
                        <a:t> the </a:t>
                      </a:r>
                      <a:r>
                        <a:rPr lang="en-US" sz="900" baseline="0" dirty="0" err="1"/>
                        <a:t>audio_mode</a:t>
                      </a:r>
                      <a:r>
                        <a:rPr lang="en-US" sz="900" baseline="0" dirty="0"/>
                        <a:t> of test case</a:t>
                      </a:r>
                      <a:endParaRPr lang="en-US" sz="900" dirty="0"/>
                    </a:p>
                  </a:txBody>
                  <a:tcPr marL="68580" marR="68580" marT="34290" marB="34290"/>
                </a:tc>
                <a:extLst>
                  <a:ext uri="{0D108BD9-81ED-4DB2-BD59-A6C34878D82A}">
                    <a16:rowId xmlns:a16="http://schemas.microsoft.com/office/drawing/2014/main" val="10013"/>
                  </a:ext>
                </a:extLst>
              </a:tr>
              <a:tr h="205740">
                <a:tc>
                  <a:txBody>
                    <a:bodyPr/>
                    <a:lstStyle/>
                    <a:p>
                      <a:r>
                        <a:rPr lang="en-US" sz="900" dirty="0" err="1"/>
                        <a:t>audio_source_t</a:t>
                      </a:r>
                      <a:r>
                        <a:rPr lang="en-US" sz="900" dirty="0"/>
                        <a:t> </a:t>
                      </a:r>
                      <a:r>
                        <a:rPr lang="en-US" sz="900" dirty="0" err="1"/>
                        <a:t>input_source</a:t>
                      </a:r>
                      <a:endParaRPr lang="en-US" sz="900" dirty="0"/>
                    </a:p>
                  </a:txBody>
                  <a:tcPr marL="68580" marR="68580" marT="34290" marB="34290"/>
                </a:tc>
                <a:tc>
                  <a:txBody>
                    <a:bodyPr/>
                    <a:lstStyle/>
                    <a:p>
                      <a:pPr>
                        <a:buFont typeface="Arial" pitchFamily="34" charset="0"/>
                        <a:buChar char="•"/>
                      </a:pPr>
                      <a:r>
                        <a:rPr lang="en-US" sz="900" dirty="0"/>
                        <a:t>Define</a:t>
                      </a:r>
                      <a:r>
                        <a:rPr lang="en-US" sz="900" baseline="0" dirty="0"/>
                        <a:t> the input</a:t>
                      </a:r>
                      <a:r>
                        <a:rPr lang="zh-TW" altLang="en-US" sz="900" baseline="0" dirty="0"/>
                        <a:t> </a:t>
                      </a:r>
                      <a:r>
                        <a:rPr lang="en-US" altLang="zh-TW" sz="900" baseline="0" dirty="0"/>
                        <a:t>source</a:t>
                      </a:r>
                      <a:r>
                        <a:rPr lang="en-US" sz="900" baseline="0" dirty="0"/>
                        <a:t> of test case</a:t>
                      </a:r>
                      <a:endParaRPr lang="en-US" sz="900" dirty="0"/>
                    </a:p>
                  </a:txBody>
                  <a:tcPr marL="68580" marR="68580" marT="34290" marB="34290"/>
                </a:tc>
                <a:extLst>
                  <a:ext uri="{0D108BD9-81ED-4DB2-BD59-A6C34878D82A}">
                    <a16:rowId xmlns:a16="http://schemas.microsoft.com/office/drawing/2014/main" val="10014"/>
                  </a:ext>
                </a:extLst>
              </a:tr>
              <a:tr h="205740">
                <a:tc>
                  <a:txBody>
                    <a:bodyPr/>
                    <a:lstStyle/>
                    <a:p>
                      <a:r>
                        <a:rPr lang="en-US" sz="900" dirty="0">
                          <a:solidFill>
                            <a:schemeClr val="tx1"/>
                          </a:solidFill>
                        </a:rPr>
                        <a:t>int32_t mem_l2sram_size     </a:t>
                      </a:r>
                      <a:r>
                        <a:rPr lang="en-US" sz="900" dirty="0">
                          <a:solidFill>
                            <a:srgbClr val="FF0000"/>
                          </a:solidFill>
                        </a:rPr>
                        <a:t>(since V1.8.0)</a:t>
                      </a:r>
                    </a:p>
                  </a:txBody>
                  <a:tcPr marL="68580" marR="68580" marT="34290" marB="34290"/>
                </a:tc>
                <a:tc>
                  <a:txBody>
                    <a:bodyPr/>
                    <a:lstStyle/>
                    <a:p>
                      <a:pPr>
                        <a:buFont typeface="Arial" pitchFamily="34" charset="0"/>
                        <a:buChar char="•"/>
                      </a:pPr>
                      <a:r>
                        <a:rPr lang="en-US" sz="900" dirty="0"/>
                        <a:t>Define the available l2sram memory size of the test case</a:t>
                      </a:r>
                    </a:p>
                  </a:txBody>
                  <a:tcPr marL="68580" marR="68580" marT="34290" marB="34290"/>
                </a:tc>
                <a:extLst>
                  <a:ext uri="{0D108BD9-81ED-4DB2-BD59-A6C34878D82A}">
                    <a16:rowId xmlns:a16="http://schemas.microsoft.com/office/drawing/2014/main" val="1934849687"/>
                  </a:ext>
                </a:extLst>
              </a:tr>
            </a:tbl>
          </a:graphicData>
        </a:graphic>
      </p:graphicFrame>
    </p:spTree>
    <p:extLst>
      <p:ext uri="{BB962C8B-B14F-4D97-AF65-F5344CB8AC3E}">
        <p14:creationId xmlns:p14="http://schemas.microsoft.com/office/powerpoint/2010/main" val="109182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E64842CE-0988-42CD-ABBA-91FA4A03E697}"/>
              </a:ext>
            </a:extLst>
          </p:cNvPr>
          <p:cNvSpPr>
            <a:spLocks noGrp="1"/>
          </p:cNvSpPr>
          <p:nvPr>
            <p:ph type="sldNum" sz="quarter" idx="4"/>
          </p:nvPr>
        </p:nvSpPr>
        <p:spPr/>
        <p:txBody>
          <a:bodyPr/>
          <a:lstStyle/>
          <a:p>
            <a:fld id="{0AEF9A4B-07C9-404C-9053-A3A2AC3AD5D6}" type="slidenum">
              <a:rPr lang="en-GB" smtClean="0"/>
              <a:pPr/>
              <a:t>20</a:t>
            </a:fld>
            <a:endParaRPr lang="en-GB" dirty="0"/>
          </a:p>
        </p:txBody>
      </p:sp>
      <p:sp>
        <p:nvSpPr>
          <p:cNvPr id="3" name="內容版面配置區 2">
            <a:extLst>
              <a:ext uri="{FF2B5EF4-FFF2-40B4-BE49-F238E27FC236}">
                <a16:creationId xmlns:a16="http://schemas.microsoft.com/office/drawing/2014/main" id="{D6FD9188-543B-486D-A866-EACDA94DC12F}"/>
              </a:ext>
            </a:extLst>
          </p:cNvPr>
          <p:cNvSpPr>
            <a:spLocks noGrp="1"/>
          </p:cNvSpPr>
          <p:nvPr>
            <p:ph sz="quarter" idx="10"/>
          </p:nvPr>
        </p:nvSpPr>
        <p:spPr/>
        <p:txBody>
          <a:bodyPr/>
          <a:lstStyle/>
          <a:p>
            <a:endParaRPr lang="zh-TW" altLang="en-US"/>
          </a:p>
        </p:txBody>
      </p:sp>
      <p:sp>
        <p:nvSpPr>
          <p:cNvPr id="4" name="標題 3">
            <a:extLst>
              <a:ext uri="{FF2B5EF4-FFF2-40B4-BE49-F238E27FC236}">
                <a16:creationId xmlns:a16="http://schemas.microsoft.com/office/drawing/2014/main" id="{9680E71C-C231-45E7-AB03-D3ECA3C062F7}"/>
              </a:ext>
            </a:extLst>
          </p:cNvPr>
          <p:cNvSpPr>
            <a:spLocks noGrp="1"/>
          </p:cNvSpPr>
          <p:nvPr>
            <p:ph type="title"/>
          </p:nvPr>
        </p:nvSpPr>
        <p:spPr>
          <a:xfrm>
            <a:off x="323851" y="-9530"/>
            <a:ext cx="8218488" cy="720464"/>
          </a:xfrm>
        </p:spPr>
        <p:txBody>
          <a:bodyPr/>
          <a:lstStyle/>
          <a:p>
            <a:r>
              <a:rPr lang="en-US" altLang="zh-TW" dirty="0"/>
              <a:t>Record Test Config Structure</a:t>
            </a:r>
            <a:endParaRPr lang="zh-TW" altLang="en-US" dirty="0"/>
          </a:p>
        </p:txBody>
      </p:sp>
      <p:graphicFrame>
        <p:nvGraphicFramePr>
          <p:cNvPr id="5" name="內容版面配置區 6">
            <a:extLst>
              <a:ext uri="{FF2B5EF4-FFF2-40B4-BE49-F238E27FC236}">
                <a16:creationId xmlns:a16="http://schemas.microsoft.com/office/drawing/2014/main" id="{9960522C-25B1-4D24-A53A-A9680045A95F}"/>
              </a:ext>
            </a:extLst>
          </p:cNvPr>
          <p:cNvGraphicFramePr>
            <a:graphicFrameLocks/>
          </p:cNvGraphicFramePr>
          <p:nvPr>
            <p:extLst>
              <p:ext uri="{D42A27DB-BD31-4B8C-83A1-F6EECF244321}">
                <p14:modId xmlns:p14="http://schemas.microsoft.com/office/powerpoint/2010/main" val="280155131"/>
              </p:ext>
            </p:extLst>
          </p:nvPr>
        </p:nvGraphicFramePr>
        <p:xfrm>
          <a:off x="1493658" y="558531"/>
          <a:ext cx="6264696" cy="4526280"/>
        </p:xfrm>
        <a:graphic>
          <a:graphicData uri="http://schemas.openxmlformats.org/drawingml/2006/table">
            <a:tbl>
              <a:tblPr firstRow="1" bandRow="1">
                <a:tableStyleId>{F5AB1C69-6EDB-4FF4-983F-18BD219EF322}</a:tableStyleId>
              </a:tblPr>
              <a:tblGrid>
                <a:gridCol w="2631136">
                  <a:extLst>
                    <a:ext uri="{9D8B030D-6E8A-4147-A177-3AD203B41FA5}">
                      <a16:colId xmlns:a16="http://schemas.microsoft.com/office/drawing/2014/main" val="20000"/>
                    </a:ext>
                  </a:extLst>
                </a:gridCol>
                <a:gridCol w="3633560">
                  <a:extLst>
                    <a:ext uri="{9D8B030D-6E8A-4147-A177-3AD203B41FA5}">
                      <a16:colId xmlns:a16="http://schemas.microsoft.com/office/drawing/2014/main" val="20001"/>
                    </a:ext>
                  </a:extLst>
                </a:gridCol>
              </a:tblGrid>
              <a:tr h="188595">
                <a:tc gridSpan="2">
                  <a:txBody>
                    <a:bodyPr/>
                    <a:lstStyle/>
                    <a:p>
                      <a:pPr algn="ctr"/>
                      <a:r>
                        <a:rPr lang="en-US" sz="800" b="1" dirty="0" err="1"/>
                        <a:t>struct</a:t>
                      </a:r>
                      <a:r>
                        <a:rPr lang="en-US" sz="800" b="1" dirty="0"/>
                        <a:t> </a:t>
                      </a:r>
                      <a:r>
                        <a:rPr lang="en-US" sz="800" b="1" dirty="0" err="1"/>
                        <a:t>record_call_test_case_config_t</a:t>
                      </a:r>
                      <a:endParaRPr lang="en-US" sz="800" b="1" dirty="0"/>
                    </a:p>
                  </a:txBody>
                  <a:tcPr marL="68580" marR="68580" marT="34290" marB="34290"/>
                </a:tc>
                <a:tc hMerge="1">
                  <a:txBody>
                    <a:bodyPr/>
                    <a:lstStyle/>
                    <a:p>
                      <a:pPr algn="ctr"/>
                      <a:endParaRPr lang="en-US" sz="1200" dirty="0"/>
                    </a:p>
                  </a:txBody>
                  <a:tcPr/>
                </a:tc>
                <a:extLst>
                  <a:ext uri="{0D108BD9-81ED-4DB2-BD59-A6C34878D82A}">
                    <a16:rowId xmlns:a16="http://schemas.microsoft.com/office/drawing/2014/main" val="10000"/>
                  </a:ext>
                </a:extLst>
              </a:tr>
              <a:tr h="188595">
                <a:tc>
                  <a:txBody>
                    <a:bodyPr/>
                    <a:lstStyle/>
                    <a:p>
                      <a:pPr algn="ctr"/>
                      <a:r>
                        <a:rPr lang="en-US" sz="800" b="1" dirty="0"/>
                        <a:t>Member</a:t>
                      </a:r>
                    </a:p>
                  </a:txBody>
                  <a:tcPr marL="68580" marR="68580" marT="34290" marB="34290"/>
                </a:tc>
                <a:tc>
                  <a:txBody>
                    <a:bodyPr/>
                    <a:lstStyle/>
                    <a:p>
                      <a:pPr algn="ctr"/>
                      <a:r>
                        <a:rPr lang="en-US" sz="800" b="1" dirty="0"/>
                        <a:t>Description</a:t>
                      </a:r>
                    </a:p>
                  </a:txBody>
                  <a:tcPr marL="68580" marR="68580" marT="34290" marB="34290"/>
                </a:tc>
                <a:extLst>
                  <a:ext uri="{0D108BD9-81ED-4DB2-BD59-A6C34878D82A}">
                    <a16:rowId xmlns:a16="http://schemas.microsoft.com/office/drawing/2014/main" val="10001"/>
                  </a:ext>
                </a:extLst>
              </a:tr>
              <a:tr h="308610">
                <a:tc>
                  <a:txBody>
                    <a:bodyPr/>
                    <a:lstStyle/>
                    <a:p>
                      <a:r>
                        <a:rPr lang="en-US" sz="800" dirty="0"/>
                        <a:t>const char *</a:t>
                      </a:r>
                      <a:r>
                        <a:rPr lang="en-US" sz="800" dirty="0" err="1"/>
                        <a:t>test_case_name</a:t>
                      </a:r>
                      <a:endParaRPr lang="en-US" sz="800" dirty="0"/>
                    </a:p>
                  </a:txBody>
                  <a:tcPr marL="68580" marR="68580" marT="34290" marB="34290"/>
                </a:tc>
                <a:tc>
                  <a:txBody>
                    <a:bodyPr/>
                    <a:lstStyle/>
                    <a:p>
                      <a:pPr>
                        <a:buFont typeface="Arial" pitchFamily="34" charset="0"/>
                        <a:buChar char="•"/>
                      </a:pPr>
                      <a:r>
                        <a:rPr lang="en-US" sz="800" dirty="0"/>
                        <a:t>This</a:t>
                      </a:r>
                      <a:r>
                        <a:rPr lang="en-US" sz="800" baseline="0" dirty="0"/>
                        <a:t> string is used to show in test result</a:t>
                      </a:r>
                    </a:p>
                    <a:p>
                      <a:pPr>
                        <a:buFont typeface="Arial" pitchFamily="34" charset="0"/>
                        <a:buChar char="•"/>
                      </a:pPr>
                      <a:r>
                        <a:rPr lang="en-US" sz="800" baseline="0" dirty="0"/>
                        <a:t>NULL string imply it’s end of test case list</a:t>
                      </a:r>
                      <a:endParaRPr lang="en-US" sz="800" dirty="0"/>
                    </a:p>
                  </a:txBody>
                  <a:tcPr marL="68580" marR="68580" marT="34290" marB="34290"/>
                </a:tc>
                <a:extLst>
                  <a:ext uri="{0D108BD9-81ED-4DB2-BD59-A6C34878D82A}">
                    <a16:rowId xmlns:a16="http://schemas.microsoft.com/office/drawing/2014/main" val="10002"/>
                  </a:ext>
                </a:extLst>
              </a:tr>
              <a:tr h="188595">
                <a:tc>
                  <a:txBody>
                    <a:bodyPr/>
                    <a:lstStyle/>
                    <a:p>
                      <a:r>
                        <a:rPr lang="en-US" sz="800" dirty="0"/>
                        <a:t>void (*</a:t>
                      </a:r>
                      <a:r>
                        <a:rPr lang="en-US" sz="800" dirty="0" err="1"/>
                        <a:t>arsi_assign_lib_fp</a:t>
                      </a:r>
                      <a:r>
                        <a:rPr lang="en-US" sz="800" dirty="0"/>
                        <a:t>)(AurisysLibInterface *lib)</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solidFill>
                            <a:schemeClr val="tx1"/>
                          </a:solidFill>
                        </a:rPr>
                        <a:t>Configure the entry</a:t>
                      </a:r>
                      <a:r>
                        <a:rPr lang="en-US" sz="800" baseline="0" dirty="0">
                          <a:solidFill>
                            <a:schemeClr val="tx1"/>
                          </a:solidFill>
                        </a:rPr>
                        <a:t> function of test case</a:t>
                      </a:r>
                      <a:endParaRPr lang="en-US" sz="800" dirty="0">
                        <a:solidFill>
                          <a:schemeClr val="tx1"/>
                        </a:solidFill>
                      </a:endParaRPr>
                    </a:p>
                  </a:txBody>
                  <a:tcPr marL="68580" marR="68580" marT="34290" marB="34290"/>
                </a:tc>
                <a:extLst>
                  <a:ext uri="{0D108BD9-81ED-4DB2-BD59-A6C34878D82A}">
                    <a16:rowId xmlns:a16="http://schemas.microsoft.com/office/drawing/2014/main" val="10003"/>
                  </a:ext>
                </a:extLst>
              </a:tr>
              <a:tr h="188595">
                <a:tc>
                  <a:txBody>
                    <a:bodyPr/>
                    <a:lstStyle/>
                    <a:p>
                      <a:r>
                        <a:rPr lang="en-US" sz="800" dirty="0" err="1"/>
                        <a:t>string_buf_t</a:t>
                      </a:r>
                      <a:r>
                        <a:rPr lang="en-US" sz="800" dirty="0"/>
                        <a:t> </a:t>
                      </a:r>
                      <a:r>
                        <a:rPr lang="en-US" sz="800" dirty="0" err="1"/>
                        <a:t>param_file_path</a:t>
                      </a:r>
                      <a:endParaRPr lang="en-US" sz="8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solidFill>
                            <a:schemeClr val="tx1"/>
                          </a:solidFill>
                        </a:rPr>
                        <a:t>The</a:t>
                      </a:r>
                      <a:r>
                        <a:rPr lang="en-US" sz="800" baseline="0" dirty="0">
                          <a:solidFill>
                            <a:schemeClr val="tx1"/>
                          </a:solidFill>
                        </a:rPr>
                        <a:t> library’s parameter file path</a:t>
                      </a:r>
                      <a:endParaRPr lang="en-US" sz="800" dirty="0">
                        <a:solidFill>
                          <a:schemeClr val="tx1"/>
                        </a:solidFill>
                      </a:endParaRPr>
                    </a:p>
                  </a:txBody>
                  <a:tcPr marL="68580" marR="68580" marT="34290" marB="34290"/>
                </a:tc>
                <a:extLst>
                  <a:ext uri="{0D108BD9-81ED-4DB2-BD59-A6C34878D82A}">
                    <a16:rowId xmlns:a16="http://schemas.microsoft.com/office/drawing/2014/main" val="10004"/>
                  </a:ext>
                </a:extLst>
              </a:tr>
              <a:tr h="188595">
                <a:tc>
                  <a:txBody>
                    <a:bodyPr/>
                    <a:lstStyle/>
                    <a:p>
                      <a:r>
                        <a:rPr lang="en-US" sz="800" dirty="0" err="1"/>
                        <a:t>task_scene_t</a:t>
                      </a:r>
                      <a:r>
                        <a:rPr lang="en-US" sz="800" dirty="0"/>
                        <a:t> </a:t>
                      </a:r>
                      <a:r>
                        <a:rPr lang="en-US" sz="800" dirty="0" err="1"/>
                        <a:t>task_scene</a:t>
                      </a:r>
                      <a:endParaRPr lang="en-US" sz="800" dirty="0"/>
                    </a:p>
                  </a:txBody>
                  <a:tcPr marL="68580" marR="68580" marT="34290" marB="34290"/>
                </a:tc>
                <a:tc>
                  <a:txBody>
                    <a:bodyPr/>
                    <a:lstStyle/>
                    <a:p>
                      <a:pPr>
                        <a:buFont typeface="Arial" pitchFamily="34" charset="0"/>
                        <a:buChar char="•"/>
                      </a:pPr>
                      <a:r>
                        <a:rPr lang="en-US" sz="800" dirty="0"/>
                        <a:t>Define the working</a:t>
                      </a:r>
                      <a:r>
                        <a:rPr lang="en-US" sz="800" baseline="0" dirty="0"/>
                        <a:t> scene of test case</a:t>
                      </a:r>
                      <a:endParaRPr lang="en-US" sz="800" dirty="0"/>
                    </a:p>
                  </a:txBody>
                  <a:tcPr marL="68580" marR="68580" marT="34290" marB="34290"/>
                </a:tc>
                <a:extLst>
                  <a:ext uri="{0D108BD9-81ED-4DB2-BD59-A6C34878D82A}">
                    <a16:rowId xmlns:a16="http://schemas.microsoft.com/office/drawing/2014/main" val="10005"/>
                  </a:ext>
                </a:extLst>
              </a:tr>
              <a:tr h="428625">
                <a:tc>
                  <a:txBody>
                    <a:bodyPr/>
                    <a:lstStyle/>
                    <a:p>
                      <a:r>
                        <a:rPr lang="en-US" sz="800" dirty="0"/>
                        <a:t>uint32_t </a:t>
                      </a:r>
                      <a:r>
                        <a:rPr lang="en-US" sz="800" dirty="0" err="1"/>
                        <a:t>frame_size</a:t>
                      </a:r>
                      <a:endParaRPr lang="en-US" sz="800" dirty="0"/>
                    </a:p>
                  </a:txBody>
                  <a:tcPr marL="68580" marR="68580" marT="34290" marB="34290"/>
                </a:tc>
                <a:tc>
                  <a:txBody>
                    <a:bodyPr/>
                    <a:lstStyle/>
                    <a:p>
                      <a:pPr>
                        <a:buFont typeface="Arial" pitchFamily="34" charset="0"/>
                        <a:buChar char="•"/>
                      </a:pPr>
                      <a:r>
                        <a:rPr lang="en-US" sz="800" dirty="0"/>
                        <a:t>Define the frame size of</a:t>
                      </a:r>
                      <a:r>
                        <a:rPr lang="en-US" sz="800" baseline="0" dirty="0"/>
                        <a:t> test case</a:t>
                      </a:r>
                    </a:p>
                    <a:p>
                      <a:pPr>
                        <a:buFont typeface="Arial" pitchFamily="34" charset="0"/>
                        <a:buChar char="•"/>
                      </a:pPr>
                      <a:r>
                        <a:rPr lang="en-US" sz="800" baseline="0" dirty="0"/>
                        <a:t>You can define many frame size which library supported</a:t>
                      </a:r>
                    </a:p>
                    <a:p>
                      <a:pPr>
                        <a:buFont typeface="Arial" pitchFamily="34" charset="0"/>
                        <a:buChar char="•"/>
                      </a:pPr>
                      <a:r>
                        <a:rPr lang="en-US" sz="800" baseline="0" dirty="0"/>
                        <a:t>Ex: {5,20}</a:t>
                      </a:r>
                    </a:p>
                  </a:txBody>
                  <a:tcPr marL="68580" marR="68580" marT="34290" marB="34290"/>
                </a:tc>
                <a:extLst>
                  <a:ext uri="{0D108BD9-81ED-4DB2-BD59-A6C34878D82A}">
                    <a16:rowId xmlns:a16="http://schemas.microsoft.com/office/drawing/2014/main" val="10006"/>
                  </a:ext>
                </a:extLst>
              </a:tr>
              <a:tr h="428625">
                <a:tc>
                  <a:txBody>
                    <a:bodyPr/>
                    <a:lstStyle/>
                    <a:p>
                      <a:r>
                        <a:rPr lang="en-US" sz="800" dirty="0"/>
                        <a:t>uint32_t </a:t>
                      </a:r>
                      <a:r>
                        <a:rPr lang="en-US" sz="800" dirty="0" err="1"/>
                        <a:t>working_sample_rate</a:t>
                      </a:r>
                      <a:endParaRPr lang="en-US" sz="800" dirty="0"/>
                    </a:p>
                  </a:txBody>
                  <a:tcPr marL="68580" marR="68580" marT="34290" marB="34290"/>
                </a:tc>
                <a:tc>
                  <a:txBody>
                    <a:bodyPr/>
                    <a:lstStyle/>
                    <a:p>
                      <a:pPr>
                        <a:buFont typeface="Arial" pitchFamily="34" charset="0"/>
                        <a:buChar char="•"/>
                      </a:pPr>
                      <a:r>
                        <a:rPr lang="en-US" sz="800" dirty="0"/>
                        <a:t>Define the sample rate of test case</a:t>
                      </a:r>
                    </a:p>
                    <a:p>
                      <a:pPr>
                        <a:buFont typeface="Arial" pitchFamily="34" charset="0"/>
                        <a:buChar char="•"/>
                      </a:pPr>
                      <a:r>
                        <a:rPr lang="en-US" sz="800" baseline="0" dirty="0"/>
                        <a:t>You can define many sample rate which library supported</a:t>
                      </a:r>
                    </a:p>
                    <a:p>
                      <a:pPr>
                        <a:buFont typeface="Arial" pitchFamily="34" charset="0"/>
                        <a:buChar char="•"/>
                      </a:pPr>
                      <a:r>
                        <a:rPr lang="en-US" sz="800" baseline="0" dirty="0"/>
                        <a:t>Ex: {8000, 16000}</a:t>
                      </a:r>
                      <a:endParaRPr lang="en-US" sz="800" dirty="0"/>
                    </a:p>
                  </a:txBody>
                  <a:tcPr marL="68580" marR="68580" marT="34290" marB="34290"/>
                </a:tc>
                <a:extLst>
                  <a:ext uri="{0D108BD9-81ED-4DB2-BD59-A6C34878D82A}">
                    <a16:rowId xmlns:a16="http://schemas.microsoft.com/office/drawing/2014/main" val="10007"/>
                  </a:ext>
                </a:extLst>
              </a:tr>
              <a:tr h="428625">
                <a:tc>
                  <a:txBody>
                    <a:bodyPr/>
                    <a:lstStyle/>
                    <a:p>
                      <a:r>
                        <a:rPr lang="en-US" sz="800" dirty="0"/>
                        <a:t>uint32_t </a:t>
                      </a:r>
                      <a:r>
                        <a:rPr lang="en-US" sz="800" dirty="0" err="1"/>
                        <a:t>audio_format</a:t>
                      </a:r>
                      <a:endParaRPr lang="en-US" sz="800" dirty="0"/>
                    </a:p>
                  </a:txBody>
                  <a:tcPr marL="68580" marR="68580" marT="34290" marB="34290"/>
                </a:tc>
                <a:tc>
                  <a:txBody>
                    <a:bodyPr/>
                    <a:lstStyle/>
                    <a:p>
                      <a:pPr>
                        <a:buFont typeface="Arial" pitchFamily="34" charset="0"/>
                        <a:buChar char="•"/>
                      </a:pPr>
                      <a:r>
                        <a:rPr lang="en-US" sz="800" dirty="0"/>
                        <a:t>Define the audio format of test case</a:t>
                      </a:r>
                    </a:p>
                    <a:p>
                      <a:pPr>
                        <a:buFont typeface="Arial" pitchFamily="34" charset="0"/>
                        <a:buChar char="•"/>
                      </a:pPr>
                      <a:r>
                        <a:rPr lang="en-US" sz="800" baseline="0" dirty="0"/>
                        <a:t>You can define many </a:t>
                      </a:r>
                      <a:r>
                        <a:rPr lang="en-US" sz="800" dirty="0"/>
                        <a:t>audio format</a:t>
                      </a:r>
                      <a:r>
                        <a:rPr lang="en-US" sz="800" baseline="0" dirty="0"/>
                        <a:t> which library supported</a:t>
                      </a:r>
                    </a:p>
                    <a:p>
                      <a:pPr>
                        <a:buFont typeface="Arial" pitchFamily="34" charset="0"/>
                        <a:buChar char="•"/>
                      </a:pPr>
                      <a:r>
                        <a:rPr lang="en-US" sz="800" baseline="0" dirty="0"/>
                        <a:t>Ex: {AUDIO_FORMAT_PCM_16_BIT,AUDIO_FORMAT_PCM_32_BIT}</a:t>
                      </a:r>
                      <a:endParaRPr lang="en-US" sz="800" dirty="0"/>
                    </a:p>
                  </a:txBody>
                  <a:tcPr marL="68580" marR="68580" marT="34290" marB="34290"/>
                </a:tc>
                <a:extLst>
                  <a:ext uri="{0D108BD9-81ED-4DB2-BD59-A6C34878D82A}">
                    <a16:rowId xmlns:a16="http://schemas.microsoft.com/office/drawing/2014/main" val="10008"/>
                  </a:ext>
                </a:extLst>
              </a:tr>
              <a:tr h="428625">
                <a:tc>
                  <a:txBody>
                    <a:bodyPr/>
                    <a:lstStyle/>
                    <a:p>
                      <a:r>
                        <a:rPr lang="en-US" sz="800" dirty="0"/>
                        <a:t>uint8_t interleave</a:t>
                      </a:r>
                    </a:p>
                  </a:txBody>
                  <a:tcPr marL="68580" marR="68580" marT="34290" marB="34290"/>
                </a:tc>
                <a:tc>
                  <a:txBody>
                    <a:bodyPr/>
                    <a:lstStyle/>
                    <a:p>
                      <a:pPr>
                        <a:buFont typeface="Arial" pitchFamily="34" charset="0"/>
                        <a:buChar char="•"/>
                      </a:pPr>
                      <a:r>
                        <a:rPr lang="en-US" sz="800" dirty="0"/>
                        <a:t>Define the pcm is interleave</a:t>
                      </a:r>
                      <a:r>
                        <a:rPr lang="en-US" sz="800" baseline="0" dirty="0"/>
                        <a:t> or not</a:t>
                      </a:r>
                      <a:endParaRPr lang="en-US" sz="800" dirty="0"/>
                    </a:p>
                    <a:p>
                      <a:pPr>
                        <a:buFont typeface="Arial" pitchFamily="34" charset="0"/>
                        <a:buChar char="•"/>
                      </a:pPr>
                      <a:r>
                        <a:rPr lang="en-US" sz="800" b="1" baseline="0" dirty="0"/>
                        <a:t>Lib verifier only support non-interleave format now</a:t>
                      </a:r>
                    </a:p>
                    <a:p>
                      <a:pPr>
                        <a:buFont typeface="Arial" pitchFamily="34" charset="0"/>
                        <a:buChar char="•"/>
                      </a:pPr>
                      <a:r>
                        <a:rPr lang="en-US" sz="800" b="1" baseline="0" dirty="0"/>
                        <a:t>Will support interleave format soon</a:t>
                      </a:r>
                    </a:p>
                  </a:txBody>
                  <a:tcPr marL="68580" marR="68580" marT="34290" marB="34290"/>
                </a:tc>
                <a:extLst>
                  <a:ext uri="{0D108BD9-81ED-4DB2-BD59-A6C34878D82A}">
                    <a16:rowId xmlns:a16="http://schemas.microsoft.com/office/drawing/2014/main" val="10009"/>
                  </a:ext>
                </a:extLst>
              </a:tr>
              <a:tr h="188595">
                <a:tc>
                  <a:txBody>
                    <a:bodyPr/>
                    <a:lstStyle/>
                    <a:p>
                      <a:r>
                        <a:rPr lang="en-US" sz="800" dirty="0"/>
                        <a:t>uint8_t </a:t>
                      </a:r>
                      <a:r>
                        <a:rPr lang="en-US" sz="800" dirty="0" err="1"/>
                        <a:t>ul_in_ch</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number of uplink input channel of test case</a:t>
                      </a:r>
                      <a:endParaRPr lang="en-US" sz="800" dirty="0"/>
                    </a:p>
                  </a:txBody>
                  <a:tcPr marL="68580" marR="68580" marT="34290" marB="34290"/>
                </a:tc>
                <a:extLst>
                  <a:ext uri="{0D108BD9-81ED-4DB2-BD59-A6C34878D82A}">
                    <a16:rowId xmlns:a16="http://schemas.microsoft.com/office/drawing/2014/main" val="10010"/>
                  </a:ext>
                </a:extLst>
              </a:tr>
              <a:tr h="188595">
                <a:tc>
                  <a:txBody>
                    <a:bodyPr/>
                    <a:lstStyle/>
                    <a:p>
                      <a:r>
                        <a:rPr lang="en-US" sz="800" dirty="0"/>
                        <a:t>uint8_t </a:t>
                      </a:r>
                      <a:r>
                        <a:rPr lang="en-US" sz="800" dirty="0" err="1"/>
                        <a:t>ul_ref_in_ch</a:t>
                      </a:r>
                      <a:endParaRPr lang="en-US" sz="8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t>Define</a:t>
                      </a:r>
                      <a:r>
                        <a:rPr lang="en-US" sz="800" baseline="0" dirty="0"/>
                        <a:t> the number of uplink reference input channel of test case</a:t>
                      </a:r>
                      <a:endParaRPr lang="en-US" sz="800" dirty="0"/>
                    </a:p>
                  </a:txBody>
                  <a:tcPr marL="68580" marR="68580" marT="34290" marB="34290"/>
                </a:tc>
                <a:extLst>
                  <a:ext uri="{0D108BD9-81ED-4DB2-BD59-A6C34878D82A}">
                    <a16:rowId xmlns:a16="http://schemas.microsoft.com/office/drawing/2014/main" val="10011"/>
                  </a:ext>
                </a:extLst>
              </a:tr>
              <a:tr h="188595">
                <a:tc>
                  <a:txBody>
                    <a:bodyPr/>
                    <a:lstStyle/>
                    <a:p>
                      <a:r>
                        <a:rPr lang="en-US" sz="800" dirty="0"/>
                        <a:t>uint8_t </a:t>
                      </a:r>
                      <a:r>
                        <a:rPr lang="en-US" sz="800" dirty="0" err="1"/>
                        <a:t>ul_out_ch</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number of uplink output channel of test case</a:t>
                      </a:r>
                      <a:endParaRPr lang="en-US" sz="800" dirty="0"/>
                    </a:p>
                  </a:txBody>
                  <a:tcPr marL="68580" marR="68580" marT="34290" marB="34290"/>
                </a:tc>
                <a:extLst>
                  <a:ext uri="{0D108BD9-81ED-4DB2-BD59-A6C34878D82A}">
                    <a16:rowId xmlns:a16="http://schemas.microsoft.com/office/drawing/2014/main" val="10012"/>
                  </a:ext>
                </a:extLst>
              </a:tr>
              <a:tr h="188595">
                <a:tc>
                  <a:txBody>
                    <a:bodyPr/>
                    <a:lstStyle/>
                    <a:p>
                      <a:r>
                        <a:rPr lang="en-US" sz="800" dirty="0" err="1"/>
                        <a:t>profile_config_t</a:t>
                      </a:r>
                      <a:r>
                        <a:rPr lang="en-US" sz="800" dirty="0"/>
                        <a:t> </a:t>
                      </a:r>
                      <a:r>
                        <a:rPr lang="en-US" sz="800" dirty="0" err="1"/>
                        <a:t>profile_config</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profiles of test case</a:t>
                      </a:r>
                      <a:endParaRPr lang="en-US" sz="800" dirty="0"/>
                    </a:p>
                  </a:txBody>
                  <a:tcPr marL="68580" marR="68580" marT="34290" marB="34290"/>
                </a:tc>
                <a:extLst>
                  <a:ext uri="{0D108BD9-81ED-4DB2-BD59-A6C34878D82A}">
                    <a16:rowId xmlns:a16="http://schemas.microsoft.com/office/drawing/2014/main" val="10013"/>
                  </a:ext>
                </a:extLst>
              </a:tr>
              <a:tr h="188595">
                <a:tc>
                  <a:txBody>
                    <a:bodyPr/>
                    <a:lstStyle/>
                    <a:p>
                      <a:r>
                        <a:rPr lang="en-US" sz="800" dirty="0"/>
                        <a:t>int8_t </a:t>
                      </a:r>
                      <a:r>
                        <a:rPr lang="en-US" sz="800" dirty="0" err="1"/>
                        <a:t>audio_mode</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a:t>
                      </a:r>
                      <a:r>
                        <a:rPr lang="en-US" sz="800" baseline="0" dirty="0" err="1"/>
                        <a:t>audio_mode</a:t>
                      </a:r>
                      <a:r>
                        <a:rPr lang="en-US" sz="800" baseline="0" dirty="0"/>
                        <a:t> of test case</a:t>
                      </a:r>
                      <a:endParaRPr lang="en-US" sz="800" dirty="0"/>
                    </a:p>
                  </a:txBody>
                  <a:tcPr marL="68580" marR="68580" marT="34290" marB="34290"/>
                </a:tc>
                <a:extLst>
                  <a:ext uri="{0D108BD9-81ED-4DB2-BD59-A6C34878D82A}">
                    <a16:rowId xmlns:a16="http://schemas.microsoft.com/office/drawing/2014/main" val="10014"/>
                  </a:ext>
                </a:extLst>
              </a:tr>
              <a:tr h="188595">
                <a:tc>
                  <a:txBody>
                    <a:bodyPr/>
                    <a:lstStyle/>
                    <a:p>
                      <a:r>
                        <a:rPr lang="en-US" sz="800" dirty="0" err="1"/>
                        <a:t>audio_source_t</a:t>
                      </a:r>
                      <a:r>
                        <a:rPr lang="en-US" sz="800" dirty="0"/>
                        <a:t> </a:t>
                      </a:r>
                      <a:r>
                        <a:rPr lang="en-US" sz="800" dirty="0" err="1"/>
                        <a:t>input_source</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input</a:t>
                      </a:r>
                      <a:r>
                        <a:rPr lang="zh-TW" altLang="en-US" sz="800" baseline="0" dirty="0"/>
                        <a:t> </a:t>
                      </a:r>
                      <a:r>
                        <a:rPr lang="en-US" altLang="zh-TW" sz="800" baseline="0" dirty="0"/>
                        <a:t>source</a:t>
                      </a:r>
                      <a:r>
                        <a:rPr lang="en-US" sz="800" baseline="0" dirty="0"/>
                        <a:t> of test case</a:t>
                      </a:r>
                      <a:endParaRPr lang="en-US" sz="800" dirty="0"/>
                    </a:p>
                  </a:txBody>
                  <a:tcPr marL="68580" marR="68580" marT="34290" marB="34290"/>
                </a:tc>
                <a:extLst>
                  <a:ext uri="{0D108BD9-81ED-4DB2-BD59-A6C34878D82A}">
                    <a16:rowId xmlns:a16="http://schemas.microsoft.com/office/drawing/2014/main" val="10015"/>
                  </a:ext>
                </a:extLst>
              </a:tr>
              <a:tr h="188595">
                <a:tc>
                  <a:txBody>
                    <a:bodyPr/>
                    <a:lstStyle/>
                    <a:p>
                      <a:r>
                        <a:rPr lang="en-US" sz="800" dirty="0"/>
                        <a:t>int32_t </a:t>
                      </a:r>
                      <a:r>
                        <a:rPr lang="en-US" sz="800" dirty="0" err="1"/>
                        <a:t>mem_slb_size</a:t>
                      </a:r>
                      <a:endParaRPr lang="en-US" sz="800" dirty="0"/>
                    </a:p>
                  </a:txBody>
                  <a:tcPr marL="68580" marR="68580" marT="34290" marB="34290"/>
                </a:tc>
                <a:tc>
                  <a:txBody>
                    <a:bodyPr/>
                    <a:lstStyle/>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altLang="zh-TW" sz="800" dirty="0"/>
                        <a:t>Define the available </a:t>
                      </a:r>
                      <a:r>
                        <a:rPr lang="en-US" altLang="zh-TW" sz="800" dirty="0" err="1"/>
                        <a:t>slb</a:t>
                      </a:r>
                      <a:r>
                        <a:rPr lang="en-US" altLang="zh-TW" sz="800" dirty="0"/>
                        <a:t> memory size of the test case</a:t>
                      </a:r>
                    </a:p>
                  </a:txBody>
                  <a:tcPr marL="68580" marR="68580" marT="34290" marB="34290"/>
                </a:tc>
                <a:extLst>
                  <a:ext uri="{0D108BD9-81ED-4DB2-BD59-A6C34878D82A}">
                    <a16:rowId xmlns:a16="http://schemas.microsoft.com/office/drawing/2014/main" val="2811765335"/>
                  </a:ext>
                </a:extLst>
              </a:tr>
              <a:tr h="188595">
                <a:tc>
                  <a:txBody>
                    <a:bodyPr/>
                    <a:lstStyle/>
                    <a:p>
                      <a:r>
                        <a:rPr lang="en-US" sz="800" dirty="0"/>
                        <a:t>int32_t mem_l2sram_size  </a:t>
                      </a:r>
                      <a:r>
                        <a:rPr lang="en-US" altLang="zh-TW" sz="800" dirty="0">
                          <a:solidFill>
                            <a:schemeClr val="tx1"/>
                          </a:solidFill>
                        </a:rPr>
                        <a:t> </a:t>
                      </a:r>
                      <a:r>
                        <a:rPr lang="en-US" altLang="zh-TW" sz="800" dirty="0">
                          <a:solidFill>
                            <a:srgbClr val="FF0000"/>
                          </a:solidFill>
                        </a:rPr>
                        <a:t>(since V1.8.0)</a:t>
                      </a:r>
                      <a:endParaRPr lang="en-US" sz="800" dirty="0"/>
                    </a:p>
                  </a:txBody>
                  <a:tcPr marL="68580" marR="68580" marT="34290" marB="34290"/>
                </a:tc>
                <a:tc>
                  <a:txBody>
                    <a:bodyPr/>
                    <a:lstStyle/>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altLang="zh-TW" sz="800" dirty="0"/>
                        <a:t>Define the available l2sram memory size of the test case</a:t>
                      </a:r>
                    </a:p>
                  </a:txBody>
                  <a:tcPr marL="68580" marR="68580" marT="34290" marB="34290"/>
                </a:tc>
                <a:extLst>
                  <a:ext uri="{0D108BD9-81ED-4DB2-BD59-A6C34878D82A}">
                    <a16:rowId xmlns:a16="http://schemas.microsoft.com/office/drawing/2014/main" val="4054273426"/>
                  </a:ext>
                </a:extLst>
              </a:tr>
            </a:tbl>
          </a:graphicData>
        </a:graphic>
      </p:graphicFrame>
    </p:spTree>
    <p:extLst>
      <p:ext uri="{BB962C8B-B14F-4D97-AF65-F5344CB8AC3E}">
        <p14:creationId xmlns:p14="http://schemas.microsoft.com/office/powerpoint/2010/main" val="185489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A281D9C-CC38-43C7-BFE9-E9EF574DED55}"/>
              </a:ext>
            </a:extLst>
          </p:cNvPr>
          <p:cNvSpPr>
            <a:spLocks noGrp="1"/>
          </p:cNvSpPr>
          <p:nvPr>
            <p:ph type="sldNum" sz="quarter" idx="4"/>
          </p:nvPr>
        </p:nvSpPr>
        <p:spPr/>
        <p:txBody>
          <a:bodyPr/>
          <a:lstStyle/>
          <a:p>
            <a:fld id="{0AEF9A4B-07C9-404C-9053-A3A2AC3AD5D6}" type="slidenum">
              <a:rPr lang="en-GB" smtClean="0"/>
              <a:pPr/>
              <a:t>21</a:t>
            </a:fld>
            <a:endParaRPr lang="en-GB" dirty="0"/>
          </a:p>
        </p:txBody>
      </p:sp>
      <p:sp>
        <p:nvSpPr>
          <p:cNvPr id="3" name="內容版面配置區 2">
            <a:extLst>
              <a:ext uri="{FF2B5EF4-FFF2-40B4-BE49-F238E27FC236}">
                <a16:creationId xmlns:a16="http://schemas.microsoft.com/office/drawing/2014/main" id="{39FCE97B-D26F-4A53-8D96-A45FA05628FE}"/>
              </a:ext>
            </a:extLst>
          </p:cNvPr>
          <p:cNvSpPr>
            <a:spLocks noGrp="1"/>
          </p:cNvSpPr>
          <p:nvPr>
            <p:ph sz="quarter" idx="10"/>
          </p:nvPr>
        </p:nvSpPr>
        <p:spPr/>
        <p:txBody>
          <a:bodyPr/>
          <a:lstStyle/>
          <a:p>
            <a:endParaRPr lang="zh-TW" altLang="en-US"/>
          </a:p>
        </p:txBody>
      </p:sp>
      <p:sp>
        <p:nvSpPr>
          <p:cNvPr id="4" name="標題 3">
            <a:extLst>
              <a:ext uri="{FF2B5EF4-FFF2-40B4-BE49-F238E27FC236}">
                <a16:creationId xmlns:a16="http://schemas.microsoft.com/office/drawing/2014/main" id="{B4E0C5BE-2BE4-42AE-BBD1-08D8864AAF4A}"/>
              </a:ext>
            </a:extLst>
          </p:cNvPr>
          <p:cNvSpPr>
            <a:spLocks noGrp="1"/>
          </p:cNvSpPr>
          <p:nvPr>
            <p:ph type="title"/>
          </p:nvPr>
        </p:nvSpPr>
        <p:spPr>
          <a:xfrm>
            <a:off x="323850" y="0"/>
            <a:ext cx="8218488" cy="428431"/>
          </a:xfrm>
        </p:spPr>
        <p:txBody>
          <a:bodyPr>
            <a:normAutofit fontScale="90000"/>
          </a:bodyPr>
          <a:lstStyle/>
          <a:p>
            <a:r>
              <a:rPr lang="en-US" altLang="zh-TW" sz="2800" dirty="0"/>
              <a:t>Phone Call/VoIP Test Config Structure</a:t>
            </a:r>
            <a:endParaRPr lang="zh-TW" altLang="en-US" dirty="0"/>
          </a:p>
        </p:txBody>
      </p:sp>
      <p:graphicFrame>
        <p:nvGraphicFramePr>
          <p:cNvPr id="5" name="內容版面配置區 6">
            <a:extLst>
              <a:ext uri="{FF2B5EF4-FFF2-40B4-BE49-F238E27FC236}">
                <a16:creationId xmlns:a16="http://schemas.microsoft.com/office/drawing/2014/main" id="{22D4F996-BEE5-4705-9D5B-9F3EFECFBFCF}"/>
              </a:ext>
            </a:extLst>
          </p:cNvPr>
          <p:cNvGraphicFramePr>
            <a:graphicFrameLocks/>
          </p:cNvGraphicFramePr>
          <p:nvPr>
            <p:extLst>
              <p:ext uri="{D42A27DB-BD31-4B8C-83A1-F6EECF244321}">
                <p14:modId xmlns:p14="http://schemas.microsoft.com/office/powerpoint/2010/main" val="4148828991"/>
              </p:ext>
            </p:extLst>
          </p:nvPr>
        </p:nvGraphicFramePr>
        <p:xfrm>
          <a:off x="1488438" y="303498"/>
          <a:ext cx="6264696" cy="4852035"/>
        </p:xfrm>
        <a:graphic>
          <a:graphicData uri="http://schemas.openxmlformats.org/drawingml/2006/table">
            <a:tbl>
              <a:tblPr firstRow="1" bandRow="1">
                <a:tableStyleId>{F5AB1C69-6EDB-4FF4-983F-18BD219EF322}</a:tableStyleId>
              </a:tblPr>
              <a:tblGrid>
                <a:gridCol w="2631136">
                  <a:extLst>
                    <a:ext uri="{9D8B030D-6E8A-4147-A177-3AD203B41FA5}">
                      <a16:colId xmlns:a16="http://schemas.microsoft.com/office/drawing/2014/main" val="20000"/>
                    </a:ext>
                  </a:extLst>
                </a:gridCol>
                <a:gridCol w="3633560">
                  <a:extLst>
                    <a:ext uri="{9D8B030D-6E8A-4147-A177-3AD203B41FA5}">
                      <a16:colId xmlns:a16="http://schemas.microsoft.com/office/drawing/2014/main" val="20001"/>
                    </a:ext>
                  </a:extLst>
                </a:gridCol>
              </a:tblGrid>
              <a:tr h="188595">
                <a:tc gridSpan="2">
                  <a:txBody>
                    <a:bodyPr/>
                    <a:lstStyle/>
                    <a:p>
                      <a:pPr algn="ctr"/>
                      <a:r>
                        <a:rPr lang="en-US" sz="800" b="1" dirty="0" err="1"/>
                        <a:t>struct</a:t>
                      </a:r>
                      <a:r>
                        <a:rPr lang="en-US" sz="800" b="1" dirty="0"/>
                        <a:t> </a:t>
                      </a:r>
                      <a:r>
                        <a:rPr lang="en-US" sz="800" b="1" dirty="0" err="1"/>
                        <a:t>phone_call_test_case_config_t</a:t>
                      </a:r>
                      <a:r>
                        <a:rPr lang="en-US" sz="800" b="1" dirty="0"/>
                        <a:t> / </a:t>
                      </a:r>
                      <a:r>
                        <a:rPr lang="en-US" sz="800" b="1" dirty="0" err="1"/>
                        <a:t>struct</a:t>
                      </a:r>
                      <a:r>
                        <a:rPr lang="en-US" sz="800" b="1" dirty="0"/>
                        <a:t> </a:t>
                      </a:r>
                      <a:r>
                        <a:rPr lang="en-US" sz="800" b="1" dirty="0" err="1"/>
                        <a:t>voip_test_case_config_t</a:t>
                      </a:r>
                      <a:endParaRPr lang="en-US" sz="800" b="1" dirty="0"/>
                    </a:p>
                  </a:txBody>
                  <a:tcPr marL="68580" marR="68580" marT="34290" marB="34290"/>
                </a:tc>
                <a:tc hMerge="1">
                  <a:txBody>
                    <a:bodyPr/>
                    <a:lstStyle/>
                    <a:p>
                      <a:pPr algn="ctr"/>
                      <a:endParaRPr lang="en-US" sz="1200" dirty="0"/>
                    </a:p>
                  </a:txBody>
                  <a:tcPr/>
                </a:tc>
                <a:extLst>
                  <a:ext uri="{0D108BD9-81ED-4DB2-BD59-A6C34878D82A}">
                    <a16:rowId xmlns:a16="http://schemas.microsoft.com/office/drawing/2014/main" val="10000"/>
                  </a:ext>
                </a:extLst>
              </a:tr>
              <a:tr h="188595">
                <a:tc>
                  <a:txBody>
                    <a:bodyPr/>
                    <a:lstStyle/>
                    <a:p>
                      <a:pPr algn="ctr"/>
                      <a:r>
                        <a:rPr lang="en-US" sz="700" b="1" dirty="0"/>
                        <a:t>Member</a:t>
                      </a:r>
                    </a:p>
                  </a:txBody>
                  <a:tcPr marL="68580" marR="68580" marT="34290" marB="34290"/>
                </a:tc>
                <a:tc>
                  <a:txBody>
                    <a:bodyPr/>
                    <a:lstStyle/>
                    <a:p>
                      <a:pPr algn="ctr"/>
                      <a:r>
                        <a:rPr lang="en-US" sz="700" b="1" dirty="0"/>
                        <a:t>Description</a:t>
                      </a:r>
                    </a:p>
                  </a:txBody>
                  <a:tcPr marL="68580" marR="68580" marT="34290" marB="34290"/>
                </a:tc>
                <a:extLst>
                  <a:ext uri="{0D108BD9-81ED-4DB2-BD59-A6C34878D82A}">
                    <a16:rowId xmlns:a16="http://schemas.microsoft.com/office/drawing/2014/main" val="10001"/>
                  </a:ext>
                </a:extLst>
              </a:tr>
              <a:tr h="308610">
                <a:tc>
                  <a:txBody>
                    <a:bodyPr/>
                    <a:lstStyle/>
                    <a:p>
                      <a:r>
                        <a:rPr lang="en-US" sz="800" dirty="0"/>
                        <a:t>const char *</a:t>
                      </a:r>
                      <a:r>
                        <a:rPr lang="en-US" sz="800" dirty="0" err="1"/>
                        <a:t>test_case_name</a:t>
                      </a:r>
                      <a:endParaRPr lang="en-US" sz="800" dirty="0"/>
                    </a:p>
                  </a:txBody>
                  <a:tcPr marL="68580" marR="68580" marT="34290" marB="34290"/>
                </a:tc>
                <a:tc>
                  <a:txBody>
                    <a:bodyPr/>
                    <a:lstStyle/>
                    <a:p>
                      <a:pPr>
                        <a:buFont typeface="Arial" pitchFamily="34" charset="0"/>
                        <a:buChar char="•"/>
                      </a:pPr>
                      <a:r>
                        <a:rPr lang="en-US" sz="800" dirty="0">
                          <a:solidFill>
                            <a:schemeClr val="tx1"/>
                          </a:solidFill>
                        </a:rPr>
                        <a:t>This</a:t>
                      </a:r>
                      <a:r>
                        <a:rPr lang="en-US" sz="800" baseline="0" dirty="0">
                          <a:solidFill>
                            <a:schemeClr val="tx1"/>
                          </a:solidFill>
                        </a:rPr>
                        <a:t> string is used to show in test result</a:t>
                      </a:r>
                    </a:p>
                    <a:p>
                      <a:pPr>
                        <a:buFont typeface="Arial" pitchFamily="34" charset="0"/>
                        <a:buChar char="•"/>
                      </a:pPr>
                      <a:r>
                        <a:rPr lang="en-US" sz="800" baseline="0" dirty="0">
                          <a:solidFill>
                            <a:schemeClr val="tx1"/>
                          </a:solidFill>
                        </a:rPr>
                        <a:t>NULL string imply it’s end of test case list</a:t>
                      </a:r>
                      <a:endParaRPr lang="en-US" sz="800" dirty="0">
                        <a:solidFill>
                          <a:schemeClr val="tx1"/>
                        </a:solidFill>
                      </a:endParaRPr>
                    </a:p>
                  </a:txBody>
                  <a:tcPr marL="68580" marR="68580" marT="34290" marB="34290"/>
                </a:tc>
                <a:extLst>
                  <a:ext uri="{0D108BD9-81ED-4DB2-BD59-A6C34878D82A}">
                    <a16:rowId xmlns:a16="http://schemas.microsoft.com/office/drawing/2014/main" val="10002"/>
                  </a:ext>
                </a:extLst>
              </a:tr>
              <a:tr h="188595">
                <a:tc>
                  <a:txBody>
                    <a:bodyPr/>
                    <a:lstStyle/>
                    <a:p>
                      <a:r>
                        <a:rPr lang="en-US" sz="800" dirty="0"/>
                        <a:t>void (*</a:t>
                      </a:r>
                      <a:r>
                        <a:rPr lang="en-US" sz="800" dirty="0" err="1"/>
                        <a:t>arsi_assign_lib_fp</a:t>
                      </a:r>
                      <a:r>
                        <a:rPr lang="en-US" sz="800" dirty="0"/>
                        <a:t>)(AurisysLibInterface *lib)</a:t>
                      </a:r>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solidFill>
                            <a:schemeClr val="tx1"/>
                          </a:solidFill>
                        </a:rPr>
                        <a:t>Configure the entry</a:t>
                      </a:r>
                      <a:r>
                        <a:rPr lang="en-US" sz="800" baseline="0" dirty="0">
                          <a:solidFill>
                            <a:schemeClr val="tx1"/>
                          </a:solidFill>
                        </a:rPr>
                        <a:t> function of test case</a:t>
                      </a:r>
                      <a:endParaRPr lang="en-US" sz="800" dirty="0">
                        <a:solidFill>
                          <a:schemeClr val="tx1"/>
                        </a:solidFill>
                      </a:endParaRPr>
                    </a:p>
                  </a:txBody>
                  <a:tcPr marL="68580" marR="68580" marT="34290" marB="34290"/>
                </a:tc>
                <a:extLst>
                  <a:ext uri="{0D108BD9-81ED-4DB2-BD59-A6C34878D82A}">
                    <a16:rowId xmlns:a16="http://schemas.microsoft.com/office/drawing/2014/main" val="10003"/>
                  </a:ext>
                </a:extLst>
              </a:tr>
              <a:tr h="188595">
                <a:tc>
                  <a:txBody>
                    <a:bodyPr/>
                    <a:lstStyle/>
                    <a:p>
                      <a:r>
                        <a:rPr lang="en-US" sz="800" dirty="0" err="1"/>
                        <a:t>string_buf_t</a:t>
                      </a:r>
                      <a:r>
                        <a:rPr lang="en-US" sz="800" dirty="0"/>
                        <a:t> </a:t>
                      </a:r>
                      <a:r>
                        <a:rPr lang="en-US" sz="800" dirty="0" err="1"/>
                        <a:t>param_file_path</a:t>
                      </a:r>
                      <a:endParaRPr lang="en-US" sz="8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solidFill>
                            <a:schemeClr val="tx1"/>
                          </a:solidFill>
                        </a:rPr>
                        <a:t>The</a:t>
                      </a:r>
                      <a:r>
                        <a:rPr lang="en-US" sz="800" baseline="0" dirty="0">
                          <a:solidFill>
                            <a:schemeClr val="tx1"/>
                          </a:solidFill>
                        </a:rPr>
                        <a:t> library’s parameter file path</a:t>
                      </a:r>
                      <a:endParaRPr lang="en-US" sz="800" dirty="0">
                        <a:solidFill>
                          <a:schemeClr val="tx1"/>
                        </a:solidFill>
                      </a:endParaRPr>
                    </a:p>
                  </a:txBody>
                  <a:tcPr marL="68580" marR="68580" marT="34290" marB="34290"/>
                </a:tc>
                <a:extLst>
                  <a:ext uri="{0D108BD9-81ED-4DB2-BD59-A6C34878D82A}">
                    <a16:rowId xmlns:a16="http://schemas.microsoft.com/office/drawing/2014/main" val="10004"/>
                  </a:ext>
                </a:extLst>
              </a:tr>
              <a:tr h="188595">
                <a:tc>
                  <a:txBody>
                    <a:bodyPr/>
                    <a:lstStyle/>
                    <a:p>
                      <a:r>
                        <a:rPr lang="en-US" sz="800" dirty="0" err="1"/>
                        <a:t>task_scene_t</a:t>
                      </a:r>
                      <a:r>
                        <a:rPr lang="en-US" sz="800" dirty="0"/>
                        <a:t> </a:t>
                      </a:r>
                      <a:r>
                        <a:rPr lang="en-US" sz="800" dirty="0" err="1"/>
                        <a:t>task_scene</a:t>
                      </a:r>
                      <a:endParaRPr lang="en-US" sz="800" dirty="0"/>
                    </a:p>
                  </a:txBody>
                  <a:tcPr marL="68580" marR="68580" marT="34290" marB="34290"/>
                </a:tc>
                <a:tc>
                  <a:txBody>
                    <a:bodyPr/>
                    <a:lstStyle/>
                    <a:p>
                      <a:pPr>
                        <a:buFont typeface="Arial" pitchFamily="34" charset="0"/>
                        <a:buChar char="•"/>
                      </a:pPr>
                      <a:r>
                        <a:rPr lang="en-US" sz="800" dirty="0"/>
                        <a:t>Define the working</a:t>
                      </a:r>
                      <a:r>
                        <a:rPr lang="en-US" sz="800" baseline="0" dirty="0"/>
                        <a:t> scene of test case</a:t>
                      </a:r>
                      <a:endParaRPr lang="en-US" sz="800" dirty="0"/>
                    </a:p>
                  </a:txBody>
                  <a:tcPr marL="68580" marR="68580" marT="34290" marB="34290"/>
                </a:tc>
                <a:extLst>
                  <a:ext uri="{0D108BD9-81ED-4DB2-BD59-A6C34878D82A}">
                    <a16:rowId xmlns:a16="http://schemas.microsoft.com/office/drawing/2014/main" val="10005"/>
                  </a:ext>
                </a:extLst>
              </a:tr>
              <a:tr h="289182">
                <a:tc>
                  <a:txBody>
                    <a:bodyPr/>
                    <a:lstStyle/>
                    <a:p>
                      <a:r>
                        <a:rPr lang="en-US" sz="800" dirty="0"/>
                        <a:t>uint32_t </a:t>
                      </a:r>
                      <a:r>
                        <a:rPr lang="en-US" sz="800" dirty="0" err="1"/>
                        <a:t>frame_size</a:t>
                      </a:r>
                      <a:endParaRPr lang="en-US" sz="800" dirty="0"/>
                    </a:p>
                  </a:txBody>
                  <a:tcPr marL="68580" marR="68580" marT="34290" marB="34290"/>
                </a:tc>
                <a:tc>
                  <a:txBody>
                    <a:bodyPr/>
                    <a:lstStyle/>
                    <a:p>
                      <a:pPr>
                        <a:buFont typeface="Arial" pitchFamily="34" charset="0"/>
                        <a:buChar char="•"/>
                      </a:pPr>
                      <a:r>
                        <a:rPr lang="en-US" sz="800" dirty="0"/>
                        <a:t>Define the frame size of</a:t>
                      </a:r>
                      <a:r>
                        <a:rPr lang="en-US" sz="800" baseline="0" dirty="0"/>
                        <a:t> test case</a:t>
                      </a:r>
                    </a:p>
                    <a:p>
                      <a:pPr>
                        <a:buFont typeface="Arial" pitchFamily="34" charset="0"/>
                        <a:buChar char="•"/>
                      </a:pPr>
                      <a:r>
                        <a:rPr lang="en-US" sz="800" baseline="0" dirty="0"/>
                        <a:t>You can define many frame size which library supported, Ex: {5,20}</a:t>
                      </a:r>
                    </a:p>
                  </a:txBody>
                  <a:tcPr marL="68580" marR="68580" marT="34290" marB="34290"/>
                </a:tc>
                <a:extLst>
                  <a:ext uri="{0D108BD9-81ED-4DB2-BD59-A6C34878D82A}">
                    <a16:rowId xmlns:a16="http://schemas.microsoft.com/office/drawing/2014/main" val="10006"/>
                  </a:ext>
                </a:extLst>
              </a:tr>
              <a:tr h="265242">
                <a:tc>
                  <a:txBody>
                    <a:bodyPr/>
                    <a:lstStyle/>
                    <a:p>
                      <a:r>
                        <a:rPr lang="en-US" sz="800" dirty="0"/>
                        <a:t>uint32_t </a:t>
                      </a:r>
                      <a:r>
                        <a:rPr lang="en-US" sz="800" dirty="0" err="1"/>
                        <a:t>working_sample_rate</a:t>
                      </a:r>
                      <a:endParaRPr lang="en-US" sz="800" dirty="0"/>
                    </a:p>
                  </a:txBody>
                  <a:tcPr marL="68580" marR="68580" marT="34290" marB="34290"/>
                </a:tc>
                <a:tc>
                  <a:txBody>
                    <a:bodyPr/>
                    <a:lstStyle/>
                    <a:p>
                      <a:pPr>
                        <a:buFont typeface="Arial" pitchFamily="34" charset="0"/>
                        <a:buChar char="•"/>
                      </a:pPr>
                      <a:r>
                        <a:rPr lang="en-US" sz="800" dirty="0"/>
                        <a:t>Define the sample rate of test case</a:t>
                      </a:r>
                    </a:p>
                    <a:p>
                      <a:pPr>
                        <a:buFont typeface="Arial" pitchFamily="34" charset="0"/>
                        <a:buChar char="•"/>
                      </a:pPr>
                      <a:r>
                        <a:rPr lang="en-US" sz="800" baseline="0" dirty="0"/>
                        <a:t>You can define many sample rate which library supported, Ex: {8000, 16000}</a:t>
                      </a:r>
                      <a:endParaRPr lang="en-US" sz="800" dirty="0"/>
                    </a:p>
                  </a:txBody>
                  <a:tcPr marL="68580" marR="68580" marT="34290" marB="34290"/>
                </a:tc>
                <a:extLst>
                  <a:ext uri="{0D108BD9-81ED-4DB2-BD59-A6C34878D82A}">
                    <a16:rowId xmlns:a16="http://schemas.microsoft.com/office/drawing/2014/main" val="10007"/>
                  </a:ext>
                </a:extLst>
              </a:tr>
              <a:tr h="428625">
                <a:tc>
                  <a:txBody>
                    <a:bodyPr/>
                    <a:lstStyle/>
                    <a:p>
                      <a:r>
                        <a:rPr lang="en-US" sz="800" dirty="0"/>
                        <a:t>uint32_t </a:t>
                      </a:r>
                      <a:r>
                        <a:rPr lang="en-US" sz="800" dirty="0" err="1"/>
                        <a:t>audio_format</a:t>
                      </a:r>
                      <a:endParaRPr lang="en-US" sz="800" dirty="0"/>
                    </a:p>
                  </a:txBody>
                  <a:tcPr marL="68580" marR="68580" marT="34290" marB="34290"/>
                </a:tc>
                <a:tc>
                  <a:txBody>
                    <a:bodyPr/>
                    <a:lstStyle/>
                    <a:p>
                      <a:pPr>
                        <a:buFont typeface="Arial" pitchFamily="34" charset="0"/>
                        <a:buChar char="•"/>
                      </a:pPr>
                      <a:r>
                        <a:rPr lang="en-US" sz="800" dirty="0"/>
                        <a:t>Define the audio format of test case</a:t>
                      </a:r>
                    </a:p>
                    <a:p>
                      <a:pPr>
                        <a:buFont typeface="Arial" pitchFamily="34" charset="0"/>
                        <a:buChar char="•"/>
                      </a:pPr>
                      <a:r>
                        <a:rPr lang="en-US" sz="800" baseline="0" dirty="0"/>
                        <a:t>You can define many </a:t>
                      </a:r>
                      <a:r>
                        <a:rPr lang="en-US" sz="800" dirty="0"/>
                        <a:t>audio format</a:t>
                      </a:r>
                      <a:r>
                        <a:rPr lang="en-US" sz="800" baseline="0" dirty="0"/>
                        <a:t> which library supported</a:t>
                      </a:r>
                    </a:p>
                    <a:p>
                      <a:pPr>
                        <a:buFont typeface="Arial" pitchFamily="34" charset="0"/>
                        <a:buChar char="•"/>
                      </a:pPr>
                      <a:r>
                        <a:rPr lang="en-US" sz="800" baseline="0" dirty="0"/>
                        <a:t>Ex: {AUDIO_FORMAT_PCM_16_BIT,AUDIO_FORMAT_PCM_32_BIT}</a:t>
                      </a:r>
                      <a:endParaRPr lang="en-US" sz="800" dirty="0"/>
                    </a:p>
                  </a:txBody>
                  <a:tcPr marL="68580" marR="68580" marT="34290" marB="34290"/>
                </a:tc>
                <a:extLst>
                  <a:ext uri="{0D108BD9-81ED-4DB2-BD59-A6C34878D82A}">
                    <a16:rowId xmlns:a16="http://schemas.microsoft.com/office/drawing/2014/main" val="10008"/>
                  </a:ext>
                </a:extLst>
              </a:tr>
              <a:tr h="428625">
                <a:tc>
                  <a:txBody>
                    <a:bodyPr/>
                    <a:lstStyle/>
                    <a:p>
                      <a:r>
                        <a:rPr lang="en-US" sz="800" dirty="0"/>
                        <a:t>uint8_t interleave</a:t>
                      </a:r>
                    </a:p>
                  </a:txBody>
                  <a:tcPr marL="68580" marR="68580" marT="34290" marB="34290"/>
                </a:tc>
                <a:tc>
                  <a:txBody>
                    <a:bodyPr/>
                    <a:lstStyle/>
                    <a:p>
                      <a:pPr>
                        <a:buFont typeface="Arial" pitchFamily="34" charset="0"/>
                        <a:buChar char="•"/>
                      </a:pPr>
                      <a:r>
                        <a:rPr lang="en-US" sz="800" dirty="0"/>
                        <a:t>Define the pcm is interleave</a:t>
                      </a:r>
                      <a:r>
                        <a:rPr lang="en-US" sz="800" baseline="0" dirty="0"/>
                        <a:t> or not</a:t>
                      </a:r>
                      <a:endParaRPr lang="en-US" sz="800" dirty="0"/>
                    </a:p>
                    <a:p>
                      <a:pPr>
                        <a:buFont typeface="Arial" pitchFamily="34" charset="0"/>
                        <a:buChar char="•"/>
                      </a:pPr>
                      <a:r>
                        <a:rPr lang="en-US" sz="800" b="1" baseline="0" dirty="0"/>
                        <a:t>Lib verifier only support non-interleave format now</a:t>
                      </a:r>
                    </a:p>
                    <a:p>
                      <a:pPr>
                        <a:buFont typeface="Arial" pitchFamily="34" charset="0"/>
                        <a:buChar char="•"/>
                      </a:pPr>
                      <a:r>
                        <a:rPr lang="en-US" sz="800" b="1" baseline="0" dirty="0"/>
                        <a:t>Will support interleave format soon</a:t>
                      </a:r>
                    </a:p>
                  </a:txBody>
                  <a:tcPr marL="68580" marR="68580" marT="34290" marB="34290"/>
                </a:tc>
                <a:extLst>
                  <a:ext uri="{0D108BD9-81ED-4DB2-BD59-A6C34878D82A}">
                    <a16:rowId xmlns:a16="http://schemas.microsoft.com/office/drawing/2014/main" val="10009"/>
                  </a:ext>
                </a:extLst>
              </a:tr>
              <a:tr h="188595">
                <a:tc>
                  <a:txBody>
                    <a:bodyPr/>
                    <a:lstStyle/>
                    <a:p>
                      <a:r>
                        <a:rPr lang="en-US" sz="800" dirty="0"/>
                        <a:t>uint8_t </a:t>
                      </a:r>
                      <a:r>
                        <a:rPr lang="en-US" sz="800" dirty="0" err="1"/>
                        <a:t>ul_in_ch</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number of uplink input channel of test case</a:t>
                      </a:r>
                      <a:endParaRPr lang="en-US" sz="800" dirty="0"/>
                    </a:p>
                  </a:txBody>
                  <a:tcPr marL="68580" marR="68580" marT="34290" marB="34290"/>
                </a:tc>
                <a:extLst>
                  <a:ext uri="{0D108BD9-81ED-4DB2-BD59-A6C34878D82A}">
                    <a16:rowId xmlns:a16="http://schemas.microsoft.com/office/drawing/2014/main" val="10010"/>
                  </a:ext>
                </a:extLst>
              </a:tr>
              <a:tr h="188595">
                <a:tc>
                  <a:txBody>
                    <a:bodyPr/>
                    <a:lstStyle/>
                    <a:p>
                      <a:r>
                        <a:rPr lang="en-US" sz="800" dirty="0"/>
                        <a:t>uint8_t </a:t>
                      </a:r>
                      <a:r>
                        <a:rPr lang="en-US" sz="800" dirty="0" err="1"/>
                        <a:t>ul_ref_in_ch</a:t>
                      </a:r>
                      <a:endParaRPr lang="en-US" sz="8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t>Define</a:t>
                      </a:r>
                      <a:r>
                        <a:rPr lang="en-US" sz="800" baseline="0" dirty="0"/>
                        <a:t> the number of uplink reference input channel of test case</a:t>
                      </a:r>
                      <a:endParaRPr lang="en-US" sz="800" dirty="0"/>
                    </a:p>
                  </a:txBody>
                  <a:tcPr marL="68580" marR="68580" marT="34290" marB="34290"/>
                </a:tc>
                <a:extLst>
                  <a:ext uri="{0D108BD9-81ED-4DB2-BD59-A6C34878D82A}">
                    <a16:rowId xmlns:a16="http://schemas.microsoft.com/office/drawing/2014/main" val="10011"/>
                  </a:ext>
                </a:extLst>
              </a:tr>
              <a:tr h="188595">
                <a:tc>
                  <a:txBody>
                    <a:bodyPr/>
                    <a:lstStyle/>
                    <a:p>
                      <a:r>
                        <a:rPr lang="en-US" sz="800" dirty="0"/>
                        <a:t>uint8_t </a:t>
                      </a:r>
                      <a:r>
                        <a:rPr lang="en-US" sz="800" dirty="0" err="1"/>
                        <a:t>ul_out_ch</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number of uplink output channel of test case</a:t>
                      </a:r>
                      <a:endParaRPr lang="en-US" sz="800" dirty="0"/>
                    </a:p>
                  </a:txBody>
                  <a:tcPr marL="68580" marR="68580" marT="34290" marB="34290"/>
                </a:tc>
                <a:extLst>
                  <a:ext uri="{0D108BD9-81ED-4DB2-BD59-A6C34878D82A}">
                    <a16:rowId xmlns:a16="http://schemas.microsoft.com/office/drawing/2014/main" val="10012"/>
                  </a:ext>
                </a:extLst>
              </a:tr>
              <a:tr h="188595">
                <a:tc>
                  <a:txBody>
                    <a:bodyPr/>
                    <a:lstStyle/>
                    <a:p>
                      <a:r>
                        <a:rPr lang="en-US" sz="800" dirty="0"/>
                        <a:t>uint8_t </a:t>
                      </a:r>
                      <a:r>
                        <a:rPr lang="en-US" sz="800" dirty="0" err="1"/>
                        <a:t>dl_in_ch</a:t>
                      </a:r>
                      <a:endParaRPr lang="en-US" sz="8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a:t>Define</a:t>
                      </a:r>
                      <a:r>
                        <a:rPr lang="en-US" sz="800" baseline="0" dirty="0"/>
                        <a:t> the number of downlink input channel of test case</a:t>
                      </a:r>
                      <a:endParaRPr lang="en-US" sz="800" dirty="0"/>
                    </a:p>
                  </a:txBody>
                  <a:tcPr marL="68580" marR="68580" marT="34290" marB="34290"/>
                </a:tc>
                <a:extLst>
                  <a:ext uri="{0D108BD9-81ED-4DB2-BD59-A6C34878D82A}">
                    <a16:rowId xmlns:a16="http://schemas.microsoft.com/office/drawing/2014/main" val="10013"/>
                  </a:ext>
                </a:extLst>
              </a:tr>
              <a:tr h="188595">
                <a:tc>
                  <a:txBody>
                    <a:bodyPr/>
                    <a:lstStyle/>
                    <a:p>
                      <a:r>
                        <a:rPr lang="en-US" sz="800" dirty="0"/>
                        <a:t>uint8_t </a:t>
                      </a:r>
                      <a:r>
                        <a:rPr lang="en-US" sz="800" dirty="0" err="1"/>
                        <a:t>dl_ref_in_ch</a:t>
                      </a:r>
                      <a:endParaRPr lang="en-US" sz="800" dirty="0"/>
                    </a:p>
                  </a:txBody>
                  <a:tcPr marL="68580" marR="68580" marT="34290" marB="34290"/>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800" dirty="0"/>
                        <a:t>Define</a:t>
                      </a:r>
                      <a:r>
                        <a:rPr lang="en-US" sz="800" baseline="0" dirty="0"/>
                        <a:t> the number of downlink reference input channel of test case</a:t>
                      </a:r>
                      <a:endParaRPr lang="en-US" sz="800" dirty="0"/>
                    </a:p>
                  </a:txBody>
                  <a:tcPr marL="68580" marR="68580" marT="34290" marB="34290"/>
                </a:tc>
                <a:extLst>
                  <a:ext uri="{0D108BD9-81ED-4DB2-BD59-A6C34878D82A}">
                    <a16:rowId xmlns:a16="http://schemas.microsoft.com/office/drawing/2014/main" val="10014"/>
                  </a:ext>
                </a:extLst>
              </a:tr>
              <a:tr h="188595">
                <a:tc>
                  <a:txBody>
                    <a:bodyPr/>
                    <a:lstStyle/>
                    <a:p>
                      <a:r>
                        <a:rPr lang="en-US" sz="800" dirty="0"/>
                        <a:t>uint8_t </a:t>
                      </a:r>
                      <a:r>
                        <a:rPr lang="en-US" sz="800" dirty="0" err="1"/>
                        <a:t>dl_out_ch</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number of downlink output channel of test case</a:t>
                      </a:r>
                      <a:endParaRPr lang="en-US" sz="800" dirty="0"/>
                    </a:p>
                  </a:txBody>
                  <a:tcPr marL="68580" marR="68580" marT="34290" marB="34290"/>
                </a:tc>
                <a:extLst>
                  <a:ext uri="{0D108BD9-81ED-4DB2-BD59-A6C34878D82A}">
                    <a16:rowId xmlns:a16="http://schemas.microsoft.com/office/drawing/2014/main" val="10015"/>
                  </a:ext>
                </a:extLst>
              </a:tr>
              <a:tr h="188595">
                <a:tc>
                  <a:txBody>
                    <a:bodyPr/>
                    <a:lstStyle/>
                    <a:p>
                      <a:r>
                        <a:rPr lang="en-US" sz="800" dirty="0" err="1"/>
                        <a:t>profile_config_t</a:t>
                      </a:r>
                      <a:r>
                        <a:rPr lang="en-US" sz="800" dirty="0"/>
                        <a:t> </a:t>
                      </a:r>
                      <a:r>
                        <a:rPr lang="en-US" sz="800" dirty="0" err="1"/>
                        <a:t>profile_config</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profiles of test case</a:t>
                      </a:r>
                      <a:endParaRPr lang="en-US" sz="800" dirty="0"/>
                    </a:p>
                  </a:txBody>
                  <a:tcPr marL="68580" marR="68580" marT="34290" marB="34290"/>
                </a:tc>
                <a:extLst>
                  <a:ext uri="{0D108BD9-81ED-4DB2-BD59-A6C34878D82A}">
                    <a16:rowId xmlns:a16="http://schemas.microsoft.com/office/drawing/2014/main" val="10016"/>
                  </a:ext>
                </a:extLst>
              </a:tr>
              <a:tr h="188595">
                <a:tc>
                  <a:txBody>
                    <a:bodyPr/>
                    <a:lstStyle/>
                    <a:p>
                      <a:r>
                        <a:rPr lang="en-US" sz="800" dirty="0"/>
                        <a:t>int8_t </a:t>
                      </a:r>
                      <a:r>
                        <a:rPr lang="en-US" sz="800" dirty="0" err="1"/>
                        <a:t>audio_mode</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a:t>
                      </a:r>
                      <a:r>
                        <a:rPr lang="en-US" sz="800" baseline="0" dirty="0" err="1"/>
                        <a:t>audio_mode</a:t>
                      </a:r>
                      <a:r>
                        <a:rPr lang="en-US" sz="800" baseline="0" dirty="0"/>
                        <a:t> of test case</a:t>
                      </a:r>
                      <a:endParaRPr lang="en-US" sz="800" dirty="0"/>
                    </a:p>
                  </a:txBody>
                  <a:tcPr marL="68580" marR="68580" marT="34290" marB="34290"/>
                </a:tc>
                <a:extLst>
                  <a:ext uri="{0D108BD9-81ED-4DB2-BD59-A6C34878D82A}">
                    <a16:rowId xmlns:a16="http://schemas.microsoft.com/office/drawing/2014/main" val="10017"/>
                  </a:ext>
                </a:extLst>
              </a:tr>
              <a:tr h="188595">
                <a:tc>
                  <a:txBody>
                    <a:bodyPr/>
                    <a:lstStyle/>
                    <a:p>
                      <a:r>
                        <a:rPr lang="en-US" sz="800" dirty="0" err="1"/>
                        <a:t>audio_source_t</a:t>
                      </a:r>
                      <a:r>
                        <a:rPr lang="en-US" sz="800" dirty="0"/>
                        <a:t> </a:t>
                      </a:r>
                      <a:r>
                        <a:rPr lang="en-US" sz="800" dirty="0" err="1"/>
                        <a:t>input_source</a:t>
                      </a:r>
                      <a:endParaRPr lang="en-US" sz="800" dirty="0"/>
                    </a:p>
                  </a:txBody>
                  <a:tcPr marL="68580" marR="68580" marT="34290" marB="34290"/>
                </a:tc>
                <a:tc>
                  <a:txBody>
                    <a:bodyPr/>
                    <a:lstStyle/>
                    <a:p>
                      <a:pPr>
                        <a:buFont typeface="Arial" pitchFamily="34" charset="0"/>
                        <a:buChar char="•"/>
                      </a:pPr>
                      <a:r>
                        <a:rPr lang="en-US" sz="800" dirty="0"/>
                        <a:t>Define</a:t>
                      </a:r>
                      <a:r>
                        <a:rPr lang="en-US" sz="800" baseline="0" dirty="0"/>
                        <a:t> the input</a:t>
                      </a:r>
                      <a:r>
                        <a:rPr lang="zh-TW" altLang="en-US" sz="800" baseline="0" dirty="0"/>
                        <a:t> </a:t>
                      </a:r>
                      <a:r>
                        <a:rPr lang="en-US" altLang="zh-TW" sz="800" baseline="0" dirty="0"/>
                        <a:t>source</a:t>
                      </a:r>
                      <a:r>
                        <a:rPr lang="en-US" sz="800" baseline="0" dirty="0"/>
                        <a:t> of test case</a:t>
                      </a:r>
                      <a:endParaRPr lang="en-US" sz="800" dirty="0"/>
                    </a:p>
                  </a:txBody>
                  <a:tcPr marL="68580" marR="68580" marT="34290" marB="34290"/>
                </a:tc>
                <a:extLst>
                  <a:ext uri="{0D108BD9-81ED-4DB2-BD59-A6C34878D82A}">
                    <a16:rowId xmlns:a16="http://schemas.microsoft.com/office/drawing/2014/main" val="10018"/>
                  </a:ext>
                </a:extLst>
              </a:tr>
              <a:tr h="18859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800" dirty="0"/>
                        <a:t>int32_t </a:t>
                      </a:r>
                      <a:r>
                        <a:rPr lang="en-US" altLang="zh-TW" sz="800" dirty="0" err="1"/>
                        <a:t>mem_slb_size</a:t>
                      </a:r>
                      <a:endParaRPr lang="en-US" altLang="zh-TW" sz="800" dirty="0"/>
                    </a:p>
                  </a:txBody>
                  <a:tcPr marL="68580" marR="68580" marT="34290" marB="34290"/>
                </a:tc>
                <a:tc>
                  <a:txBody>
                    <a:bodyPr/>
                    <a:lstStyle/>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altLang="zh-TW" sz="800" dirty="0"/>
                        <a:t>Define the available </a:t>
                      </a:r>
                      <a:r>
                        <a:rPr lang="en-US" altLang="zh-TW" sz="800" dirty="0" err="1"/>
                        <a:t>slb</a:t>
                      </a:r>
                      <a:r>
                        <a:rPr lang="en-US" altLang="zh-TW" sz="800" dirty="0"/>
                        <a:t> memory size of the test case</a:t>
                      </a:r>
                    </a:p>
                  </a:txBody>
                  <a:tcPr marL="68580" marR="68580" marT="34290" marB="34290"/>
                </a:tc>
                <a:extLst>
                  <a:ext uri="{0D108BD9-81ED-4DB2-BD59-A6C34878D82A}">
                    <a16:rowId xmlns:a16="http://schemas.microsoft.com/office/drawing/2014/main" val="3830442945"/>
                  </a:ext>
                </a:extLst>
              </a:tr>
              <a:tr h="188595">
                <a:tc>
                  <a:txBody>
                    <a:bodyPr/>
                    <a:lstStyle/>
                    <a:p>
                      <a:r>
                        <a:rPr lang="en-US" sz="800" dirty="0"/>
                        <a:t>Int32_t mem_l2sram_size    </a:t>
                      </a:r>
                      <a:r>
                        <a:rPr lang="en-US" altLang="zh-TW" sz="800" dirty="0">
                          <a:solidFill>
                            <a:srgbClr val="FF0000"/>
                          </a:solidFill>
                        </a:rPr>
                        <a:t>(since V1.8.0)</a:t>
                      </a:r>
                      <a:endParaRPr lang="en-US" sz="800" dirty="0"/>
                    </a:p>
                  </a:txBody>
                  <a:tcPr marL="68580" marR="68580" marT="34290" marB="34290"/>
                </a:tc>
                <a:tc>
                  <a:txBody>
                    <a:bodyPr/>
                    <a:lstStyle/>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en-US" altLang="zh-TW" sz="800" dirty="0"/>
                        <a:t>Define the available l2sram memory size of the test case</a:t>
                      </a:r>
                    </a:p>
                  </a:txBody>
                  <a:tcPr marL="68580" marR="68580" marT="34290" marB="34290"/>
                </a:tc>
                <a:extLst>
                  <a:ext uri="{0D108BD9-81ED-4DB2-BD59-A6C34878D82A}">
                    <a16:rowId xmlns:a16="http://schemas.microsoft.com/office/drawing/2014/main" val="1292419802"/>
                  </a:ext>
                </a:extLst>
              </a:tr>
            </a:tbl>
          </a:graphicData>
        </a:graphic>
      </p:graphicFrame>
    </p:spTree>
    <p:extLst>
      <p:ext uri="{BB962C8B-B14F-4D97-AF65-F5344CB8AC3E}">
        <p14:creationId xmlns:p14="http://schemas.microsoft.com/office/powerpoint/2010/main" val="3800412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3220794-87CB-43FE-86F4-E5D1E7B66543}"/>
              </a:ext>
            </a:extLst>
          </p:cNvPr>
          <p:cNvSpPr>
            <a:spLocks noGrp="1"/>
          </p:cNvSpPr>
          <p:nvPr>
            <p:ph type="sldNum" sz="quarter" idx="4"/>
          </p:nvPr>
        </p:nvSpPr>
        <p:spPr/>
        <p:txBody>
          <a:bodyPr/>
          <a:lstStyle/>
          <a:p>
            <a:fld id="{0E646775-B2E7-47D2-938B-19843E53D65D}" type="slidenum">
              <a:rPr lang="zh-TW" altLang="en-US" smtClean="0"/>
              <a:pPr/>
              <a:t>22</a:t>
            </a:fld>
            <a:endParaRPr lang="zh-TW" altLang="en-US"/>
          </a:p>
        </p:txBody>
      </p:sp>
      <p:sp>
        <p:nvSpPr>
          <p:cNvPr id="6" name="內容版面配置區 4">
            <a:extLst>
              <a:ext uri="{FF2B5EF4-FFF2-40B4-BE49-F238E27FC236}">
                <a16:creationId xmlns:a16="http://schemas.microsoft.com/office/drawing/2014/main" id="{48C6F120-DD7D-464C-A237-9F0DCDC0DABB}"/>
              </a:ext>
            </a:extLst>
          </p:cNvPr>
          <p:cNvSpPr>
            <a:spLocks noGrp="1"/>
          </p:cNvSpPr>
          <p:nvPr>
            <p:ph sz="quarter" idx="10"/>
          </p:nvPr>
        </p:nvSpPr>
        <p:spPr/>
        <p:txBody>
          <a:bodyPr>
            <a:normAutofit/>
          </a:bodyPr>
          <a:lstStyle/>
          <a:p>
            <a:r>
              <a:rPr lang="en-US" sz="1200" dirty="0"/>
              <a:t>Config the test case with 3rd party library's capability.</a:t>
            </a:r>
          </a:p>
          <a:p>
            <a:r>
              <a:rPr lang="en-US" sz="1200" dirty="0"/>
              <a:t>If the library supports multiple input/output devices, 3rd party should extend the config list.</a:t>
            </a:r>
          </a:p>
          <a:p>
            <a:r>
              <a:rPr lang="en-US" altLang="zh-TW" sz="1200" dirty="0"/>
              <a:t>Mind that since V1.8.0, </a:t>
            </a:r>
            <a:r>
              <a:rPr lang="en-US" altLang="zh-TW" sz="1200" dirty="0" err="1"/>
              <a:t>audio_device_t</a:t>
            </a:r>
            <a:r>
              <a:rPr lang="en-US" altLang="zh-TW" sz="1200" dirty="0"/>
              <a:t> changed to an array type, and each array item represents only one device.</a:t>
            </a:r>
          </a:p>
        </p:txBody>
      </p:sp>
      <p:sp>
        <p:nvSpPr>
          <p:cNvPr id="2" name="標題 1">
            <a:extLst>
              <a:ext uri="{FF2B5EF4-FFF2-40B4-BE49-F238E27FC236}">
                <a16:creationId xmlns:a16="http://schemas.microsoft.com/office/drawing/2014/main" id="{5BEC7944-C7A5-4B88-9FCA-66922D822462}"/>
              </a:ext>
            </a:extLst>
          </p:cNvPr>
          <p:cNvSpPr>
            <a:spLocks noGrp="1"/>
          </p:cNvSpPr>
          <p:nvPr>
            <p:ph type="title"/>
          </p:nvPr>
        </p:nvSpPr>
        <p:spPr/>
        <p:txBody>
          <a:bodyPr>
            <a:normAutofit/>
          </a:bodyPr>
          <a:lstStyle/>
          <a:p>
            <a:r>
              <a:rPr lang="en-US" altLang="zh-TW" dirty="0" err="1"/>
              <a:t>device_config.h</a:t>
            </a:r>
            <a:endParaRPr lang="zh-TW" altLang="en-US" dirty="0"/>
          </a:p>
        </p:txBody>
      </p:sp>
      <p:pic>
        <p:nvPicPr>
          <p:cNvPr id="8" name="圖片 7">
            <a:extLst>
              <a:ext uri="{FF2B5EF4-FFF2-40B4-BE49-F238E27FC236}">
                <a16:creationId xmlns:a16="http://schemas.microsoft.com/office/drawing/2014/main" id="{51B829AF-25F6-43BC-8D4D-D6C309BDD3E5}"/>
              </a:ext>
            </a:extLst>
          </p:cNvPr>
          <p:cNvPicPr>
            <a:picLocks noChangeAspect="1"/>
          </p:cNvPicPr>
          <p:nvPr/>
        </p:nvPicPr>
        <p:blipFill>
          <a:blip r:embed="rId2"/>
          <a:stretch>
            <a:fillRect/>
          </a:stretch>
        </p:blipFill>
        <p:spPr>
          <a:xfrm>
            <a:off x="1817694" y="2301720"/>
            <a:ext cx="4833156" cy="2028853"/>
          </a:xfrm>
          <a:prstGeom prst="rect">
            <a:avLst/>
          </a:prstGeom>
        </p:spPr>
      </p:pic>
      <p:sp>
        <p:nvSpPr>
          <p:cNvPr id="9" name="矩形 8">
            <a:extLst>
              <a:ext uri="{FF2B5EF4-FFF2-40B4-BE49-F238E27FC236}">
                <a16:creationId xmlns:a16="http://schemas.microsoft.com/office/drawing/2014/main" id="{DD6E9109-FEC1-44A6-ACA6-7AAB773FF2B6}"/>
              </a:ext>
            </a:extLst>
          </p:cNvPr>
          <p:cNvSpPr/>
          <p:nvPr/>
        </p:nvSpPr>
        <p:spPr>
          <a:xfrm>
            <a:off x="2195736" y="3142441"/>
            <a:ext cx="3618402" cy="362726"/>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347578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439653" y="1221601"/>
            <a:ext cx="6222206" cy="3078956"/>
          </a:xfrm>
          <a:prstGeom prst="rect">
            <a:avLst/>
          </a:prstGeom>
          <a:noFill/>
          <a:ln w="9525">
            <a:noFill/>
            <a:miter lim="800000"/>
            <a:headEnd/>
            <a:tailEnd/>
          </a:ln>
        </p:spPr>
      </p:pic>
      <p:sp>
        <p:nvSpPr>
          <p:cNvPr id="3" name="投影片編號版面配置區 2">
            <a:extLst>
              <a:ext uri="{FF2B5EF4-FFF2-40B4-BE49-F238E27FC236}">
                <a16:creationId xmlns:a16="http://schemas.microsoft.com/office/drawing/2014/main" id="{06D218BF-68F4-4F65-985E-D5B966774376}"/>
              </a:ext>
            </a:extLst>
          </p:cNvPr>
          <p:cNvSpPr>
            <a:spLocks noGrp="1"/>
          </p:cNvSpPr>
          <p:nvPr>
            <p:ph type="sldNum" sz="quarter" idx="4"/>
          </p:nvPr>
        </p:nvSpPr>
        <p:spPr/>
        <p:txBody>
          <a:bodyPr/>
          <a:lstStyle/>
          <a:p>
            <a:fld id="{0E646775-B2E7-47D2-938B-19843E53D65D}" type="slidenum">
              <a:rPr lang="zh-TW" altLang="en-US" smtClean="0"/>
              <a:pPr/>
              <a:t>23</a:t>
            </a:fld>
            <a:endParaRPr lang="zh-TW" altLang="en-US"/>
          </a:p>
        </p:txBody>
      </p:sp>
      <p:sp>
        <p:nvSpPr>
          <p:cNvPr id="2" name="標題 1"/>
          <p:cNvSpPr>
            <a:spLocks noGrp="1"/>
          </p:cNvSpPr>
          <p:nvPr>
            <p:ph type="title"/>
          </p:nvPr>
        </p:nvSpPr>
        <p:spPr/>
        <p:txBody>
          <a:bodyPr/>
          <a:lstStyle/>
          <a:p>
            <a:r>
              <a:rPr lang="en-US" dirty="0"/>
              <a:t>Update </a:t>
            </a:r>
            <a:r>
              <a:rPr lang="en-US" dirty="0" err="1"/>
              <a:t>Makefile</a:t>
            </a:r>
            <a:endParaRPr lang="en-US" dirty="0"/>
          </a:p>
        </p:txBody>
      </p:sp>
      <p:sp>
        <p:nvSpPr>
          <p:cNvPr id="5" name="圓角矩形圖說文字 4"/>
          <p:cNvSpPr/>
          <p:nvPr/>
        </p:nvSpPr>
        <p:spPr>
          <a:xfrm>
            <a:off x="4193958" y="843558"/>
            <a:ext cx="1782198" cy="297468"/>
          </a:xfrm>
          <a:prstGeom prst="wedgeRoundRectCallout">
            <a:avLst>
              <a:gd name="adj1" fmla="val -48156"/>
              <a:gd name="adj2" fmla="val 800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900" dirty="0">
                <a:solidFill>
                  <a:schemeClr val="tx1"/>
                </a:solidFill>
              </a:rPr>
              <a:t>If you add new source files, please update OBJECTS variable</a:t>
            </a:r>
            <a:endParaRPr lang="en-US" sz="900" dirty="0">
              <a:solidFill>
                <a:schemeClr val="tx1"/>
              </a:solidFill>
            </a:endParaRPr>
          </a:p>
        </p:txBody>
      </p:sp>
      <p:sp>
        <p:nvSpPr>
          <p:cNvPr id="6" name="圓角矩形圖說文字 5"/>
          <p:cNvSpPr/>
          <p:nvPr/>
        </p:nvSpPr>
        <p:spPr>
          <a:xfrm>
            <a:off x="4301970" y="1761660"/>
            <a:ext cx="2322258" cy="378042"/>
          </a:xfrm>
          <a:prstGeom prst="wedgeRoundRectCallout">
            <a:avLst>
              <a:gd name="adj1" fmla="val -62273"/>
              <a:gd name="adj2" fmla="val -63824"/>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TW" sz="900" dirty="0">
                <a:solidFill>
                  <a:schemeClr val="tx1"/>
                </a:solidFill>
              </a:rPr>
              <a:t>If the target environment support file I/O,</a:t>
            </a:r>
          </a:p>
          <a:p>
            <a:r>
              <a:rPr lang="en-US" sz="900" dirty="0">
                <a:solidFill>
                  <a:schemeClr val="tx1"/>
                </a:solidFill>
              </a:rPr>
              <a:t>You can specify the pcm input/output path</a:t>
            </a:r>
          </a:p>
        </p:txBody>
      </p:sp>
      <p:sp>
        <p:nvSpPr>
          <p:cNvPr id="7" name="圓角矩形圖說文字 6"/>
          <p:cNvSpPr/>
          <p:nvPr/>
        </p:nvSpPr>
        <p:spPr>
          <a:xfrm>
            <a:off x="5058054" y="1329612"/>
            <a:ext cx="1782198" cy="297468"/>
          </a:xfrm>
          <a:prstGeom prst="wedgeRoundRectCallout">
            <a:avLst>
              <a:gd name="adj1" fmla="val -60983"/>
              <a:gd name="adj2" fmla="val -31204"/>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900" dirty="0">
                <a:solidFill>
                  <a:schemeClr val="tx1"/>
                </a:solidFill>
              </a:rPr>
              <a:t>If you add new header files, please update HEADERS variable</a:t>
            </a:r>
            <a:endParaRPr lang="en-US" sz="900" dirty="0">
              <a:solidFill>
                <a:schemeClr val="tx1"/>
              </a:solidFill>
            </a:endParaRPr>
          </a:p>
        </p:txBody>
      </p:sp>
      <p:sp>
        <p:nvSpPr>
          <p:cNvPr id="8" name="文字方塊 7"/>
          <p:cNvSpPr txBox="1"/>
          <p:nvPr/>
        </p:nvSpPr>
        <p:spPr>
          <a:xfrm>
            <a:off x="1439652" y="944601"/>
            <a:ext cx="2404056" cy="300082"/>
          </a:xfrm>
          <a:prstGeom prst="rect">
            <a:avLst/>
          </a:prstGeom>
          <a:noFill/>
        </p:spPr>
        <p:txBody>
          <a:bodyPr wrap="none" rtlCol="0">
            <a:spAutoFit/>
          </a:bodyPr>
          <a:lstStyle/>
          <a:p>
            <a:r>
              <a:rPr lang="en-US" sz="1350" dirty="0"/>
              <a:t>API/V1.x.x/</a:t>
            </a:r>
            <a:r>
              <a:rPr lang="en-US" sz="1350" dirty="0" err="1"/>
              <a:t>lib_verifier</a:t>
            </a:r>
            <a:r>
              <a:rPr lang="en-US" sz="1350" dirty="0"/>
              <a:t>/</a:t>
            </a:r>
            <a:r>
              <a:rPr lang="en-US" sz="1350" dirty="0" err="1"/>
              <a:t>makefile</a:t>
            </a:r>
            <a:endParaRPr lang="en-US" sz="13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817694" y="1059583"/>
            <a:ext cx="3456384" cy="1770758"/>
          </a:xfrm>
          <a:prstGeom prst="rect">
            <a:avLst/>
          </a:prstGeom>
          <a:noFill/>
          <a:ln w="9525">
            <a:noFill/>
            <a:miter lim="800000"/>
            <a:headEnd/>
            <a:tailEnd/>
          </a:ln>
        </p:spPr>
      </p:pic>
      <p:sp>
        <p:nvSpPr>
          <p:cNvPr id="3" name="投影片編號版面配置區 2">
            <a:extLst>
              <a:ext uri="{FF2B5EF4-FFF2-40B4-BE49-F238E27FC236}">
                <a16:creationId xmlns:a16="http://schemas.microsoft.com/office/drawing/2014/main" id="{5C3BC703-0CD3-4811-80A2-90E5066A1969}"/>
              </a:ext>
            </a:extLst>
          </p:cNvPr>
          <p:cNvSpPr>
            <a:spLocks noGrp="1"/>
          </p:cNvSpPr>
          <p:nvPr>
            <p:ph type="sldNum" sz="quarter" idx="4"/>
          </p:nvPr>
        </p:nvSpPr>
        <p:spPr/>
        <p:txBody>
          <a:bodyPr/>
          <a:lstStyle/>
          <a:p>
            <a:fld id="{0E646775-B2E7-47D2-938B-19843E53D65D}" type="slidenum">
              <a:rPr lang="zh-TW" altLang="en-US" smtClean="0"/>
              <a:pPr/>
              <a:t>24</a:t>
            </a:fld>
            <a:endParaRPr lang="zh-TW" altLang="en-US"/>
          </a:p>
        </p:txBody>
      </p:sp>
      <p:sp>
        <p:nvSpPr>
          <p:cNvPr id="2" name="標題 1"/>
          <p:cNvSpPr>
            <a:spLocks noGrp="1"/>
          </p:cNvSpPr>
          <p:nvPr>
            <p:ph type="title"/>
          </p:nvPr>
        </p:nvSpPr>
        <p:spPr/>
        <p:txBody>
          <a:bodyPr/>
          <a:lstStyle/>
          <a:p>
            <a:r>
              <a:rPr lang="en-US" dirty="0"/>
              <a:t>Update Android.mk</a:t>
            </a:r>
          </a:p>
        </p:txBody>
      </p:sp>
      <p:sp>
        <p:nvSpPr>
          <p:cNvPr id="5" name="圓角矩形圖說文字 4"/>
          <p:cNvSpPr/>
          <p:nvPr/>
        </p:nvSpPr>
        <p:spPr>
          <a:xfrm>
            <a:off x="2951820" y="1059582"/>
            <a:ext cx="2131380" cy="297468"/>
          </a:xfrm>
          <a:prstGeom prst="wedgeRoundRectCallout">
            <a:avLst>
              <a:gd name="adj1" fmla="val -49215"/>
              <a:gd name="adj2" fmla="val 7372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900" dirty="0">
                <a:solidFill>
                  <a:schemeClr val="tx1"/>
                </a:solidFill>
              </a:rPr>
              <a:t>If you add new source file, please update LOCAL_SRC_FILES variable</a:t>
            </a:r>
            <a:endParaRPr lang="en-US" sz="900" dirty="0">
              <a:solidFill>
                <a:schemeClr val="tx1"/>
              </a:solidFill>
            </a:endParaRPr>
          </a:p>
        </p:txBody>
      </p:sp>
      <p:sp>
        <p:nvSpPr>
          <p:cNvPr id="6" name="圓角矩形圖說文字 5"/>
          <p:cNvSpPr/>
          <p:nvPr/>
        </p:nvSpPr>
        <p:spPr>
          <a:xfrm>
            <a:off x="3761910" y="1815666"/>
            <a:ext cx="2214246" cy="378042"/>
          </a:xfrm>
          <a:prstGeom prst="wedgeRoundRectCallout">
            <a:avLst>
              <a:gd name="adj1" fmla="val -63480"/>
              <a:gd name="adj2" fmla="val -3150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TW" sz="900" dirty="0">
                <a:solidFill>
                  <a:schemeClr val="tx1"/>
                </a:solidFill>
              </a:rPr>
              <a:t>If the target environment support file I/O,</a:t>
            </a:r>
          </a:p>
          <a:p>
            <a:r>
              <a:rPr lang="en-US" sz="900" dirty="0">
                <a:solidFill>
                  <a:schemeClr val="tx1"/>
                </a:solidFill>
              </a:rPr>
              <a:t>You can specify the pcm input/output path</a:t>
            </a:r>
          </a:p>
        </p:txBody>
      </p:sp>
      <p:sp>
        <p:nvSpPr>
          <p:cNvPr id="7" name="文字方塊 6"/>
          <p:cNvSpPr txBox="1"/>
          <p:nvPr/>
        </p:nvSpPr>
        <p:spPr>
          <a:xfrm>
            <a:off x="1763688" y="789552"/>
            <a:ext cx="2650790" cy="300082"/>
          </a:xfrm>
          <a:prstGeom prst="rect">
            <a:avLst/>
          </a:prstGeom>
          <a:noFill/>
        </p:spPr>
        <p:txBody>
          <a:bodyPr wrap="none" rtlCol="0">
            <a:spAutoFit/>
          </a:bodyPr>
          <a:lstStyle/>
          <a:p>
            <a:r>
              <a:rPr lang="en-US" sz="1350" dirty="0"/>
              <a:t>API/V1.X.X/</a:t>
            </a:r>
            <a:r>
              <a:rPr lang="en-US" sz="1350" dirty="0" err="1"/>
              <a:t>lib_verifier</a:t>
            </a:r>
            <a:r>
              <a:rPr lang="en-US" sz="1350" dirty="0"/>
              <a:t>/Android.mk</a:t>
            </a:r>
          </a:p>
        </p:txBody>
      </p:sp>
      <p:sp>
        <p:nvSpPr>
          <p:cNvPr id="8" name="文字方塊 7"/>
          <p:cNvSpPr txBox="1"/>
          <p:nvPr/>
        </p:nvSpPr>
        <p:spPr>
          <a:xfrm>
            <a:off x="1763688" y="2841780"/>
            <a:ext cx="2950680" cy="300082"/>
          </a:xfrm>
          <a:prstGeom prst="rect">
            <a:avLst/>
          </a:prstGeom>
          <a:noFill/>
        </p:spPr>
        <p:txBody>
          <a:bodyPr wrap="none" rtlCol="0">
            <a:spAutoFit/>
          </a:bodyPr>
          <a:lstStyle/>
          <a:p>
            <a:r>
              <a:rPr lang="en-US" sz="1350" dirty="0"/>
              <a:t>API/V1.X.X/</a:t>
            </a:r>
            <a:r>
              <a:rPr lang="en-US" sz="1350" dirty="0" err="1"/>
              <a:t>libaurisysdemo</a:t>
            </a:r>
            <a:r>
              <a:rPr lang="en-US" sz="1350" dirty="0"/>
              <a:t>/Android.mk</a:t>
            </a:r>
          </a:p>
        </p:txBody>
      </p:sp>
      <p:pic>
        <p:nvPicPr>
          <p:cNvPr id="2051" name="Picture 3"/>
          <p:cNvPicPr>
            <a:picLocks noChangeAspect="1" noChangeArrowheads="1"/>
          </p:cNvPicPr>
          <p:nvPr/>
        </p:nvPicPr>
        <p:blipFill>
          <a:blip r:embed="rId3" cstate="print"/>
          <a:srcRect/>
          <a:stretch>
            <a:fillRect/>
          </a:stretch>
        </p:blipFill>
        <p:spPr bwMode="auto">
          <a:xfrm>
            <a:off x="1817694" y="3079989"/>
            <a:ext cx="2106234" cy="2063512"/>
          </a:xfrm>
          <a:prstGeom prst="rect">
            <a:avLst/>
          </a:prstGeom>
          <a:noFill/>
          <a:ln w="9525">
            <a:noFill/>
            <a:miter lim="800000"/>
            <a:headEnd/>
            <a:tailEnd/>
          </a:ln>
        </p:spPr>
      </p:pic>
      <p:sp>
        <p:nvSpPr>
          <p:cNvPr id="10" name="圓角矩形圖說文字 9"/>
          <p:cNvSpPr/>
          <p:nvPr/>
        </p:nvSpPr>
        <p:spPr>
          <a:xfrm>
            <a:off x="2573778" y="4029912"/>
            <a:ext cx="2286222" cy="297468"/>
          </a:xfrm>
          <a:prstGeom prst="wedgeRoundRectCallout">
            <a:avLst>
              <a:gd name="adj1" fmla="val -48156"/>
              <a:gd name="adj2" fmla="val 800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900" dirty="0">
                <a:solidFill>
                  <a:schemeClr val="tx1"/>
                </a:solidFill>
              </a:rPr>
              <a:t>If you add new source file, please update LOCAL_SRC_FILES variable</a:t>
            </a:r>
            <a:endParaRPr lang="en-US" sz="9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p:cNvPicPr>
            <a:picLocks noChangeAspect="1" noChangeArrowheads="1"/>
          </p:cNvPicPr>
          <p:nvPr/>
        </p:nvPicPr>
        <p:blipFill>
          <a:blip r:embed="rId2" cstate="print"/>
          <a:srcRect/>
          <a:stretch>
            <a:fillRect/>
          </a:stretch>
        </p:blipFill>
        <p:spPr bwMode="auto">
          <a:xfrm>
            <a:off x="1817694" y="2971131"/>
            <a:ext cx="5454606" cy="1258249"/>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1817694" y="1353293"/>
            <a:ext cx="5724636" cy="1459572"/>
          </a:xfrm>
          <a:prstGeom prst="rect">
            <a:avLst/>
          </a:prstGeom>
          <a:noFill/>
          <a:ln w="9525">
            <a:noFill/>
            <a:miter lim="800000"/>
            <a:headEnd/>
            <a:tailEnd/>
          </a:ln>
        </p:spPr>
      </p:pic>
      <p:sp>
        <p:nvSpPr>
          <p:cNvPr id="3" name="投影片編號版面配置區 2">
            <a:extLst>
              <a:ext uri="{FF2B5EF4-FFF2-40B4-BE49-F238E27FC236}">
                <a16:creationId xmlns:a16="http://schemas.microsoft.com/office/drawing/2014/main" id="{581ADC45-CF2B-4E02-A48A-983CF1D8536C}"/>
              </a:ext>
            </a:extLst>
          </p:cNvPr>
          <p:cNvSpPr>
            <a:spLocks noGrp="1"/>
          </p:cNvSpPr>
          <p:nvPr>
            <p:ph type="sldNum" sz="quarter" idx="4"/>
          </p:nvPr>
        </p:nvSpPr>
        <p:spPr/>
        <p:txBody>
          <a:bodyPr/>
          <a:lstStyle/>
          <a:p>
            <a:fld id="{0E646775-B2E7-47D2-938B-19843E53D65D}" type="slidenum">
              <a:rPr lang="zh-TW" altLang="en-US" smtClean="0"/>
              <a:pPr/>
              <a:t>25</a:t>
            </a:fld>
            <a:endParaRPr lang="zh-TW" altLang="en-US"/>
          </a:p>
        </p:txBody>
      </p:sp>
      <p:sp>
        <p:nvSpPr>
          <p:cNvPr id="5" name="內容版面配置區 4"/>
          <p:cNvSpPr>
            <a:spLocks noGrp="1"/>
          </p:cNvSpPr>
          <p:nvPr>
            <p:ph sz="quarter" idx="10"/>
          </p:nvPr>
        </p:nvSpPr>
        <p:spPr/>
        <p:txBody>
          <a:bodyPr/>
          <a:lstStyle/>
          <a:p>
            <a:r>
              <a:rPr lang="en-US" dirty="0"/>
              <a:t>Below are the test result example</a:t>
            </a:r>
          </a:p>
        </p:txBody>
      </p:sp>
      <p:sp>
        <p:nvSpPr>
          <p:cNvPr id="2" name="標題 1"/>
          <p:cNvSpPr>
            <a:spLocks noGrp="1"/>
          </p:cNvSpPr>
          <p:nvPr>
            <p:ph type="title"/>
          </p:nvPr>
        </p:nvSpPr>
        <p:spPr/>
        <p:txBody>
          <a:bodyPr/>
          <a:lstStyle/>
          <a:p>
            <a:r>
              <a:rPr lang="en-US" dirty="0"/>
              <a:t>Check Test Result – Pass Case</a:t>
            </a:r>
          </a:p>
        </p:txBody>
      </p:sp>
      <p:sp>
        <p:nvSpPr>
          <p:cNvPr id="6" name="矩形 5"/>
          <p:cNvSpPr/>
          <p:nvPr/>
        </p:nvSpPr>
        <p:spPr>
          <a:xfrm>
            <a:off x="1817694" y="1367061"/>
            <a:ext cx="3780420" cy="972108"/>
          </a:xfrm>
          <a:prstGeom prst="rect">
            <a:avLst/>
          </a:prstGeom>
          <a:noFill/>
          <a:ln w="158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圓角矩形圖說文字 6"/>
          <p:cNvSpPr/>
          <p:nvPr/>
        </p:nvSpPr>
        <p:spPr>
          <a:xfrm>
            <a:off x="5868144" y="1745103"/>
            <a:ext cx="1404156" cy="189456"/>
          </a:xfrm>
          <a:prstGeom prst="wedgeRoundRectCallout">
            <a:avLst>
              <a:gd name="adj1" fmla="val -66746"/>
              <a:gd name="adj2" fmla="val 1985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Test case information</a:t>
            </a:r>
          </a:p>
        </p:txBody>
      </p:sp>
      <p:sp>
        <p:nvSpPr>
          <p:cNvPr id="9" name="左大括弧 8"/>
          <p:cNvSpPr/>
          <p:nvPr/>
        </p:nvSpPr>
        <p:spPr>
          <a:xfrm>
            <a:off x="1655676" y="2339169"/>
            <a:ext cx="108012" cy="156617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10" name="文字方塊 9"/>
          <p:cNvSpPr txBox="1"/>
          <p:nvPr/>
        </p:nvSpPr>
        <p:spPr>
          <a:xfrm>
            <a:off x="1197006" y="2879229"/>
            <a:ext cx="566682" cy="507831"/>
          </a:xfrm>
          <a:prstGeom prst="rect">
            <a:avLst/>
          </a:prstGeom>
          <a:noFill/>
        </p:spPr>
        <p:txBody>
          <a:bodyPr wrap="square" rtlCol="0">
            <a:spAutoFit/>
          </a:bodyPr>
          <a:lstStyle/>
          <a:p>
            <a:r>
              <a:rPr lang="en-US" sz="900" dirty="0"/>
              <a:t>3</a:t>
            </a:r>
            <a:r>
              <a:rPr lang="en-US" sz="900" baseline="30000" dirty="0"/>
              <a:t>rd</a:t>
            </a:r>
            <a:r>
              <a:rPr lang="en-US" sz="900" dirty="0"/>
              <a:t> party lib log</a:t>
            </a:r>
          </a:p>
        </p:txBody>
      </p:sp>
      <p:sp>
        <p:nvSpPr>
          <p:cNvPr id="11" name="矩形 10"/>
          <p:cNvSpPr/>
          <p:nvPr/>
        </p:nvSpPr>
        <p:spPr>
          <a:xfrm>
            <a:off x="1817694" y="4013355"/>
            <a:ext cx="1620180" cy="108012"/>
          </a:xfrm>
          <a:prstGeom prst="rect">
            <a:avLst/>
          </a:prstGeom>
          <a:noFill/>
          <a:ln w="158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2" name="圓角矩形圖說文字 11"/>
          <p:cNvSpPr/>
          <p:nvPr/>
        </p:nvSpPr>
        <p:spPr>
          <a:xfrm>
            <a:off x="3761910" y="3959349"/>
            <a:ext cx="1242138" cy="189456"/>
          </a:xfrm>
          <a:prstGeom prst="wedgeRoundRectCallout">
            <a:avLst>
              <a:gd name="adj1" fmla="val -73485"/>
              <a:gd name="adj2" fmla="val 951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Test result: PASS</a:t>
            </a:r>
          </a:p>
        </p:txBody>
      </p:sp>
      <p:sp>
        <p:nvSpPr>
          <p:cNvPr id="13" name="圓角矩形圖說文字 12"/>
          <p:cNvSpPr/>
          <p:nvPr/>
        </p:nvSpPr>
        <p:spPr>
          <a:xfrm>
            <a:off x="2897814" y="4299942"/>
            <a:ext cx="1296144" cy="216024"/>
          </a:xfrm>
          <a:prstGeom prst="wedgeRoundRectCallout">
            <a:avLst>
              <a:gd name="adj1" fmla="val -34613"/>
              <a:gd name="adj2" fmla="val -12649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It’s 23</a:t>
            </a:r>
            <a:r>
              <a:rPr lang="en-US" sz="900" baseline="30000" dirty="0">
                <a:solidFill>
                  <a:schemeClr val="tx1"/>
                </a:solidFill>
              </a:rPr>
              <a:t>th</a:t>
            </a:r>
            <a:r>
              <a:rPr lang="en-US" sz="900" dirty="0">
                <a:solidFill>
                  <a:schemeClr val="tx1"/>
                </a:solidFill>
              </a:rPr>
              <a:t> VOIP test case</a:t>
            </a:r>
          </a:p>
        </p:txBody>
      </p:sp>
      <p:sp>
        <p:nvSpPr>
          <p:cNvPr id="14" name="圓角矩形圖說文字 13"/>
          <p:cNvSpPr/>
          <p:nvPr/>
        </p:nvSpPr>
        <p:spPr>
          <a:xfrm>
            <a:off x="1439652" y="4299942"/>
            <a:ext cx="1350150" cy="216024"/>
          </a:xfrm>
          <a:prstGeom prst="wedgeRoundRectCallout">
            <a:avLst>
              <a:gd name="adj1" fmla="val 29707"/>
              <a:gd name="adj2" fmla="val -13156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It’s 533</a:t>
            </a:r>
            <a:r>
              <a:rPr lang="en-US" sz="900" baseline="30000" dirty="0">
                <a:solidFill>
                  <a:schemeClr val="tx1"/>
                </a:solidFill>
              </a:rPr>
              <a:t>th</a:t>
            </a:r>
            <a:r>
              <a:rPr lang="en-US" sz="900" dirty="0">
                <a:solidFill>
                  <a:schemeClr val="tx1"/>
                </a:solidFill>
              </a:rPr>
              <a:t> total test case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3045934" y="2726799"/>
            <a:ext cx="1096903" cy="300082"/>
          </a:xfrm>
          <a:prstGeom prst="rect">
            <a:avLst/>
          </a:prstGeom>
          <a:solidFill>
            <a:schemeClr val="bg1"/>
          </a:solidFill>
        </p:spPr>
        <p:txBody>
          <a:bodyPr wrap="none" rtlCol="0">
            <a:spAutoFit/>
          </a:bodyPr>
          <a:lstStyle/>
          <a:p>
            <a:r>
              <a:rPr lang="en-US" sz="1350" dirty="0"/>
              <a:t>Lib_verifier.h</a:t>
            </a:r>
          </a:p>
        </p:txBody>
      </p:sp>
      <p:pic>
        <p:nvPicPr>
          <p:cNvPr id="7170" name="Picture 2"/>
          <p:cNvPicPr>
            <a:picLocks noChangeAspect="1" noChangeArrowheads="1"/>
          </p:cNvPicPr>
          <p:nvPr/>
        </p:nvPicPr>
        <p:blipFill>
          <a:blip r:embed="rId2" cstate="print"/>
          <a:srcRect/>
          <a:stretch>
            <a:fillRect/>
          </a:stretch>
        </p:blipFill>
        <p:spPr bwMode="auto">
          <a:xfrm>
            <a:off x="1709682" y="897564"/>
            <a:ext cx="5772113" cy="1604111"/>
          </a:xfrm>
          <a:prstGeom prst="rect">
            <a:avLst/>
          </a:prstGeom>
          <a:noFill/>
          <a:ln w="9525">
            <a:noFill/>
            <a:miter lim="800000"/>
            <a:headEnd/>
            <a:tailEnd/>
          </a:ln>
        </p:spPr>
      </p:pic>
      <p:sp>
        <p:nvSpPr>
          <p:cNvPr id="3" name="投影片編號版面配置區 2">
            <a:extLst>
              <a:ext uri="{FF2B5EF4-FFF2-40B4-BE49-F238E27FC236}">
                <a16:creationId xmlns:a16="http://schemas.microsoft.com/office/drawing/2014/main" id="{87C42842-1E5F-40D5-BFB5-2F446836BE81}"/>
              </a:ext>
            </a:extLst>
          </p:cNvPr>
          <p:cNvSpPr>
            <a:spLocks noGrp="1"/>
          </p:cNvSpPr>
          <p:nvPr>
            <p:ph type="sldNum" sz="quarter" idx="4"/>
          </p:nvPr>
        </p:nvSpPr>
        <p:spPr/>
        <p:txBody>
          <a:bodyPr/>
          <a:lstStyle/>
          <a:p>
            <a:fld id="{0E646775-B2E7-47D2-938B-19843E53D65D}" type="slidenum">
              <a:rPr lang="zh-TW" altLang="en-US" smtClean="0"/>
              <a:pPr/>
              <a:t>26</a:t>
            </a:fld>
            <a:endParaRPr lang="zh-TW" altLang="en-US"/>
          </a:p>
        </p:txBody>
      </p:sp>
      <p:sp>
        <p:nvSpPr>
          <p:cNvPr id="4" name="內容版面配置區 3">
            <a:extLst>
              <a:ext uri="{FF2B5EF4-FFF2-40B4-BE49-F238E27FC236}">
                <a16:creationId xmlns:a16="http://schemas.microsoft.com/office/drawing/2014/main" id="{B72B457C-7E6B-43A4-A373-AE8D6C795608}"/>
              </a:ext>
            </a:extLst>
          </p:cNvPr>
          <p:cNvSpPr>
            <a:spLocks noGrp="1"/>
          </p:cNvSpPr>
          <p:nvPr>
            <p:ph sz="quarter" idx="10"/>
          </p:nvPr>
        </p:nvSpPr>
        <p:spPr/>
        <p:txBody>
          <a:bodyPr/>
          <a:lstStyle/>
          <a:p>
            <a:endParaRPr lang="zh-TW" altLang="en-US"/>
          </a:p>
        </p:txBody>
      </p:sp>
      <p:sp>
        <p:nvSpPr>
          <p:cNvPr id="2" name="標題 1"/>
          <p:cNvSpPr>
            <a:spLocks noGrp="1"/>
          </p:cNvSpPr>
          <p:nvPr>
            <p:ph type="title"/>
          </p:nvPr>
        </p:nvSpPr>
        <p:spPr/>
        <p:txBody>
          <a:bodyPr/>
          <a:lstStyle/>
          <a:p>
            <a:r>
              <a:rPr lang="en-US" dirty="0"/>
              <a:t>Check Test Result – Failure Case</a:t>
            </a:r>
          </a:p>
        </p:txBody>
      </p:sp>
      <p:sp>
        <p:nvSpPr>
          <p:cNvPr id="6" name="矩形 5"/>
          <p:cNvSpPr/>
          <p:nvPr/>
        </p:nvSpPr>
        <p:spPr>
          <a:xfrm>
            <a:off x="1709682" y="1977684"/>
            <a:ext cx="5778642" cy="216024"/>
          </a:xfrm>
          <a:prstGeom prst="rect">
            <a:avLst/>
          </a:prstGeom>
          <a:noFill/>
          <a:ln w="158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圓角矩形圖說文字 6"/>
          <p:cNvSpPr/>
          <p:nvPr/>
        </p:nvSpPr>
        <p:spPr>
          <a:xfrm>
            <a:off x="5436096" y="1653648"/>
            <a:ext cx="1350150" cy="189456"/>
          </a:xfrm>
          <a:prstGeom prst="wedgeRoundRectCallout">
            <a:avLst>
              <a:gd name="adj1" fmla="val -44720"/>
              <a:gd name="adj2" fmla="val 11567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Error message</a:t>
            </a:r>
          </a:p>
        </p:txBody>
      </p:sp>
      <p:sp>
        <p:nvSpPr>
          <p:cNvPr id="11" name="矩形 10"/>
          <p:cNvSpPr/>
          <p:nvPr/>
        </p:nvSpPr>
        <p:spPr>
          <a:xfrm>
            <a:off x="1709682" y="2301720"/>
            <a:ext cx="2214246" cy="108012"/>
          </a:xfrm>
          <a:prstGeom prst="rect">
            <a:avLst/>
          </a:prstGeom>
          <a:noFill/>
          <a:ln w="158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7171" name="Picture 3"/>
          <p:cNvPicPr>
            <a:picLocks noChangeAspect="1" noChangeArrowheads="1"/>
          </p:cNvPicPr>
          <p:nvPr/>
        </p:nvPicPr>
        <p:blipFill>
          <a:blip r:embed="rId3" cstate="print"/>
          <a:srcRect/>
          <a:stretch>
            <a:fillRect/>
          </a:stretch>
        </p:blipFill>
        <p:spPr bwMode="auto">
          <a:xfrm>
            <a:off x="3014563" y="3013273"/>
            <a:ext cx="1395419" cy="1664711"/>
          </a:xfrm>
          <a:prstGeom prst="rect">
            <a:avLst/>
          </a:prstGeom>
          <a:noFill/>
          <a:ln w="9525">
            <a:noFill/>
            <a:miter lim="800000"/>
            <a:headEnd/>
            <a:tailEnd/>
          </a:ln>
        </p:spPr>
      </p:pic>
      <p:cxnSp>
        <p:nvCxnSpPr>
          <p:cNvPr id="19" name="直線單箭頭接點 18"/>
          <p:cNvCxnSpPr>
            <a:endCxn id="17" idx="0"/>
          </p:cNvCxnSpPr>
          <p:nvPr/>
        </p:nvCxnSpPr>
        <p:spPr>
          <a:xfrm flipH="1">
            <a:off x="3594386" y="2409732"/>
            <a:ext cx="221531" cy="31706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0" name="矩形 19"/>
          <p:cNvSpPr/>
          <p:nvPr/>
        </p:nvSpPr>
        <p:spPr>
          <a:xfrm>
            <a:off x="3176581" y="3175292"/>
            <a:ext cx="702078" cy="108012"/>
          </a:xfrm>
          <a:prstGeom prst="rect">
            <a:avLst/>
          </a:prstGeom>
          <a:noFill/>
          <a:ln w="158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7172" name="Picture 4"/>
          <p:cNvPicPr>
            <a:picLocks noChangeAspect="1" noChangeArrowheads="1"/>
          </p:cNvPicPr>
          <p:nvPr/>
        </p:nvPicPr>
        <p:blipFill>
          <a:blip r:embed="rId4" cstate="print"/>
          <a:srcRect/>
          <a:stretch>
            <a:fillRect/>
          </a:stretch>
        </p:blipFill>
        <p:spPr bwMode="auto">
          <a:xfrm>
            <a:off x="4572000" y="2949792"/>
            <a:ext cx="2711221" cy="1616388"/>
          </a:xfrm>
          <a:prstGeom prst="rect">
            <a:avLst/>
          </a:prstGeom>
          <a:noFill/>
          <a:ln w="9525">
            <a:noFill/>
            <a:miter lim="800000"/>
            <a:headEnd/>
            <a:tailEnd/>
          </a:ln>
        </p:spPr>
      </p:pic>
      <p:sp>
        <p:nvSpPr>
          <p:cNvPr id="24" name="文字方塊 23"/>
          <p:cNvSpPr txBox="1"/>
          <p:nvPr/>
        </p:nvSpPr>
        <p:spPr>
          <a:xfrm>
            <a:off x="4570139" y="2679762"/>
            <a:ext cx="966931" cy="300082"/>
          </a:xfrm>
          <a:prstGeom prst="rect">
            <a:avLst/>
          </a:prstGeom>
          <a:solidFill>
            <a:schemeClr val="bg1"/>
          </a:solidFill>
        </p:spPr>
        <p:txBody>
          <a:bodyPr wrap="none" rtlCol="0">
            <a:spAutoFit/>
          </a:bodyPr>
          <a:lstStyle/>
          <a:p>
            <a:r>
              <a:rPr lang="en-US" sz="1350" dirty="0" err="1"/>
              <a:t>demo_lib.c</a:t>
            </a:r>
            <a:endParaRPr lang="en-US" sz="1350" dirty="0"/>
          </a:p>
        </p:txBody>
      </p:sp>
      <p:cxnSp>
        <p:nvCxnSpPr>
          <p:cNvPr id="26" name="直線單箭頭接點 25"/>
          <p:cNvCxnSpPr/>
          <p:nvPr/>
        </p:nvCxnSpPr>
        <p:spPr>
          <a:xfrm>
            <a:off x="5814138" y="2085696"/>
            <a:ext cx="162018" cy="11881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矩形 30"/>
          <p:cNvSpPr/>
          <p:nvPr/>
        </p:nvSpPr>
        <p:spPr>
          <a:xfrm>
            <a:off x="4517994" y="3273828"/>
            <a:ext cx="2808312" cy="108012"/>
          </a:xfrm>
          <a:prstGeom prst="rect">
            <a:avLst/>
          </a:prstGeom>
          <a:noFill/>
          <a:ln w="158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3" name="圓角矩形圖說文字 32"/>
          <p:cNvSpPr/>
          <p:nvPr/>
        </p:nvSpPr>
        <p:spPr>
          <a:xfrm>
            <a:off x="6786246" y="2949792"/>
            <a:ext cx="972108" cy="189456"/>
          </a:xfrm>
          <a:prstGeom prst="wedgeRoundRectCallout">
            <a:avLst>
              <a:gd name="adj1" fmla="val -44720"/>
              <a:gd name="adj2" fmla="val 11567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Root cause</a:t>
            </a:r>
          </a:p>
        </p:txBody>
      </p:sp>
      <p:sp>
        <p:nvSpPr>
          <p:cNvPr id="34" name="圓角矩形圖說文字 33"/>
          <p:cNvSpPr/>
          <p:nvPr/>
        </p:nvSpPr>
        <p:spPr>
          <a:xfrm>
            <a:off x="1655676" y="2625756"/>
            <a:ext cx="1242138" cy="189456"/>
          </a:xfrm>
          <a:prstGeom prst="wedgeRoundRectCallout">
            <a:avLst>
              <a:gd name="adj1" fmla="val 75910"/>
              <a:gd name="adj2" fmla="val -16793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dirty="0">
                <a:solidFill>
                  <a:schemeClr val="tx1"/>
                </a:solidFill>
              </a:rPr>
              <a:t>Test result: Fail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dirty="0"/>
              <a:t>Lib dump parser</a:t>
            </a:r>
          </a:p>
        </p:txBody>
      </p:sp>
      <p:sp>
        <p:nvSpPr>
          <p:cNvPr id="5" name="文字版面配置區 4"/>
          <p:cNvSpPr>
            <a:spLocks noGrp="1"/>
          </p:cNvSpPr>
          <p:nvPr>
            <p:ph type="body" idx="1"/>
          </p:nvPr>
        </p:nvSpPr>
        <p:spPr/>
        <p:txBody>
          <a:bodyPr/>
          <a:lstStyle/>
          <a:p>
            <a:endParaRPr lang="en-US"/>
          </a:p>
        </p:txBody>
      </p:sp>
      <p:sp>
        <p:nvSpPr>
          <p:cNvPr id="2" name="投影片編號版面配置區 1">
            <a:extLst>
              <a:ext uri="{FF2B5EF4-FFF2-40B4-BE49-F238E27FC236}">
                <a16:creationId xmlns:a16="http://schemas.microsoft.com/office/drawing/2014/main" id="{B9FAADC9-49AB-4558-8A36-7312EB72BD15}"/>
              </a:ext>
            </a:extLst>
          </p:cNvPr>
          <p:cNvSpPr>
            <a:spLocks noGrp="1"/>
          </p:cNvSpPr>
          <p:nvPr>
            <p:ph type="sldNum" sz="quarter" idx="12"/>
          </p:nvPr>
        </p:nvSpPr>
        <p:spPr/>
        <p:txBody>
          <a:bodyPr/>
          <a:lstStyle/>
          <a:p>
            <a:fld id="{0E646775-B2E7-47D2-938B-19843E53D65D}"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D4CB4A1-64D9-4056-8C99-D3DF817A207F}"/>
              </a:ext>
            </a:extLst>
          </p:cNvPr>
          <p:cNvSpPr>
            <a:spLocks noGrp="1"/>
          </p:cNvSpPr>
          <p:nvPr>
            <p:ph type="sldNum" sz="quarter" idx="4"/>
          </p:nvPr>
        </p:nvSpPr>
        <p:spPr/>
        <p:txBody>
          <a:bodyPr/>
          <a:lstStyle/>
          <a:p>
            <a:fld id="{0E646775-B2E7-47D2-938B-19843E53D65D}" type="slidenum">
              <a:rPr lang="zh-TW" altLang="en-US" smtClean="0"/>
              <a:pPr/>
              <a:t>28</a:t>
            </a:fld>
            <a:endParaRPr lang="zh-TW" altLang="en-US"/>
          </a:p>
        </p:txBody>
      </p:sp>
      <p:sp>
        <p:nvSpPr>
          <p:cNvPr id="5" name="內容版面配置區 4"/>
          <p:cNvSpPr>
            <a:spLocks noGrp="1"/>
          </p:cNvSpPr>
          <p:nvPr>
            <p:ph sz="quarter" idx="10"/>
          </p:nvPr>
        </p:nvSpPr>
        <p:spPr/>
        <p:txBody>
          <a:bodyPr>
            <a:normAutofit/>
          </a:bodyPr>
          <a:lstStyle/>
          <a:p>
            <a:r>
              <a:rPr lang="en-US" sz="1800" dirty="0"/>
              <a:t>Lib dump is designed for 3</a:t>
            </a:r>
            <a:r>
              <a:rPr lang="en-US" sz="1800" baseline="30000" dirty="0"/>
              <a:t>rd</a:t>
            </a:r>
            <a:r>
              <a:rPr lang="en-US" sz="1800" dirty="0"/>
              <a:t> party dumping their debug information while signal processing</a:t>
            </a:r>
          </a:p>
          <a:p>
            <a:pPr lvl="1"/>
            <a:r>
              <a:rPr lang="en-US" sz="1500" dirty="0"/>
              <a:t>Customer can provide the lib dump file to 3</a:t>
            </a:r>
            <a:r>
              <a:rPr lang="en-US" sz="1500" baseline="30000" dirty="0"/>
              <a:t>rd</a:t>
            </a:r>
            <a:r>
              <a:rPr lang="en-US" sz="1500" dirty="0"/>
              <a:t> party for trouble shooting</a:t>
            </a:r>
          </a:p>
          <a:p>
            <a:pPr lvl="1"/>
            <a:r>
              <a:rPr lang="en-US" sz="1500" dirty="0"/>
              <a:t>Strongly recommend 3</a:t>
            </a:r>
            <a:r>
              <a:rPr lang="en-US" sz="1500" baseline="30000" dirty="0"/>
              <a:t>rd</a:t>
            </a:r>
            <a:r>
              <a:rPr lang="en-US" sz="1500" dirty="0"/>
              <a:t> party implement it</a:t>
            </a:r>
          </a:p>
          <a:p>
            <a:r>
              <a:rPr lang="en-US" sz="1800" dirty="0"/>
              <a:t>Lib dump parser is a reference implementation for parsing the lib dump file on Linux</a:t>
            </a:r>
          </a:p>
          <a:p>
            <a:pPr lvl="1"/>
            <a:r>
              <a:rPr lang="en-US" sz="1500" dirty="0"/>
              <a:t>Compile</a:t>
            </a:r>
          </a:p>
          <a:p>
            <a:pPr lvl="2"/>
            <a:r>
              <a:rPr lang="en-US" dirty="0" err="1"/>
              <a:t>cd</a:t>
            </a:r>
            <a:r>
              <a:rPr lang="en-US" dirty="0"/>
              <a:t> API/</a:t>
            </a:r>
            <a:r>
              <a:rPr lang="en-US" dirty="0" err="1"/>
              <a:t>Vx.x.x</a:t>
            </a:r>
            <a:r>
              <a:rPr lang="en-US" dirty="0"/>
              <a:t>/</a:t>
            </a:r>
            <a:r>
              <a:rPr lang="en-US" dirty="0" err="1"/>
              <a:t>lib_dump_parser</a:t>
            </a:r>
            <a:endParaRPr lang="en-US" dirty="0"/>
          </a:p>
          <a:p>
            <a:pPr lvl="2"/>
            <a:r>
              <a:rPr lang="en-US" dirty="0"/>
              <a:t>make</a:t>
            </a:r>
          </a:p>
          <a:p>
            <a:pPr lvl="1"/>
            <a:r>
              <a:rPr lang="en-US" sz="1500" dirty="0"/>
              <a:t>Run</a:t>
            </a:r>
          </a:p>
          <a:p>
            <a:pPr lvl="2"/>
            <a:r>
              <a:rPr lang="en-US" dirty="0"/>
              <a:t>./</a:t>
            </a:r>
            <a:r>
              <a:rPr lang="en-US" dirty="0" err="1"/>
              <a:t>demo_decode_dump</a:t>
            </a:r>
            <a:r>
              <a:rPr lang="en-US" dirty="0"/>
              <a:t> ../lib_verifier/pcm/Lib_dump.dat</a:t>
            </a:r>
          </a:p>
        </p:txBody>
      </p:sp>
      <p:sp>
        <p:nvSpPr>
          <p:cNvPr id="4" name="標題 3"/>
          <p:cNvSpPr>
            <a:spLocks noGrp="1"/>
          </p:cNvSpPr>
          <p:nvPr>
            <p:ph type="title"/>
          </p:nvPr>
        </p:nvSpPr>
        <p:spPr/>
        <p:txBody>
          <a:bodyPr/>
          <a:lstStyle/>
          <a:p>
            <a:r>
              <a:rPr lang="en-US" dirty="0"/>
              <a:t>Compile &amp; Run Lib Dump Parser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a:t>
            </a:r>
            <a:r>
              <a:rPr lang="en-US" altLang="zh-TW" baseline="30000" dirty="0"/>
              <a:t>rd</a:t>
            </a:r>
            <a:r>
              <a:rPr lang="en-US" altLang="zh-TW" dirty="0"/>
              <a:t> party release to mtk</a:t>
            </a:r>
            <a:endParaRPr lang="en-US" dirty="0"/>
          </a:p>
        </p:txBody>
      </p:sp>
      <p:sp>
        <p:nvSpPr>
          <p:cNvPr id="4" name="文字版面配置區 3"/>
          <p:cNvSpPr>
            <a:spLocks noGrp="1"/>
          </p:cNvSpPr>
          <p:nvPr>
            <p:ph type="body" idx="1"/>
          </p:nvPr>
        </p:nvSpPr>
        <p:spPr/>
        <p:txBody>
          <a:bodyPr/>
          <a:lstStyle/>
          <a:p>
            <a:endParaRPr lang="en-US"/>
          </a:p>
        </p:txBody>
      </p:sp>
      <p:sp>
        <p:nvSpPr>
          <p:cNvPr id="3" name="投影片編號版面配置區 2">
            <a:extLst>
              <a:ext uri="{FF2B5EF4-FFF2-40B4-BE49-F238E27FC236}">
                <a16:creationId xmlns:a16="http://schemas.microsoft.com/office/drawing/2014/main" id="{04C5AA7F-6CCD-4102-8AF6-63944669B90A}"/>
              </a:ext>
            </a:extLst>
          </p:cNvPr>
          <p:cNvSpPr>
            <a:spLocks noGrp="1"/>
          </p:cNvSpPr>
          <p:nvPr>
            <p:ph type="sldNum" sz="quarter" idx="12"/>
          </p:nvPr>
        </p:nvSpPr>
        <p:spPr/>
        <p:txBody>
          <a:bodyPr/>
          <a:lstStyle/>
          <a:p>
            <a:fld id="{0E646775-B2E7-47D2-938B-19843E53D65D}"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E614AB3-7458-4436-937C-8F77880BE80C}"/>
              </a:ext>
            </a:extLst>
          </p:cNvPr>
          <p:cNvSpPr>
            <a:spLocks noGrp="1"/>
          </p:cNvSpPr>
          <p:nvPr>
            <p:ph type="sldNum" sz="quarter" idx="4"/>
          </p:nvPr>
        </p:nvSpPr>
        <p:spPr/>
        <p:txBody>
          <a:bodyPr/>
          <a:lstStyle/>
          <a:p>
            <a:fld id="{0E646775-B2E7-47D2-938B-19843E53D65D}" type="slidenum">
              <a:rPr lang="zh-TW" altLang="en-US" smtClean="0"/>
              <a:pPr/>
              <a:t>30</a:t>
            </a:fld>
            <a:endParaRPr lang="zh-TW" altLang="en-US"/>
          </a:p>
        </p:txBody>
      </p:sp>
      <p:sp>
        <p:nvSpPr>
          <p:cNvPr id="5" name="內容版面配置區 4"/>
          <p:cNvSpPr>
            <a:spLocks noGrp="1"/>
          </p:cNvSpPr>
          <p:nvPr>
            <p:ph sz="quarter" idx="10"/>
          </p:nvPr>
        </p:nvSpPr>
        <p:spPr/>
        <p:txBody>
          <a:bodyPr>
            <a:normAutofit/>
          </a:bodyPr>
          <a:lstStyle/>
          <a:p>
            <a:r>
              <a:rPr lang="en-US" sz="1800" dirty="0"/>
              <a:t>3</a:t>
            </a:r>
            <a:r>
              <a:rPr lang="en-US" sz="1800" baseline="30000" dirty="0"/>
              <a:t>rd</a:t>
            </a:r>
            <a:r>
              <a:rPr lang="en-US" sz="1800" dirty="0"/>
              <a:t> party release aurisys lib to MTK MUST contain below files</a:t>
            </a:r>
          </a:p>
          <a:p>
            <a:pPr marL="728663" lvl="1" indent="-385763">
              <a:buFont typeface="+mj-lt"/>
              <a:buAutoNum type="arabicPeriod"/>
            </a:pPr>
            <a:r>
              <a:rPr lang="en-US" sz="1500" dirty="0"/>
              <a:t>The 3</a:t>
            </a:r>
            <a:r>
              <a:rPr lang="en-US" sz="1500" baseline="30000" dirty="0"/>
              <a:t>rd</a:t>
            </a:r>
            <a:r>
              <a:rPr lang="en-US" sz="1500" dirty="0"/>
              <a:t> party library &amp; aurisys wrapper</a:t>
            </a:r>
          </a:p>
          <a:p>
            <a:pPr marL="728663" lvl="1" indent="-385763">
              <a:buFont typeface="+mj-lt"/>
              <a:buAutoNum type="arabicPeriod"/>
            </a:pPr>
            <a:r>
              <a:rPr lang="en-US" sz="1500" dirty="0"/>
              <a:t>The parameter file that library needed</a:t>
            </a:r>
          </a:p>
          <a:p>
            <a:pPr marL="728663" lvl="1" indent="-385763">
              <a:buFont typeface="+mj-lt"/>
              <a:buAutoNum type="arabicPeriod"/>
            </a:pPr>
            <a:r>
              <a:rPr lang="en-US" sz="1500" dirty="0"/>
              <a:t>aurisys_config.xml</a:t>
            </a:r>
          </a:p>
          <a:p>
            <a:pPr marL="1028700" lvl="2" indent="-342900"/>
            <a:r>
              <a:rPr lang="en-US" sz="1350" dirty="0"/>
              <a:t>Please refer to the “XML Descriptor for Aurisys” section in Aurisys_Development_Tutorial.doc</a:t>
            </a:r>
          </a:p>
          <a:p>
            <a:pPr marL="1028700" lvl="2" indent="-342900"/>
            <a:r>
              <a:rPr lang="en-US" sz="1350" dirty="0"/>
              <a:t>This xml configuration must match the test case configuration of lib verifier</a:t>
            </a:r>
          </a:p>
          <a:p>
            <a:pPr marL="728663" lvl="1" indent="-385763">
              <a:buFont typeface="+mj-lt"/>
              <a:buAutoNum type="arabicPeriod"/>
            </a:pPr>
            <a:r>
              <a:rPr lang="en-US" sz="1500" dirty="0"/>
              <a:t>The lib verifier package which 3</a:t>
            </a:r>
            <a:r>
              <a:rPr lang="en-US" sz="1500" baseline="30000" dirty="0"/>
              <a:t>rd</a:t>
            </a:r>
            <a:r>
              <a:rPr lang="en-US" sz="1500" dirty="0"/>
              <a:t> party used</a:t>
            </a:r>
          </a:p>
          <a:p>
            <a:pPr marL="1028700" lvl="2" indent="-342900"/>
            <a:r>
              <a:rPr lang="en-US" sz="1350" dirty="0"/>
              <a:t>MTK have to review if there is any invalid modification</a:t>
            </a:r>
          </a:p>
          <a:p>
            <a:pPr marL="771525" lvl="1" indent="-385763">
              <a:buFont typeface="+mj-lt"/>
              <a:buAutoNum type="arabicPeriod"/>
            </a:pPr>
            <a:r>
              <a:rPr lang="en-US" sz="1500" dirty="0"/>
              <a:t>The output log of lib verifier</a:t>
            </a:r>
          </a:p>
          <a:p>
            <a:pPr marL="1028700" lvl="2" indent="-342900"/>
            <a:r>
              <a:rPr lang="en-US" sz="1350" dirty="0"/>
              <a:t>Confirm that 3</a:t>
            </a:r>
            <a:r>
              <a:rPr lang="en-US" sz="1350" baseline="30000" dirty="0"/>
              <a:t>rd</a:t>
            </a:r>
            <a:r>
              <a:rPr lang="en-US" sz="1350" dirty="0"/>
              <a:t> party lib can pass all verifier test</a:t>
            </a:r>
          </a:p>
        </p:txBody>
      </p:sp>
      <p:sp>
        <p:nvSpPr>
          <p:cNvPr id="4" name="標題 3"/>
          <p:cNvSpPr>
            <a:spLocks noGrp="1"/>
          </p:cNvSpPr>
          <p:nvPr>
            <p:ph type="title"/>
          </p:nvPr>
        </p:nvSpPr>
        <p:spPr/>
        <p:txBody>
          <a:bodyPr/>
          <a:lstStyle/>
          <a:p>
            <a:r>
              <a:rPr lang="en-US" dirty="0"/>
              <a:t>Release Packages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dirty="0"/>
              <a:t>appendix</a:t>
            </a:r>
          </a:p>
        </p:txBody>
      </p:sp>
      <p:sp>
        <p:nvSpPr>
          <p:cNvPr id="7" name="文字版面配置區 6"/>
          <p:cNvSpPr>
            <a:spLocks noGrp="1"/>
          </p:cNvSpPr>
          <p:nvPr>
            <p:ph type="body" idx="1"/>
          </p:nvPr>
        </p:nvSpPr>
        <p:spPr/>
        <p:txBody>
          <a:bodyPr/>
          <a:lstStyle/>
          <a:p>
            <a:endParaRPr lang="en-US"/>
          </a:p>
        </p:txBody>
      </p:sp>
      <p:sp>
        <p:nvSpPr>
          <p:cNvPr id="2" name="投影片編號版面配置區 1">
            <a:extLst>
              <a:ext uri="{FF2B5EF4-FFF2-40B4-BE49-F238E27FC236}">
                <a16:creationId xmlns:a16="http://schemas.microsoft.com/office/drawing/2014/main" id="{3500E09E-3B9A-47FF-8AA9-DD58A7D92488}"/>
              </a:ext>
            </a:extLst>
          </p:cNvPr>
          <p:cNvSpPr>
            <a:spLocks noGrp="1"/>
          </p:cNvSpPr>
          <p:nvPr>
            <p:ph type="sldNum" sz="quarter" idx="12"/>
          </p:nvPr>
        </p:nvSpPr>
        <p:spPr/>
        <p:txBody>
          <a:bodyPr/>
          <a:lstStyle/>
          <a:p>
            <a:fld id="{0E646775-B2E7-47D2-938B-19843E53D65D}"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2966BDA-176C-463A-9C0C-47890837D687}"/>
              </a:ext>
            </a:extLst>
          </p:cNvPr>
          <p:cNvSpPr>
            <a:spLocks noGrp="1"/>
          </p:cNvSpPr>
          <p:nvPr>
            <p:ph type="sldNum" sz="quarter" idx="4"/>
          </p:nvPr>
        </p:nvSpPr>
        <p:spPr/>
        <p:txBody>
          <a:bodyPr/>
          <a:lstStyle/>
          <a:p>
            <a:fld id="{0E646775-B2E7-47D2-938B-19843E53D65D}" type="slidenum">
              <a:rPr lang="zh-TW" altLang="en-US" smtClean="0"/>
              <a:pPr/>
              <a:t>32</a:t>
            </a:fld>
            <a:endParaRPr lang="zh-TW" altLang="en-US"/>
          </a:p>
        </p:txBody>
      </p:sp>
      <p:sp>
        <p:nvSpPr>
          <p:cNvPr id="3" name="內容版面配置區 2"/>
          <p:cNvSpPr>
            <a:spLocks noGrp="1"/>
          </p:cNvSpPr>
          <p:nvPr>
            <p:ph sz="quarter" idx="10"/>
          </p:nvPr>
        </p:nvSpPr>
        <p:spPr/>
        <p:txBody>
          <a:bodyPr>
            <a:normAutofit fontScale="85000" lnSpcReduction="20000"/>
          </a:bodyPr>
          <a:lstStyle/>
          <a:p>
            <a:r>
              <a:rPr lang="en-US" altLang="zh-TW" sz="1500" dirty="0">
                <a:solidFill>
                  <a:srgbClr val="FF0000"/>
                </a:solidFill>
              </a:rPr>
              <a:t>DO NOT</a:t>
            </a:r>
            <a:r>
              <a:rPr lang="en-US" altLang="zh-TW" sz="1500" dirty="0"/>
              <a:t> edit files in interface/</a:t>
            </a:r>
          </a:p>
          <a:p>
            <a:pPr lvl="1"/>
            <a:r>
              <a:rPr lang="en-US" altLang="zh-TW" sz="1050" dirty="0" err="1"/>
              <a:t>arsi_api.h</a:t>
            </a:r>
            <a:endParaRPr lang="en-US" altLang="zh-TW" sz="1050" dirty="0"/>
          </a:p>
          <a:p>
            <a:pPr lvl="1"/>
            <a:r>
              <a:rPr lang="en-US" altLang="zh-TW" sz="1050" dirty="0" err="1"/>
              <a:t>arsi_api_version.h</a:t>
            </a:r>
            <a:endParaRPr lang="en-US" altLang="zh-TW" sz="1050" dirty="0"/>
          </a:p>
          <a:p>
            <a:pPr lvl="1"/>
            <a:r>
              <a:rPr lang="en-US" altLang="zh-TW" sz="1050" dirty="0" err="1"/>
              <a:t>arsi_call_type.h</a:t>
            </a:r>
            <a:endParaRPr lang="en-US" altLang="zh-TW" sz="1050" dirty="0"/>
          </a:p>
          <a:p>
            <a:pPr lvl="1"/>
            <a:r>
              <a:rPr lang="en-US" altLang="zh-TW" sz="1050" dirty="0" err="1"/>
              <a:t>arsi_type.h</a:t>
            </a:r>
            <a:endParaRPr lang="en-US" altLang="zh-TW" sz="1050" dirty="0"/>
          </a:p>
          <a:p>
            <a:pPr lvl="1"/>
            <a:r>
              <a:rPr lang="en-US" altLang="zh-TW" sz="1050" dirty="0" err="1"/>
              <a:t>audio_task.h</a:t>
            </a:r>
            <a:endParaRPr lang="en-US" altLang="zh-TW" sz="1050" dirty="0"/>
          </a:p>
          <a:p>
            <a:pPr lvl="1"/>
            <a:r>
              <a:rPr lang="en-US" altLang="zh-TW" sz="1050" dirty="0" err="1"/>
              <a:t>wrapped_audio.h</a:t>
            </a:r>
            <a:endParaRPr lang="en-US" altLang="zh-TW" sz="1050" dirty="0"/>
          </a:p>
          <a:p>
            <a:pPr lvl="1"/>
            <a:r>
              <a:rPr lang="en-US" altLang="zh-TW" sz="1050" dirty="0" err="1"/>
              <a:t>wrapped_errors.h</a:t>
            </a:r>
            <a:endParaRPr lang="en-US" altLang="zh-TW" sz="1050" dirty="0"/>
          </a:p>
          <a:p>
            <a:r>
              <a:rPr lang="en-US" altLang="zh-TW" sz="1500" dirty="0"/>
              <a:t>except</a:t>
            </a:r>
          </a:p>
          <a:p>
            <a:pPr lvl="1"/>
            <a:r>
              <a:rPr lang="en-US" altLang="zh-TW" sz="1050" dirty="0" err="1"/>
              <a:t>arsi_library_entry_points.h</a:t>
            </a:r>
            <a:endParaRPr lang="en-US" altLang="zh-TW" sz="1050" dirty="0"/>
          </a:p>
          <a:p>
            <a:pPr lvl="1"/>
            <a:endParaRPr lang="en-US" altLang="zh-TW" sz="1050" dirty="0"/>
          </a:p>
          <a:p>
            <a:pPr lvl="1"/>
            <a:endParaRPr lang="en-US" altLang="zh-TW" sz="1050" dirty="0"/>
          </a:p>
          <a:p>
            <a:pPr lvl="1"/>
            <a:endParaRPr lang="en-US" altLang="zh-TW" sz="1050" dirty="0"/>
          </a:p>
          <a:p>
            <a:pPr lvl="1"/>
            <a:endParaRPr lang="en-US" altLang="zh-TW" sz="1050" dirty="0"/>
          </a:p>
          <a:p>
            <a:pPr lvl="1"/>
            <a:endParaRPr lang="en-US" altLang="zh-TW" sz="1050" dirty="0"/>
          </a:p>
          <a:p>
            <a:pPr lvl="1"/>
            <a:endParaRPr lang="en-US" altLang="zh-TW" sz="1050" dirty="0"/>
          </a:p>
          <a:p>
            <a:pPr lvl="2"/>
            <a:r>
              <a:rPr lang="en-US" altLang="zh-TW" sz="1050" dirty="0"/>
              <a:t>Please notify </a:t>
            </a:r>
            <a:r>
              <a:rPr lang="en-US" altLang="zh-TW" sz="1050" dirty="0" err="1"/>
              <a:t>MediaTek</a:t>
            </a:r>
            <a:r>
              <a:rPr lang="en-US" altLang="zh-TW" sz="1050" dirty="0"/>
              <a:t> SWRD if you want to change this file</a:t>
            </a:r>
            <a:endParaRPr lang="en-US" altLang="zh-TW" sz="1500" dirty="0"/>
          </a:p>
          <a:p>
            <a:endParaRPr lang="zh-TW" altLang="en-US" sz="1500" dirty="0"/>
          </a:p>
        </p:txBody>
      </p:sp>
      <p:sp>
        <p:nvSpPr>
          <p:cNvPr id="2" name="標題 1"/>
          <p:cNvSpPr>
            <a:spLocks noGrp="1"/>
          </p:cNvSpPr>
          <p:nvPr>
            <p:ph type="title"/>
          </p:nvPr>
        </p:nvSpPr>
        <p:spPr/>
        <p:txBody>
          <a:bodyPr/>
          <a:lstStyle/>
          <a:p>
            <a:r>
              <a:rPr lang="en-US" altLang="zh-TW" dirty="0"/>
              <a:t>NEVER Change API Files!!</a:t>
            </a:r>
            <a:endParaRPr lang="zh-TW" altLang="en-US" dirty="0"/>
          </a:p>
        </p:txBody>
      </p:sp>
      <p:pic>
        <p:nvPicPr>
          <p:cNvPr id="5" name="圖片 4"/>
          <p:cNvPicPr>
            <a:picLocks noChangeAspect="1"/>
          </p:cNvPicPr>
          <p:nvPr/>
        </p:nvPicPr>
        <p:blipFill>
          <a:blip r:embed="rId2" cstate="print"/>
          <a:stretch>
            <a:fillRect/>
          </a:stretch>
        </p:blipFill>
        <p:spPr>
          <a:xfrm>
            <a:off x="2323992" y="3335536"/>
            <a:ext cx="4121944" cy="9644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97DEF50-F1AD-4393-9FEA-E0E645797669}"/>
              </a:ext>
            </a:extLst>
          </p:cNvPr>
          <p:cNvSpPr>
            <a:spLocks noGrp="1"/>
          </p:cNvSpPr>
          <p:nvPr>
            <p:ph type="sldNum" sz="quarter" idx="4"/>
          </p:nvPr>
        </p:nvSpPr>
        <p:spPr/>
        <p:txBody>
          <a:bodyPr/>
          <a:lstStyle/>
          <a:p>
            <a:fld id="{0E646775-B2E7-47D2-938B-19843E53D65D}" type="slidenum">
              <a:rPr lang="zh-TW" altLang="en-US" smtClean="0"/>
              <a:pPr/>
              <a:t>33</a:t>
            </a:fld>
            <a:endParaRPr lang="zh-TW" altLang="en-US"/>
          </a:p>
        </p:txBody>
      </p:sp>
      <p:sp>
        <p:nvSpPr>
          <p:cNvPr id="4" name="標題 3"/>
          <p:cNvSpPr>
            <a:spLocks noGrp="1"/>
          </p:cNvSpPr>
          <p:nvPr>
            <p:ph type="title"/>
          </p:nvPr>
        </p:nvSpPr>
        <p:spPr/>
        <p:txBody>
          <a:bodyPr/>
          <a:lstStyle/>
          <a:p>
            <a:r>
              <a:rPr lang="en-US" altLang="zh-TW" dirty="0"/>
              <a:t>Entry points – Dynamic Link (HAL)</a:t>
            </a:r>
            <a:endParaRPr lang="zh-TW" altLang="en-US" dirty="0"/>
          </a:p>
        </p:txBody>
      </p:sp>
      <p:sp>
        <p:nvSpPr>
          <p:cNvPr id="6" name="矩形 5"/>
          <p:cNvSpPr/>
          <p:nvPr/>
        </p:nvSpPr>
        <p:spPr>
          <a:xfrm>
            <a:off x="1601670" y="1599642"/>
            <a:ext cx="2916324"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500" dirty="0" err="1"/>
              <a:t>dynamic_link_arsi_assign_lib_fp</a:t>
            </a:r>
            <a:endParaRPr lang="en-US" altLang="zh-TW" sz="1500" dirty="0"/>
          </a:p>
        </p:txBody>
      </p:sp>
      <p:sp>
        <p:nvSpPr>
          <p:cNvPr id="7" name="矩形 6"/>
          <p:cNvSpPr/>
          <p:nvPr/>
        </p:nvSpPr>
        <p:spPr>
          <a:xfrm>
            <a:off x="1521042" y="3219822"/>
            <a:ext cx="1592796"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200" dirty="0"/>
              <a:t>lib_demo.so</a:t>
            </a:r>
          </a:p>
        </p:txBody>
      </p:sp>
      <p:sp>
        <p:nvSpPr>
          <p:cNvPr id="10" name="文字方塊 9"/>
          <p:cNvSpPr txBox="1"/>
          <p:nvPr/>
        </p:nvSpPr>
        <p:spPr>
          <a:xfrm>
            <a:off x="1143000" y="2355726"/>
            <a:ext cx="417102" cy="300082"/>
          </a:xfrm>
          <a:prstGeom prst="rect">
            <a:avLst/>
          </a:prstGeom>
          <a:noFill/>
        </p:spPr>
        <p:txBody>
          <a:bodyPr wrap="none" rtlCol="0">
            <a:spAutoFit/>
          </a:bodyPr>
          <a:lstStyle/>
          <a:p>
            <a:r>
              <a:rPr lang="en-US" altLang="zh-TW" sz="1350" dirty="0"/>
              <a:t>API</a:t>
            </a:r>
            <a:endParaRPr lang="zh-TW" altLang="en-US" sz="1350" dirty="0"/>
          </a:p>
        </p:txBody>
      </p:sp>
      <p:cxnSp>
        <p:nvCxnSpPr>
          <p:cNvPr id="12" name="直線接點 11"/>
          <p:cNvCxnSpPr/>
          <p:nvPr/>
        </p:nvCxnSpPr>
        <p:spPr>
          <a:xfrm>
            <a:off x="1143000" y="2679762"/>
            <a:ext cx="6858000" cy="0"/>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1143000" y="2733768"/>
            <a:ext cx="1388201" cy="300082"/>
          </a:xfrm>
          <a:prstGeom prst="rect">
            <a:avLst/>
          </a:prstGeom>
          <a:noFill/>
        </p:spPr>
        <p:txBody>
          <a:bodyPr wrap="none" rtlCol="0">
            <a:spAutoFit/>
          </a:bodyPr>
          <a:lstStyle/>
          <a:p>
            <a:r>
              <a:rPr lang="en-US" altLang="zh-TW" sz="1350" dirty="0"/>
              <a:t>3</a:t>
            </a:r>
            <a:r>
              <a:rPr lang="en-US" altLang="zh-TW" sz="1350" baseline="30000" dirty="0"/>
              <a:t>rd</a:t>
            </a:r>
            <a:r>
              <a:rPr lang="en-US" altLang="zh-TW" sz="1350" dirty="0"/>
              <a:t> party libraries</a:t>
            </a:r>
            <a:endParaRPr lang="zh-TW" altLang="en-US" sz="1350" dirty="0"/>
          </a:p>
        </p:txBody>
      </p:sp>
      <p:sp>
        <p:nvSpPr>
          <p:cNvPr id="14" name="矩形 13"/>
          <p:cNvSpPr/>
          <p:nvPr/>
        </p:nvSpPr>
        <p:spPr>
          <a:xfrm>
            <a:off x="3241933" y="3219822"/>
            <a:ext cx="1013975"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200" dirty="0"/>
              <a:t>libfvaudio.so</a:t>
            </a:r>
          </a:p>
        </p:txBody>
      </p:sp>
      <p:sp>
        <p:nvSpPr>
          <p:cNvPr id="15" name="矩形 14"/>
          <p:cNvSpPr/>
          <p:nvPr/>
        </p:nvSpPr>
        <p:spPr>
          <a:xfrm>
            <a:off x="4409982" y="3219822"/>
            <a:ext cx="656016"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200" dirty="0"/>
              <a:t>lib_iir.so</a:t>
            </a:r>
            <a:endParaRPr lang="en-US" altLang="zh-TW" sz="1500" dirty="0"/>
          </a:p>
        </p:txBody>
      </p:sp>
      <p:cxnSp>
        <p:nvCxnSpPr>
          <p:cNvPr id="17" name="直線單箭頭接點 16"/>
          <p:cNvCxnSpPr/>
          <p:nvPr/>
        </p:nvCxnSpPr>
        <p:spPr>
          <a:xfrm flipV="1">
            <a:off x="2681791" y="2546914"/>
            <a:ext cx="2256113" cy="7269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3599892" y="2561214"/>
            <a:ext cx="1350150" cy="735892"/>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21" name="直線單箭頭接點 20"/>
          <p:cNvCxnSpPr/>
          <p:nvPr/>
        </p:nvCxnSpPr>
        <p:spPr>
          <a:xfrm flipV="1">
            <a:off x="4517994" y="2494226"/>
            <a:ext cx="486054" cy="817179"/>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sp>
        <p:nvSpPr>
          <p:cNvPr id="16" name="矩形 15"/>
          <p:cNvSpPr/>
          <p:nvPr/>
        </p:nvSpPr>
        <p:spPr>
          <a:xfrm>
            <a:off x="1601670" y="1059582"/>
            <a:ext cx="1080120" cy="37804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350" dirty="0"/>
              <a:t>user</a:t>
            </a:r>
            <a:endParaRPr lang="zh-TW" altLang="en-US" sz="1350" dirty="0"/>
          </a:p>
        </p:txBody>
      </p:sp>
      <p:cxnSp>
        <p:nvCxnSpPr>
          <p:cNvPr id="20" name="直線單箭頭接點 19"/>
          <p:cNvCxnSpPr/>
          <p:nvPr/>
        </p:nvCxnSpPr>
        <p:spPr>
          <a:xfrm>
            <a:off x="2141730" y="1383618"/>
            <a:ext cx="0" cy="39395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直線單箭頭接點 21"/>
          <p:cNvCxnSpPr/>
          <p:nvPr/>
        </p:nvCxnSpPr>
        <p:spPr>
          <a:xfrm>
            <a:off x="4355976" y="1977684"/>
            <a:ext cx="324334" cy="5165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文字方塊 23"/>
          <p:cNvSpPr txBox="1"/>
          <p:nvPr/>
        </p:nvSpPr>
        <p:spPr>
          <a:xfrm>
            <a:off x="2141730" y="1569572"/>
            <a:ext cx="644728" cy="253916"/>
          </a:xfrm>
          <a:prstGeom prst="rect">
            <a:avLst/>
          </a:prstGeom>
          <a:noFill/>
        </p:spPr>
        <p:txBody>
          <a:bodyPr wrap="none" rtlCol="0">
            <a:spAutoFit/>
          </a:bodyPr>
          <a:lstStyle/>
          <a:p>
            <a:r>
              <a:rPr lang="en-US" altLang="zh-TW" sz="1050" dirty="0" err="1"/>
              <a:t>dlopen</a:t>
            </a:r>
            <a:r>
              <a:rPr lang="en-US" altLang="zh-TW" sz="1050" dirty="0"/>
              <a:t>()</a:t>
            </a:r>
          </a:p>
        </p:txBody>
      </p:sp>
      <p:pic>
        <p:nvPicPr>
          <p:cNvPr id="2" name="圖片 1"/>
          <p:cNvPicPr>
            <a:picLocks noChangeAspect="1"/>
          </p:cNvPicPr>
          <p:nvPr/>
        </p:nvPicPr>
        <p:blipFill>
          <a:blip r:embed="rId2" cstate="print"/>
          <a:stretch>
            <a:fillRect/>
          </a:stretch>
        </p:blipFill>
        <p:spPr>
          <a:xfrm>
            <a:off x="4712129" y="982012"/>
            <a:ext cx="2810325" cy="1518443"/>
          </a:xfrm>
          <a:prstGeom prst="rect">
            <a:avLst/>
          </a:prstGeom>
        </p:spPr>
      </p:pic>
    </p:spTree>
    <p:extLst>
      <p:ext uri="{BB962C8B-B14F-4D97-AF65-F5344CB8AC3E}">
        <p14:creationId xmlns:p14="http://schemas.microsoft.com/office/powerpoint/2010/main" val="4241164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p:cNvPicPr>
            <a:picLocks noChangeAspect="1"/>
          </p:cNvPicPr>
          <p:nvPr/>
        </p:nvPicPr>
        <p:blipFill>
          <a:blip r:embed="rId2" cstate="print"/>
          <a:stretch>
            <a:fillRect/>
          </a:stretch>
        </p:blipFill>
        <p:spPr>
          <a:xfrm>
            <a:off x="4684222" y="954379"/>
            <a:ext cx="3198528" cy="1728193"/>
          </a:xfrm>
          <a:prstGeom prst="rect">
            <a:avLst/>
          </a:prstGeom>
        </p:spPr>
      </p:pic>
      <p:sp>
        <p:nvSpPr>
          <p:cNvPr id="4" name="標題 3"/>
          <p:cNvSpPr>
            <a:spLocks noGrp="1"/>
          </p:cNvSpPr>
          <p:nvPr>
            <p:ph type="title"/>
          </p:nvPr>
        </p:nvSpPr>
        <p:spPr/>
        <p:txBody>
          <a:bodyPr/>
          <a:lstStyle/>
          <a:p>
            <a:r>
              <a:rPr lang="en-US" altLang="zh-TW" dirty="0"/>
              <a:t>Entry points - Static Link(</a:t>
            </a:r>
            <a:r>
              <a:rPr lang="en-US" altLang="zh-TW" dirty="0" err="1"/>
              <a:t>FreeRTOS</a:t>
            </a:r>
            <a:r>
              <a:rPr lang="en-US" altLang="zh-TW" dirty="0"/>
              <a:t>)</a:t>
            </a:r>
            <a:endParaRPr lang="zh-TW" altLang="en-US" dirty="0"/>
          </a:p>
        </p:txBody>
      </p:sp>
      <p:sp>
        <p:nvSpPr>
          <p:cNvPr id="6" name="矩形 5"/>
          <p:cNvSpPr/>
          <p:nvPr/>
        </p:nvSpPr>
        <p:spPr>
          <a:xfrm>
            <a:off x="1601670" y="1599642"/>
            <a:ext cx="2916324"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r>
              <a:rPr lang="en-US" altLang="zh-TW" sz="1050" dirty="0" err="1"/>
              <a:t>arsi_library_entry_points.h</a:t>
            </a:r>
            <a:endParaRPr lang="en-US" altLang="zh-TW" sz="1050" dirty="0"/>
          </a:p>
          <a:p>
            <a:pPr marL="214313" lvl="1" indent="-214313">
              <a:buFont typeface="Arial" panose="020B0604020202020204" pitchFamily="34" charset="0"/>
              <a:buChar char="•"/>
            </a:pPr>
            <a:r>
              <a:rPr lang="en-US" altLang="zh-TW" sz="1050" dirty="0" err="1"/>
              <a:t>demo_arsi_assign_lib_fp</a:t>
            </a:r>
            <a:endParaRPr lang="en-US" altLang="zh-TW" sz="1050" dirty="0"/>
          </a:p>
          <a:p>
            <a:pPr marL="214313" lvl="1" indent="-214313">
              <a:buFont typeface="Arial" panose="020B0604020202020204" pitchFamily="34" charset="0"/>
              <a:buChar char="•"/>
            </a:pPr>
            <a:r>
              <a:rPr lang="en-US" altLang="zh-TW" sz="1050" dirty="0" err="1"/>
              <a:t>FV_arsi_assign_lib_fp</a:t>
            </a:r>
            <a:endParaRPr lang="en-US" altLang="zh-TW" sz="1050" dirty="0"/>
          </a:p>
          <a:p>
            <a:pPr marL="214313" lvl="1" indent="-214313">
              <a:buFont typeface="Arial" panose="020B0604020202020204" pitchFamily="34" charset="0"/>
              <a:buChar char="•"/>
            </a:pPr>
            <a:r>
              <a:rPr lang="en-US" altLang="zh-TW" sz="1050" dirty="0" err="1"/>
              <a:t>iir_arsi_assign_lib_fp</a:t>
            </a:r>
            <a:endParaRPr lang="en-US" altLang="zh-TW" sz="1050" dirty="0"/>
          </a:p>
        </p:txBody>
      </p:sp>
      <p:sp>
        <p:nvSpPr>
          <p:cNvPr id="10" name="文字方塊 9"/>
          <p:cNvSpPr txBox="1"/>
          <p:nvPr/>
        </p:nvSpPr>
        <p:spPr>
          <a:xfrm>
            <a:off x="1143000" y="2355726"/>
            <a:ext cx="417102" cy="300082"/>
          </a:xfrm>
          <a:prstGeom prst="rect">
            <a:avLst/>
          </a:prstGeom>
          <a:noFill/>
        </p:spPr>
        <p:txBody>
          <a:bodyPr wrap="none" rtlCol="0">
            <a:spAutoFit/>
          </a:bodyPr>
          <a:lstStyle/>
          <a:p>
            <a:r>
              <a:rPr lang="en-US" altLang="zh-TW" sz="1350" dirty="0"/>
              <a:t>API</a:t>
            </a:r>
            <a:endParaRPr lang="zh-TW" altLang="en-US" sz="1350" dirty="0"/>
          </a:p>
        </p:txBody>
      </p:sp>
      <p:cxnSp>
        <p:nvCxnSpPr>
          <p:cNvPr id="12" name="直線接點 11"/>
          <p:cNvCxnSpPr/>
          <p:nvPr/>
        </p:nvCxnSpPr>
        <p:spPr>
          <a:xfrm>
            <a:off x="1143000" y="2679762"/>
            <a:ext cx="6858000" cy="0"/>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1143000" y="2733768"/>
            <a:ext cx="1388201" cy="300082"/>
          </a:xfrm>
          <a:prstGeom prst="rect">
            <a:avLst/>
          </a:prstGeom>
          <a:noFill/>
        </p:spPr>
        <p:txBody>
          <a:bodyPr wrap="none" rtlCol="0">
            <a:spAutoFit/>
          </a:bodyPr>
          <a:lstStyle/>
          <a:p>
            <a:r>
              <a:rPr lang="en-US" altLang="zh-TW" sz="1350" dirty="0"/>
              <a:t>3</a:t>
            </a:r>
            <a:r>
              <a:rPr lang="en-US" altLang="zh-TW" sz="1350" baseline="30000" dirty="0"/>
              <a:t>rd</a:t>
            </a:r>
            <a:r>
              <a:rPr lang="en-US" altLang="zh-TW" sz="1350" dirty="0"/>
              <a:t> party libraries</a:t>
            </a:r>
            <a:endParaRPr lang="zh-TW" altLang="en-US" sz="1350" dirty="0"/>
          </a:p>
        </p:txBody>
      </p:sp>
      <p:cxnSp>
        <p:nvCxnSpPr>
          <p:cNvPr id="17" name="直線單箭頭接點 16"/>
          <p:cNvCxnSpPr/>
          <p:nvPr/>
        </p:nvCxnSpPr>
        <p:spPr>
          <a:xfrm flipV="1">
            <a:off x="2681790" y="1777572"/>
            <a:ext cx="1998520" cy="14962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3599892" y="1920240"/>
            <a:ext cx="1078095" cy="1376865"/>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21" name="直線單箭頭接點 20"/>
          <p:cNvCxnSpPr/>
          <p:nvPr/>
        </p:nvCxnSpPr>
        <p:spPr>
          <a:xfrm flipV="1">
            <a:off x="4517994" y="2013759"/>
            <a:ext cx="166228" cy="1297646"/>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sp>
        <p:nvSpPr>
          <p:cNvPr id="16" name="矩形 15"/>
          <p:cNvSpPr/>
          <p:nvPr/>
        </p:nvSpPr>
        <p:spPr>
          <a:xfrm>
            <a:off x="1601670" y="1059582"/>
            <a:ext cx="1080120" cy="37804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350" dirty="0"/>
              <a:t>user</a:t>
            </a:r>
            <a:endParaRPr lang="zh-TW" altLang="en-US" sz="1350" dirty="0"/>
          </a:p>
        </p:txBody>
      </p:sp>
      <p:sp>
        <p:nvSpPr>
          <p:cNvPr id="25" name="矩形 24"/>
          <p:cNvSpPr/>
          <p:nvPr/>
        </p:nvSpPr>
        <p:spPr>
          <a:xfrm>
            <a:off x="1521042" y="3219822"/>
            <a:ext cx="1592796"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200" dirty="0" err="1"/>
              <a:t>lib_demo.a</a:t>
            </a:r>
            <a:endParaRPr lang="en-US" altLang="zh-TW" sz="1200" dirty="0"/>
          </a:p>
        </p:txBody>
      </p:sp>
      <p:sp>
        <p:nvSpPr>
          <p:cNvPr id="26" name="矩形 25"/>
          <p:cNvSpPr/>
          <p:nvPr/>
        </p:nvSpPr>
        <p:spPr>
          <a:xfrm>
            <a:off x="3241933" y="3219822"/>
            <a:ext cx="1013975"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200" dirty="0" err="1"/>
              <a:t>libfvaudio.a</a:t>
            </a:r>
            <a:endParaRPr lang="en-US" altLang="zh-TW" sz="1200" dirty="0"/>
          </a:p>
        </p:txBody>
      </p:sp>
      <p:sp>
        <p:nvSpPr>
          <p:cNvPr id="27" name="矩形 26"/>
          <p:cNvSpPr/>
          <p:nvPr/>
        </p:nvSpPr>
        <p:spPr>
          <a:xfrm>
            <a:off x="4409982" y="3219822"/>
            <a:ext cx="656016" cy="6858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lvl="1" algn="ctr"/>
            <a:r>
              <a:rPr lang="en-US" altLang="zh-TW" sz="1200" dirty="0" err="1"/>
              <a:t>lib_iir.a</a:t>
            </a:r>
            <a:endParaRPr lang="en-US" altLang="zh-TW" sz="1500" dirty="0"/>
          </a:p>
        </p:txBody>
      </p:sp>
      <p:cxnSp>
        <p:nvCxnSpPr>
          <p:cNvPr id="28" name="直線單箭頭接點 27"/>
          <p:cNvCxnSpPr/>
          <p:nvPr/>
        </p:nvCxnSpPr>
        <p:spPr>
          <a:xfrm>
            <a:off x="2141730" y="1383618"/>
            <a:ext cx="0" cy="2700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直線單箭頭接點 28"/>
          <p:cNvCxnSpPr/>
          <p:nvPr/>
        </p:nvCxnSpPr>
        <p:spPr>
          <a:xfrm flipV="1">
            <a:off x="3329862" y="1777572"/>
            <a:ext cx="1296144" cy="92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flipV="1">
            <a:off x="3075709" y="1919997"/>
            <a:ext cx="1606924" cy="11870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3" name="直線單箭頭接點 32"/>
          <p:cNvCxnSpPr/>
          <p:nvPr/>
        </p:nvCxnSpPr>
        <p:spPr>
          <a:xfrm flipV="1">
            <a:off x="3059832" y="2031690"/>
            <a:ext cx="1658941" cy="149432"/>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sp>
        <p:nvSpPr>
          <p:cNvPr id="2" name="投影片編號版面配置區 1">
            <a:extLst>
              <a:ext uri="{FF2B5EF4-FFF2-40B4-BE49-F238E27FC236}">
                <a16:creationId xmlns:a16="http://schemas.microsoft.com/office/drawing/2014/main" id="{4717D28F-4E5E-49F5-97D7-E1D7B5C7B01A}"/>
              </a:ext>
            </a:extLst>
          </p:cNvPr>
          <p:cNvSpPr>
            <a:spLocks noGrp="1"/>
          </p:cNvSpPr>
          <p:nvPr>
            <p:ph type="sldNum" sz="quarter" idx="12"/>
          </p:nvPr>
        </p:nvSpPr>
        <p:spPr/>
        <p:txBody>
          <a:bodyPr/>
          <a:lstStyle/>
          <a:p>
            <a:fld id="{0E646775-B2E7-47D2-938B-19843E53D65D}"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AD9D287-F1F0-4AFD-8E74-556A5B3E8D9C}"/>
              </a:ext>
            </a:extLst>
          </p:cNvPr>
          <p:cNvSpPr>
            <a:spLocks noGrp="1"/>
          </p:cNvSpPr>
          <p:nvPr>
            <p:ph type="sldNum" sz="quarter" idx="4"/>
          </p:nvPr>
        </p:nvSpPr>
        <p:spPr/>
        <p:txBody>
          <a:bodyPr/>
          <a:lstStyle/>
          <a:p>
            <a:fld id="{0E646775-B2E7-47D2-938B-19843E53D65D}" type="slidenum">
              <a:rPr lang="zh-TW" altLang="en-US" smtClean="0"/>
              <a:pPr/>
              <a:t>35</a:t>
            </a:fld>
            <a:endParaRPr lang="zh-TW" altLang="en-US"/>
          </a:p>
        </p:txBody>
      </p:sp>
      <p:pic>
        <p:nvPicPr>
          <p:cNvPr id="2054" name="Picture 6"/>
          <p:cNvPicPr>
            <a:picLocks noGrp="1" noChangeAspect="1" noChangeArrowheads="1"/>
          </p:cNvPicPr>
          <p:nvPr>
            <p:ph sz="quarter" idx="10"/>
          </p:nvPr>
        </p:nvPicPr>
        <p:blipFill>
          <a:blip r:embed="rId2" cstate="print"/>
          <a:stretch>
            <a:fillRect/>
          </a:stretch>
        </p:blipFill>
        <p:spPr bwMode="auto">
          <a:xfrm>
            <a:off x="1415616" y="1134283"/>
            <a:ext cx="6172200" cy="1943100"/>
          </a:xfrm>
          <a:prstGeom prst="rect">
            <a:avLst/>
          </a:prstGeom>
          <a:noFill/>
          <a:ln w="9525">
            <a:noFill/>
            <a:miter lim="800000"/>
            <a:headEnd/>
            <a:tailEnd/>
          </a:ln>
        </p:spPr>
      </p:pic>
      <p:sp>
        <p:nvSpPr>
          <p:cNvPr id="3" name="標題 2"/>
          <p:cNvSpPr>
            <a:spLocks noGrp="1"/>
          </p:cNvSpPr>
          <p:nvPr>
            <p:ph type="title"/>
          </p:nvPr>
        </p:nvSpPr>
        <p:spPr/>
        <p:txBody>
          <a:bodyPr>
            <a:normAutofit fontScale="90000"/>
          </a:bodyPr>
          <a:lstStyle/>
          <a:p>
            <a:r>
              <a:rPr lang="en-US" altLang="zh-TW" dirty="0"/>
              <a:t>Dump for processing</a:t>
            </a:r>
            <a:br>
              <a:rPr lang="en-US" altLang="zh-TW" dirty="0"/>
            </a:br>
            <a:r>
              <a:rPr lang="en-US" altLang="zh-TW" dirty="0"/>
              <a:t>(VM/EPL/…)</a:t>
            </a:r>
            <a:endParaRPr lang="zh-TW" altLang="en-US" dirty="0"/>
          </a:p>
        </p:txBody>
      </p:sp>
      <p:pic>
        <p:nvPicPr>
          <p:cNvPr id="2052" name="Picture 4"/>
          <p:cNvPicPr>
            <a:picLocks noChangeAspect="1" noChangeArrowheads="1"/>
          </p:cNvPicPr>
          <p:nvPr/>
        </p:nvPicPr>
        <p:blipFill>
          <a:blip r:embed="rId3" cstate="print"/>
          <a:srcRect/>
          <a:stretch>
            <a:fillRect/>
          </a:stretch>
        </p:blipFill>
        <p:spPr bwMode="auto">
          <a:xfrm>
            <a:off x="1439652" y="3111810"/>
            <a:ext cx="2000250" cy="1350169"/>
          </a:xfrm>
          <a:prstGeom prst="rect">
            <a:avLst/>
          </a:prstGeom>
          <a:noFill/>
          <a:ln w="9525">
            <a:noFill/>
            <a:miter lim="800000"/>
            <a:headEnd/>
            <a:tailEnd/>
          </a:ln>
        </p:spPr>
      </p:pic>
      <p:sp>
        <p:nvSpPr>
          <p:cNvPr id="9" name="文字方塊 8"/>
          <p:cNvSpPr txBox="1"/>
          <p:nvPr/>
        </p:nvSpPr>
        <p:spPr>
          <a:xfrm>
            <a:off x="2738406" y="828205"/>
            <a:ext cx="2749086" cy="300082"/>
          </a:xfrm>
          <a:prstGeom prst="rect">
            <a:avLst/>
          </a:prstGeom>
          <a:noFill/>
        </p:spPr>
        <p:txBody>
          <a:bodyPr wrap="none" rtlCol="0">
            <a:spAutoFit/>
          </a:bodyPr>
          <a:lstStyle/>
          <a:p>
            <a:r>
              <a:rPr lang="en-US" altLang="zh-TW" sz="1350" dirty="0"/>
              <a:t>Get </a:t>
            </a:r>
            <a:r>
              <a:rPr lang="en-US" altLang="zh-TW" sz="1350" b="1" dirty="0"/>
              <a:t>max</a:t>
            </a:r>
            <a:r>
              <a:rPr lang="en-US" altLang="zh-TW" sz="1350" dirty="0"/>
              <a:t> dump </a:t>
            </a:r>
            <a:r>
              <a:rPr lang="en-US" altLang="zh-TW" sz="1350" dirty="0" err="1"/>
              <a:t>buf</a:t>
            </a:r>
            <a:r>
              <a:rPr lang="en-US" altLang="zh-TW" sz="1350" dirty="0"/>
              <a:t> size of one frame</a:t>
            </a:r>
            <a:endParaRPr lang="zh-TW" altLang="en-US" sz="1350" dirty="0"/>
          </a:p>
        </p:txBody>
      </p:sp>
      <p:sp>
        <p:nvSpPr>
          <p:cNvPr id="12" name="矩形 11"/>
          <p:cNvSpPr/>
          <p:nvPr/>
        </p:nvSpPr>
        <p:spPr>
          <a:xfrm>
            <a:off x="3545886" y="3327834"/>
            <a:ext cx="955830" cy="1134126"/>
          </a:xfrm>
          <a:prstGeom prst="rect">
            <a:avLst/>
          </a:prstGeom>
        </p:spPr>
        <p:style>
          <a:lnRef idx="1">
            <a:schemeClr val="accent6"/>
          </a:lnRef>
          <a:fillRef idx="2">
            <a:schemeClr val="accent6"/>
          </a:fillRef>
          <a:effectRef idx="1">
            <a:schemeClr val="accent6"/>
          </a:effectRef>
          <a:fontRef idx="minor">
            <a:schemeClr val="dk1"/>
          </a:fontRef>
        </p:style>
        <p:txBody>
          <a:bodyPr rtlCol="0" anchor="t"/>
          <a:lstStyle/>
          <a:p>
            <a:pPr algn="ctr"/>
            <a:r>
              <a:rPr lang="en-US" altLang="zh-TW" sz="1350" dirty="0"/>
              <a:t>Audio</a:t>
            </a:r>
          </a:p>
          <a:p>
            <a:pPr algn="ctr"/>
            <a:r>
              <a:rPr lang="en-US" altLang="zh-TW" sz="1350" dirty="0"/>
              <a:t>Driver</a:t>
            </a:r>
            <a:endParaRPr lang="zh-TW" altLang="en-US" sz="1350" dirty="0"/>
          </a:p>
        </p:txBody>
      </p:sp>
      <p:sp>
        <p:nvSpPr>
          <p:cNvPr id="13" name="矩形 12"/>
          <p:cNvSpPr/>
          <p:nvPr/>
        </p:nvSpPr>
        <p:spPr>
          <a:xfrm>
            <a:off x="6570222" y="3273828"/>
            <a:ext cx="685800" cy="113412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350" dirty="0"/>
              <a:t>Lib</a:t>
            </a:r>
            <a:endParaRPr lang="zh-TW" altLang="en-US" sz="1350" dirty="0"/>
          </a:p>
        </p:txBody>
      </p:sp>
      <p:cxnSp>
        <p:nvCxnSpPr>
          <p:cNvPr id="15" name="直線單箭頭接點 14"/>
          <p:cNvCxnSpPr/>
          <p:nvPr/>
        </p:nvCxnSpPr>
        <p:spPr>
          <a:xfrm>
            <a:off x="4490916" y="3484984"/>
            <a:ext cx="211049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文字方塊 15"/>
          <p:cNvSpPr txBox="1"/>
          <p:nvPr/>
        </p:nvSpPr>
        <p:spPr>
          <a:xfrm>
            <a:off x="4626006" y="3273828"/>
            <a:ext cx="2069797" cy="230832"/>
          </a:xfrm>
          <a:prstGeom prst="rect">
            <a:avLst/>
          </a:prstGeom>
          <a:noFill/>
        </p:spPr>
        <p:txBody>
          <a:bodyPr wrap="none" rtlCol="0">
            <a:spAutoFit/>
          </a:bodyPr>
          <a:lstStyle/>
          <a:p>
            <a:r>
              <a:rPr lang="en-US" altLang="zh-TW" sz="900" dirty="0" err="1"/>
              <a:t>arsi_query_max_debug_dump_buf_size</a:t>
            </a:r>
            <a:endParaRPr lang="zh-TW" altLang="en-US" sz="900" dirty="0"/>
          </a:p>
        </p:txBody>
      </p:sp>
      <p:cxnSp>
        <p:nvCxnSpPr>
          <p:cNvPr id="23" name="直線單箭頭接點 22"/>
          <p:cNvCxnSpPr/>
          <p:nvPr/>
        </p:nvCxnSpPr>
        <p:spPr>
          <a:xfrm>
            <a:off x="4463988" y="3975906"/>
            <a:ext cx="2160240"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24" name="文字方塊 23"/>
          <p:cNvSpPr txBox="1"/>
          <p:nvPr/>
        </p:nvSpPr>
        <p:spPr>
          <a:xfrm>
            <a:off x="5058054" y="3759882"/>
            <a:ext cx="1127232" cy="230832"/>
          </a:xfrm>
          <a:prstGeom prst="rect">
            <a:avLst/>
          </a:prstGeom>
          <a:noFill/>
        </p:spPr>
        <p:txBody>
          <a:bodyPr wrap="none" rtlCol="0">
            <a:spAutoFit/>
          </a:bodyPr>
          <a:lstStyle/>
          <a:p>
            <a:r>
              <a:rPr lang="en-US" altLang="zh-TW" sz="900" dirty="0" err="1"/>
              <a:t>arsi_process_ul_buf</a:t>
            </a:r>
            <a:endParaRPr lang="zh-TW" altLang="en-US" sz="900" dirty="0"/>
          </a:p>
        </p:txBody>
      </p:sp>
      <p:sp>
        <p:nvSpPr>
          <p:cNvPr id="25" name="流程圖: 磁碟 24"/>
          <p:cNvSpPr/>
          <p:nvPr/>
        </p:nvSpPr>
        <p:spPr>
          <a:xfrm>
            <a:off x="3815916" y="3867894"/>
            <a:ext cx="594066" cy="378042"/>
          </a:xfrm>
          <a:prstGeom prst="flowChartMagneticDisk">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750" dirty="0">
                <a:solidFill>
                  <a:schemeClr val="tx1"/>
                </a:solidFill>
              </a:rPr>
              <a:t>dump </a:t>
            </a:r>
            <a:r>
              <a:rPr lang="en-US" altLang="zh-TW" sz="750" dirty="0" err="1">
                <a:solidFill>
                  <a:schemeClr val="tx1"/>
                </a:solidFill>
              </a:rPr>
              <a:t>bufs</a:t>
            </a:r>
            <a:endParaRPr lang="zh-TW" altLang="en-US" sz="750" dirty="0">
              <a:solidFill>
                <a:schemeClr val="tx1"/>
              </a:solidFill>
            </a:endParaRPr>
          </a:p>
        </p:txBody>
      </p:sp>
      <p:sp>
        <p:nvSpPr>
          <p:cNvPr id="28" name="流程圖: 磁碟 27"/>
          <p:cNvSpPr/>
          <p:nvPr/>
        </p:nvSpPr>
        <p:spPr>
          <a:xfrm>
            <a:off x="4842030" y="4569972"/>
            <a:ext cx="594066" cy="378042"/>
          </a:xfrm>
          <a:prstGeom prst="flowChartMagneticDisk">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750" dirty="0">
                <a:solidFill>
                  <a:schemeClr val="tx1"/>
                </a:solidFill>
              </a:rPr>
              <a:t>dump </a:t>
            </a:r>
            <a:r>
              <a:rPr lang="en-US" altLang="zh-TW" sz="750" dirty="0" err="1">
                <a:solidFill>
                  <a:schemeClr val="tx1"/>
                </a:solidFill>
              </a:rPr>
              <a:t>bufs</a:t>
            </a:r>
            <a:endParaRPr lang="zh-TW" altLang="en-US" sz="750" dirty="0">
              <a:solidFill>
                <a:schemeClr val="tx1"/>
              </a:solidFill>
            </a:endParaRPr>
          </a:p>
        </p:txBody>
      </p:sp>
      <p:cxnSp>
        <p:nvCxnSpPr>
          <p:cNvPr id="30" name="直線單箭頭接點 29"/>
          <p:cNvCxnSpPr>
            <a:endCxn id="28" idx="2"/>
          </p:cNvCxnSpPr>
          <p:nvPr/>
        </p:nvCxnSpPr>
        <p:spPr>
          <a:xfrm>
            <a:off x="4247964" y="4191930"/>
            <a:ext cx="594066" cy="56706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1" name="文字方塊 30"/>
          <p:cNvSpPr txBox="1"/>
          <p:nvPr/>
        </p:nvSpPr>
        <p:spPr>
          <a:xfrm>
            <a:off x="4247964" y="4515966"/>
            <a:ext cx="494046" cy="230832"/>
          </a:xfrm>
          <a:prstGeom prst="rect">
            <a:avLst/>
          </a:prstGeom>
          <a:noFill/>
        </p:spPr>
        <p:txBody>
          <a:bodyPr wrap="none" rtlCol="0">
            <a:spAutoFit/>
          </a:bodyPr>
          <a:lstStyle/>
          <a:p>
            <a:r>
              <a:rPr lang="en-US" altLang="zh-TW" sz="900" dirty="0" err="1"/>
              <a:t>sdcard</a:t>
            </a:r>
            <a:endParaRPr lang="zh-TW" altLang="en-US" sz="900" dirty="0"/>
          </a:p>
        </p:txBody>
      </p:sp>
      <p:sp>
        <p:nvSpPr>
          <p:cNvPr id="32" name="矩形 31"/>
          <p:cNvSpPr/>
          <p:nvPr/>
        </p:nvSpPr>
        <p:spPr>
          <a:xfrm>
            <a:off x="5652120" y="4569972"/>
            <a:ext cx="1026114" cy="37804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350" dirty="0"/>
              <a:t>Lib decode program</a:t>
            </a:r>
            <a:endParaRPr lang="zh-TW" altLang="en-US" sz="1350" dirty="0"/>
          </a:p>
        </p:txBody>
      </p:sp>
      <p:cxnSp>
        <p:nvCxnSpPr>
          <p:cNvPr id="35" name="直線單箭頭接點 34"/>
          <p:cNvCxnSpPr/>
          <p:nvPr/>
        </p:nvCxnSpPr>
        <p:spPr>
          <a:xfrm flipH="1">
            <a:off x="5436096" y="4785996"/>
            <a:ext cx="216024"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8" name="直線單箭頭接點 37"/>
          <p:cNvCxnSpPr/>
          <p:nvPr/>
        </p:nvCxnSpPr>
        <p:spPr>
          <a:xfrm>
            <a:off x="6624228" y="4785996"/>
            <a:ext cx="24462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9" name="流程圖: 磁碟 38"/>
          <p:cNvSpPr/>
          <p:nvPr/>
        </p:nvSpPr>
        <p:spPr>
          <a:xfrm>
            <a:off x="7002270" y="4569972"/>
            <a:ext cx="216024" cy="270030"/>
          </a:xfrm>
          <a:prstGeom prst="flowChartMagneticDisk">
            <a:avLst/>
          </a:prstGeom>
          <a:solidFill>
            <a:schemeClr val="accent6">
              <a:lumMod val="75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sz="1350"/>
          </a:p>
        </p:txBody>
      </p:sp>
      <p:sp>
        <p:nvSpPr>
          <p:cNvPr id="40" name="流程圖: 磁碟 39"/>
          <p:cNvSpPr/>
          <p:nvPr/>
        </p:nvSpPr>
        <p:spPr>
          <a:xfrm>
            <a:off x="7272300" y="4569972"/>
            <a:ext cx="216024" cy="270030"/>
          </a:xfrm>
          <a:prstGeom prst="flowChartMagneticDisk">
            <a:avLst/>
          </a:prstGeom>
          <a:solidFill>
            <a:schemeClr val="accent6">
              <a:lumMod val="75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sz="1350"/>
          </a:p>
        </p:txBody>
      </p:sp>
      <p:sp>
        <p:nvSpPr>
          <p:cNvPr id="41" name="流程圖: 磁碟 40"/>
          <p:cNvSpPr/>
          <p:nvPr/>
        </p:nvSpPr>
        <p:spPr>
          <a:xfrm>
            <a:off x="7542330" y="4569972"/>
            <a:ext cx="216024" cy="270030"/>
          </a:xfrm>
          <a:prstGeom prst="flowChartMagneticDisk">
            <a:avLst/>
          </a:prstGeom>
          <a:solidFill>
            <a:schemeClr val="accent6">
              <a:lumMod val="75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sz="1350"/>
          </a:p>
        </p:txBody>
      </p:sp>
      <p:sp>
        <p:nvSpPr>
          <p:cNvPr id="42" name="文字方塊 41"/>
          <p:cNvSpPr txBox="1"/>
          <p:nvPr/>
        </p:nvSpPr>
        <p:spPr>
          <a:xfrm>
            <a:off x="6678234" y="4870782"/>
            <a:ext cx="1396536" cy="230832"/>
          </a:xfrm>
          <a:prstGeom prst="rect">
            <a:avLst/>
          </a:prstGeom>
          <a:noFill/>
        </p:spPr>
        <p:txBody>
          <a:bodyPr wrap="none" rtlCol="0">
            <a:spAutoFit/>
          </a:bodyPr>
          <a:lstStyle/>
          <a:p>
            <a:r>
              <a:rPr lang="en-US" altLang="zh-TW" sz="900" dirty="0"/>
              <a:t>PCM / time info / gain / …</a:t>
            </a:r>
          </a:p>
        </p:txBody>
      </p:sp>
      <p:cxnSp>
        <p:nvCxnSpPr>
          <p:cNvPr id="43" name="直線單箭頭接點 42"/>
          <p:cNvCxnSpPr/>
          <p:nvPr/>
        </p:nvCxnSpPr>
        <p:spPr>
          <a:xfrm>
            <a:off x="4457649" y="4062062"/>
            <a:ext cx="2160240"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44" name="直線單箭頭接點 43"/>
          <p:cNvCxnSpPr/>
          <p:nvPr/>
        </p:nvCxnSpPr>
        <p:spPr>
          <a:xfrm>
            <a:off x="4468349" y="4159171"/>
            <a:ext cx="2160240"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sz="quarter" idx="13"/>
          </p:nvPr>
        </p:nvPicPr>
        <p:blipFill>
          <a:blip r:embed="rId2" cstate="print"/>
          <a:srcRect/>
          <a:stretch>
            <a:fillRect/>
          </a:stretch>
        </p:blipFill>
        <p:spPr bwMode="auto">
          <a:xfrm>
            <a:off x="1709683" y="897564"/>
            <a:ext cx="4707731" cy="1057275"/>
          </a:xfrm>
          <a:prstGeom prst="rect">
            <a:avLst/>
          </a:prstGeom>
          <a:noFill/>
          <a:ln w="9525">
            <a:noFill/>
            <a:miter lim="800000"/>
            <a:headEnd/>
            <a:tailEnd/>
          </a:ln>
        </p:spPr>
      </p:pic>
      <p:pic>
        <p:nvPicPr>
          <p:cNvPr id="3" name="圖片 2"/>
          <p:cNvPicPr>
            <a:picLocks noChangeAspect="1"/>
          </p:cNvPicPr>
          <p:nvPr/>
        </p:nvPicPr>
        <p:blipFill>
          <a:blip r:embed="rId3" cstate="print"/>
          <a:stretch>
            <a:fillRect/>
          </a:stretch>
        </p:blipFill>
        <p:spPr>
          <a:xfrm>
            <a:off x="1709682" y="2018083"/>
            <a:ext cx="5508612" cy="1680593"/>
          </a:xfrm>
          <a:prstGeom prst="rect">
            <a:avLst/>
          </a:prstGeom>
        </p:spPr>
      </p:pic>
      <p:sp>
        <p:nvSpPr>
          <p:cNvPr id="4" name="圓角矩形 3"/>
          <p:cNvSpPr/>
          <p:nvPr/>
        </p:nvSpPr>
        <p:spPr>
          <a:xfrm>
            <a:off x="5753316" y="1276350"/>
            <a:ext cx="222840" cy="215280"/>
          </a:xfrm>
          <a:prstGeom prst="roundRect">
            <a:avLst/>
          </a:prstGeom>
          <a:solidFill>
            <a:srgbClr val="0000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sz="1350"/>
          </a:p>
        </p:txBody>
      </p:sp>
      <p:sp>
        <p:nvSpPr>
          <p:cNvPr id="5" name="文字方塊 4"/>
          <p:cNvSpPr txBox="1"/>
          <p:nvPr/>
        </p:nvSpPr>
        <p:spPr>
          <a:xfrm>
            <a:off x="6920880" y="1747090"/>
            <a:ext cx="1080120" cy="369332"/>
          </a:xfrm>
          <a:prstGeom prst="rect">
            <a:avLst/>
          </a:prstGeom>
          <a:noFill/>
        </p:spPr>
        <p:txBody>
          <a:bodyPr wrap="square" rtlCol="0">
            <a:spAutoFit/>
          </a:bodyPr>
          <a:lstStyle/>
          <a:p>
            <a:r>
              <a:rPr lang="en-US" altLang="zh-TW" sz="900" dirty="0"/>
              <a:t>Any string you want</a:t>
            </a:r>
            <a:endParaRPr lang="zh-TW" altLang="en-US" sz="900" dirty="0"/>
          </a:p>
        </p:txBody>
      </p:sp>
      <p:cxnSp>
        <p:nvCxnSpPr>
          <p:cNvPr id="7" name="直線單箭頭接點 6"/>
          <p:cNvCxnSpPr>
            <a:endCxn id="5" idx="1"/>
          </p:cNvCxnSpPr>
          <p:nvPr/>
        </p:nvCxnSpPr>
        <p:spPr>
          <a:xfrm flipV="1">
            <a:off x="6732240" y="1931756"/>
            <a:ext cx="188640" cy="863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線單箭頭接點 8"/>
          <p:cNvCxnSpPr/>
          <p:nvPr/>
        </p:nvCxnSpPr>
        <p:spPr>
          <a:xfrm flipH="1" flipV="1">
            <a:off x="5976156" y="1491631"/>
            <a:ext cx="1296144" cy="2554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1" name="圖片 10"/>
          <p:cNvPicPr>
            <a:picLocks noChangeAspect="1"/>
          </p:cNvPicPr>
          <p:nvPr/>
        </p:nvPicPr>
        <p:blipFill>
          <a:blip r:embed="rId4" cstate="print"/>
          <a:stretch>
            <a:fillRect/>
          </a:stretch>
        </p:blipFill>
        <p:spPr>
          <a:xfrm>
            <a:off x="1709843" y="3743677"/>
            <a:ext cx="3402218" cy="908585"/>
          </a:xfrm>
          <a:prstGeom prst="rect">
            <a:avLst/>
          </a:prstGeom>
        </p:spPr>
      </p:pic>
      <p:pic>
        <p:nvPicPr>
          <p:cNvPr id="13" name="圖片 12"/>
          <p:cNvPicPr>
            <a:picLocks noChangeAspect="1"/>
          </p:cNvPicPr>
          <p:nvPr/>
        </p:nvPicPr>
        <p:blipFill>
          <a:blip r:embed="rId5" cstate="print"/>
          <a:stretch>
            <a:fillRect/>
          </a:stretch>
        </p:blipFill>
        <p:spPr>
          <a:xfrm>
            <a:off x="1471487" y="4785996"/>
            <a:ext cx="6050756" cy="128588"/>
          </a:xfrm>
          <a:prstGeom prst="rect">
            <a:avLst/>
          </a:prstGeom>
        </p:spPr>
      </p:pic>
      <p:sp>
        <p:nvSpPr>
          <p:cNvPr id="6" name="投影片編號版面配置區 5">
            <a:extLst>
              <a:ext uri="{FF2B5EF4-FFF2-40B4-BE49-F238E27FC236}">
                <a16:creationId xmlns:a16="http://schemas.microsoft.com/office/drawing/2014/main" id="{FDBBC19E-122E-4DEB-B74A-710662355F5F}"/>
              </a:ext>
            </a:extLst>
          </p:cNvPr>
          <p:cNvSpPr>
            <a:spLocks noGrp="1"/>
          </p:cNvSpPr>
          <p:nvPr>
            <p:ph type="sldNum" sz="quarter" idx="12"/>
          </p:nvPr>
        </p:nvSpPr>
        <p:spPr/>
        <p:txBody>
          <a:bodyPr/>
          <a:lstStyle/>
          <a:p>
            <a:fld id="{0E646775-B2E7-47D2-938B-19843E53D65D}" type="slidenum">
              <a:rPr lang="zh-TW" altLang="en-US" smtClean="0"/>
              <a:pPr/>
              <a:t>36</a:t>
            </a:fld>
            <a:endParaRPr lang="zh-TW" altLang="en-US"/>
          </a:p>
        </p:txBody>
      </p:sp>
      <p:sp>
        <p:nvSpPr>
          <p:cNvPr id="12" name="標題 2">
            <a:extLst>
              <a:ext uri="{FF2B5EF4-FFF2-40B4-BE49-F238E27FC236}">
                <a16:creationId xmlns:a16="http://schemas.microsoft.com/office/drawing/2014/main" id="{7E13D692-B527-439C-A243-50666A610FCA}"/>
              </a:ext>
            </a:extLst>
          </p:cNvPr>
          <p:cNvSpPr txBox="1">
            <a:spLocks/>
          </p:cNvSpPr>
          <p:nvPr/>
        </p:nvSpPr>
        <p:spPr>
          <a:xfrm>
            <a:off x="323850" y="177670"/>
            <a:ext cx="8218488" cy="720464"/>
          </a:xfrm>
          <a:prstGeom prst="rect">
            <a:avLst/>
          </a:prstGeom>
        </p:spPr>
        <p:txBody>
          <a:bodyPr vert="horz" lIns="91440" tIns="0" rIns="91440" bIns="45720" rtlCol="0" anchor="ctr">
            <a:normAutofit fontScale="97500"/>
          </a:bodyPr>
          <a:lstStyle>
            <a:lvl1pPr algn="l" defTabSz="914400" rtl="0" eaLnBrk="1" latinLnBrk="0" hangingPunct="1">
              <a:lnSpc>
                <a:spcPct val="100000"/>
              </a:lnSpc>
              <a:spcBef>
                <a:spcPct val="0"/>
              </a:spcBef>
              <a:buNone/>
              <a:defRPr sz="2800" b="1" u="none" kern="1200" baseline="0">
                <a:solidFill>
                  <a:schemeClr val="accent1"/>
                </a:solidFill>
                <a:latin typeface="+mj-lt"/>
                <a:ea typeface="+mj-ea"/>
                <a:cs typeface="Arial"/>
              </a:defRPr>
            </a:lvl1pPr>
          </a:lstStyle>
          <a:p>
            <a:r>
              <a:rPr lang="en-US" altLang="zh-TW" dirty="0">
                <a:solidFill>
                  <a:schemeClr val="bg2"/>
                </a:solidFill>
              </a:rPr>
              <a:t>Lib Version</a:t>
            </a:r>
            <a:endParaRPr lang="zh-TW" altLang="en-US" dirty="0">
              <a:solidFill>
                <a:schemeClr val="bg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85900" y="141480"/>
            <a:ext cx="6172200" cy="519558"/>
          </a:xfrm>
        </p:spPr>
        <p:txBody>
          <a:bodyPr/>
          <a:lstStyle/>
          <a:p>
            <a:r>
              <a:rPr lang="en-US" altLang="zh-TW" dirty="0">
                <a:solidFill>
                  <a:schemeClr val="bg2"/>
                </a:solidFill>
              </a:rPr>
              <a:t>New Parsing API</a:t>
            </a:r>
            <a:endParaRPr lang="zh-TW" altLang="en-US" dirty="0">
              <a:solidFill>
                <a:schemeClr val="bg2"/>
              </a:solidFill>
            </a:endParaRPr>
          </a:p>
        </p:txBody>
      </p:sp>
      <p:pic>
        <p:nvPicPr>
          <p:cNvPr id="4" name="圖片 3"/>
          <p:cNvPicPr>
            <a:picLocks noChangeAspect="1"/>
          </p:cNvPicPr>
          <p:nvPr/>
        </p:nvPicPr>
        <p:blipFill>
          <a:blip r:embed="rId2" cstate="print"/>
          <a:stretch>
            <a:fillRect/>
          </a:stretch>
        </p:blipFill>
        <p:spPr>
          <a:xfrm>
            <a:off x="1334049" y="1761660"/>
            <a:ext cx="2893219" cy="1928813"/>
          </a:xfrm>
          <a:prstGeom prst="rect">
            <a:avLst/>
          </a:prstGeom>
        </p:spPr>
      </p:pic>
      <p:cxnSp>
        <p:nvCxnSpPr>
          <p:cNvPr id="6" name="直線接點 5"/>
          <p:cNvCxnSpPr/>
          <p:nvPr/>
        </p:nvCxnSpPr>
        <p:spPr>
          <a:xfrm>
            <a:off x="4355976" y="897564"/>
            <a:ext cx="0" cy="4158462"/>
          </a:xfrm>
          <a:prstGeom prst="line">
            <a:avLst/>
          </a:prstGeom>
        </p:spPr>
        <p:style>
          <a:lnRef idx="2">
            <a:schemeClr val="dk1"/>
          </a:lnRef>
          <a:fillRef idx="0">
            <a:schemeClr val="dk1"/>
          </a:fillRef>
          <a:effectRef idx="1">
            <a:schemeClr val="dk1"/>
          </a:effectRef>
          <a:fontRef idx="minor">
            <a:schemeClr val="tx1"/>
          </a:fontRef>
        </p:style>
      </p:cxnSp>
      <p:cxnSp>
        <p:nvCxnSpPr>
          <p:cNvPr id="8" name="直線單箭頭接點 7"/>
          <p:cNvCxnSpPr/>
          <p:nvPr/>
        </p:nvCxnSpPr>
        <p:spPr>
          <a:xfrm flipH="1">
            <a:off x="3842959" y="1049218"/>
            <a:ext cx="40894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2436364" y="888619"/>
            <a:ext cx="1960921" cy="507831"/>
          </a:xfrm>
          <a:prstGeom prst="rect">
            <a:avLst/>
          </a:prstGeom>
          <a:noFill/>
        </p:spPr>
        <p:txBody>
          <a:bodyPr wrap="none" rtlCol="0">
            <a:spAutoFit/>
          </a:bodyPr>
          <a:lstStyle/>
          <a:p>
            <a:r>
              <a:rPr lang="en-US" altLang="zh-TW" sz="1350" dirty="0"/>
              <a:t>Before V1.3.0</a:t>
            </a:r>
          </a:p>
          <a:p>
            <a:r>
              <a:rPr lang="en-US" altLang="zh-TW" sz="1350" b="1" dirty="0">
                <a:solidFill>
                  <a:srgbClr val="FF0000"/>
                </a:solidFill>
              </a:rPr>
              <a:t>// phase out after V1.3.0</a:t>
            </a:r>
            <a:endParaRPr lang="zh-TW" altLang="en-US" sz="1350" dirty="0"/>
          </a:p>
        </p:txBody>
      </p:sp>
      <p:cxnSp>
        <p:nvCxnSpPr>
          <p:cNvPr id="10" name="直線單箭頭接點 9"/>
          <p:cNvCxnSpPr/>
          <p:nvPr/>
        </p:nvCxnSpPr>
        <p:spPr>
          <a:xfrm>
            <a:off x="4453032" y="1051296"/>
            <a:ext cx="40114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4854179" y="888618"/>
            <a:ext cx="1027589" cy="300082"/>
          </a:xfrm>
          <a:prstGeom prst="rect">
            <a:avLst/>
          </a:prstGeom>
          <a:noFill/>
        </p:spPr>
        <p:txBody>
          <a:bodyPr wrap="none" rtlCol="0">
            <a:spAutoFit/>
          </a:bodyPr>
          <a:lstStyle/>
          <a:p>
            <a:r>
              <a:rPr lang="en-US" altLang="zh-TW" sz="1350" dirty="0">
                <a:solidFill>
                  <a:srgbClr val="0000FF"/>
                </a:solidFill>
              </a:rPr>
              <a:t>After V1.3.0</a:t>
            </a:r>
          </a:p>
        </p:txBody>
      </p:sp>
      <p:pic>
        <p:nvPicPr>
          <p:cNvPr id="14" name="圖片 13"/>
          <p:cNvPicPr>
            <a:picLocks noChangeAspect="1"/>
          </p:cNvPicPr>
          <p:nvPr/>
        </p:nvPicPr>
        <p:blipFill>
          <a:blip r:embed="rId3" cstate="print"/>
          <a:stretch>
            <a:fillRect/>
          </a:stretch>
        </p:blipFill>
        <p:spPr>
          <a:xfrm>
            <a:off x="4527540" y="1797280"/>
            <a:ext cx="3238680" cy="1929745"/>
          </a:xfrm>
          <a:prstGeom prst="rect">
            <a:avLst/>
          </a:prstGeom>
        </p:spPr>
      </p:pic>
      <p:pic>
        <p:nvPicPr>
          <p:cNvPr id="15" name="圖片 14"/>
          <p:cNvPicPr>
            <a:picLocks noChangeAspect="1"/>
          </p:cNvPicPr>
          <p:nvPr/>
        </p:nvPicPr>
        <p:blipFill>
          <a:blip r:embed="rId4" cstate="print"/>
          <a:stretch>
            <a:fillRect/>
          </a:stretch>
        </p:blipFill>
        <p:spPr>
          <a:xfrm>
            <a:off x="6072309" y="609208"/>
            <a:ext cx="1585792" cy="773074"/>
          </a:xfrm>
          <a:prstGeom prst="rect">
            <a:avLst/>
          </a:prstGeom>
        </p:spPr>
      </p:pic>
      <p:sp>
        <p:nvSpPr>
          <p:cNvPr id="16" name="矩形 15"/>
          <p:cNvSpPr/>
          <p:nvPr/>
        </p:nvSpPr>
        <p:spPr>
          <a:xfrm>
            <a:off x="5004048" y="1437624"/>
            <a:ext cx="2792752" cy="253916"/>
          </a:xfrm>
          <a:prstGeom prst="rect">
            <a:avLst/>
          </a:prstGeom>
        </p:spPr>
        <p:txBody>
          <a:bodyPr wrap="none">
            <a:spAutoFit/>
          </a:bodyPr>
          <a:lstStyle/>
          <a:p>
            <a:r>
              <a:rPr lang="en-US" altLang="zh-TW" sz="1050" dirty="0">
                <a:solidFill>
                  <a:srgbClr val="0000FF"/>
                </a:solidFill>
              </a:rPr>
              <a:t>Ex:</a:t>
            </a:r>
            <a:r>
              <a:rPr lang="zh-TW" altLang="en-US" sz="1050" dirty="0">
                <a:solidFill>
                  <a:srgbClr val="0000FF"/>
                </a:solidFill>
              </a:rPr>
              <a:t>"</a:t>
            </a:r>
            <a:r>
              <a:rPr lang="en-US" altLang="zh-TW" sz="1050" dirty="0">
                <a:solidFill>
                  <a:srgbClr val="0000FF"/>
                </a:solidFill>
              </a:rPr>
              <a:t> </a:t>
            </a:r>
            <a:r>
              <a:rPr lang="en-US" altLang="zh-TW" sz="1050" dirty="0" err="1">
                <a:solidFill>
                  <a:srgbClr val="0000FF"/>
                </a:solidFill>
              </a:rPr>
              <a:t>SetAudioCustomScene</a:t>
            </a:r>
            <a:r>
              <a:rPr lang="en-US" altLang="zh-TW" sz="1050" dirty="0">
                <a:solidFill>
                  <a:srgbClr val="0000FF"/>
                </a:solidFill>
              </a:rPr>
              <a:t>=app1,aa=</a:t>
            </a:r>
            <a:r>
              <a:rPr lang="en-US" altLang="zh-TW" sz="1050" dirty="0" err="1">
                <a:solidFill>
                  <a:srgbClr val="0000FF"/>
                </a:solidFill>
              </a:rPr>
              <a:t>bb,cc</a:t>
            </a:r>
            <a:r>
              <a:rPr lang="en-US" altLang="zh-TW" sz="1050" dirty="0">
                <a:solidFill>
                  <a:srgbClr val="0000FF"/>
                </a:solidFill>
              </a:rPr>
              <a:t>=</a:t>
            </a:r>
            <a:r>
              <a:rPr lang="en-US" altLang="zh-TW" sz="1050" dirty="0" err="1">
                <a:solidFill>
                  <a:srgbClr val="0000FF"/>
                </a:solidFill>
              </a:rPr>
              <a:t>dd</a:t>
            </a:r>
            <a:r>
              <a:rPr lang="en-US" altLang="zh-TW" sz="1050" dirty="0">
                <a:solidFill>
                  <a:srgbClr val="0000FF"/>
                </a:solidFill>
              </a:rPr>
              <a:t>”</a:t>
            </a:r>
            <a:endParaRPr lang="zh-TW" altLang="en-US" sz="1050" dirty="0">
              <a:solidFill>
                <a:srgbClr val="0000FF"/>
              </a:solidFill>
            </a:endParaRPr>
          </a:p>
        </p:txBody>
      </p:sp>
      <p:sp>
        <p:nvSpPr>
          <p:cNvPr id="17" name="矩形 16"/>
          <p:cNvSpPr/>
          <p:nvPr/>
        </p:nvSpPr>
        <p:spPr>
          <a:xfrm>
            <a:off x="6909474" y="951570"/>
            <a:ext cx="642844" cy="127007"/>
          </a:xfrm>
          <a:prstGeom prst="rect">
            <a:avLst/>
          </a:prstGeom>
          <a:solidFill>
            <a:srgbClr val="0066FF">
              <a:alpha val="301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sz="1350"/>
          </a:p>
        </p:txBody>
      </p:sp>
      <p:cxnSp>
        <p:nvCxnSpPr>
          <p:cNvPr id="19" name="直線單箭頭接點 18"/>
          <p:cNvCxnSpPr/>
          <p:nvPr/>
        </p:nvCxnSpPr>
        <p:spPr>
          <a:xfrm>
            <a:off x="7488324" y="1078576"/>
            <a:ext cx="0" cy="41305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矩形 19"/>
          <p:cNvSpPr/>
          <p:nvPr/>
        </p:nvSpPr>
        <p:spPr>
          <a:xfrm>
            <a:off x="4355977" y="3832937"/>
            <a:ext cx="1933799" cy="300082"/>
          </a:xfrm>
          <a:prstGeom prst="rect">
            <a:avLst/>
          </a:prstGeom>
        </p:spPr>
        <p:txBody>
          <a:bodyPr wrap="none">
            <a:spAutoFit/>
          </a:bodyPr>
          <a:lstStyle/>
          <a:p>
            <a:r>
              <a:rPr lang="zh-TW" altLang="en-US" sz="1350" dirty="0">
                <a:solidFill>
                  <a:srgbClr val="0000FF"/>
                </a:solidFill>
              </a:rPr>
              <a:t>demo_arsi_assign_lib_fp</a:t>
            </a:r>
          </a:p>
        </p:txBody>
      </p:sp>
      <p:pic>
        <p:nvPicPr>
          <p:cNvPr id="22" name="圖片 21"/>
          <p:cNvPicPr>
            <a:picLocks noChangeAspect="1"/>
          </p:cNvPicPr>
          <p:nvPr/>
        </p:nvPicPr>
        <p:blipFill>
          <a:blip r:embed="rId5" cstate="print"/>
          <a:stretch>
            <a:fillRect/>
          </a:stretch>
        </p:blipFill>
        <p:spPr>
          <a:xfrm>
            <a:off x="4409902" y="4166332"/>
            <a:ext cx="2214563" cy="221456"/>
          </a:xfrm>
          <a:prstGeom prst="rect">
            <a:avLst/>
          </a:prstGeom>
        </p:spPr>
      </p:pic>
      <p:sp>
        <p:nvSpPr>
          <p:cNvPr id="23" name="矩形 22"/>
          <p:cNvSpPr/>
          <p:nvPr/>
        </p:nvSpPr>
        <p:spPr>
          <a:xfrm>
            <a:off x="6570222" y="4152374"/>
            <a:ext cx="1572866" cy="253916"/>
          </a:xfrm>
          <a:prstGeom prst="rect">
            <a:avLst/>
          </a:prstGeom>
        </p:spPr>
        <p:txBody>
          <a:bodyPr wrap="none">
            <a:spAutoFit/>
          </a:bodyPr>
          <a:lstStyle/>
          <a:p>
            <a:r>
              <a:rPr lang="en-US" altLang="zh-TW" sz="1050" b="1" dirty="0">
                <a:solidFill>
                  <a:srgbClr val="FF0000"/>
                </a:solidFill>
              </a:rPr>
              <a:t>// phase out after V1.3.0</a:t>
            </a:r>
            <a:endParaRPr lang="zh-TW" altLang="en-US" sz="1050" dirty="0"/>
          </a:p>
        </p:txBody>
      </p:sp>
      <p:pic>
        <p:nvPicPr>
          <p:cNvPr id="25" name="圖片 24"/>
          <p:cNvPicPr>
            <a:picLocks noChangeAspect="1"/>
          </p:cNvPicPr>
          <p:nvPr/>
        </p:nvPicPr>
        <p:blipFill>
          <a:blip r:embed="rId6" cstate="print"/>
          <a:stretch>
            <a:fillRect/>
          </a:stretch>
        </p:blipFill>
        <p:spPr>
          <a:xfrm>
            <a:off x="4409903" y="4439602"/>
            <a:ext cx="2950369" cy="421481"/>
          </a:xfrm>
          <a:prstGeom prst="rect">
            <a:avLst/>
          </a:prstGeom>
        </p:spPr>
      </p:pic>
      <p:sp>
        <p:nvSpPr>
          <p:cNvPr id="26" name="文字方塊 25"/>
          <p:cNvSpPr txBox="1"/>
          <p:nvPr/>
        </p:nvSpPr>
        <p:spPr>
          <a:xfrm>
            <a:off x="7375266" y="4511738"/>
            <a:ext cx="491609" cy="300082"/>
          </a:xfrm>
          <a:prstGeom prst="rect">
            <a:avLst/>
          </a:prstGeom>
          <a:noFill/>
        </p:spPr>
        <p:txBody>
          <a:bodyPr wrap="none" rtlCol="0">
            <a:spAutoFit/>
          </a:bodyPr>
          <a:lstStyle/>
          <a:p>
            <a:r>
              <a:rPr lang="en-US" altLang="zh-TW" sz="1350" b="1" dirty="0">
                <a:solidFill>
                  <a:srgbClr val="0000FF"/>
                </a:solidFill>
              </a:rPr>
              <a:t>new</a:t>
            </a:r>
            <a:endParaRPr lang="zh-TW" altLang="en-US" sz="1350" b="1" dirty="0">
              <a:solidFill>
                <a:srgbClr val="0000FF"/>
              </a:solidFill>
            </a:endParaRPr>
          </a:p>
        </p:txBody>
      </p:sp>
      <p:sp>
        <p:nvSpPr>
          <p:cNvPr id="3" name="投影片編號版面配置區 2">
            <a:extLst>
              <a:ext uri="{FF2B5EF4-FFF2-40B4-BE49-F238E27FC236}">
                <a16:creationId xmlns:a16="http://schemas.microsoft.com/office/drawing/2014/main" id="{CF2F9A2D-CD87-46D0-9A33-B6AE4215B18D}"/>
              </a:ext>
            </a:extLst>
          </p:cNvPr>
          <p:cNvSpPr>
            <a:spLocks noGrp="1"/>
          </p:cNvSpPr>
          <p:nvPr>
            <p:ph type="sldNum" sz="quarter" idx="12"/>
          </p:nvPr>
        </p:nvSpPr>
        <p:spPr/>
        <p:txBody>
          <a:bodyPr/>
          <a:lstStyle/>
          <a:p>
            <a:fld id="{0E646775-B2E7-47D2-938B-19843E53D65D}" type="slidenum">
              <a:rPr lang="zh-TW" altLang="en-US" smtClean="0"/>
              <a:pPr/>
              <a:t>37</a:t>
            </a:fld>
            <a:endParaRPr lang="zh-TW" altLang="en-US"/>
          </a:p>
        </p:txBody>
      </p:sp>
    </p:spTree>
    <p:extLst>
      <p:ext uri="{BB962C8B-B14F-4D97-AF65-F5344CB8AC3E}">
        <p14:creationId xmlns:p14="http://schemas.microsoft.com/office/powerpoint/2010/main" val="26551362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9">
            <a:extLst>
              <a:ext uri="{FF2B5EF4-FFF2-40B4-BE49-F238E27FC236}">
                <a16:creationId xmlns:a16="http://schemas.microsoft.com/office/drawing/2014/main" id="{C4534A0C-3037-48A5-91C3-685E15E2F8D6}"/>
              </a:ext>
            </a:extLst>
          </p:cNvPr>
          <p:cNvSpPr txBox="1"/>
          <p:nvPr/>
        </p:nvSpPr>
        <p:spPr>
          <a:xfrm>
            <a:off x="1632931" y="2377914"/>
            <a:ext cx="4937760" cy="1816608"/>
          </a:xfrm>
          <a:prstGeom prst="rect">
            <a:avLst/>
          </a:prstGeom>
        </p:spPr>
        <p:txBody>
          <a:bodyPr wrap="square" lIns="0" tIns="0" rIns="0" bIns="0" rtlCol="0">
            <a:noAutofit/>
          </a:bodyPr>
          <a:lstStyle/>
          <a:p>
            <a:r>
              <a:rPr lang="en-US" altLang="zh-CN" sz="3200" b="1" dirty="0">
                <a:solidFill>
                  <a:schemeClr val="bg1"/>
                </a:solidFill>
                <a:latin typeface="+mn-lt"/>
                <a:ea typeface="Microsoft YaHei" panose="020B0503020204020204" pitchFamily="34" charset="-122"/>
              </a:rPr>
              <a:t>Thank</a:t>
            </a:r>
            <a:r>
              <a:rPr lang="en-US" altLang="zh-CN" sz="3200" b="1" baseline="0" dirty="0">
                <a:solidFill>
                  <a:schemeClr val="bg1"/>
                </a:solidFill>
                <a:latin typeface="+mn-lt"/>
                <a:ea typeface="Microsoft YaHei" panose="020B0503020204020204" pitchFamily="34" charset="-122"/>
              </a:rPr>
              <a:t> you </a:t>
            </a:r>
            <a:endParaRPr lang="en-US" altLang="zh-TW" sz="3200" b="1" dirty="0">
              <a:solidFill>
                <a:schemeClr val="bg1"/>
              </a:solidFill>
              <a:latin typeface="+mn-lt"/>
              <a:ea typeface="Microsoft YaHei" panose="020B0503020204020204" pitchFamily="34" charset="-122"/>
            </a:endParaRPr>
          </a:p>
          <a:p>
            <a:r>
              <a:rPr lang="en-US" altLang="zh-TW" sz="2000" b="1" dirty="0">
                <a:solidFill>
                  <a:schemeClr val="bg1"/>
                </a:solidFill>
                <a:latin typeface="+mn-lt"/>
                <a:ea typeface="Microsoft YaHei" panose="020B0503020204020204" pitchFamily="34" charset="-122"/>
              </a:rPr>
              <a:t>Question</a:t>
            </a:r>
            <a:r>
              <a:rPr lang="en-US" altLang="zh-TW" sz="2000" b="1" baseline="0" dirty="0">
                <a:solidFill>
                  <a:schemeClr val="bg1"/>
                </a:solidFill>
                <a:latin typeface="+mn-lt"/>
                <a:ea typeface="Microsoft YaHei" panose="020B0503020204020204" pitchFamily="34" charset="-122"/>
              </a:rPr>
              <a:t>s and Discussions</a:t>
            </a:r>
            <a:endParaRPr lang="en-US" altLang="zh-TW" sz="2000" b="1" dirty="0">
              <a:solidFill>
                <a:schemeClr val="bg1"/>
              </a:solidFill>
              <a:latin typeface="+mn-lt"/>
              <a:ea typeface="Microsoft YaHei" panose="020B0503020204020204" pitchFamily="34" charset="-122"/>
            </a:endParaRPr>
          </a:p>
        </p:txBody>
      </p:sp>
    </p:spTree>
    <p:extLst>
      <p:ext uri="{BB962C8B-B14F-4D97-AF65-F5344CB8AC3E}">
        <p14:creationId xmlns:p14="http://schemas.microsoft.com/office/powerpoint/2010/main" val="377083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MediaTek">
  <a:themeElements>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fontScheme name="Mediatek_Calibri">
      <a:majorFont>
        <a:latin typeface="Calibri"/>
        <a:ea typeface="Microsoft YaHei"/>
        <a:cs typeface=""/>
      </a:majorFont>
      <a:minorFont>
        <a:latin typeface="Calibri"/>
        <a:ea typeface="Microsoft YaHei"/>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none" lIns="0" tIns="0" rIns="0" bIns="0">
        <a:noAutofit/>
      </a:bodyPr>
      <a:lstStyle>
        <a:defPPr>
          <a:defRPr dirty="0" smtClean="0"/>
        </a:defPPr>
      </a:lstStyle>
    </a:txDef>
  </a:objectDefaults>
  <a:extraClrSchemeLst/>
  <a:extLst>
    <a:ext uri="{05A4C25C-085E-4340-85A3-A5531E510DB2}">
      <thm15:themeFamily xmlns:thm15="http://schemas.microsoft.com/office/thememl/2012/main" name="MediaTek_Template" id="{9C6B977F-C0D9-430E-8799-E3053E76E68D}" vid="{914357AE-C0F4-4F70-8B2C-2A5F2B5CA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2.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2A53B7DB280546A20112FD2EF61E0F" ma:contentTypeVersion="8" ma:contentTypeDescription="Create a new document." ma:contentTypeScope="" ma:versionID="93dbae95c85826a351b64e5a9c00c7f1">
  <xsd:schema xmlns:xsd="http://www.w3.org/2001/XMLSchema" xmlns:xs="http://www.w3.org/2001/XMLSchema" xmlns:p="http://schemas.microsoft.com/office/2006/metadata/properties" xmlns:ns2="http://schemas.microsoft.com/sharepoint/v4" xmlns:ns3="8b8cf6ce-236f-4713-896e-b4ec346257bb" xmlns:ns4="58b0650e-828d-46c1-af00-111984e5092a" xmlns:ns5="7a58c3ed-4a22-4d08-9ddf-2c2b66cc6605" targetNamespace="http://schemas.microsoft.com/office/2006/metadata/properties" ma:root="true" ma:fieldsID="f8eeb43b36309ba801eb86731cfe2d05" ns2:_="" ns3:_="" ns4:_="" ns5:_="">
    <xsd:import namespace="http://schemas.microsoft.com/sharepoint/v4"/>
    <xsd:import namespace="8b8cf6ce-236f-4713-896e-b4ec346257bb"/>
    <xsd:import namespace="58b0650e-828d-46c1-af00-111984e5092a"/>
    <xsd:import namespace="7a58c3ed-4a22-4d08-9ddf-2c2b66cc6605"/>
    <xsd:element name="properties">
      <xsd:complexType>
        <xsd:sequence>
          <xsd:element name="documentManagement">
            <xsd:complexType>
              <xsd:all>
                <xsd:element ref="ns2:IconOverlay" minOccurs="0"/>
                <xsd:element ref="ns3:SharedWithUsers" minOccurs="0"/>
                <xsd:element ref="ns4:SharedWithDetails" minOccurs="0"/>
                <xsd:element ref="ns5:Sensi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8cf6ce-236f-4713-896e-b4ec346257bb"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8b0650e-828d-46c1-af00-111984e5092a" elementFormDefault="qualified">
    <xsd:import namespace="http://schemas.microsoft.com/office/2006/documentManagement/types"/>
    <xsd:import namespace="http://schemas.microsoft.com/office/infopath/2007/PartnerControls"/>
    <xsd:element name="SharedWithDetails" ma:index="10"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a58c3ed-4a22-4d08-9ddf-2c2b66cc6605" elementFormDefault="qualified">
    <xsd:import namespace="http://schemas.microsoft.com/office/2006/documentManagement/types"/>
    <xsd:import namespace="http://schemas.microsoft.com/office/infopath/2007/PartnerControls"/>
    <xsd:element name="Sensitivity" ma:index="11" nillable="true" ma:displayName="Sensitivity" ma:internalName="Sensitivit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Sensitivity xmlns="7a58c3ed-4a22-4d08-9ddf-2c2b66cc6605">Confidential C/No Encryption</Sensitivity>
  </documentManagement>
</p:properties>
</file>

<file path=customXml/itemProps1.xml><?xml version="1.0" encoding="utf-8"?>
<ds:datastoreItem xmlns:ds="http://schemas.openxmlformats.org/officeDocument/2006/customXml" ds:itemID="{C399CE01-4A96-4AC1-B920-415C2BCE5E48}"/>
</file>

<file path=customXml/itemProps2.xml><?xml version="1.0" encoding="utf-8"?>
<ds:datastoreItem xmlns:ds="http://schemas.openxmlformats.org/officeDocument/2006/customXml" ds:itemID="{5045EA8B-AEFD-4CAB-A80B-5A2161D51A87}">
  <ds:schemaRefs>
    <ds:schemaRef ds:uri="http://schemas.microsoft.com/sharepoint/v3/contenttype/forms"/>
  </ds:schemaRefs>
</ds:datastoreItem>
</file>

<file path=customXml/itemProps3.xml><?xml version="1.0" encoding="utf-8"?>
<ds:datastoreItem xmlns:ds="http://schemas.openxmlformats.org/officeDocument/2006/customXml" ds:itemID="{1B290066-2FD5-4238-86DC-2E79CF94F98C}">
  <ds:schemaRefs>
    <ds:schemaRef ds:uri="http://schemas.microsoft.com/sharepoint/v4"/>
    <ds:schemaRef ds:uri="http://purl.org/dc/elements/1.1/"/>
    <ds:schemaRef ds:uri="http://schemas.microsoft.com/office/2006/metadata/properties"/>
    <ds:schemaRef ds:uri="http://www.w3.org/XML/1998/namespace"/>
    <ds:schemaRef ds:uri="http://schemas.microsoft.com/office/infopath/2007/PartnerControls"/>
    <ds:schemaRef ds:uri="http://purl.org/dc/terms/"/>
    <ds:schemaRef ds:uri="http://purl.org/dc/dcmitype/"/>
    <ds:schemaRef ds:uri="http://schemas.microsoft.com/office/2006/documentManagement/types"/>
    <ds:schemaRef ds:uri="http://schemas.openxmlformats.org/package/2006/metadata/core-properties"/>
    <ds:schemaRef ds:uri="58b0650e-828d-46c1-af00-111984e5092a"/>
    <ds:schemaRef ds:uri="8b8cf6ce-236f-4713-896e-b4ec346257bb"/>
  </ds:schemaRefs>
</ds:datastoreItem>
</file>

<file path=docMetadata/LabelInfo.xml><?xml version="1.0" encoding="utf-8"?>
<clbl:labelList xmlns:clbl="http://schemas.microsoft.com/office/2020/mipLabelMetadata">
  <clbl:label id="{70e9e632-9c24-4e48-b9cc-72066e7cfd15}" enabled="1" method="Privileged" siteId="{a7687ede-7a6b-4ef6-bace-642f677fbe31}" contentBits="1" removed="0"/>
</clbl:labelList>
</file>

<file path=docProps/app.xml><?xml version="1.0" encoding="utf-8"?>
<Properties xmlns="http://schemas.openxmlformats.org/officeDocument/2006/extended-properties" xmlns:vt="http://schemas.openxmlformats.org/officeDocument/2006/docPropsVTypes">
  <Template>MediaTek_Template</Template>
  <TotalTime>4427</TotalTime>
  <Words>3239</Words>
  <Application>Microsoft Office PowerPoint</Application>
  <PresentationFormat>如螢幕大小 (16:9)</PresentationFormat>
  <Paragraphs>572</Paragraphs>
  <Slides>38</Slides>
  <Notes>5</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38</vt:i4>
      </vt:variant>
    </vt:vector>
  </HeadingPairs>
  <TitlesOfParts>
    <vt:vector size="46" baseType="lpstr">
      <vt:lpstr>Lucida Grande</vt:lpstr>
      <vt:lpstr>Microsoft YaHei</vt:lpstr>
      <vt:lpstr>Riona Sans Regular</vt:lpstr>
      <vt:lpstr>Arial</vt:lpstr>
      <vt:lpstr>Calibri</vt:lpstr>
      <vt:lpstr>Calibri Light</vt:lpstr>
      <vt:lpstr>Wingdings</vt:lpstr>
      <vt:lpstr>1_MediaTek</vt:lpstr>
      <vt:lpstr>PowerPoint 簡報</vt:lpstr>
      <vt:lpstr>Outline</vt:lpstr>
      <vt:lpstr>Aurisys Lib Verifier Introduction</vt:lpstr>
      <vt:lpstr>Lib Verifier Version</vt:lpstr>
      <vt:lpstr>File/Folder Structure Description</vt:lpstr>
      <vt:lpstr>x86 linux environment  -Build/Run Demo Lib &amp; Lib Verifier</vt:lpstr>
      <vt:lpstr>Android environment  – Build/Run Demo Lib &amp; Lib Verifier</vt:lpstr>
      <vt:lpstr>Xplorer Simulator – Build/Run Demo Lib &amp; Lib Verifier  – Install MTK HW Configuration</vt:lpstr>
      <vt:lpstr>Xplorer Simulator - Import Lib Verifier Workspace</vt:lpstr>
      <vt:lpstr>Xplorer Simulator - Build &amp; Run Lib Verifier</vt:lpstr>
      <vt:lpstr>MRV PDK - Import PDK Lib Verifier Projects</vt:lpstr>
      <vt:lpstr>MRV PDK - Import PDK Lib Verifier Projects</vt:lpstr>
      <vt:lpstr>MRV PDK - Build</vt:lpstr>
      <vt:lpstr>MRV PDK - Run</vt:lpstr>
      <vt:lpstr>Trouble Shooting</vt:lpstr>
      <vt:lpstr>3rd party lib verification</vt:lpstr>
      <vt:lpstr>Verification Flow</vt:lpstr>
      <vt:lpstr>Test_case_config.h</vt:lpstr>
      <vt:lpstr>Playback Test Config Structure</vt:lpstr>
      <vt:lpstr>Record Test Config Structure</vt:lpstr>
      <vt:lpstr>Phone Call/VoIP Test Config Structure</vt:lpstr>
      <vt:lpstr>device_config.h</vt:lpstr>
      <vt:lpstr>Update Makefile</vt:lpstr>
      <vt:lpstr>Update Android.mk</vt:lpstr>
      <vt:lpstr>Check Test Result – Pass Case</vt:lpstr>
      <vt:lpstr>Check Test Result – Failure Case</vt:lpstr>
      <vt:lpstr>Lib dump parser</vt:lpstr>
      <vt:lpstr>Compile &amp; Run Lib Dump Parser</vt:lpstr>
      <vt:lpstr>3rd party release to mtk</vt:lpstr>
      <vt:lpstr>Release Packages</vt:lpstr>
      <vt:lpstr>appendix</vt:lpstr>
      <vt:lpstr>NEVER Change API Files!!</vt:lpstr>
      <vt:lpstr>Entry points – Dynamic Link (HAL)</vt:lpstr>
      <vt:lpstr>Entry points - Static Link(FreeRTOS)</vt:lpstr>
      <vt:lpstr>Dump for processing (VM/EPL/…)</vt:lpstr>
      <vt:lpstr>PowerPoint 簡報</vt:lpstr>
      <vt:lpstr>New Parsing API</vt:lpstr>
      <vt:lpstr>PowerPoint 簡報</vt:lpstr>
    </vt:vector>
  </TitlesOfParts>
  <Company>MediaTek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LibVerifier User Guide</dc:title>
  <dc:creator>Yuying Lin (林雨瑩)</dc:creator>
  <cp:keywords/>
  <cp:lastModifiedBy>Rui-yang Weng (翁瑞陽)</cp:lastModifiedBy>
  <cp:revision>7</cp:revision>
  <dcterms:created xsi:type="dcterms:W3CDTF">2023-06-12T05:59:33Z</dcterms:created>
  <dcterms:modified xsi:type="dcterms:W3CDTF">2024-10-14T03:40:14Z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0x010100FC2A53B7DB280546A20112FD2EF61E0F</vt:lpwstr>
  </property>
  <property fmtid="{D5CDD505-2E9C-101B-9397-08002B2CF9AE}" pid="3" name="ExpireDate">
    <vt:lpwstr>Permanent</vt:lpwstr>
  </property>
  <property fmtid="{D5CDD505-2E9C-101B-9397-08002B2CF9AE}" pid="4" name="Publisher">
    <vt:lpwstr>Carmen Kuo (郭建伶)</vt:lpwstr>
  </property>
  <property fmtid="{D5CDD505-2E9C-101B-9397-08002B2CF9AE}" pid="5" name="MSIP_Label_70e9e632-9c24-4e48-b9cc-72066e7cfd15_Enabled">
    <vt:lpwstr>true</vt:lpwstr>
  </property>
  <property fmtid="{D5CDD505-2E9C-101B-9397-08002B2CF9AE}" pid="6" name="MSIP_Label_70e9e632-9c24-4e48-b9cc-72066e7cfd15_SetDate">
    <vt:lpwstr>2023-06-12T08:18:06Z</vt:lpwstr>
  </property>
  <property fmtid="{D5CDD505-2E9C-101B-9397-08002B2CF9AE}" pid="7" name="MSIP_Label_70e9e632-9c24-4e48-b9cc-72066e7cfd15_Method">
    <vt:lpwstr>Privileged</vt:lpwstr>
  </property>
  <property fmtid="{D5CDD505-2E9C-101B-9397-08002B2CF9AE}" pid="8" name="MSIP_Label_70e9e632-9c24-4e48-b9cc-72066e7cfd15_Name">
    <vt:lpwstr>MTK_Confidential_C_Normal</vt:lpwstr>
  </property>
  <property fmtid="{D5CDD505-2E9C-101B-9397-08002B2CF9AE}" pid="9" name="MSIP_Label_70e9e632-9c24-4e48-b9cc-72066e7cfd15_SiteId">
    <vt:lpwstr>a7687ede-7a6b-4ef6-bace-642f677fbe31</vt:lpwstr>
  </property>
  <property fmtid="{D5CDD505-2E9C-101B-9397-08002B2CF9AE}" pid="10" name="MSIP_Label_70e9e632-9c24-4e48-b9cc-72066e7cfd15_ActionId">
    <vt:lpwstr>66c2e5c0-0dec-4b4e-9e0c-96325600c709</vt:lpwstr>
  </property>
  <property fmtid="{D5CDD505-2E9C-101B-9397-08002B2CF9AE}" pid="11" name="MSIP_Label_70e9e632-9c24-4e48-b9cc-72066e7cfd15_ContentBits">
    <vt:lpwstr>1</vt:lpwstr>
  </property>
</Properties>
</file>