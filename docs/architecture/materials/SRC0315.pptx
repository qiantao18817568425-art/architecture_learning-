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27"/>
  </p:notesMasterIdLst>
  <p:sldIdLst>
    <p:sldId id="257" r:id="rId3"/>
    <p:sldId id="272" r:id="rId4"/>
    <p:sldId id="260" r:id="rId5"/>
    <p:sldId id="261" r:id="rId6"/>
    <p:sldId id="273" r:id="rId7"/>
    <p:sldId id="262" r:id="rId8"/>
    <p:sldId id="263" r:id="rId9"/>
    <p:sldId id="281" r:id="rId10"/>
    <p:sldId id="259" r:id="rId11"/>
    <p:sldId id="277" r:id="rId12"/>
    <p:sldId id="280" r:id="rId13"/>
    <p:sldId id="274" r:id="rId14"/>
    <p:sldId id="264" r:id="rId15"/>
    <p:sldId id="285" r:id="rId16"/>
    <p:sldId id="265" r:id="rId17"/>
    <p:sldId id="284" r:id="rId18"/>
    <p:sldId id="267" r:id="rId19"/>
    <p:sldId id="287" r:id="rId20"/>
    <p:sldId id="270" r:id="rId21"/>
    <p:sldId id="276" r:id="rId22"/>
    <p:sldId id="271" r:id="rId23"/>
    <p:sldId id="278" r:id="rId24"/>
    <p:sldId id="283" r:id="rId25"/>
    <p:sldId id="25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4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ustomXml" Target="../customXml/item3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AEAF5-460B-453E-9F01-7961BA428C52}" type="datetimeFigureOut">
              <a:rPr lang="en-US" smtClean="0"/>
              <a:pPr/>
              <a:t>7/11/2018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2A4AF-5012-48F6-BDCA-BC6262C689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0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778118-F6EC-4B1B-8B09-A4F5CB5943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0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778118-F6EC-4B1B-8B09-A4F5CB5943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33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2A4AF-5012-48F6-BDCA-BC6262C6891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4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2A4AF-5012-48F6-BDCA-BC6262C6891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6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2133" y="3835403"/>
            <a:ext cx="6790267" cy="1058330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rgbClr val="F382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792133" y="1463067"/>
            <a:ext cx="6790267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pic>
        <p:nvPicPr>
          <p:cNvPr id="5" name="Picture 4" descr="Logotyp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83" y="1539265"/>
            <a:ext cx="3161115" cy="584454"/>
          </a:xfrm>
          <a:prstGeom prst="rect">
            <a:avLst/>
          </a:prstGeom>
          <a:effectLst/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4792134" y="1090519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rgbClr val="F3821E"/>
                </a:solidFill>
              </a:rPr>
              <a:t>CONFIDENTIAL A</a:t>
            </a:r>
            <a:endParaRPr lang="en-US" altLang="zh-TW" sz="800" b="1" dirty="0">
              <a:solidFill>
                <a:srgbClr val="F3821E"/>
              </a:solidFill>
            </a:endParaRPr>
          </a:p>
        </p:txBody>
      </p:sp>
      <p:pic>
        <p:nvPicPr>
          <p:cNvPr id="2" name="Picture 1" descr="pattern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4"/>
            <a:ext cx="12192000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328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agline-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889" y="2484967"/>
            <a:ext cx="5418667" cy="1762760"/>
          </a:xfrm>
          <a:prstGeom prst="rect">
            <a:avLst/>
          </a:prstGeom>
        </p:spPr>
      </p:pic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949348" y="6226176"/>
            <a:ext cx="3841749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7735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1"/>
            <a:ext cx="10972800" cy="1134535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259B3-CCD1-4528-8335-80E67F02D2E9}" type="datetime1">
              <a:rPr lang="en-US" smtClean="0"/>
              <a:t>7/11/2018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609600" y="1854201"/>
            <a:ext cx="10972800" cy="431440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8975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129818"/>
            <a:ext cx="10363200" cy="1362075"/>
          </a:xfrm>
        </p:spPr>
        <p:txBody>
          <a:bodyPr anchor="t">
            <a:normAutofit/>
          </a:bodyPr>
          <a:lstStyle>
            <a:lvl1pPr algn="l">
              <a:defRPr sz="3000" b="1" cap="all" spc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644" y="2619306"/>
            <a:ext cx="10363200" cy="1500187"/>
          </a:xfrm>
        </p:spPr>
        <p:txBody>
          <a:bodyPr anchor="b"/>
          <a:lstStyle>
            <a:lvl1pPr marL="0" indent="0">
              <a:buNone/>
              <a:defRPr sz="2000" b="1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A82A-9E1F-410D-B421-EF1044307600}" type="datetime1">
              <a:rPr lang="en-US" smtClean="0"/>
              <a:t>7/11/2018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44134"/>
            <a:ext cx="5384800" cy="4203367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44132"/>
            <a:ext cx="5384800" cy="4203368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8626E-2483-4EE8-A85F-0395EC9E5C44}" type="datetime1">
              <a:rPr lang="en-US" smtClean="0"/>
              <a:t>7/11/2018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2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3"/>
            <a:ext cx="5386917" cy="51646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60601"/>
            <a:ext cx="5386917" cy="375681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744133"/>
            <a:ext cx="5389033" cy="51646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260601"/>
            <a:ext cx="5389033" cy="375681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7FE93-D7B0-41CC-916F-5212626B2CDE}" type="datetime1">
              <a:rPr lang="en-US" smtClean="0"/>
              <a:t>7/11/2018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5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7C1D-CAB2-47AE-8798-2397BEE669C2}" type="datetime1">
              <a:rPr lang="en-US" smtClean="0"/>
              <a:t>7/11/2018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4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5C07E-86B6-4956-A50A-C44A4FA25A4D}" type="datetime1">
              <a:rPr lang="en-US" smtClean="0"/>
              <a:t>7/11/2018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770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70039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3200"/>
            </a:lvl1pPr>
            <a:lvl2pPr>
              <a:defRPr sz="28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53834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9D97-3DE9-4EDD-98FC-B0432F5E195E}" type="datetime1">
              <a:rPr lang="en-US" smtClean="0"/>
              <a:t>7/11/2018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4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497344"/>
            <a:ext cx="7315200" cy="566739"/>
          </a:xfrm>
        </p:spPr>
        <p:txBody>
          <a:bodyPr anchor="b"/>
          <a:lstStyle>
            <a:lvl1pPr algn="l">
              <a:defRPr sz="2000" b="1" spc="0">
                <a:solidFill>
                  <a:schemeClr val="accent1"/>
                </a:solidFill>
              </a:defRPr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38692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064082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D050-6D8B-44BF-936D-1177DD9E55FA}" type="datetime1">
              <a:rPr lang="en-US" smtClean="0"/>
              <a:t>7/11/2018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52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6E80-5DC7-490B-ABE3-23DBAEEA2731}" type="datetime1">
              <a:rPr lang="en-US" smtClean="0"/>
              <a:t>7/11/2018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83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69880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69880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AE3F-C228-4179-BB54-604A4F083520}" type="datetime1">
              <a:rPr lang="en-US" smtClean="0"/>
              <a:t>7/11/2018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44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83" y="1539268"/>
            <a:ext cx="3161115" cy="584454"/>
          </a:xfrm>
          <a:prstGeom prst="rect">
            <a:avLst/>
          </a:prstGeom>
          <a:effectLst/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4792133" y="3835403"/>
            <a:ext cx="6790267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4792133" y="1463067"/>
            <a:ext cx="6790267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bg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4792134" y="1090519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chemeClr val="accent1"/>
                </a:solidFill>
              </a:rPr>
              <a:t>CONFIDENTIAL A</a:t>
            </a:r>
            <a:endParaRPr lang="en-US" altLang="zh-TW" sz="800" b="1" dirty="0">
              <a:solidFill>
                <a:schemeClr val="accent1"/>
              </a:solidFill>
            </a:endParaRPr>
          </a:p>
        </p:txBody>
      </p:sp>
      <p:pic>
        <p:nvPicPr>
          <p:cNvPr id="10" name="Picture 9" descr="pattern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4"/>
            <a:ext cx="12192000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513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End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889" y="2484967"/>
            <a:ext cx="5418667" cy="1762760"/>
          </a:xfrm>
          <a:prstGeom prst="rect">
            <a:avLst/>
          </a:prstGeom>
        </p:spPr>
      </p:pic>
      <p:sp>
        <p:nvSpPr>
          <p:cNvPr id="11" name="Text Box 8"/>
          <p:cNvSpPr txBox="1">
            <a:spLocks noChangeArrowheads="1"/>
          </p:cNvSpPr>
          <p:nvPr userDrawn="1"/>
        </p:nvSpPr>
        <p:spPr bwMode="auto">
          <a:xfrm>
            <a:off x="3949348" y="6226176"/>
            <a:ext cx="3841749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541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0"/>
            <a:ext cx="10972800" cy="1468966"/>
          </a:xfrm>
        </p:spPr>
        <p:txBody>
          <a:bodyPr tIns="0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71134"/>
            <a:ext cx="10972800" cy="42545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5283200" y="6775451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 smtClean="0"/>
          </a:p>
          <a:p>
            <a:endParaRPr lang="en-US" sz="180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BC9B626-32C5-411A-A5F3-7602D1590E25}" type="datetime1">
              <a:rPr lang="en-US" smtClean="0"/>
              <a:t>7/11/2018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103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185"/>
            <a:ext cx="10363200" cy="15007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spc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 smtClean="0"/>
              <a:t>CLICK TO EDIT MASTER TEXT STYLES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20AA6517-047E-4BCF-9CE0-B8CF8F267A80}" type="datetime1">
              <a:rPr lang="en-US" smtClean="0"/>
              <a:t>7/11/2018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576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2F252FCC-3040-4442-BCE3-0118C8A408AC}" type="datetime1">
              <a:rPr lang="en-US" smtClean="0"/>
              <a:t>7/11/2018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2761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4585"/>
            <a:ext cx="5386917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4585"/>
            <a:ext cx="5389033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5934"/>
            <a:ext cx="5389033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2819795-CFE2-427B-9EEC-5B83B29F8CD0}" type="datetime1">
              <a:rPr lang="en-US" smtClean="0"/>
              <a:t>7/11/2018</a:t>
            </a:fld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465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A9A935C-C01A-45E2-8CD9-AFDDF846479E}" type="datetime1">
              <a:rPr lang="en-US" smtClean="0"/>
              <a:t>7/11/2018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941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09E09A-4846-43A4-AC16-C5DD76762B38}" type="datetime1">
              <a:rPr lang="en-US" smtClean="0"/>
              <a:t>7/11/2018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498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3"/>
            <a:ext cx="4011084" cy="1162049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258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4" cy="4690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ED736188-DEAA-4209-BC5F-722D092C9562}" type="datetime1">
              <a:rPr lang="en-US" smtClean="0"/>
              <a:t>7/11/2018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318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800601"/>
            <a:ext cx="7315200" cy="567267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868"/>
            <a:ext cx="7315200" cy="804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A9206FC-F4FB-474D-9B01-9C881FBD7596}" type="datetime1">
              <a:rPr lang="en-US" smtClean="0"/>
              <a:t>7/11/2018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2338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2"/>
            <a:ext cx="10972800" cy="452543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DEBF64F-B29C-4346-8918-7A120F89396E}" type="datetime1">
              <a:rPr lang="en-US" smtClean="0"/>
              <a:t>7/11/2018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4641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5168"/>
            <a:ext cx="2743200" cy="585046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5168"/>
            <a:ext cx="8026400" cy="58504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C54C201-6594-4F88-956C-5A421694C1AB}" type="datetime1">
              <a:rPr lang="en-US" smtClean="0"/>
              <a:t>7/11/2018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53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10972800" cy="113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4"/>
            <a:ext cx="109728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B01691EB-CB9C-41D9-AFE9-0BB1F0C0F8D0}" type="datetime1">
              <a:rPr lang="en-US" smtClean="0"/>
              <a:t>7/11/2018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rgbClr val="F3821E"/>
                </a:solidFill>
              </a:defRPr>
            </a:lvl1pPr>
          </a:lstStyle>
          <a:p>
            <a:fld id="{C02B0950-7351-4497-8EF1-014BDD79AA1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type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37" y="6361223"/>
            <a:ext cx="1014375" cy="190561"/>
          </a:xfrm>
          <a:prstGeom prst="rect">
            <a:avLst/>
          </a:prstGeom>
        </p:spPr>
      </p:pic>
      <p:sp>
        <p:nvSpPr>
          <p:cNvPr id="9" name="Footer Placeholder 4"/>
          <p:cNvSpPr txBox="1">
            <a:spLocks/>
          </p:cNvSpPr>
          <p:nvPr/>
        </p:nvSpPr>
        <p:spPr>
          <a:xfrm>
            <a:off x="1921934" y="6273801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rgbClr val="F3821E"/>
                </a:solidFill>
              </a:rPr>
              <a:t>CONFIDENTIAL A</a:t>
            </a:r>
            <a:endParaRPr lang="en-US" altLang="zh-TW" sz="800" b="1" dirty="0">
              <a:solidFill>
                <a:srgbClr val="F382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097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457200" rtl="0" eaLnBrk="1" latinLnBrk="0" hangingPunct="1">
        <a:lnSpc>
          <a:spcPct val="80000"/>
        </a:lnSpc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Calibri Bold"/>
        <a:buChar char="▪"/>
        <a:defRPr sz="32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1"/>
        </a:buClr>
        <a:buFont typeface="Calibri Bold"/>
        <a:buChar char="•"/>
        <a:defRPr sz="28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Calibri Bold"/>
        <a:buChar char="▪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1"/>
        </a:buClr>
        <a:buFont typeface="Calibri Bold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Calibri Bold"/>
        <a:buChar char="▪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4689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F8E5FDB4-7867-4955-B8F1-559CEEF69D73}" type="datetime1">
              <a:rPr lang="en-US" smtClean="0"/>
              <a:t>7/11/2018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rgbClr val="F3821E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/>
          <p:cNvSpPr txBox="1">
            <a:spLocks/>
          </p:cNvSpPr>
          <p:nvPr/>
        </p:nvSpPr>
        <p:spPr>
          <a:xfrm>
            <a:off x="1921934" y="6273801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rgbClr val="F3821E"/>
                </a:solidFill>
              </a:rPr>
              <a:t>CONFIDENTIAL A</a:t>
            </a:r>
            <a:endParaRPr lang="en-US" altLang="zh-TW" sz="800" b="1" dirty="0">
              <a:solidFill>
                <a:srgbClr val="F3821E"/>
              </a:solidFill>
            </a:endParaRPr>
          </a:p>
        </p:txBody>
      </p:sp>
      <p:pic>
        <p:nvPicPr>
          <p:cNvPr id="18" name="Picture 17" descr="Logotype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84831" y="6361222"/>
            <a:ext cx="1030680" cy="190561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4"/>
            <a:ext cx="109728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625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SzPct val="100000"/>
        <a:buFont typeface="Lucida Grande"/>
        <a:buChar char="▪"/>
        <a:defRPr sz="3200" kern="1200" spc="-15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bg1"/>
        </a:buClr>
        <a:buFont typeface="Arial"/>
        <a:buChar char="•"/>
        <a:defRPr sz="2800" kern="1200" spc="-15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-15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Calibri Bold"/>
        <a:buChar char="•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 smtClean="0"/>
              <a:t>Mediatek</a:t>
            </a:r>
            <a:endParaRPr 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Aurisys</a:t>
            </a:r>
            <a:r>
              <a:rPr lang="en-US" dirty="0" smtClean="0"/>
              <a:t> Tuning Guide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4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432001"/>
            <a:ext cx="10972800" cy="663631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186249"/>
            <a:ext cx="10972800" cy="4982354"/>
          </a:xfrm>
        </p:spPr>
        <p:txBody>
          <a:bodyPr/>
          <a:lstStyle/>
          <a:p>
            <a:r>
              <a:rPr lang="en-US" dirty="0" err="1" smtClean="0"/>
              <a:t>Aurisys</a:t>
            </a:r>
            <a:r>
              <a:rPr lang="en-US" dirty="0" smtClean="0"/>
              <a:t> Tuning Overview</a:t>
            </a:r>
          </a:p>
          <a:p>
            <a:r>
              <a:rPr lang="en-US" dirty="0" smtClean="0"/>
              <a:t>Interfaces</a:t>
            </a:r>
          </a:p>
          <a:p>
            <a:r>
              <a:rPr lang="en-US" dirty="0" err="1" smtClean="0"/>
              <a:t>Aurisys</a:t>
            </a:r>
            <a:r>
              <a:rPr lang="en-US" dirty="0" smtClean="0"/>
              <a:t> Static and Dynamic Tuning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9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432001"/>
            <a:ext cx="10972800" cy="663631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186249"/>
            <a:ext cx="10972800" cy="4982354"/>
          </a:xfrm>
        </p:spPr>
        <p:txBody>
          <a:bodyPr/>
          <a:lstStyle/>
          <a:p>
            <a:r>
              <a:rPr lang="en-US" b="1" dirty="0" err="1" smtClean="0"/>
              <a:t>Aurisys</a:t>
            </a:r>
            <a:r>
              <a:rPr lang="en-US" b="1" dirty="0" smtClean="0"/>
              <a:t> Tuning Overview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Interfaces</a:t>
            </a:r>
          </a:p>
          <a:p>
            <a:r>
              <a:rPr lang="en-US" dirty="0" err="1" smtClean="0">
                <a:solidFill>
                  <a:schemeClr val="tx2"/>
                </a:solidFill>
              </a:rPr>
              <a:t>Aurisys</a:t>
            </a:r>
            <a:r>
              <a:rPr lang="en-US" dirty="0" smtClean="0">
                <a:solidFill>
                  <a:schemeClr val="tx2"/>
                </a:solidFill>
              </a:rPr>
              <a:t> Static and </a:t>
            </a:r>
            <a:r>
              <a:rPr lang="en-US" dirty="0">
                <a:solidFill>
                  <a:schemeClr val="tx2"/>
                </a:solidFill>
              </a:rPr>
              <a:t>Dynamic</a:t>
            </a:r>
            <a:r>
              <a:rPr lang="en-US" dirty="0" smtClean="0">
                <a:solidFill>
                  <a:schemeClr val="tx2"/>
                </a:solidFill>
              </a:rPr>
              <a:t> Tuning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7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25" name="內容版面配置區 24"/>
          <p:cNvSpPr>
            <a:spLocks noGrp="1"/>
          </p:cNvSpPr>
          <p:nvPr>
            <p:ph sz="quarter" idx="13"/>
          </p:nvPr>
        </p:nvSpPr>
        <p:spPr>
          <a:xfrm>
            <a:off x="609600" y="1056179"/>
            <a:ext cx="10972800" cy="4314402"/>
          </a:xfrm>
        </p:spPr>
        <p:txBody>
          <a:bodyPr>
            <a:normAutofit/>
          </a:bodyPr>
          <a:lstStyle/>
          <a:p>
            <a:r>
              <a:rPr lang="en-US" sz="2000" dirty="0" err="1" smtClean="0"/>
              <a:t>Aurisys</a:t>
            </a:r>
            <a:r>
              <a:rPr lang="en-US" sz="2000" dirty="0" smtClean="0"/>
              <a:t> define </a:t>
            </a:r>
            <a:r>
              <a:rPr lang="en-US" sz="2000" dirty="0"/>
              <a:t>a series of </a:t>
            </a:r>
            <a:r>
              <a:rPr lang="en-US" sz="2000" dirty="0" err="1"/>
              <a:t>adb</a:t>
            </a:r>
            <a:r>
              <a:rPr lang="en-US" sz="2000" dirty="0"/>
              <a:t> commands which include transmitting the whole parameter file to the device, receiving whole parameter file from the device, transmitting specific data to the </a:t>
            </a:r>
            <a:r>
              <a:rPr lang="en-US" sz="2000" dirty="0" smtClean="0"/>
              <a:t>3rd party sound processing library , </a:t>
            </a:r>
            <a:r>
              <a:rPr lang="en-US" sz="2000" dirty="0"/>
              <a:t>and receiving specific data from the 3</a:t>
            </a:r>
            <a:r>
              <a:rPr lang="en-US" sz="2000" baseline="30000" dirty="0"/>
              <a:t>rd</a:t>
            </a:r>
            <a:r>
              <a:rPr lang="en-US" sz="2000" dirty="0" smtClean="0"/>
              <a:t> </a:t>
            </a:r>
            <a:r>
              <a:rPr lang="en-US" sz="2000" dirty="0"/>
              <a:t>party </a:t>
            </a:r>
            <a:r>
              <a:rPr lang="en-US" sz="2000" dirty="0" smtClean="0"/>
              <a:t>library.</a:t>
            </a:r>
          </a:p>
          <a:p>
            <a:r>
              <a:rPr lang="en-US" sz="2000" dirty="0" smtClean="0"/>
              <a:t>This document will introduce </a:t>
            </a:r>
            <a:r>
              <a:rPr lang="en-US" sz="2000" dirty="0" err="1" smtClean="0"/>
              <a:t>Aurisys</a:t>
            </a:r>
            <a:r>
              <a:rPr lang="en-US" sz="2000" dirty="0" smtClean="0"/>
              <a:t> tuning </a:t>
            </a:r>
            <a:r>
              <a:rPr lang="en-US" sz="2000" dirty="0" err="1" smtClean="0"/>
              <a:t>adb</a:t>
            </a:r>
            <a:r>
              <a:rPr lang="en-US" sz="2000" dirty="0" smtClean="0"/>
              <a:t> commands and show the tuning steps under </a:t>
            </a:r>
            <a:r>
              <a:rPr lang="en-US" sz="2000" dirty="0" err="1" smtClean="0"/>
              <a:t>Audrisys</a:t>
            </a:r>
            <a:r>
              <a:rPr lang="en-US" sz="2000" dirty="0" smtClean="0"/>
              <a:t> structure.</a:t>
            </a:r>
            <a:endParaRPr lang="en-US" sz="2000" dirty="0"/>
          </a:p>
        </p:txBody>
      </p:sp>
      <p:grpSp>
        <p:nvGrpSpPr>
          <p:cNvPr id="4" name="群組 3"/>
          <p:cNvGrpSpPr/>
          <p:nvPr/>
        </p:nvGrpSpPr>
        <p:grpSpPr>
          <a:xfrm>
            <a:off x="2230252" y="2747798"/>
            <a:ext cx="7294888" cy="3715746"/>
            <a:chOff x="2192436" y="2327668"/>
            <a:chExt cx="7294888" cy="3715746"/>
          </a:xfrm>
        </p:grpSpPr>
        <p:grpSp>
          <p:nvGrpSpPr>
            <p:cNvPr id="29" name="群組 28"/>
            <p:cNvGrpSpPr/>
            <p:nvPr/>
          </p:nvGrpSpPr>
          <p:grpSpPr>
            <a:xfrm>
              <a:off x="2192436" y="2327668"/>
              <a:ext cx="7294888" cy="3715746"/>
              <a:chOff x="2192436" y="2327668"/>
              <a:chExt cx="7294888" cy="3715746"/>
            </a:xfrm>
          </p:grpSpPr>
          <p:grpSp>
            <p:nvGrpSpPr>
              <p:cNvPr id="26" name="群組 25"/>
              <p:cNvGrpSpPr/>
              <p:nvPr/>
            </p:nvGrpSpPr>
            <p:grpSpPr>
              <a:xfrm>
                <a:off x="2192436" y="2327668"/>
                <a:ext cx="7294888" cy="3715746"/>
                <a:chOff x="1632263" y="1248511"/>
                <a:chExt cx="7294888" cy="3715746"/>
              </a:xfrm>
            </p:grpSpPr>
            <p:sp>
              <p:nvSpPr>
                <p:cNvPr id="8" name="矩形 7"/>
                <p:cNvSpPr/>
                <p:nvPr/>
              </p:nvSpPr>
              <p:spPr>
                <a:xfrm>
                  <a:off x="6046831" y="3228731"/>
                  <a:ext cx="2880320" cy="360040"/>
                </a:xfrm>
                <a:prstGeom prst="rect">
                  <a:avLst/>
                </a:prstGeom>
                <a:solidFill>
                  <a:srgbClr val="CCFFFF"/>
                </a:solidFill>
                <a:ln w="9525">
                  <a:prstDash val="sysDash"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TW" dirty="0" err="1">
                      <a:solidFill>
                        <a:schemeClr val="tx1"/>
                      </a:solidFill>
                    </a:rPr>
                    <a:t>AudioFlinger</a:t>
                  </a:r>
                  <a:endParaRPr lang="en-US" altLang="zh-TW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6046831" y="1248511"/>
                  <a:ext cx="2880320" cy="1008112"/>
                </a:xfrm>
                <a:prstGeom prst="rect">
                  <a:avLst/>
                </a:prstGeom>
                <a:ln w="9525"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3</a:t>
                  </a:r>
                  <a:r>
                    <a:rPr lang="en-US" altLang="zh-TW" baseline="30000" dirty="0">
                      <a:solidFill>
                        <a:schemeClr val="tx1"/>
                      </a:solidFill>
                    </a:rPr>
                    <a:t>rd</a:t>
                  </a:r>
                  <a:r>
                    <a:rPr lang="en-US" altLang="zh-TW" dirty="0">
                      <a:solidFill>
                        <a:schemeClr val="tx1"/>
                      </a:solidFill>
                    </a:rPr>
                    <a:t> Party Tuning Tool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6046831" y="2652667"/>
                  <a:ext cx="2880320" cy="360040"/>
                </a:xfrm>
                <a:prstGeom prst="rect">
                  <a:avLst/>
                </a:prstGeom>
                <a:solidFill>
                  <a:srgbClr val="CCFFFF"/>
                </a:solidFill>
                <a:ln w="9525">
                  <a:prstDash val="sysDash"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TW" dirty="0" err="1">
                      <a:solidFill>
                        <a:schemeClr val="tx1"/>
                      </a:solidFill>
                    </a:rPr>
                    <a:t>AudioSystem</a:t>
                  </a:r>
                  <a:endParaRPr lang="en-US" altLang="zh-TW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046831" y="3886290"/>
                  <a:ext cx="2880320" cy="936104"/>
                </a:xfrm>
                <a:prstGeom prst="rect">
                  <a:avLst/>
                </a:prstGeom>
                <a:ln w="9525"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r"/>
                  <a:r>
                    <a:rPr lang="en-US" altLang="zh-TW" dirty="0">
                      <a:solidFill>
                        <a:schemeClr val="tx1"/>
                      </a:solidFill>
                    </a:rPr>
                    <a:t>Audio HAL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632263" y="3328086"/>
                  <a:ext cx="2304256" cy="1609669"/>
                </a:xfrm>
                <a:prstGeom prst="rect">
                  <a:avLst/>
                </a:prstGeom>
                <a:ln w="9525"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3</a:t>
                  </a:r>
                  <a:r>
                    <a:rPr lang="en-US" altLang="zh-TW" baseline="30000" dirty="0">
                      <a:solidFill>
                        <a:schemeClr val="tx1"/>
                      </a:solidFill>
                    </a:rPr>
                    <a:t>rd</a:t>
                  </a:r>
                  <a:r>
                    <a:rPr lang="en-US" altLang="zh-TW" dirty="0">
                      <a:solidFill>
                        <a:schemeClr val="tx1"/>
                      </a:solidFill>
                    </a:rPr>
                    <a:t> party </a:t>
                  </a:r>
                  <a:r>
                    <a:rPr lang="en-US" altLang="zh-TW" dirty="0" smtClean="0">
                      <a:solidFill>
                        <a:schemeClr val="tx1"/>
                      </a:solidFill>
                    </a:rPr>
                    <a:t>library</a:t>
                  </a:r>
                </a:p>
                <a:p>
                  <a:pPr algn="ctr"/>
                  <a:endParaRPr lang="en-US" altLang="zh-TW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zh-TW" dirty="0" smtClean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zh-TW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3" name="直線單箭頭接點 12"/>
                <p:cNvCxnSpPr>
                  <a:stCxn id="9" idx="2"/>
                  <a:endCxn id="15" idx="0"/>
                </p:cNvCxnSpPr>
                <p:nvPr/>
              </p:nvCxnSpPr>
              <p:spPr>
                <a:xfrm>
                  <a:off x="7486991" y="2256623"/>
                  <a:ext cx="0" cy="1929857"/>
                </a:xfrm>
                <a:prstGeom prst="straightConnector1">
                  <a:avLst/>
                </a:prstGeom>
                <a:ln>
                  <a:solidFill>
                    <a:srgbClr val="0000FF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文字方塊 13"/>
                <p:cNvSpPr txBox="1"/>
                <p:nvPr/>
              </p:nvSpPr>
              <p:spPr>
                <a:xfrm>
                  <a:off x="7564866" y="2269979"/>
                  <a:ext cx="101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err="1" smtClean="0">
                      <a:solidFill>
                        <a:schemeClr val="accent2"/>
                      </a:solidFill>
                    </a:rPr>
                    <a:t>adb</a:t>
                  </a:r>
                  <a:r>
                    <a:rPr lang="en-US" dirty="0" smtClean="0">
                      <a:solidFill>
                        <a:schemeClr val="accent2"/>
                      </a:solidFill>
                    </a:rPr>
                    <a:t> </a:t>
                  </a:r>
                  <a:r>
                    <a:rPr lang="en-US" dirty="0" err="1" smtClean="0">
                      <a:solidFill>
                        <a:schemeClr val="accent2"/>
                      </a:solidFill>
                    </a:rPr>
                    <a:t>cmd</a:t>
                  </a:r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6224248" y="4186480"/>
                  <a:ext cx="2525485" cy="4944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dirty="0" err="1" smtClean="0"/>
                    <a:t>Aurisys</a:t>
                  </a:r>
                  <a:endParaRPr lang="en-US" dirty="0"/>
                </a:p>
              </p:txBody>
            </p:sp>
            <p:sp>
              <p:nvSpPr>
                <p:cNvPr id="20" name="文字方塊 19"/>
                <p:cNvSpPr txBox="1"/>
                <p:nvPr/>
              </p:nvSpPr>
              <p:spPr>
                <a:xfrm>
                  <a:off x="3916502" y="4317926"/>
                  <a:ext cx="221624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 err="1" smtClean="0">
                      <a:solidFill>
                        <a:schemeClr val="accent2"/>
                      </a:solidFill>
                    </a:rPr>
                    <a:t>arsi</a:t>
                  </a:r>
                  <a:endParaRPr lang="en-US" dirty="0" smtClean="0">
                    <a:solidFill>
                      <a:schemeClr val="accent2"/>
                    </a:solidFill>
                  </a:endParaRPr>
                </a:p>
                <a:p>
                  <a:pPr algn="ctr"/>
                  <a:r>
                    <a:rPr lang="en-US" dirty="0" smtClean="0">
                      <a:solidFill>
                        <a:schemeClr val="accent2"/>
                      </a:solidFill>
                    </a:rPr>
                    <a:t>(</a:t>
                  </a:r>
                  <a:r>
                    <a:rPr lang="en-US" dirty="0" err="1" smtClean="0">
                      <a:solidFill>
                        <a:schemeClr val="accent2"/>
                      </a:solidFill>
                    </a:rPr>
                    <a:t>aurisys</a:t>
                  </a:r>
                  <a:r>
                    <a:rPr lang="en-US" dirty="0" smtClean="0">
                      <a:solidFill>
                        <a:schemeClr val="accent2"/>
                      </a:solidFill>
                    </a:rPr>
                    <a:t> SW interface)</a:t>
                  </a:r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23" name="流程圖: 卡片 22"/>
                <p:cNvSpPr/>
                <p:nvPr/>
              </p:nvSpPr>
              <p:spPr>
                <a:xfrm>
                  <a:off x="2340151" y="2021231"/>
                  <a:ext cx="888480" cy="973751"/>
                </a:xfrm>
                <a:prstGeom prst="flowChartPunchedCard">
                  <a:avLst/>
                </a:prstGeom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olidFill>
                        <a:schemeClr val="tx1"/>
                      </a:solidFill>
                    </a:rPr>
                    <a:t>Db/xml/bin…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28" name="直線單箭頭接點 27"/>
              <p:cNvCxnSpPr/>
              <p:nvPr/>
            </p:nvCxnSpPr>
            <p:spPr>
              <a:xfrm flipV="1">
                <a:off x="3344564" y="4074139"/>
                <a:ext cx="0" cy="3331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直線單箭頭接點 39"/>
            <p:cNvCxnSpPr>
              <a:stCxn id="11" idx="1"/>
            </p:cNvCxnSpPr>
            <p:nvPr/>
          </p:nvCxnSpPr>
          <p:spPr>
            <a:xfrm flipH="1">
              <a:off x="4526997" y="5433499"/>
              <a:ext cx="20800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文字方塊 2"/>
            <p:cNvSpPr txBox="1"/>
            <p:nvPr/>
          </p:nvSpPr>
          <p:spPr>
            <a:xfrm>
              <a:off x="2339548" y="5038783"/>
              <a:ext cx="2010032" cy="646331"/>
            </a:xfrm>
            <a:prstGeom prst="rect">
              <a:avLst/>
            </a:prstGeom>
            <a:solidFill>
              <a:srgbClr val="92D05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Library </a:t>
              </a:r>
              <a:r>
                <a:rPr lang="en-US" dirty="0" err="1" smtClean="0"/>
                <a:t>param</a:t>
              </a:r>
              <a:r>
                <a:rPr lang="en-US" dirty="0" smtClean="0"/>
                <a:t>:</a:t>
              </a:r>
            </a:p>
            <a:p>
              <a:pPr algn="ctr"/>
              <a:r>
                <a:rPr lang="en-US" dirty="0" err="1" smtClean="0"/>
                <a:t>Addr</a:t>
              </a:r>
              <a:r>
                <a:rPr lang="en-US" dirty="0" smtClean="0"/>
                <a:t>/Key</a:t>
              </a:r>
              <a:endParaRPr lang="en-US" dirty="0"/>
            </a:p>
          </p:txBody>
        </p:sp>
      </p:grp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7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432001"/>
            <a:ext cx="10972800" cy="663631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186249"/>
            <a:ext cx="10972800" cy="4982354"/>
          </a:xfrm>
        </p:spPr>
        <p:txBody>
          <a:bodyPr/>
          <a:lstStyle/>
          <a:p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Aurisys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Tuning Overview</a:t>
            </a:r>
          </a:p>
          <a:p>
            <a:r>
              <a:rPr lang="en-US" b="1" dirty="0" smtClean="0"/>
              <a:t>Tuning Interfaces</a:t>
            </a:r>
          </a:p>
          <a:p>
            <a:pPr lvl="1"/>
            <a:r>
              <a:rPr lang="en-US" b="1" dirty="0" smtClean="0"/>
              <a:t>Set parameter</a:t>
            </a:r>
          </a:p>
          <a:p>
            <a:pPr lvl="1"/>
            <a:r>
              <a:rPr lang="en-US" b="1" dirty="0" smtClean="0"/>
              <a:t>Get parameter</a:t>
            </a:r>
          </a:p>
          <a:p>
            <a:r>
              <a:rPr lang="en-US" dirty="0" err="1" smtClean="0">
                <a:solidFill>
                  <a:schemeClr val="tx2"/>
                </a:solidFill>
              </a:rPr>
              <a:t>Aurisys</a:t>
            </a:r>
            <a:r>
              <a:rPr lang="en-US" dirty="0" smtClean="0">
                <a:solidFill>
                  <a:schemeClr val="tx2"/>
                </a:solidFill>
              </a:rPr>
              <a:t> Static and </a:t>
            </a:r>
            <a:r>
              <a:rPr lang="en-US" dirty="0">
                <a:solidFill>
                  <a:schemeClr val="tx2"/>
                </a:solidFill>
              </a:rPr>
              <a:t>Dynamic</a:t>
            </a:r>
            <a:r>
              <a:rPr lang="en-US" dirty="0" smtClean="0">
                <a:solidFill>
                  <a:schemeClr val="tx2"/>
                </a:solidFill>
              </a:rPr>
              <a:t> Tuning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7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609600" y="432000"/>
            <a:ext cx="10972800" cy="613029"/>
          </a:xfrm>
        </p:spPr>
        <p:txBody>
          <a:bodyPr/>
          <a:lstStyle/>
          <a:p>
            <a:r>
              <a:rPr lang="en-US" altLang="zh-TW" dirty="0" smtClean="0"/>
              <a:t>Tuning Interface - Set Parameter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3"/>
          </p:nvPr>
        </p:nvSpPr>
        <p:spPr>
          <a:xfrm>
            <a:off x="601649" y="937686"/>
            <a:ext cx="10972800" cy="5245400"/>
          </a:xfrm>
          <a:noFill/>
        </p:spPr>
        <p:txBody>
          <a:bodyPr>
            <a:noAutofit/>
          </a:bodyPr>
          <a:lstStyle/>
          <a:p>
            <a:r>
              <a:rPr lang="en-US" altLang="zh-TW" sz="1800" dirty="0" err="1"/>
              <a:t>adb</a:t>
            </a:r>
            <a:r>
              <a:rPr lang="en-US" altLang="zh-TW" sz="1800" dirty="0"/>
              <a:t> shell "</a:t>
            </a:r>
            <a:r>
              <a:rPr lang="en-US" altLang="zh-TW" sz="1800" dirty="0" err="1"/>
              <a:t>AudioSetParam</a:t>
            </a:r>
            <a:r>
              <a:rPr lang="en-US" altLang="zh-TW" sz="1800" dirty="0"/>
              <a:t> </a:t>
            </a:r>
            <a:r>
              <a:rPr lang="en-US" altLang="zh-TW" sz="1800" b="1" dirty="0">
                <a:solidFill>
                  <a:srgbClr val="C00000"/>
                </a:solidFill>
              </a:rPr>
              <a:t>AURISYS_SET_PARAM</a:t>
            </a:r>
            <a:r>
              <a:rPr lang="en-US" altLang="zh-TW" sz="1800" dirty="0"/>
              <a:t>,</a:t>
            </a:r>
            <a:r>
              <a:rPr lang="en-US" altLang="zh-TW" sz="1800" b="1" dirty="0">
                <a:solidFill>
                  <a:srgbClr val="C00000"/>
                </a:solidFill>
              </a:rPr>
              <a:t>$target</a:t>
            </a:r>
            <a:r>
              <a:rPr lang="en-US" altLang="zh-TW" sz="1800" dirty="0"/>
              <a:t>,</a:t>
            </a:r>
            <a:r>
              <a:rPr lang="en-US" altLang="zh-TW" sz="1800" b="1" dirty="0">
                <a:solidFill>
                  <a:srgbClr val="C00000"/>
                </a:solidFill>
              </a:rPr>
              <a:t>$scene</a:t>
            </a:r>
            <a:r>
              <a:rPr lang="en-US" altLang="zh-TW" sz="1800" dirty="0"/>
              <a:t>,</a:t>
            </a:r>
            <a:r>
              <a:rPr lang="en-US" altLang="zh-TW" sz="1800" b="1" dirty="0">
                <a:solidFill>
                  <a:srgbClr val="C00000"/>
                </a:solidFill>
              </a:rPr>
              <a:t>$lib</a:t>
            </a:r>
            <a:r>
              <a:rPr lang="en-US" altLang="zh-TW" sz="1800" dirty="0"/>
              <a:t>,</a:t>
            </a:r>
            <a:r>
              <a:rPr lang="en-US" altLang="zh-TW" sz="1800" b="1" dirty="0">
                <a:solidFill>
                  <a:srgbClr val="C00000"/>
                </a:solidFill>
              </a:rPr>
              <a:t>$</a:t>
            </a:r>
            <a:r>
              <a:rPr lang="en-US" altLang="zh-TW" sz="1800" b="1" dirty="0" err="1" smtClean="0">
                <a:solidFill>
                  <a:srgbClr val="C00000"/>
                </a:solidFill>
              </a:rPr>
              <a:t>cmd</a:t>
            </a:r>
            <a:r>
              <a:rPr lang="en-US" altLang="zh-TW" sz="1800" dirty="0" smtClean="0"/>
              <a:t>=SET“</a:t>
            </a:r>
            <a:endParaRPr lang="en-US" altLang="zh-TW" sz="1800" dirty="0"/>
          </a:p>
          <a:p>
            <a:pPr marL="342900" lvl="2" indent="-342900"/>
            <a:endParaRPr lang="en-US" sz="1800" dirty="0" smtClean="0">
              <a:solidFill>
                <a:srgbClr val="7030A0"/>
              </a:solidFill>
            </a:endParaRPr>
          </a:p>
          <a:p>
            <a:endParaRPr lang="en-US" altLang="zh-TW" sz="1800" dirty="0" smtClean="0"/>
          </a:p>
          <a:p>
            <a:pPr marL="0" indent="0">
              <a:buNone/>
            </a:pPr>
            <a:r>
              <a:rPr lang="en-US" altLang="zh-TW" sz="1400" dirty="0"/>
              <a:t> </a:t>
            </a:r>
          </a:p>
          <a:p>
            <a:pPr marL="0" indent="0">
              <a:buNone/>
            </a:pPr>
            <a:endParaRPr lang="en-US" altLang="zh-TW" sz="1800" dirty="0" smtClean="0"/>
          </a:p>
          <a:p>
            <a:pPr marL="0" indent="0">
              <a:buNone/>
            </a:pPr>
            <a:r>
              <a:rPr lang="en-US" altLang="zh-TW" sz="1400" dirty="0"/>
              <a:t>    </a:t>
            </a:r>
            <a:endParaRPr lang="zh-TW" altLang="en-US" sz="14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FCA4D-8A20-4195-A7D0-0DD5CB951E85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067692"/>
              </p:ext>
            </p:extLst>
          </p:nvPr>
        </p:nvGraphicFramePr>
        <p:xfrm>
          <a:off x="609465" y="1318297"/>
          <a:ext cx="10972799" cy="348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470"/>
                <a:gridCol w="4168346"/>
                <a:gridCol w="509098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$target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HAL, DSP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processing API in AP (HAL) or in DSP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$scene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</a:rPr>
                        <a:t>PLAYBACK_NORMAL, RECORD_WITHOUT_AEC,</a:t>
                      </a:r>
                    </a:p>
                    <a:p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</a:rPr>
                        <a:t>VOIP…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Specific scene for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dirty="0" smtClean="0"/>
                        <a:t>library 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tuning, “ALL” is for all scenes that </a:t>
                      </a:r>
                      <a:r>
                        <a:rPr lang="en-US" sz="1800" dirty="0" smtClean="0"/>
                        <a:t>library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supported. Please refer to scene table page (p.8)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$lib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library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Library</a:t>
                      </a:r>
                      <a:r>
                        <a:rPr lang="en-US" baseline="0" dirty="0" smtClean="0"/>
                        <a:t> name which need tuning, defined as </a:t>
                      </a:r>
                      <a:r>
                        <a:rPr lang="en-US" baseline="0" dirty="0" err="1" smtClean="0"/>
                        <a:t>adb_cmd_key</a:t>
                      </a:r>
                      <a:r>
                        <a:rPr lang="en-US" baseline="0" dirty="0" smtClean="0"/>
                        <a:t> in aurisys_config_hifi3.xml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$</a:t>
                      </a:r>
                      <a:r>
                        <a:rPr lang="en-US" dirty="0" err="1" smtClean="0"/>
                        <a:t>cmd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PARAM_FILE,</a:t>
                      </a:r>
                      <a:r>
                        <a:rPr lang="en-US" i="1" dirty="0" err="1" smtClean="0"/>
                        <a:t>your_param_path</a:t>
                      </a:r>
                      <a:endParaRPr lang="en-US" i="1" dirty="0" smtClean="0"/>
                    </a:p>
                    <a:p>
                      <a:r>
                        <a:rPr lang="en-US" dirty="0" err="1" smtClean="0"/>
                        <a:t>APPLY_PARAM,</a:t>
                      </a:r>
                      <a:r>
                        <a:rPr lang="en-US" i="1" dirty="0" err="1" smtClean="0"/>
                        <a:t>enhancement_mode</a:t>
                      </a:r>
                      <a:endParaRPr lang="en-US" i="1" dirty="0" smtClean="0"/>
                    </a:p>
                    <a:p>
                      <a:r>
                        <a:rPr lang="en-US" dirty="0" smtClean="0"/>
                        <a:t>ADDR_VALUE,</a:t>
                      </a:r>
                      <a:r>
                        <a:rPr lang="en-US" i="1" dirty="0" smtClean="0"/>
                        <a:t>0XAA,0XBB</a:t>
                      </a:r>
                    </a:p>
                    <a:p>
                      <a:r>
                        <a:rPr lang="en-US" dirty="0" err="1" smtClean="0"/>
                        <a:t>KEY_VALUE,</a:t>
                      </a:r>
                      <a:r>
                        <a:rPr lang="en-US" i="1" dirty="0" err="1" smtClean="0"/>
                        <a:t>your_key,your_value</a:t>
                      </a:r>
                      <a:endParaRPr lang="en-US" i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Please refer to send</a:t>
                      </a:r>
                      <a:r>
                        <a:rPr lang="en-US" baseline="0" dirty="0" smtClean="0"/>
                        <a:t> CMD summary page (p.9)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62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Tuning Interface - Get </a:t>
            </a:r>
            <a:r>
              <a:rPr lang="en-US" altLang="zh-TW" dirty="0" smtClean="0"/>
              <a:t>Parameter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FCA4D-8A20-4195-A7D0-0DD5CB951E8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內容版面配置區 4"/>
          <p:cNvSpPr>
            <a:spLocks noGrp="1"/>
          </p:cNvSpPr>
          <p:nvPr>
            <p:ph sz="quarter" idx="13"/>
          </p:nvPr>
        </p:nvSpPr>
        <p:spPr>
          <a:xfrm>
            <a:off x="601649" y="937686"/>
            <a:ext cx="10972800" cy="5245400"/>
          </a:xfrm>
          <a:noFill/>
        </p:spPr>
        <p:txBody>
          <a:bodyPr>
            <a:noAutofit/>
          </a:bodyPr>
          <a:lstStyle/>
          <a:p>
            <a:r>
              <a:rPr lang="en-US" altLang="zh-TW" sz="1800" dirty="0" err="1"/>
              <a:t>adb</a:t>
            </a:r>
            <a:r>
              <a:rPr lang="en-US" altLang="zh-TW" sz="1800" dirty="0"/>
              <a:t> shell "</a:t>
            </a:r>
            <a:r>
              <a:rPr lang="en-US" altLang="zh-TW" sz="1800" dirty="0" err="1"/>
              <a:t>AudioSetParam</a:t>
            </a:r>
            <a:r>
              <a:rPr lang="en-US" altLang="zh-TW" sz="1800" dirty="0"/>
              <a:t> </a:t>
            </a:r>
            <a:r>
              <a:rPr lang="en-US" altLang="zh-TW" sz="1800" b="1" dirty="0" smtClean="0">
                <a:solidFill>
                  <a:srgbClr val="C00000"/>
                </a:solidFill>
              </a:rPr>
              <a:t>AURISYS_GET_PARAM</a:t>
            </a:r>
            <a:r>
              <a:rPr lang="en-US" altLang="zh-TW" sz="1800" dirty="0"/>
              <a:t>,</a:t>
            </a:r>
            <a:r>
              <a:rPr lang="en-US" altLang="zh-TW" sz="1800" b="1" dirty="0">
                <a:solidFill>
                  <a:srgbClr val="C00000"/>
                </a:solidFill>
              </a:rPr>
              <a:t>$target</a:t>
            </a:r>
            <a:r>
              <a:rPr lang="en-US" altLang="zh-TW" sz="1800" dirty="0"/>
              <a:t>,</a:t>
            </a:r>
            <a:r>
              <a:rPr lang="en-US" altLang="zh-TW" sz="1800" b="1" dirty="0">
                <a:solidFill>
                  <a:srgbClr val="C00000"/>
                </a:solidFill>
              </a:rPr>
              <a:t>$scene</a:t>
            </a:r>
            <a:r>
              <a:rPr lang="en-US" altLang="zh-TW" sz="1800" dirty="0"/>
              <a:t>,</a:t>
            </a:r>
            <a:r>
              <a:rPr lang="en-US" altLang="zh-TW" sz="1800" b="1" dirty="0">
                <a:solidFill>
                  <a:srgbClr val="C00000"/>
                </a:solidFill>
              </a:rPr>
              <a:t>$lib</a:t>
            </a:r>
            <a:r>
              <a:rPr lang="en-US" altLang="zh-TW" sz="1800" dirty="0"/>
              <a:t>,</a:t>
            </a:r>
            <a:r>
              <a:rPr lang="en-US" altLang="zh-TW" sz="1800" b="1" dirty="0">
                <a:solidFill>
                  <a:srgbClr val="C00000"/>
                </a:solidFill>
              </a:rPr>
              <a:t>$</a:t>
            </a:r>
            <a:r>
              <a:rPr lang="en-US" altLang="zh-TW" sz="1800" b="1" dirty="0" err="1" smtClean="0">
                <a:solidFill>
                  <a:srgbClr val="C00000"/>
                </a:solidFill>
              </a:rPr>
              <a:t>cmd</a:t>
            </a:r>
            <a:r>
              <a:rPr lang="en-US" altLang="zh-TW" sz="1800" dirty="0" smtClean="0"/>
              <a:t>"</a:t>
            </a:r>
            <a:endParaRPr lang="en-US" altLang="zh-TW" sz="1800" dirty="0"/>
          </a:p>
          <a:p>
            <a:pPr marL="457200" lvl="3" indent="0">
              <a:buNone/>
            </a:pPr>
            <a:endParaRPr lang="en-US" altLang="zh-TW" sz="1800" dirty="0" smtClean="0"/>
          </a:p>
          <a:p>
            <a:pPr marL="800100" lvl="3" indent="-342900"/>
            <a:endParaRPr lang="en-US" altLang="zh-TW" sz="1400" dirty="0" smtClean="0"/>
          </a:p>
          <a:p>
            <a:pPr marL="342900" lvl="2" indent="-342900"/>
            <a:endParaRPr lang="en-US" sz="1800" dirty="0" smtClean="0">
              <a:solidFill>
                <a:srgbClr val="7030A0"/>
              </a:solidFill>
            </a:endParaRPr>
          </a:p>
          <a:p>
            <a:endParaRPr lang="en-US" altLang="zh-TW" sz="1800" dirty="0" smtClean="0"/>
          </a:p>
          <a:p>
            <a:pPr marL="0" indent="0">
              <a:buNone/>
            </a:pPr>
            <a:r>
              <a:rPr lang="en-US" altLang="zh-TW" sz="1400" dirty="0"/>
              <a:t> </a:t>
            </a:r>
          </a:p>
          <a:p>
            <a:pPr marL="0" indent="0">
              <a:buNone/>
            </a:pPr>
            <a:endParaRPr lang="en-US" altLang="zh-TW" sz="1800" dirty="0" smtClean="0"/>
          </a:p>
          <a:p>
            <a:pPr marL="0" indent="0">
              <a:buNone/>
            </a:pPr>
            <a:r>
              <a:rPr lang="en-US" altLang="zh-TW" sz="1400" dirty="0"/>
              <a:t>    </a:t>
            </a:r>
            <a:endParaRPr lang="zh-TW" altLang="en-US" sz="14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288882"/>
              </p:ext>
            </p:extLst>
          </p:nvPr>
        </p:nvGraphicFramePr>
        <p:xfrm>
          <a:off x="609600" y="1319331"/>
          <a:ext cx="10972799" cy="348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470"/>
                <a:gridCol w="4168346"/>
                <a:gridCol w="509098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$target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HAL, DSP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processing API in AP (HAL) or in DSP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$scene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</a:rPr>
                        <a:t>PLAYBACK_NORMAL, RECORD_WITHOUT_AEC,</a:t>
                      </a:r>
                    </a:p>
                    <a:p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</a:rPr>
                        <a:t>VOIP…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Specific scene for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dirty="0" smtClean="0"/>
                        <a:t>library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tuning, “ALL” is for all scenes that </a:t>
                      </a:r>
                      <a:r>
                        <a:rPr lang="en-US" sz="1800" dirty="0" smtClean="0"/>
                        <a:t>library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supported. Please refer to scene table page (p.8)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$lib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library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Library</a:t>
                      </a:r>
                      <a:r>
                        <a:rPr lang="en-US" baseline="0" dirty="0" smtClean="0"/>
                        <a:t> name which need tuning, defined as </a:t>
                      </a:r>
                      <a:r>
                        <a:rPr lang="en-US" baseline="0" dirty="0" err="1" smtClean="0"/>
                        <a:t>adb_cmd_key</a:t>
                      </a:r>
                      <a:r>
                        <a:rPr lang="en-US" baseline="0" dirty="0" smtClean="0"/>
                        <a:t> in aurisys_config_hifi3.xml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$</a:t>
                      </a:r>
                      <a:r>
                        <a:rPr lang="en-US" dirty="0" err="1" smtClean="0"/>
                        <a:t>cmd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PARAM_FILE</a:t>
                      </a:r>
                      <a:endParaRPr lang="en-US" i="1" dirty="0" smtClean="0"/>
                    </a:p>
                    <a:p>
                      <a:r>
                        <a:rPr lang="en-US" dirty="0" smtClean="0"/>
                        <a:t>APPLY_PARAM</a:t>
                      </a:r>
                      <a:endParaRPr lang="en-US" i="1" dirty="0" smtClean="0"/>
                    </a:p>
                    <a:p>
                      <a:r>
                        <a:rPr lang="en-US" dirty="0" smtClean="0"/>
                        <a:t>ADDR_VALUE,</a:t>
                      </a:r>
                      <a:r>
                        <a:rPr lang="en-US" i="1" dirty="0" smtClean="0"/>
                        <a:t>0XAA</a:t>
                      </a:r>
                    </a:p>
                    <a:p>
                      <a:r>
                        <a:rPr lang="en-US" dirty="0" err="1" smtClean="0"/>
                        <a:t>KEY_VALUE,</a:t>
                      </a:r>
                      <a:r>
                        <a:rPr lang="en-US" i="1" dirty="0" err="1" smtClean="0"/>
                        <a:t>your_key</a:t>
                      </a:r>
                      <a:endParaRPr lang="en-US" i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Please refer to get </a:t>
                      </a:r>
                      <a:r>
                        <a:rPr lang="en-US" altLang="zh-TW" dirty="0" smtClean="0"/>
                        <a:t>CMD</a:t>
                      </a:r>
                      <a:r>
                        <a:rPr lang="en-US" baseline="0" dirty="0" smtClean="0"/>
                        <a:t> summary page (p.10)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39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432002"/>
            <a:ext cx="10972800" cy="614204"/>
          </a:xfrm>
        </p:spPr>
        <p:txBody>
          <a:bodyPr/>
          <a:lstStyle/>
          <a:p>
            <a:r>
              <a:rPr lang="en-US" altLang="zh-TW" dirty="0"/>
              <a:t>Scene </a:t>
            </a:r>
            <a:r>
              <a:rPr lang="en-US" altLang="zh-TW" dirty="0" smtClean="0"/>
              <a:t>Table</a:t>
            </a:r>
            <a:endParaRPr 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609600" y="1128584"/>
            <a:ext cx="10972800" cy="5040019"/>
          </a:xfrm>
        </p:spPr>
        <p:txBody>
          <a:bodyPr>
            <a:normAutofit/>
          </a:bodyPr>
          <a:lstStyle/>
          <a:p>
            <a:r>
              <a:rPr lang="en-US" sz="2000" dirty="0" err="1" smtClean="0"/>
              <a:t>Aurisys</a:t>
            </a:r>
            <a:r>
              <a:rPr lang="en-US" sz="2000" dirty="0" smtClean="0"/>
              <a:t> defines series of scenes for HAL and DSP</a:t>
            </a:r>
          </a:p>
        </p:txBody>
      </p:sp>
      <p:grpSp>
        <p:nvGrpSpPr>
          <p:cNvPr id="14" name="群組 13"/>
          <p:cNvGrpSpPr/>
          <p:nvPr/>
        </p:nvGrpSpPr>
        <p:grpSpPr>
          <a:xfrm>
            <a:off x="2211860" y="1875139"/>
            <a:ext cx="7768280" cy="3124200"/>
            <a:chOff x="947352" y="2262317"/>
            <a:chExt cx="7768280" cy="3124200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8442" y="2262317"/>
              <a:ext cx="6724650" cy="3124200"/>
            </a:xfrm>
            <a:prstGeom prst="rect">
              <a:avLst/>
            </a:prstGeom>
          </p:spPr>
        </p:pic>
        <p:cxnSp>
          <p:nvCxnSpPr>
            <p:cNvPr id="10" name="直線接點 9"/>
            <p:cNvCxnSpPr/>
            <p:nvPr/>
          </p:nvCxnSpPr>
          <p:spPr>
            <a:xfrm>
              <a:off x="947352" y="3501082"/>
              <a:ext cx="7768280" cy="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7753092" y="3064476"/>
              <a:ext cx="954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HAL</a:t>
              </a:r>
              <a:endParaRPr lang="en-US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7753092" y="3591700"/>
              <a:ext cx="954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DSP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7882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Tuning Interface - </a:t>
            </a:r>
            <a:r>
              <a:rPr lang="en-US" dirty="0" smtClean="0"/>
              <a:t>Set Parameter CMD Summary</a:t>
            </a:r>
            <a:endParaRPr 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76981622"/>
              </p:ext>
            </p:extLst>
          </p:nvPr>
        </p:nvGraphicFramePr>
        <p:xfrm>
          <a:off x="609600" y="2133803"/>
          <a:ext cx="10974205" cy="3429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497"/>
                <a:gridCol w="3616411"/>
                <a:gridCol w="3654000"/>
                <a:gridCol w="1331297"/>
              </a:tblGrid>
              <a:tr h="34612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CMDs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bg1"/>
                          </a:solidFill>
                        </a:rPr>
                        <a:t>ARSI</a:t>
                      </a:r>
                      <a:r>
                        <a:rPr lang="en-US" sz="160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smtClean="0"/>
                        <a:t>Function</a:t>
                      </a:r>
                      <a:r>
                        <a:rPr lang="en-US" sz="1600" baseline="0" dirty="0" smtClean="0"/>
                        <a:t> Calls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Usage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CMD type</a:t>
                      </a:r>
                      <a:endParaRPr lang="en-US" sz="1600" dirty="0"/>
                    </a:p>
                  </a:txBody>
                  <a:tcPr marL="105851" marR="10585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PARAM_FILE,</a:t>
                      </a:r>
                      <a:r>
                        <a:rPr lang="en-US" sz="160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param_path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parameter file path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Static</a:t>
                      </a:r>
                      <a:endParaRPr lang="en-US" sz="1600" dirty="0"/>
                    </a:p>
                  </a:txBody>
                  <a:tcPr marL="105851" marR="10585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APPLY_PARAM,</a:t>
                      </a:r>
                      <a:r>
                        <a:rPr lang="en-US" sz="160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</a:t>
                      </a:r>
                      <a:endParaRPr lang="en-US" sz="1600" i="1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arsi_query_param_buf_size_by_custom_info</a:t>
                      </a:r>
                      <a:endParaRPr lang="en-US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dirty="0" err="1" smtClean="0"/>
                        <a:t>arsi_parsing_param_file_by_custom_info</a:t>
                      </a:r>
                      <a:endParaRPr lang="en-US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arsi_update_param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apply new 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customize</a:t>
                      </a:r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information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dirty="0" smtClean="0"/>
                        <a:t>library,</a:t>
                      </a:r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change its enhancement parameter.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IP provider can provide different </a:t>
                      </a: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custom_info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user to select.</a:t>
                      </a:r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custom_info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should be an 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Dynamic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851" marR="10585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ADDR_VALUE,</a:t>
                      </a:r>
                      <a:r>
                        <a:rPr lang="en-US" sz="160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addr,value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arsi_set_addr_value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“</a:t>
                      </a:r>
                      <a:r>
                        <a:rPr lang="en-US" sz="160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value”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at the “</a:t>
                      </a:r>
                      <a:r>
                        <a:rPr lang="en-US" sz="160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</a:t>
                      </a:r>
                      <a:r>
                        <a:rPr lang="en-US" sz="160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library, “</a:t>
                      </a:r>
                      <a:r>
                        <a:rPr lang="en-US" sz="160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should be defined by the library itself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Dynamic</a:t>
                      </a:r>
                    </a:p>
                    <a:p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05851" marR="10585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KEY_VALUE,</a:t>
                      </a:r>
                      <a:r>
                        <a:rPr lang="en-US" sz="160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key,value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arsi_set_key_value_pair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"</a:t>
                      </a:r>
                      <a:r>
                        <a:rPr lang="en-US" sz="160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of the "</a:t>
                      </a:r>
                      <a:r>
                        <a:rPr lang="en-US" sz="160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in library, “</a:t>
                      </a:r>
                      <a:r>
                        <a:rPr lang="en-US" sz="160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should be defined by the library itself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Dynamic</a:t>
                      </a:r>
                    </a:p>
                    <a:p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05851" marR="105851"/>
                </a:tc>
              </a:tr>
            </a:tbl>
          </a:graphicData>
        </a:graphic>
      </p:graphicFrame>
      <p:sp>
        <p:nvSpPr>
          <p:cNvPr id="6" name="內容版面配置區 2"/>
          <p:cNvSpPr txBox="1">
            <a:spLocks/>
          </p:cNvSpPr>
          <p:nvPr/>
        </p:nvSpPr>
        <p:spPr>
          <a:xfrm>
            <a:off x="609600" y="999268"/>
            <a:ext cx="10972800" cy="5007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Calibri Bold"/>
              <a:buChar char="▪"/>
              <a:defRPr sz="3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Calibri Bold"/>
              <a:buChar char="•"/>
              <a:defRPr sz="2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Calibri Bold"/>
              <a:buChar char="▪"/>
              <a:defRPr sz="2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Calibri Bold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Calibri Bold"/>
              <a:buChar char="▪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 err="1" smtClean="0"/>
              <a:t>Aurisys</a:t>
            </a:r>
            <a:r>
              <a:rPr lang="en-US" altLang="zh-TW" sz="2000" dirty="0" smtClean="0"/>
              <a:t> contains two types of tuning CMD:</a:t>
            </a:r>
          </a:p>
          <a:p>
            <a:pPr lvl="1"/>
            <a:r>
              <a:rPr lang="en-US" altLang="zh-TW" sz="1600" dirty="0" smtClean="0"/>
              <a:t>Static : CMD </a:t>
            </a:r>
            <a:r>
              <a:rPr lang="en-US" altLang="zh-TW" sz="1600" dirty="0"/>
              <a:t>should be sent before </a:t>
            </a:r>
            <a:r>
              <a:rPr lang="en-US" altLang="zh-TW" sz="1600" dirty="0" smtClean="0"/>
              <a:t>library open</a:t>
            </a:r>
            <a:endParaRPr lang="en-US" altLang="zh-TW" sz="1600" dirty="0"/>
          </a:p>
          <a:p>
            <a:pPr lvl="1"/>
            <a:r>
              <a:rPr lang="en-US" altLang="zh-TW" sz="1600" dirty="0" smtClean="0"/>
              <a:t>Dynamic : </a:t>
            </a:r>
            <a:r>
              <a:rPr lang="en-US" altLang="zh-TW" sz="1600" dirty="0"/>
              <a:t>only works when library running</a:t>
            </a:r>
            <a:endParaRPr lang="en-US" altLang="zh-TW" sz="1600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2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Tuning Interface - </a:t>
            </a:r>
            <a:r>
              <a:rPr lang="en-US" dirty="0" smtClean="0"/>
              <a:t>Get Parameter CMD Summary</a:t>
            </a:r>
            <a:endParaRPr 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28868486"/>
              </p:ext>
            </p:extLst>
          </p:nvPr>
        </p:nvGraphicFramePr>
        <p:xfrm>
          <a:off x="609600" y="2133803"/>
          <a:ext cx="10974205" cy="2246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900"/>
                <a:gridCol w="2907111"/>
                <a:gridCol w="3892897"/>
                <a:gridCol w="1331297"/>
              </a:tblGrid>
              <a:tr h="34612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CMDs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bg1"/>
                          </a:solidFill>
                        </a:rPr>
                        <a:t>ARSI</a:t>
                      </a:r>
                      <a:r>
                        <a:rPr lang="en-US" sz="160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smtClean="0"/>
                        <a:t>Function</a:t>
                      </a:r>
                      <a:r>
                        <a:rPr lang="en-US" sz="1600" baseline="0" dirty="0" smtClean="0"/>
                        <a:t> Calls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Usage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CMD type</a:t>
                      </a:r>
                      <a:endParaRPr lang="en-US" sz="1600" dirty="0"/>
                    </a:p>
                  </a:txBody>
                  <a:tcPr marL="105851" marR="10585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PARAM_FILE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parameter file path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Static</a:t>
                      </a:r>
                      <a:endParaRPr lang="en-US" sz="1600" dirty="0"/>
                    </a:p>
                  </a:txBody>
                  <a:tcPr marL="105851" marR="10585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APPLY_PARAM</a:t>
                      </a:r>
                      <a:endParaRPr lang="en-US" sz="1600" i="1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customize</a:t>
                      </a:r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information </a:t>
                      </a:r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 </a:t>
                      </a:r>
                      <a:r>
                        <a:rPr lang="en-US" altLang="zh-TW" sz="1600" dirty="0" smtClean="0"/>
                        <a:t>library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smtClean="0">
                          <a:solidFill>
                            <a:schemeClr val="tx1"/>
                          </a:solidFill>
                        </a:rPr>
                        <a:t>Dynamic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851" marR="10585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ADDR_VALUE,</a:t>
                      </a:r>
                      <a:r>
                        <a:rPr lang="en-US" sz="160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arsi_get_addr_value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value at the “</a:t>
                      </a:r>
                      <a:r>
                        <a:rPr lang="en-US" sz="160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</a:t>
                      </a:r>
                      <a:r>
                        <a:rPr lang="en-US" sz="160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library, “</a:t>
                      </a:r>
                      <a:r>
                        <a:rPr lang="en-US" sz="160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should be defined by the library itself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Dynamic</a:t>
                      </a:r>
                    </a:p>
                    <a:p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05851" marR="10585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KEY_VALUE,</a:t>
                      </a:r>
                      <a:r>
                        <a:rPr lang="en-US" sz="160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endParaRPr lang="en-US" sz="1600" dirty="0"/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arsi_get_key_value_pair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</a:t>
                      </a:r>
                      <a:r>
                        <a:rPr lang="en-US" sz="160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the "</a:t>
                      </a:r>
                      <a:r>
                        <a:rPr lang="en-US" sz="160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in library, “</a:t>
                      </a:r>
                      <a:r>
                        <a:rPr lang="en-US" sz="160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should be defined by the library itself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05851" marR="105851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Dynamic</a:t>
                      </a:r>
                    </a:p>
                    <a:p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105851" marR="105851"/>
                </a:tc>
              </a:tr>
            </a:tbl>
          </a:graphicData>
        </a:graphic>
      </p:graphicFrame>
      <p:sp>
        <p:nvSpPr>
          <p:cNvPr id="6" name="內容版面配置區 2"/>
          <p:cNvSpPr txBox="1">
            <a:spLocks/>
          </p:cNvSpPr>
          <p:nvPr/>
        </p:nvSpPr>
        <p:spPr>
          <a:xfrm>
            <a:off x="609600" y="999268"/>
            <a:ext cx="10972800" cy="5007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Calibri Bold"/>
              <a:buChar char="▪"/>
              <a:defRPr sz="3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Calibri Bold"/>
              <a:buChar char="•"/>
              <a:defRPr sz="2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Calibri Bold"/>
              <a:buChar char="▪"/>
              <a:defRPr sz="2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Calibri Bold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Calibri Bold"/>
              <a:buChar char="▪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 err="1" smtClean="0"/>
              <a:t>Aurisys</a:t>
            </a:r>
            <a:r>
              <a:rPr lang="en-US" altLang="zh-TW" sz="2000" dirty="0" smtClean="0"/>
              <a:t> contains two types of tuning CMD:</a:t>
            </a:r>
          </a:p>
          <a:p>
            <a:pPr lvl="1"/>
            <a:r>
              <a:rPr lang="en-US" altLang="zh-TW" sz="1600" dirty="0" smtClean="0"/>
              <a:t>Static : CMD </a:t>
            </a:r>
            <a:r>
              <a:rPr lang="en-US" altLang="zh-TW" sz="1600" dirty="0"/>
              <a:t>should be sent before library open</a:t>
            </a:r>
          </a:p>
          <a:p>
            <a:pPr lvl="1"/>
            <a:r>
              <a:rPr lang="en-US" altLang="zh-TW" sz="1600" dirty="0" smtClean="0"/>
              <a:t>Dynamic : </a:t>
            </a:r>
            <a:r>
              <a:rPr lang="en-US" altLang="zh-TW" sz="1600" dirty="0"/>
              <a:t>only works when library running</a:t>
            </a:r>
            <a:endParaRPr lang="en-US" altLang="zh-TW" sz="1600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2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432001"/>
            <a:ext cx="10972800" cy="787199"/>
          </a:xfrm>
        </p:spPr>
        <p:txBody>
          <a:bodyPr/>
          <a:lstStyle/>
          <a:p>
            <a:r>
              <a:rPr lang="en-US" dirty="0" smtClean="0"/>
              <a:t>API For Set/Get Parameter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149917"/>
            <a:ext cx="10972800" cy="458208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Alternatively, can use below JAVA API for set/get tuning parameter</a:t>
            </a:r>
          </a:p>
          <a:p>
            <a:pPr lvl="1"/>
            <a:r>
              <a:rPr lang="en-US" sz="1600" dirty="0" err="1" smtClean="0"/>
              <a:t>AudioManager.setParameters</a:t>
            </a:r>
            <a:r>
              <a:rPr lang="en-US" sz="1600" dirty="0" smtClean="0"/>
              <a:t>(</a:t>
            </a:r>
            <a:r>
              <a:rPr lang="en-US" altLang="zh-TW" sz="1600" dirty="0" smtClean="0"/>
              <a:t>"AURISYS_SET_PARAM</a:t>
            </a:r>
            <a:r>
              <a:rPr lang="en-US" altLang="zh-TW" sz="1600" dirty="0"/>
              <a:t>,$target,$scene,$lib,$</a:t>
            </a:r>
            <a:r>
              <a:rPr lang="en-US" altLang="zh-TW" sz="1600" dirty="0" err="1" smtClean="0"/>
              <a:t>cmd</a:t>
            </a:r>
            <a:r>
              <a:rPr lang="en-US" altLang="zh-TW" sz="1600" dirty="0" smtClean="0"/>
              <a:t>=SET");</a:t>
            </a:r>
          </a:p>
          <a:p>
            <a:pPr lvl="1"/>
            <a:r>
              <a:rPr lang="en-US" sz="1600" dirty="0" err="1" smtClean="0"/>
              <a:t>AudioManager.setParameters</a:t>
            </a:r>
            <a:r>
              <a:rPr lang="en-US" sz="1600" dirty="0" smtClean="0"/>
              <a:t>(</a:t>
            </a:r>
            <a:r>
              <a:rPr lang="en-US" altLang="zh-TW" sz="1600" dirty="0" smtClean="0"/>
              <a:t>"AURISYS_GET_PARAM,$target,$scene,$lib,$</a:t>
            </a:r>
            <a:r>
              <a:rPr lang="en-US" altLang="zh-TW" sz="1600" dirty="0" err="1" smtClean="0"/>
              <a:t>cmd</a:t>
            </a:r>
            <a:r>
              <a:rPr lang="en-US" altLang="zh-TW" sz="1600" dirty="0" smtClean="0"/>
              <a:t>");</a:t>
            </a:r>
            <a:endParaRPr lang="en-US" altLang="zh-TW" sz="1600" dirty="0"/>
          </a:p>
          <a:p>
            <a:pPr lvl="1"/>
            <a:endParaRPr lang="en-US" sz="1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0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432001"/>
            <a:ext cx="10972800" cy="663631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186249"/>
            <a:ext cx="10972800" cy="4982354"/>
          </a:xfrm>
        </p:spPr>
        <p:txBody>
          <a:bodyPr/>
          <a:lstStyle/>
          <a:p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Aurisys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Tuning Overview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Interfaces</a:t>
            </a:r>
          </a:p>
          <a:p>
            <a:r>
              <a:rPr lang="en-US" b="1" dirty="0" smtClean="0"/>
              <a:t>Tuning example</a:t>
            </a:r>
          </a:p>
          <a:p>
            <a:pPr lvl="1"/>
            <a:r>
              <a:rPr lang="en-US" altLang="zh-TW" b="1" dirty="0" smtClean="0"/>
              <a:t>Static tuning</a:t>
            </a:r>
          </a:p>
          <a:p>
            <a:pPr lvl="1"/>
            <a:r>
              <a:rPr lang="en-US" b="1" dirty="0" smtClean="0"/>
              <a:t>Dynamic tuning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7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Tuning - PARAM_FILE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161535"/>
            <a:ext cx="10972800" cy="5007068"/>
          </a:xfrm>
        </p:spPr>
        <p:txBody>
          <a:bodyPr>
            <a:normAutofit/>
          </a:bodyPr>
          <a:lstStyle/>
          <a:p>
            <a:r>
              <a:rPr lang="en-US" altLang="zh-TW" sz="1800" dirty="0" smtClean="0"/>
              <a:t>For applying another parameter file, can be done by below tuning steps.</a:t>
            </a:r>
          </a:p>
          <a:p>
            <a:pPr lvl="0"/>
            <a:endParaRPr lang="en-US" altLang="zh-TW" sz="2000" dirty="0" smtClean="0"/>
          </a:p>
          <a:p>
            <a:pPr lvl="0"/>
            <a:r>
              <a:rPr lang="en-US" altLang="zh-TW" sz="1800" dirty="0" smtClean="0"/>
              <a:t>Tuning steps: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b="1" i="1" dirty="0" err="1" smtClean="0"/>
              <a:t>adb</a:t>
            </a:r>
            <a:r>
              <a:rPr lang="en-US" sz="1400" b="1" i="1" dirty="0" smtClean="0"/>
              <a:t> </a:t>
            </a:r>
            <a:r>
              <a:rPr lang="en-US" sz="1400" b="1" i="1" dirty="0"/>
              <a:t>shell "</a:t>
            </a:r>
            <a:r>
              <a:rPr lang="en-US" sz="1400" b="1" i="1" dirty="0" err="1"/>
              <a:t>AudioSetParam</a:t>
            </a:r>
            <a:r>
              <a:rPr lang="en-US" sz="1400" b="1" i="1" dirty="0"/>
              <a:t> </a:t>
            </a:r>
            <a:r>
              <a:rPr lang="en-US" sz="1400" b="1" i="1" dirty="0" smtClean="0"/>
              <a:t>AURISYS_SET_PARAM,DSP,ALL,</a:t>
            </a:r>
            <a:r>
              <a:rPr lang="en-US" sz="1400" b="1" i="1" dirty="0" smtClean="0">
                <a:solidFill>
                  <a:srgbClr val="00B050"/>
                </a:solidFill>
              </a:rPr>
              <a:t>AURISYS_DEMO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0070C0"/>
                </a:solidFill>
              </a:rPr>
              <a:t>PARAM_FILE</a:t>
            </a:r>
            <a:r>
              <a:rPr lang="en-US" sz="1400" b="1" i="1" dirty="0"/>
              <a:t>,</a:t>
            </a:r>
            <a:r>
              <a:rPr lang="en-US" sz="1400" b="1" i="1" dirty="0">
                <a:solidFill>
                  <a:srgbClr val="FF0000"/>
                </a:solidFill>
              </a:rPr>
              <a:t>/</a:t>
            </a:r>
            <a:r>
              <a:rPr lang="en-US" sz="1400" b="1" i="1" dirty="0" smtClean="0">
                <a:solidFill>
                  <a:srgbClr val="FF0000"/>
                </a:solidFill>
              </a:rPr>
              <a:t>data/d.dat</a:t>
            </a:r>
            <a:r>
              <a:rPr lang="en-US" sz="1400" b="1" i="1" dirty="0" smtClean="0"/>
              <a:t>=SET“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b="1" i="1" dirty="0" smtClean="0"/>
              <a:t>Run </a:t>
            </a:r>
            <a:r>
              <a:rPr lang="en-US" sz="1400" b="1" i="1" dirty="0"/>
              <a:t>playback process </a:t>
            </a:r>
            <a:r>
              <a:rPr lang="en-US" sz="1400" b="1" i="1" dirty="0" smtClean="0"/>
              <a:t>with </a:t>
            </a:r>
            <a:r>
              <a:rPr lang="en-US" sz="1400" b="1" i="1" dirty="0" smtClean="0">
                <a:solidFill>
                  <a:srgbClr val="00B050"/>
                </a:solidFill>
              </a:rPr>
              <a:t>AURISYS_DEMO </a:t>
            </a:r>
            <a:r>
              <a:rPr lang="en-US" sz="1400" b="1" i="1" dirty="0" smtClean="0"/>
              <a:t>lib. </a:t>
            </a:r>
            <a:r>
              <a:rPr lang="en-US" sz="1400" dirty="0" smtClean="0"/>
              <a:t>(</a:t>
            </a:r>
            <a:r>
              <a:rPr lang="en-US" altLang="zh-TW" sz="1400" dirty="0"/>
              <a:t>CMD should be sent before library open</a:t>
            </a:r>
            <a:r>
              <a:rPr lang="en-US" sz="1400" dirty="0" smtClean="0"/>
              <a:t>)</a:t>
            </a:r>
            <a:endParaRPr lang="en-US" sz="1400" dirty="0"/>
          </a:p>
          <a:p>
            <a:endParaRPr lang="en-US" altLang="zh-TW" sz="2000" dirty="0" smtClean="0"/>
          </a:p>
          <a:p>
            <a:r>
              <a:rPr lang="en-US" altLang="zh-TW" sz="1800" dirty="0" smtClean="0"/>
              <a:t>Before </a:t>
            </a:r>
            <a:r>
              <a:rPr lang="en-US" sz="1800" b="1" dirty="0">
                <a:solidFill>
                  <a:srgbClr val="00B050"/>
                </a:solidFill>
              </a:rPr>
              <a:t>AURISYS_DEMO</a:t>
            </a:r>
            <a:r>
              <a:rPr lang="en-US" altLang="zh-TW" sz="1800" dirty="0" smtClean="0"/>
              <a:t> open, set this command will replace </a:t>
            </a:r>
            <a:r>
              <a:rPr lang="en-US" sz="1800" b="1" dirty="0">
                <a:solidFill>
                  <a:srgbClr val="00B050"/>
                </a:solidFill>
              </a:rPr>
              <a:t>AURISYS_DEMO </a:t>
            </a:r>
            <a:r>
              <a:rPr lang="en-US" altLang="zh-TW" sz="1800" dirty="0" smtClean="0"/>
              <a:t>parameter file to the </a:t>
            </a:r>
            <a:r>
              <a:rPr lang="en-US" sz="1800" b="1" dirty="0">
                <a:solidFill>
                  <a:srgbClr val="FF0000"/>
                </a:solidFill>
              </a:rPr>
              <a:t>/</a:t>
            </a:r>
            <a:r>
              <a:rPr lang="en-US" sz="1800" b="1" dirty="0" smtClean="0">
                <a:solidFill>
                  <a:srgbClr val="FF0000"/>
                </a:solidFill>
              </a:rPr>
              <a:t>data/d.dat</a:t>
            </a:r>
            <a:r>
              <a:rPr lang="en-US" sz="1800" dirty="0" smtClean="0"/>
              <a:t>. This CMD will take effect till sending another </a:t>
            </a:r>
            <a:r>
              <a:rPr lang="en-US" sz="1800" b="1" dirty="0" smtClean="0">
                <a:solidFill>
                  <a:srgbClr val="0070C0"/>
                </a:solidFill>
              </a:rPr>
              <a:t>PARAM_FILE</a:t>
            </a:r>
            <a:r>
              <a:rPr lang="en-US" sz="1800" dirty="0" smtClean="0"/>
              <a:t> CMD or killing </a:t>
            </a:r>
            <a:r>
              <a:rPr lang="en-US" sz="1800" dirty="0" err="1" smtClean="0"/>
              <a:t>audioserver</a:t>
            </a:r>
            <a:r>
              <a:rPr lang="en-US" sz="1800" dirty="0" smtClean="0"/>
              <a:t> (by killing </a:t>
            </a:r>
            <a:r>
              <a:rPr lang="en-US" sz="1800" dirty="0" err="1" smtClean="0"/>
              <a:t>audioserver</a:t>
            </a:r>
            <a:r>
              <a:rPr lang="en-US" sz="1800" dirty="0" smtClean="0"/>
              <a:t>, the parameter file will reset to </a:t>
            </a:r>
            <a:r>
              <a:rPr lang="en-US" sz="1800" b="1" dirty="0" err="1" smtClean="0">
                <a:solidFill>
                  <a:srgbClr val="7030A0"/>
                </a:solidFill>
              </a:rPr>
              <a:t>param_path</a:t>
            </a:r>
            <a:r>
              <a:rPr lang="en-US" sz="1800" dirty="0" smtClean="0"/>
              <a:t> as </a:t>
            </a:r>
            <a:r>
              <a:rPr lang="en-US" sz="1800" dirty="0" smtClean="0"/>
              <a:t>defined in </a:t>
            </a:r>
            <a:r>
              <a:rPr lang="en-US" sz="1800" dirty="0"/>
              <a:t>aurisys_config.xml</a:t>
            </a:r>
            <a:r>
              <a:rPr lang="en-US" sz="1800" dirty="0" smtClean="0"/>
              <a:t>). </a:t>
            </a:r>
            <a:endParaRPr lang="en-US" altLang="zh-TW" sz="1800" dirty="0" smtClean="0"/>
          </a:p>
          <a:p>
            <a:endParaRPr lang="en-US" altLang="zh-TW" sz="1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8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432001"/>
            <a:ext cx="10972800" cy="669011"/>
          </a:xfrm>
        </p:spPr>
        <p:txBody>
          <a:bodyPr/>
          <a:lstStyle/>
          <a:p>
            <a:r>
              <a:rPr lang="en-US" dirty="0"/>
              <a:t>Static Tuning - PARAM_FILE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609600" y="1184988"/>
            <a:ext cx="10972800" cy="4983615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CMD1</a:t>
            </a:r>
            <a:r>
              <a:rPr lang="en-US" sz="1400" b="1" i="1" dirty="0"/>
              <a:t>: </a:t>
            </a:r>
            <a:r>
              <a:rPr lang="en-US" sz="1400" b="1" i="1" dirty="0" err="1"/>
              <a:t>adb</a:t>
            </a:r>
            <a:r>
              <a:rPr lang="en-US" sz="1400" b="1" i="1" dirty="0"/>
              <a:t> shell "</a:t>
            </a:r>
            <a:r>
              <a:rPr lang="en-US" sz="1400" b="1" i="1" dirty="0" err="1"/>
              <a:t>AudioSetParam</a:t>
            </a:r>
            <a:r>
              <a:rPr lang="en-US" sz="1400" b="1" i="1" dirty="0"/>
              <a:t> </a:t>
            </a:r>
            <a:r>
              <a:rPr lang="en-US" sz="1400" b="1" i="1" dirty="0" smtClean="0"/>
              <a:t>AURISYS_SET_PARAM,DSP,ALL,</a:t>
            </a:r>
            <a:r>
              <a:rPr lang="en-US" sz="1400" b="1" i="1" dirty="0" smtClean="0">
                <a:solidFill>
                  <a:srgbClr val="00B050"/>
                </a:solidFill>
              </a:rPr>
              <a:t>AURISYS_DEMO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0070C0"/>
                </a:solidFill>
              </a:rPr>
              <a:t>PARAM_FILE</a:t>
            </a:r>
            <a:r>
              <a:rPr lang="en-US" sz="1400" b="1" i="1" dirty="0"/>
              <a:t>,</a:t>
            </a:r>
            <a:r>
              <a:rPr lang="en-US" sz="1400" b="1" i="1" dirty="0">
                <a:solidFill>
                  <a:srgbClr val="FF0000"/>
                </a:solidFill>
              </a:rPr>
              <a:t>/</a:t>
            </a:r>
            <a:r>
              <a:rPr lang="en-US" sz="1400" b="1" i="1" dirty="0" smtClean="0">
                <a:solidFill>
                  <a:srgbClr val="FF0000"/>
                </a:solidFill>
              </a:rPr>
              <a:t>data/d.dat</a:t>
            </a:r>
            <a:r>
              <a:rPr lang="en-US" sz="1400" b="1" i="1" dirty="0" smtClean="0"/>
              <a:t>=SET"</a:t>
            </a:r>
            <a:endParaRPr lang="en-US" sz="1400" b="1" i="1" dirty="0"/>
          </a:p>
        </p:txBody>
      </p:sp>
      <p:grpSp>
        <p:nvGrpSpPr>
          <p:cNvPr id="10" name="群組 9"/>
          <p:cNvGrpSpPr/>
          <p:nvPr/>
        </p:nvGrpSpPr>
        <p:grpSpPr>
          <a:xfrm>
            <a:off x="2677885" y="2062307"/>
            <a:ext cx="6179004" cy="3228975"/>
            <a:chOff x="2612571" y="1842504"/>
            <a:chExt cx="6179004" cy="3228975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0425" y="1842504"/>
              <a:ext cx="5391150" cy="3228975"/>
            </a:xfrm>
            <a:prstGeom prst="rect">
              <a:avLst/>
            </a:prstGeom>
          </p:spPr>
        </p:pic>
        <p:sp>
          <p:nvSpPr>
            <p:cNvPr id="6" name="爆炸 2 5"/>
            <p:cNvSpPr/>
            <p:nvPr/>
          </p:nvSpPr>
          <p:spPr>
            <a:xfrm>
              <a:off x="2612571" y="2174032"/>
              <a:ext cx="1782147" cy="679850"/>
            </a:xfrm>
            <a:prstGeom prst="irregularSeal2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CMD1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直線接點 7"/>
            <p:cNvCxnSpPr/>
            <p:nvPr/>
          </p:nvCxnSpPr>
          <p:spPr>
            <a:xfrm>
              <a:off x="7884367" y="3303037"/>
              <a:ext cx="58782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/>
            <p:cNvCxnSpPr/>
            <p:nvPr/>
          </p:nvCxnSpPr>
          <p:spPr>
            <a:xfrm>
              <a:off x="7763069" y="4609323"/>
              <a:ext cx="58782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250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Tuning - ADDR_VALUE/</a:t>
            </a:r>
            <a:r>
              <a:rPr lang="en-US" dirty="0"/>
              <a:t>KEY_VALUE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293341"/>
            <a:ext cx="10972800" cy="4875262"/>
          </a:xfrm>
        </p:spPr>
        <p:txBody>
          <a:bodyPr/>
          <a:lstStyle/>
          <a:p>
            <a:r>
              <a:rPr lang="en-US" altLang="zh-TW" sz="1800" dirty="0" smtClean="0"/>
              <a:t>For dynamically applying another address value or key value, can be done by below tuning steps.</a:t>
            </a:r>
          </a:p>
          <a:p>
            <a:endParaRPr lang="en-US" sz="1800" dirty="0" smtClean="0"/>
          </a:p>
          <a:p>
            <a:r>
              <a:rPr lang="en-US" sz="1800" dirty="0" smtClean="0"/>
              <a:t>Tuning steps:</a:t>
            </a:r>
          </a:p>
          <a:p>
            <a:pPr lvl="1">
              <a:buFont typeface="+mj-lt"/>
              <a:buAutoNum type="arabicPeriod"/>
            </a:pPr>
            <a:r>
              <a:rPr lang="en-US" sz="1400" b="1" i="1" dirty="0" smtClean="0"/>
              <a:t>Run playback process with </a:t>
            </a:r>
            <a:r>
              <a:rPr lang="en-US" sz="1400" b="1" i="1" dirty="0" smtClean="0">
                <a:solidFill>
                  <a:srgbClr val="00B050"/>
                </a:solidFill>
              </a:rPr>
              <a:t>AURISYS_DEMO </a:t>
            </a:r>
            <a:r>
              <a:rPr lang="en-US" sz="1400" b="1" i="1" dirty="0" smtClean="0"/>
              <a:t>lib. </a:t>
            </a:r>
            <a:r>
              <a:rPr lang="en-US" sz="1400" dirty="0" smtClean="0"/>
              <a:t>(below C</a:t>
            </a:r>
            <a:r>
              <a:rPr lang="en-US" altLang="zh-TW" sz="1400" dirty="0" smtClean="0"/>
              <a:t>MD </a:t>
            </a:r>
            <a:r>
              <a:rPr lang="en-US" altLang="zh-TW" sz="1400" dirty="0"/>
              <a:t>only works when library running</a:t>
            </a:r>
            <a:r>
              <a:rPr lang="en-US" sz="1400" dirty="0" smtClean="0"/>
              <a:t>)</a:t>
            </a:r>
            <a:endParaRPr lang="en-US" sz="1400" dirty="0"/>
          </a:p>
          <a:p>
            <a:pPr lvl="1">
              <a:buFont typeface="+mj-lt"/>
              <a:buAutoNum type="arabicPeriod"/>
            </a:pPr>
            <a:r>
              <a:rPr lang="en-US" sz="1400" b="1" i="1" dirty="0" err="1" smtClean="0"/>
              <a:t>adb</a:t>
            </a:r>
            <a:r>
              <a:rPr lang="en-US" sz="1400" b="1" i="1" dirty="0" smtClean="0"/>
              <a:t> </a:t>
            </a:r>
            <a:r>
              <a:rPr lang="en-US" sz="1400" b="1" i="1" dirty="0"/>
              <a:t>shell "</a:t>
            </a:r>
            <a:r>
              <a:rPr lang="en-US" sz="1400" b="1" i="1" dirty="0" err="1"/>
              <a:t>AudioSetParam</a:t>
            </a:r>
            <a:r>
              <a:rPr lang="en-US" sz="1400" b="1" i="1" dirty="0"/>
              <a:t> </a:t>
            </a:r>
            <a:r>
              <a:rPr lang="en-US" sz="1400" b="1" i="1" dirty="0" smtClean="0"/>
              <a:t>AURISYS_SET_PARAM,DSP,ALL,</a:t>
            </a:r>
            <a:r>
              <a:rPr lang="en-US" sz="1400" b="1" i="1" dirty="0" smtClean="0">
                <a:solidFill>
                  <a:srgbClr val="00B050"/>
                </a:solidFill>
              </a:rPr>
              <a:t>AURISYS_DEMO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0070C0"/>
                </a:solidFill>
              </a:rPr>
              <a:t>ADDR_VALUE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FF0000"/>
                </a:solidFill>
              </a:rPr>
              <a:t>0x1234,0x5566</a:t>
            </a:r>
            <a:r>
              <a:rPr lang="en-US" sz="1400" b="1" i="1" dirty="0" smtClean="0"/>
              <a:t>=SET</a:t>
            </a:r>
            <a:r>
              <a:rPr lang="en-US" sz="1400" b="1" i="1" dirty="0"/>
              <a:t>"</a:t>
            </a:r>
            <a:endParaRPr lang="en-US" sz="1400" dirty="0"/>
          </a:p>
          <a:p>
            <a:pPr lvl="1">
              <a:buFont typeface="+mj-lt"/>
              <a:buAutoNum type="arabicPeriod"/>
            </a:pPr>
            <a:r>
              <a:rPr lang="en-US" sz="1400" b="1" i="1" dirty="0" err="1" smtClean="0"/>
              <a:t>adb</a:t>
            </a:r>
            <a:r>
              <a:rPr lang="en-US" sz="1400" b="1" i="1" dirty="0" smtClean="0"/>
              <a:t> </a:t>
            </a:r>
            <a:r>
              <a:rPr lang="en-US" sz="1400" b="1" i="1" dirty="0"/>
              <a:t>shell "</a:t>
            </a:r>
            <a:r>
              <a:rPr lang="en-US" sz="1400" b="1" i="1" dirty="0" err="1"/>
              <a:t>AudioSetParam</a:t>
            </a:r>
            <a:r>
              <a:rPr lang="en-US" sz="1400" b="1" i="1" dirty="0"/>
              <a:t> </a:t>
            </a:r>
            <a:r>
              <a:rPr lang="en-US" sz="1400" b="1" i="1" dirty="0" err="1" smtClean="0"/>
              <a:t>AURISYS_SET_PARAM,DSP,ALL,</a:t>
            </a:r>
            <a:r>
              <a:rPr lang="en-US" sz="1400" b="1" i="1" dirty="0" err="1" smtClean="0">
                <a:solidFill>
                  <a:srgbClr val="00B050"/>
                </a:solidFill>
              </a:rPr>
              <a:t>AURISYS_DEMO</a:t>
            </a:r>
            <a:r>
              <a:rPr lang="en-US" sz="1400" b="1" i="1" dirty="0" err="1" smtClean="0"/>
              <a:t>,</a:t>
            </a:r>
            <a:r>
              <a:rPr lang="en-US" sz="1400" b="1" i="1" dirty="0" err="1" smtClean="0">
                <a:solidFill>
                  <a:srgbClr val="0070C0"/>
                </a:solidFill>
              </a:rPr>
              <a:t>KEY_VALUE</a:t>
            </a:r>
            <a:r>
              <a:rPr lang="en-US" sz="1400" b="1" i="1" dirty="0" err="1" smtClean="0"/>
              <a:t>,</a:t>
            </a:r>
            <a:r>
              <a:rPr lang="en-US" sz="1400" b="1" i="1" dirty="0" err="1" smtClean="0">
                <a:solidFill>
                  <a:srgbClr val="FF0000"/>
                </a:solidFill>
              </a:rPr>
              <a:t>HAHA,on</a:t>
            </a:r>
            <a:r>
              <a:rPr lang="en-US" sz="1400" b="1" i="1" dirty="0" smtClean="0"/>
              <a:t>=SET</a:t>
            </a:r>
            <a:r>
              <a:rPr lang="en-US" sz="1400" b="1" i="1" dirty="0"/>
              <a:t>"</a:t>
            </a:r>
            <a:endParaRPr lang="en-US" sz="1400" dirty="0"/>
          </a:p>
          <a:p>
            <a:endParaRPr lang="en-US" sz="1800" dirty="0" smtClean="0"/>
          </a:p>
          <a:p>
            <a:r>
              <a:rPr lang="en-US" altLang="zh-TW" sz="1800" dirty="0" smtClean="0"/>
              <a:t>First run playback process with </a:t>
            </a:r>
            <a:r>
              <a:rPr lang="en-US" sz="1800" b="1" dirty="0">
                <a:solidFill>
                  <a:srgbClr val="00B050"/>
                </a:solidFill>
              </a:rPr>
              <a:t>AURISYS_DEMO</a:t>
            </a:r>
            <a:r>
              <a:rPr lang="en-US" altLang="zh-TW" sz="1800" dirty="0"/>
              <a:t> </a:t>
            </a:r>
            <a:r>
              <a:rPr lang="en-US" altLang="zh-TW" sz="1800" dirty="0" smtClean="0"/>
              <a:t>lib, then set these commands </a:t>
            </a:r>
            <a:r>
              <a:rPr lang="en-US" altLang="zh-TW" sz="1800" dirty="0"/>
              <a:t>will replace </a:t>
            </a:r>
            <a:r>
              <a:rPr lang="en-US" sz="1800" b="1" dirty="0">
                <a:solidFill>
                  <a:srgbClr val="00B050"/>
                </a:solidFill>
              </a:rPr>
              <a:t>AURISYS_DEMO</a:t>
            </a:r>
            <a:r>
              <a:rPr lang="en-US" altLang="zh-TW" sz="1800" dirty="0"/>
              <a:t> address </a:t>
            </a:r>
            <a:r>
              <a:rPr lang="en-US" altLang="zh-TW" sz="1800" b="1" dirty="0" smtClean="0">
                <a:solidFill>
                  <a:srgbClr val="FF0000"/>
                </a:solidFill>
              </a:rPr>
              <a:t>0x1234</a:t>
            </a:r>
            <a:r>
              <a:rPr lang="en-US" altLang="zh-TW" sz="1800" dirty="0" smtClean="0"/>
              <a:t> value to </a:t>
            </a:r>
            <a:r>
              <a:rPr lang="en-US" altLang="zh-TW" sz="1800" b="1" dirty="0" smtClean="0">
                <a:solidFill>
                  <a:srgbClr val="FF0000"/>
                </a:solidFill>
              </a:rPr>
              <a:t>0x5566</a:t>
            </a:r>
            <a:r>
              <a:rPr lang="en-US" altLang="zh-TW" sz="1800" dirty="0" smtClean="0"/>
              <a:t>, and replace </a:t>
            </a:r>
            <a:r>
              <a:rPr lang="en-US" altLang="zh-TW" sz="1800" dirty="0" err="1" smtClean="0"/>
              <a:t>key_value</a:t>
            </a:r>
            <a:r>
              <a:rPr lang="en-US" altLang="zh-TW" sz="1800" dirty="0" smtClean="0"/>
              <a:t> </a:t>
            </a:r>
            <a:r>
              <a:rPr lang="en-US" sz="1800" b="1" dirty="0">
                <a:solidFill>
                  <a:srgbClr val="FF0000"/>
                </a:solidFill>
              </a:rPr>
              <a:t>HAHA</a:t>
            </a:r>
            <a:r>
              <a:rPr lang="en-US" altLang="zh-TW" sz="1800" dirty="0" smtClean="0"/>
              <a:t> to </a:t>
            </a:r>
            <a:r>
              <a:rPr lang="en-US" altLang="zh-TW" sz="1800" b="1" dirty="0" smtClean="0">
                <a:solidFill>
                  <a:srgbClr val="FF0000"/>
                </a:solidFill>
              </a:rPr>
              <a:t>on</a:t>
            </a:r>
            <a:r>
              <a:rPr lang="en-US" altLang="zh-TW" sz="1800" dirty="0" smtClean="0"/>
              <a:t>.</a:t>
            </a:r>
            <a:r>
              <a:rPr lang="en-US" sz="1800" dirty="0" smtClean="0"/>
              <a:t> These </a:t>
            </a:r>
            <a:r>
              <a:rPr lang="en-US" altLang="zh-TW" sz="1800" dirty="0"/>
              <a:t>commands </a:t>
            </a:r>
            <a:r>
              <a:rPr lang="en-US" sz="1800" dirty="0" smtClean="0"/>
              <a:t>will </a:t>
            </a:r>
            <a:r>
              <a:rPr lang="en-US" sz="1800" dirty="0"/>
              <a:t>take effect till </a:t>
            </a:r>
            <a:r>
              <a:rPr lang="en-US" sz="1800" dirty="0" smtClean="0"/>
              <a:t>playback end, and will </a:t>
            </a:r>
            <a:r>
              <a:rPr lang="en-US" sz="1800" b="1" dirty="0" smtClean="0">
                <a:solidFill>
                  <a:srgbClr val="FF0000"/>
                </a:solidFill>
              </a:rPr>
              <a:t>not</a:t>
            </a:r>
            <a:r>
              <a:rPr lang="en-US" sz="1800" dirty="0" smtClean="0"/>
              <a:t> effect next playback round.</a:t>
            </a:r>
          </a:p>
          <a:p>
            <a:r>
              <a:rPr lang="en-US" sz="1800" b="1" dirty="0" smtClean="0">
                <a:solidFill>
                  <a:srgbClr val="00B050"/>
                </a:solidFill>
              </a:rPr>
              <a:t>AURISYS_DEMO</a:t>
            </a:r>
            <a:r>
              <a:rPr lang="en-US" sz="1800" dirty="0" smtClean="0">
                <a:solidFill>
                  <a:srgbClr val="00B050"/>
                </a:solidFill>
              </a:rPr>
              <a:t> </a:t>
            </a:r>
            <a:r>
              <a:rPr lang="en-US" sz="1800" dirty="0" smtClean="0"/>
              <a:t>is defined as </a:t>
            </a:r>
            <a:r>
              <a:rPr lang="en-US" sz="1800" b="1" dirty="0" err="1" smtClean="0">
                <a:solidFill>
                  <a:srgbClr val="7030A0"/>
                </a:solidFill>
              </a:rPr>
              <a:t>adb_cmd_key</a:t>
            </a:r>
            <a:r>
              <a:rPr lang="en-US" sz="1800" dirty="0" smtClean="0"/>
              <a:t> in aurisys_config.xml/aurisys_config_hifi3.xml, key value (e.g.</a:t>
            </a:r>
            <a:r>
              <a:rPr lang="en-US" sz="1800" b="1" i="1" dirty="0">
                <a:solidFill>
                  <a:srgbClr val="FF0000"/>
                </a:solidFill>
              </a:rPr>
              <a:t> </a:t>
            </a:r>
            <a:r>
              <a:rPr lang="en-US" sz="1800" b="1" i="1" dirty="0" err="1">
                <a:solidFill>
                  <a:srgbClr val="FF0000"/>
                </a:solidFill>
              </a:rPr>
              <a:t>HAHA,on</a:t>
            </a:r>
            <a:r>
              <a:rPr lang="en-US" sz="1800" dirty="0" smtClean="0"/>
              <a:t>) and address value (e.g. </a:t>
            </a:r>
            <a:r>
              <a:rPr lang="en-US" sz="1800" b="1" i="1" dirty="0">
                <a:solidFill>
                  <a:srgbClr val="FF0000"/>
                </a:solidFill>
              </a:rPr>
              <a:t>0x1234,0x5566</a:t>
            </a:r>
            <a:r>
              <a:rPr lang="en-US" sz="1800" dirty="0" smtClean="0"/>
              <a:t>) sh</a:t>
            </a:r>
            <a:r>
              <a:rPr lang="en-US" sz="1800" dirty="0" smtClean="0">
                <a:solidFill>
                  <a:schemeClr val="dk1"/>
                </a:solidFill>
              </a:rPr>
              <a:t>ould </a:t>
            </a:r>
            <a:r>
              <a:rPr lang="en-US" sz="1800" dirty="0">
                <a:solidFill>
                  <a:schemeClr val="dk1"/>
                </a:solidFill>
              </a:rPr>
              <a:t>be defined by the library </a:t>
            </a:r>
            <a:r>
              <a:rPr lang="en-US" sz="1800" dirty="0" smtClean="0">
                <a:solidFill>
                  <a:schemeClr val="dk1"/>
                </a:solidFill>
              </a:rPr>
              <a:t>itself.</a:t>
            </a:r>
            <a:endParaRPr lang="en-US" sz="1800" dirty="0">
              <a:solidFill>
                <a:srgbClr val="FF0000"/>
              </a:solidFill>
            </a:endParaRPr>
          </a:p>
          <a:p>
            <a:endParaRPr lang="en-US" altLang="zh-TW" sz="1800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3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432002"/>
            <a:ext cx="10972800" cy="622442"/>
          </a:xfrm>
        </p:spPr>
        <p:txBody>
          <a:bodyPr/>
          <a:lstStyle/>
          <a:p>
            <a:r>
              <a:rPr lang="en-US" dirty="0"/>
              <a:t>Dynamic Tuning - </a:t>
            </a:r>
            <a:r>
              <a:rPr lang="en-US" dirty="0" smtClean="0"/>
              <a:t>ADDR_VALUE/KEY_VALUE</a:t>
            </a:r>
            <a:endParaRPr 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609600" y="1194486"/>
            <a:ext cx="10972800" cy="4974117"/>
          </a:xfrm>
        </p:spPr>
        <p:txBody>
          <a:bodyPr/>
          <a:lstStyle/>
          <a:p>
            <a:pPr marL="57150" indent="0">
              <a:buNone/>
            </a:pPr>
            <a:r>
              <a:rPr lang="en-US" sz="1400" b="1" i="1" dirty="0" smtClean="0">
                <a:solidFill>
                  <a:srgbClr val="FF0000"/>
                </a:solidFill>
              </a:rPr>
              <a:t>CMD1</a:t>
            </a:r>
            <a:r>
              <a:rPr lang="en-US" sz="1400" b="1" i="1" dirty="0" smtClean="0"/>
              <a:t>: </a:t>
            </a:r>
            <a:r>
              <a:rPr lang="en-US" sz="1400" b="1" i="1" dirty="0" err="1" smtClean="0"/>
              <a:t>adb</a:t>
            </a:r>
            <a:r>
              <a:rPr lang="en-US" sz="1400" b="1" i="1" dirty="0" smtClean="0"/>
              <a:t> </a:t>
            </a:r>
            <a:r>
              <a:rPr lang="en-US" sz="1400" b="1" i="1" dirty="0"/>
              <a:t>shell "</a:t>
            </a:r>
            <a:r>
              <a:rPr lang="en-US" sz="1400" b="1" i="1" dirty="0" err="1"/>
              <a:t>AudioSetParam</a:t>
            </a:r>
            <a:r>
              <a:rPr lang="en-US" sz="1400" b="1" i="1" dirty="0"/>
              <a:t> </a:t>
            </a:r>
            <a:r>
              <a:rPr lang="en-US" sz="1400" b="1" i="1" dirty="0" smtClean="0"/>
              <a:t>AURISYS_SET_PARAM,DSP,ALL,</a:t>
            </a:r>
            <a:r>
              <a:rPr lang="en-US" sz="1400" b="1" i="1" dirty="0" smtClean="0">
                <a:solidFill>
                  <a:srgbClr val="00B050"/>
                </a:solidFill>
              </a:rPr>
              <a:t>AURISYS_DEMO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0070C0"/>
                </a:solidFill>
              </a:rPr>
              <a:t>ADDR_VALUE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FF0000"/>
                </a:solidFill>
              </a:rPr>
              <a:t>0x1234,0x5566</a:t>
            </a:r>
            <a:r>
              <a:rPr lang="en-US" sz="1400" b="1" i="1" dirty="0" smtClean="0"/>
              <a:t>=SET</a:t>
            </a:r>
            <a:r>
              <a:rPr lang="en-US" sz="1400" b="1" i="1" dirty="0"/>
              <a:t>"</a:t>
            </a:r>
            <a:endParaRPr lang="en-US" sz="1400" dirty="0"/>
          </a:p>
          <a:p>
            <a:pPr marL="57150" indent="0">
              <a:buNone/>
            </a:pPr>
            <a:r>
              <a:rPr lang="en-US" sz="1400" b="1" i="1" dirty="0" smtClean="0">
                <a:solidFill>
                  <a:srgbClr val="FF0000"/>
                </a:solidFill>
              </a:rPr>
              <a:t>CMD2</a:t>
            </a:r>
            <a:r>
              <a:rPr lang="en-US" sz="1400" b="1" i="1" dirty="0" smtClean="0"/>
              <a:t>: </a:t>
            </a:r>
            <a:r>
              <a:rPr lang="en-US" sz="1400" b="1" i="1" dirty="0" err="1" smtClean="0"/>
              <a:t>adb</a:t>
            </a:r>
            <a:r>
              <a:rPr lang="en-US" sz="1400" b="1" i="1" dirty="0" smtClean="0"/>
              <a:t> </a:t>
            </a:r>
            <a:r>
              <a:rPr lang="en-US" sz="1400" b="1" i="1" dirty="0"/>
              <a:t>shell </a:t>
            </a:r>
            <a:r>
              <a:rPr lang="en-US" sz="1400" b="1" i="1" dirty="0" smtClean="0"/>
              <a:t>"</a:t>
            </a:r>
            <a:r>
              <a:rPr lang="en-US" sz="1400" b="1" i="1" dirty="0" err="1" smtClean="0"/>
              <a:t>AudioSetParam</a:t>
            </a:r>
            <a:r>
              <a:rPr lang="en-US" sz="1400" b="1" i="1" dirty="0" smtClean="0"/>
              <a:t> </a:t>
            </a:r>
            <a:r>
              <a:rPr lang="en-US" sz="1400" b="1" i="1" dirty="0" err="1" smtClean="0"/>
              <a:t>AURISYS_SET_PARAM,DSP,ALL,</a:t>
            </a:r>
            <a:r>
              <a:rPr lang="en-US" sz="1400" b="1" i="1" dirty="0" err="1" smtClean="0">
                <a:solidFill>
                  <a:srgbClr val="00B050"/>
                </a:solidFill>
              </a:rPr>
              <a:t>AURISYS_DEMO</a:t>
            </a:r>
            <a:r>
              <a:rPr lang="en-US" sz="1400" b="1" i="1" dirty="0" err="1" smtClean="0"/>
              <a:t>,</a:t>
            </a:r>
            <a:r>
              <a:rPr lang="en-US" sz="1400" b="1" i="1" dirty="0" err="1" smtClean="0">
                <a:solidFill>
                  <a:srgbClr val="0070C0"/>
                </a:solidFill>
              </a:rPr>
              <a:t>KEY_VALUE</a:t>
            </a:r>
            <a:r>
              <a:rPr lang="en-US" sz="1400" b="1" i="1" dirty="0" err="1" smtClean="0"/>
              <a:t>,</a:t>
            </a:r>
            <a:r>
              <a:rPr lang="en-US" sz="1400" b="1" i="1" dirty="0" err="1" smtClean="0">
                <a:solidFill>
                  <a:srgbClr val="FF0000"/>
                </a:solidFill>
              </a:rPr>
              <a:t>HAHA,on</a:t>
            </a:r>
            <a:r>
              <a:rPr lang="en-US" sz="1400" b="1" i="1" dirty="0" smtClean="0"/>
              <a:t>=SET"</a:t>
            </a:r>
            <a:endParaRPr lang="en-US" sz="1400" dirty="0"/>
          </a:p>
          <a:p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87" y="1784459"/>
            <a:ext cx="5762625" cy="4676775"/>
          </a:xfrm>
          <a:prstGeom prst="rect">
            <a:avLst/>
          </a:prstGeom>
        </p:spPr>
      </p:pic>
      <p:sp>
        <p:nvSpPr>
          <p:cNvPr id="8" name="爆炸 2 7"/>
          <p:cNvSpPr/>
          <p:nvPr/>
        </p:nvSpPr>
        <p:spPr>
          <a:xfrm>
            <a:off x="2491273" y="3228391"/>
            <a:ext cx="1782147" cy="679850"/>
          </a:xfrm>
          <a:prstGeom prst="irregularSeal2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CMD1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爆炸 2 8"/>
          <p:cNvSpPr/>
          <p:nvPr/>
        </p:nvSpPr>
        <p:spPr>
          <a:xfrm>
            <a:off x="2491272" y="4571999"/>
            <a:ext cx="1782147" cy="679850"/>
          </a:xfrm>
          <a:prstGeom prst="irregularSeal2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CMD2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7081934" y="3816221"/>
            <a:ext cx="9050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072604" y="5197151"/>
            <a:ext cx="57849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19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Tuning </a:t>
            </a:r>
            <a:r>
              <a:rPr lang="en-US" dirty="0"/>
              <a:t>- APPLY_PARAM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326292"/>
            <a:ext cx="10972800" cy="4842311"/>
          </a:xfrm>
        </p:spPr>
        <p:txBody>
          <a:bodyPr>
            <a:normAutofit/>
          </a:bodyPr>
          <a:lstStyle/>
          <a:p>
            <a:pPr>
              <a:buClr>
                <a:srgbClr val="F39A1E"/>
              </a:buClr>
            </a:pPr>
            <a:r>
              <a:rPr lang="en-US" altLang="zh-TW" sz="2000" dirty="0">
                <a:solidFill>
                  <a:srgbClr val="353630"/>
                </a:solidFill>
              </a:rPr>
              <a:t>APPLY_PARAM can work both statically and dynamically.</a:t>
            </a:r>
          </a:p>
          <a:p>
            <a:pPr marL="457200" lvl="1" indent="0">
              <a:buClr>
                <a:srgbClr val="F39A1E"/>
              </a:buClr>
              <a:buNone/>
            </a:pPr>
            <a:endParaRPr lang="en-US" sz="1600" dirty="0">
              <a:solidFill>
                <a:srgbClr val="353630"/>
              </a:solidFill>
            </a:endParaRPr>
          </a:p>
          <a:p>
            <a:pPr lvl="0">
              <a:buClr>
                <a:srgbClr val="F39A1E"/>
              </a:buClr>
            </a:pPr>
            <a:r>
              <a:rPr lang="en-US" sz="2000" dirty="0" smtClean="0"/>
              <a:t>Dynamic </a:t>
            </a:r>
            <a:r>
              <a:rPr lang="en-US" sz="2000" dirty="0"/>
              <a:t>tuning steps </a:t>
            </a:r>
            <a:r>
              <a:rPr lang="en-US" sz="2000" dirty="0" smtClean="0">
                <a:solidFill>
                  <a:srgbClr val="353630"/>
                </a:solidFill>
              </a:rPr>
              <a:t>:</a:t>
            </a:r>
            <a:endParaRPr lang="en-US" sz="2000" dirty="0">
              <a:solidFill>
                <a:srgbClr val="353630"/>
              </a:solidFill>
            </a:endParaRPr>
          </a:p>
          <a:p>
            <a:pPr lvl="1">
              <a:buClrTx/>
              <a:buFont typeface="+mj-lt"/>
              <a:buAutoNum type="arabicPeriod"/>
            </a:pPr>
            <a:r>
              <a:rPr lang="en-US" sz="1400" b="1" i="1" dirty="0" smtClean="0">
                <a:solidFill>
                  <a:srgbClr val="353630"/>
                </a:solidFill>
              </a:rPr>
              <a:t>Run playback process </a:t>
            </a:r>
            <a:r>
              <a:rPr lang="en-US" sz="1400" b="1" i="1" dirty="0">
                <a:solidFill>
                  <a:srgbClr val="353630"/>
                </a:solidFill>
              </a:rPr>
              <a:t>with </a:t>
            </a:r>
            <a:r>
              <a:rPr lang="en-US" sz="1400" b="1" i="1" dirty="0">
                <a:solidFill>
                  <a:srgbClr val="00B050"/>
                </a:solidFill>
              </a:rPr>
              <a:t>AURISYS_DEMO </a:t>
            </a:r>
            <a:r>
              <a:rPr lang="en-US" sz="1400" b="1" i="1" dirty="0" smtClean="0">
                <a:solidFill>
                  <a:srgbClr val="353630"/>
                </a:solidFill>
              </a:rPr>
              <a:t>lib.</a:t>
            </a:r>
            <a:endParaRPr lang="en-US" sz="1400" dirty="0">
              <a:solidFill>
                <a:srgbClr val="353630"/>
              </a:solidFill>
            </a:endParaRPr>
          </a:p>
          <a:p>
            <a:pPr lvl="1">
              <a:buClrTx/>
              <a:buFont typeface="+mj-lt"/>
              <a:buAutoNum type="arabicPeriod"/>
            </a:pPr>
            <a:r>
              <a:rPr lang="en-US" sz="1400" b="1" i="1" dirty="0">
                <a:solidFill>
                  <a:srgbClr val="353630"/>
                </a:solidFill>
              </a:rPr>
              <a:t>(</a:t>
            </a:r>
            <a:r>
              <a:rPr lang="en-US" sz="1400" b="1" i="1" dirty="0" err="1">
                <a:solidFill>
                  <a:srgbClr val="353630"/>
                </a:solidFill>
              </a:rPr>
              <a:t>adb</a:t>
            </a:r>
            <a:r>
              <a:rPr lang="en-US" sz="1400" b="1" i="1" dirty="0">
                <a:solidFill>
                  <a:srgbClr val="353630"/>
                </a:solidFill>
              </a:rPr>
              <a:t> shell "</a:t>
            </a:r>
            <a:r>
              <a:rPr lang="en-US" sz="1400" b="1" i="1" dirty="0" err="1">
                <a:solidFill>
                  <a:srgbClr val="353630"/>
                </a:solidFill>
              </a:rPr>
              <a:t>AudioSetParam</a:t>
            </a:r>
            <a:r>
              <a:rPr lang="en-US" sz="1400" b="1" i="1" dirty="0">
                <a:solidFill>
                  <a:srgbClr val="353630"/>
                </a:solidFill>
              </a:rPr>
              <a:t> </a:t>
            </a:r>
            <a:r>
              <a:rPr lang="en-US" sz="1400" b="1" i="1" dirty="0" smtClean="0">
                <a:solidFill>
                  <a:srgbClr val="353630"/>
                </a:solidFill>
              </a:rPr>
              <a:t>AURISYS_SET_PARAM,DSP,ALL,</a:t>
            </a:r>
            <a:r>
              <a:rPr lang="en-US" sz="1400" b="1" i="1" dirty="0" smtClean="0">
                <a:solidFill>
                  <a:srgbClr val="00B050"/>
                </a:solidFill>
              </a:rPr>
              <a:t>AURISYS_DEMO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0070C0"/>
                </a:solidFill>
              </a:rPr>
              <a:t>PARAM_FILE</a:t>
            </a:r>
            <a:r>
              <a:rPr lang="en-US" sz="1400" b="1" i="1" dirty="0">
                <a:solidFill>
                  <a:srgbClr val="353630"/>
                </a:solidFill>
              </a:rPr>
              <a:t>,</a:t>
            </a:r>
            <a:r>
              <a:rPr lang="en-US" sz="1400" b="1" i="1" dirty="0">
                <a:solidFill>
                  <a:srgbClr val="FF0000"/>
                </a:solidFill>
              </a:rPr>
              <a:t>/data/d.dat</a:t>
            </a:r>
            <a:r>
              <a:rPr lang="en-US" sz="1400" b="1" i="1" dirty="0"/>
              <a:t>=SET</a:t>
            </a:r>
            <a:r>
              <a:rPr lang="en-US" sz="1400" b="1" i="1" dirty="0" smtClean="0">
                <a:solidFill>
                  <a:srgbClr val="353630"/>
                </a:solidFill>
              </a:rPr>
              <a:t>“)</a:t>
            </a:r>
            <a:endParaRPr lang="en-US" sz="1400" b="1" i="1" dirty="0">
              <a:solidFill>
                <a:srgbClr val="353630"/>
              </a:solidFill>
            </a:endParaRPr>
          </a:p>
          <a:p>
            <a:pPr lvl="1">
              <a:buClrTx/>
              <a:buFont typeface="+mj-lt"/>
              <a:buAutoNum type="arabicPeriod"/>
            </a:pPr>
            <a:r>
              <a:rPr lang="en-US" sz="1400" b="1" i="1" dirty="0" err="1">
                <a:solidFill>
                  <a:srgbClr val="353630"/>
                </a:solidFill>
              </a:rPr>
              <a:t>adb</a:t>
            </a:r>
            <a:r>
              <a:rPr lang="en-US" sz="1400" b="1" i="1" dirty="0">
                <a:solidFill>
                  <a:srgbClr val="353630"/>
                </a:solidFill>
              </a:rPr>
              <a:t> shell "</a:t>
            </a:r>
            <a:r>
              <a:rPr lang="en-US" sz="1400" b="1" i="1" dirty="0" err="1">
                <a:solidFill>
                  <a:srgbClr val="353630"/>
                </a:solidFill>
              </a:rPr>
              <a:t>AudioSetParam</a:t>
            </a:r>
            <a:r>
              <a:rPr lang="en-US" sz="1400" b="1" i="1" dirty="0">
                <a:solidFill>
                  <a:srgbClr val="353630"/>
                </a:solidFill>
              </a:rPr>
              <a:t> </a:t>
            </a:r>
            <a:r>
              <a:rPr lang="en-US" sz="1400" b="1" i="1" dirty="0" smtClean="0">
                <a:solidFill>
                  <a:srgbClr val="353630"/>
                </a:solidFill>
              </a:rPr>
              <a:t>AURISYS_SET_PARAM,DSP,ALL,</a:t>
            </a:r>
            <a:r>
              <a:rPr lang="en-US" sz="1400" b="1" i="1" dirty="0" smtClean="0">
                <a:solidFill>
                  <a:srgbClr val="00B050"/>
                </a:solidFill>
              </a:rPr>
              <a:t>AURISYS_DEMO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0070C0"/>
                </a:solidFill>
              </a:rPr>
              <a:t>APPLY_PARAM</a:t>
            </a:r>
            <a:r>
              <a:rPr lang="en-US" sz="1400" b="1" i="1" dirty="0" smtClean="0">
                <a:solidFill>
                  <a:srgbClr val="353630"/>
                </a:solidFill>
              </a:rPr>
              <a:t>,</a:t>
            </a:r>
            <a:r>
              <a:rPr lang="en-US" sz="1400" b="1" i="1" dirty="0" smtClean="0">
                <a:solidFill>
                  <a:srgbClr val="FF0000"/>
                </a:solidFill>
              </a:rPr>
              <a:t>SetAudioCustomScene,app1</a:t>
            </a:r>
            <a:r>
              <a:rPr lang="en-US" sz="1400" b="1" i="1" dirty="0" smtClean="0">
                <a:solidFill>
                  <a:srgbClr val="353630"/>
                </a:solidFill>
              </a:rPr>
              <a:t>=SET</a:t>
            </a:r>
            <a:r>
              <a:rPr lang="en-US" sz="1400" b="1" i="1" dirty="0">
                <a:solidFill>
                  <a:srgbClr val="353630"/>
                </a:solidFill>
              </a:rPr>
              <a:t>"</a:t>
            </a:r>
            <a:endParaRPr lang="en-US" sz="1400" dirty="0">
              <a:solidFill>
                <a:srgbClr val="353630"/>
              </a:solidFill>
            </a:endParaRPr>
          </a:p>
          <a:p>
            <a:pPr lvl="0">
              <a:buClr>
                <a:srgbClr val="F39A1E"/>
              </a:buClr>
            </a:pPr>
            <a:endParaRPr lang="en-US" sz="2000" dirty="0">
              <a:solidFill>
                <a:srgbClr val="353630"/>
              </a:solidFill>
            </a:endParaRPr>
          </a:p>
          <a:p>
            <a:pPr>
              <a:buClr>
                <a:srgbClr val="F39A1E"/>
              </a:buClr>
            </a:pPr>
            <a:r>
              <a:rPr lang="en-US" altLang="zh-TW" sz="1800" dirty="0">
                <a:solidFill>
                  <a:srgbClr val="353630"/>
                </a:solidFill>
              </a:rPr>
              <a:t>First </a:t>
            </a:r>
            <a:r>
              <a:rPr lang="en-US" altLang="zh-TW" sz="1800" dirty="0" smtClean="0">
                <a:solidFill>
                  <a:srgbClr val="353630"/>
                </a:solidFill>
              </a:rPr>
              <a:t>run playback process to </a:t>
            </a:r>
            <a:r>
              <a:rPr lang="en-US" altLang="zh-TW" sz="1800" dirty="0">
                <a:solidFill>
                  <a:srgbClr val="353630"/>
                </a:solidFill>
              </a:rPr>
              <a:t>open </a:t>
            </a:r>
            <a:r>
              <a:rPr lang="en-US" sz="1800" b="1" dirty="0">
                <a:solidFill>
                  <a:srgbClr val="00B050"/>
                </a:solidFill>
              </a:rPr>
              <a:t>AURISYS_DEMO</a:t>
            </a:r>
            <a:r>
              <a:rPr lang="en-US" altLang="zh-TW" sz="1800" dirty="0" smtClean="0">
                <a:solidFill>
                  <a:srgbClr val="353630"/>
                </a:solidFill>
              </a:rPr>
              <a:t> lib, </a:t>
            </a:r>
            <a:r>
              <a:rPr lang="en-US" altLang="zh-TW" sz="1800" dirty="0">
                <a:solidFill>
                  <a:srgbClr val="353630"/>
                </a:solidFill>
              </a:rPr>
              <a:t>then set </a:t>
            </a:r>
            <a:r>
              <a:rPr lang="en-US" altLang="zh-TW" sz="1800" b="1" dirty="0" smtClean="0">
                <a:solidFill>
                  <a:srgbClr val="0070C0"/>
                </a:solidFill>
              </a:rPr>
              <a:t>APPLY_PARAM</a:t>
            </a:r>
            <a:r>
              <a:rPr lang="en-US" altLang="zh-TW" sz="1800" dirty="0" smtClean="0">
                <a:solidFill>
                  <a:srgbClr val="353630"/>
                </a:solidFill>
              </a:rPr>
              <a:t> command </a:t>
            </a:r>
            <a:r>
              <a:rPr lang="en-US" altLang="zh-TW" sz="1800" dirty="0"/>
              <a:t>will set </a:t>
            </a:r>
            <a:r>
              <a:rPr lang="en-US" altLang="zh-TW" sz="1800" b="1" dirty="0" smtClean="0">
                <a:solidFill>
                  <a:srgbClr val="00B050"/>
                </a:solidFill>
              </a:rPr>
              <a:t>AURISYS_DEMO</a:t>
            </a:r>
            <a:r>
              <a:rPr lang="en-US" altLang="zh-TW" sz="1800" dirty="0"/>
              <a:t> </a:t>
            </a:r>
            <a:r>
              <a:rPr lang="en-US" altLang="zh-TW" sz="1800" dirty="0" smtClean="0"/>
              <a:t>custom info </a:t>
            </a:r>
            <a:r>
              <a:rPr lang="en-US" altLang="zh-TW" sz="1800" dirty="0"/>
              <a:t>to </a:t>
            </a:r>
            <a:r>
              <a:rPr lang="en-US" sz="1800" b="1" i="1" dirty="0" err="1" smtClean="0">
                <a:solidFill>
                  <a:srgbClr val="FF0000"/>
                </a:solidFill>
              </a:rPr>
              <a:t>SetAudioCustomScene</a:t>
            </a:r>
            <a:r>
              <a:rPr lang="en-US" sz="1800" b="1" i="1" dirty="0" smtClean="0">
                <a:solidFill>
                  <a:srgbClr val="FF0000"/>
                </a:solidFill>
              </a:rPr>
              <a:t>=app1</a:t>
            </a:r>
            <a:r>
              <a:rPr lang="en-US" altLang="zh-TW" sz="1800" b="1" dirty="0" smtClean="0"/>
              <a:t>.</a:t>
            </a:r>
            <a:r>
              <a:rPr lang="en-US" altLang="zh-TW" sz="1800" dirty="0" smtClean="0"/>
              <a:t> </a:t>
            </a:r>
            <a:r>
              <a:rPr lang="en-US" altLang="zh-TW" sz="1800" dirty="0" smtClean="0"/>
              <a:t>If set </a:t>
            </a:r>
            <a:r>
              <a:rPr lang="en-US" sz="1800" b="1" dirty="0">
                <a:solidFill>
                  <a:srgbClr val="0070C0"/>
                </a:solidFill>
              </a:rPr>
              <a:t>PARAM_FILE</a:t>
            </a:r>
            <a:r>
              <a:rPr lang="en-US" altLang="zh-TW" sz="1800" dirty="0" smtClean="0"/>
              <a:t> command before </a:t>
            </a:r>
            <a:r>
              <a:rPr lang="en-US" altLang="zh-TW" sz="1800" b="1" dirty="0" smtClean="0">
                <a:solidFill>
                  <a:srgbClr val="0070C0"/>
                </a:solidFill>
              </a:rPr>
              <a:t>APPLY_PARAM</a:t>
            </a:r>
            <a:r>
              <a:rPr lang="en-US" altLang="zh-TW" sz="1800" dirty="0" smtClean="0"/>
              <a:t>, will dynamically </a:t>
            </a:r>
            <a:r>
              <a:rPr lang="en-US" altLang="zh-TW" sz="1800" dirty="0"/>
              <a:t>replace </a:t>
            </a:r>
            <a:r>
              <a:rPr lang="en-US" sz="1800" b="1" dirty="0" smtClean="0">
                <a:solidFill>
                  <a:srgbClr val="00B050"/>
                </a:solidFill>
              </a:rPr>
              <a:t>AURISYS_DEMO</a:t>
            </a:r>
            <a:r>
              <a:rPr lang="en-US" sz="1800" b="1" i="1" dirty="0" smtClean="0">
                <a:solidFill>
                  <a:srgbClr val="00B050"/>
                </a:solidFill>
              </a:rPr>
              <a:t> </a:t>
            </a:r>
            <a:r>
              <a:rPr lang="en-US" altLang="zh-TW" sz="1800" dirty="0" smtClean="0"/>
              <a:t>parameter </a:t>
            </a:r>
            <a:r>
              <a:rPr lang="en-US" altLang="zh-TW" sz="1800" dirty="0"/>
              <a:t>file to the </a:t>
            </a:r>
            <a:r>
              <a:rPr lang="en-US" sz="1800" b="1" dirty="0">
                <a:solidFill>
                  <a:srgbClr val="FF0000"/>
                </a:solidFill>
              </a:rPr>
              <a:t>/</a:t>
            </a:r>
            <a:r>
              <a:rPr lang="en-US" sz="1800" b="1" dirty="0" smtClean="0">
                <a:solidFill>
                  <a:srgbClr val="FF0000"/>
                </a:solidFill>
              </a:rPr>
              <a:t>data/d.dat </a:t>
            </a:r>
            <a:r>
              <a:rPr lang="en-US" sz="1800" dirty="0" smtClean="0"/>
              <a:t>and</a:t>
            </a:r>
            <a:r>
              <a:rPr lang="en-US" altLang="zh-TW" sz="1800" dirty="0" smtClean="0"/>
              <a:t> update parameter. </a:t>
            </a:r>
            <a:r>
              <a:rPr lang="en-US" sz="1800" b="1" dirty="0">
                <a:solidFill>
                  <a:srgbClr val="0070C0"/>
                </a:solidFill>
              </a:rPr>
              <a:t>PARAM_FILE</a:t>
            </a:r>
            <a:r>
              <a:rPr lang="en-US" altLang="zh-TW" sz="1800" dirty="0" smtClean="0"/>
              <a:t> command </a:t>
            </a:r>
            <a:r>
              <a:rPr lang="en-US" sz="1800" dirty="0" smtClean="0"/>
              <a:t>will </a:t>
            </a:r>
            <a:r>
              <a:rPr lang="en-US" sz="1800" dirty="0"/>
              <a:t>take effect till sending another </a:t>
            </a:r>
            <a:r>
              <a:rPr lang="en-US" sz="1800" b="1" dirty="0" smtClean="0">
                <a:solidFill>
                  <a:srgbClr val="0070C0"/>
                </a:solidFill>
              </a:rPr>
              <a:t>PARAM_FILE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altLang="zh-TW" sz="1800" dirty="0"/>
              <a:t>command</a:t>
            </a:r>
            <a:r>
              <a:rPr lang="en-US" sz="1800" dirty="0"/>
              <a:t> or killing </a:t>
            </a:r>
            <a:r>
              <a:rPr lang="en-US" sz="1800" dirty="0" err="1"/>
              <a:t>audioserver</a:t>
            </a:r>
            <a:r>
              <a:rPr lang="en-US" sz="1800" dirty="0"/>
              <a:t> (by killing </a:t>
            </a:r>
            <a:r>
              <a:rPr lang="en-US" sz="1800" dirty="0" err="1"/>
              <a:t>audioserver</a:t>
            </a:r>
            <a:r>
              <a:rPr lang="en-US" sz="1800" dirty="0"/>
              <a:t>, the </a:t>
            </a:r>
            <a:r>
              <a:rPr lang="en-US" sz="1800" dirty="0" smtClean="0"/>
              <a:t>parameter </a:t>
            </a:r>
            <a:r>
              <a:rPr lang="en-US" sz="1800" dirty="0"/>
              <a:t>file </a:t>
            </a:r>
            <a:r>
              <a:rPr lang="en-US" sz="1800" dirty="0" smtClean="0"/>
              <a:t>will </a:t>
            </a:r>
            <a:r>
              <a:rPr lang="en-US" sz="1800" dirty="0"/>
              <a:t>reset to </a:t>
            </a:r>
            <a:r>
              <a:rPr lang="en-US" sz="1800" b="1" dirty="0" err="1">
                <a:solidFill>
                  <a:srgbClr val="7030A0"/>
                </a:solidFill>
              </a:rPr>
              <a:t>param_path</a:t>
            </a:r>
            <a:r>
              <a:rPr lang="en-US" sz="1800" dirty="0"/>
              <a:t> </a:t>
            </a:r>
            <a:r>
              <a:rPr lang="en-US" sz="1800" dirty="0"/>
              <a:t>as defined </a:t>
            </a:r>
            <a:r>
              <a:rPr lang="en-US" sz="1800" dirty="0" smtClean="0"/>
              <a:t>in </a:t>
            </a:r>
            <a:r>
              <a:rPr lang="en-US" sz="1800" dirty="0"/>
              <a:t>aurisys_config.xml/aurisys_config_hifi3.xml). </a:t>
            </a:r>
            <a:endParaRPr lang="en-US" sz="1800" dirty="0" smtClean="0"/>
          </a:p>
          <a:p>
            <a:pPr>
              <a:buClr>
                <a:srgbClr val="F39A1E"/>
              </a:buClr>
            </a:pPr>
            <a:endParaRPr lang="en-US" altLang="zh-TW" sz="1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6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609600" y="1194486"/>
            <a:ext cx="10972800" cy="4974117"/>
          </a:xfrm>
        </p:spPr>
        <p:txBody>
          <a:bodyPr/>
          <a:lstStyle/>
          <a:p>
            <a:pPr marL="57150" indent="0">
              <a:buNone/>
            </a:pPr>
            <a:r>
              <a:rPr lang="en-US" sz="1400" b="1" i="1" dirty="0" smtClean="0">
                <a:solidFill>
                  <a:srgbClr val="FF0000"/>
                </a:solidFill>
              </a:rPr>
              <a:t>CMD1</a:t>
            </a:r>
            <a:r>
              <a:rPr lang="en-US" sz="1400" b="1" i="1" dirty="0" smtClean="0"/>
              <a:t>: </a:t>
            </a:r>
            <a:r>
              <a:rPr lang="en-US" sz="1400" b="1" i="1" dirty="0" err="1">
                <a:solidFill>
                  <a:srgbClr val="353630"/>
                </a:solidFill>
              </a:rPr>
              <a:t>adb</a:t>
            </a:r>
            <a:r>
              <a:rPr lang="en-US" sz="1400" b="1" i="1" dirty="0">
                <a:solidFill>
                  <a:srgbClr val="353630"/>
                </a:solidFill>
              </a:rPr>
              <a:t> shell "</a:t>
            </a:r>
            <a:r>
              <a:rPr lang="en-US" sz="1400" b="1" i="1" dirty="0" err="1">
                <a:solidFill>
                  <a:srgbClr val="353630"/>
                </a:solidFill>
              </a:rPr>
              <a:t>AudioSetParam</a:t>
            </a:r>
            <a:r>
              <a:rPr lang="en-US" sz="1400" b="1" i="1" dirty="0">
                <a:solidFill>
                  <a:srgbClr val="353630"/>
                </a:solidFill>
              </a:rPr>
              <a:t> </a:t>
            </a:r>
            <a:r>
              <a:rPr lang="en-US" sz="1400" b="1" i="1" dirty="0" smtClean="0">
                <a:solidFill>
                  <a:srgbClr val="353630"/>
                </a:solidFill>
              </a:rPr>
              <a:t>AURISYS_SET_PARAM,DSP,ALL,</a:t>
            </a:r>
            <a:r>
              <a:rPr lang="en-US" sz="1400" b="1" i="1" dirty="0" smtClean="0">
                <a:solidFill>
                  <a:srgbClr val="00B050"/>
                </a:solidFill>
              </a:rPr>
              <a:t>AURISYS_DEMO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0070C0"/>
                </a:solidFill>
              </a:rPr>
              <a:t>PARAM_FILE</a:t>
            </a:r>
            <a:r>
              <a:rPr lang="en-US" sz="1400" b="1" i="1" dirty="0">
                <a:solidFill>
                  <a:srgbClr val="353630"/>
                </a:solidFill>
              </a:rPr>
              <a:t>,</a:t>
            </a:r>
            <a:r>
              <a:rPr lang="en-US" sz="1400" b="1" i="1" dirty="0">
                <a:solidFill>
                  <a:srgbClr val="FF0000"/>
                </a:solidFill>
              </a:rPr>
              <a:t>/</a:t>
            </a:r>
            <a:r>
              <a:rPr lang="en-US" sz="1400" b="1" i="1" dirty="0" smtClean="0">
                <a:solidFill>
                  <a:srgbClr val="FF0000"/>
                </a:solidFill>
              </a:rPr>
              <a:t>data/d.dat</a:t>
            </a:r>
            <a:r>
              <a:rPr lang="en-US" sz="1400" b="1" i="1" dirty="0" smtClean="0"/>
              <a:t>=SET"</a:t>
            </a:r>
            <a:endParaRPr lang="en-US" sz="1400" dirty="0"/>
          </a:p>
          <a:p>
            <a:pPr marL="57150" indent="0">
              <a:buNone/>
            </a:pPr>
            <a:r>
              <a:rPr lang="en-US" sz="1400" b="1" i="1" dirty="0" smtClean="0">
                <a:solidFill>
                  <a:srgbClr val="FF0000"/>
                </a:solidFill>
              </a:rPr>
              <a:t>CMD2</a:t>
            </a:r>
            <a:r>
              <a:rPr lang="en-US" sz="1400" b="1" i="1" dirty="0" smtClean="0"/>
              <a:t>: </a:t>
            </a:r>
            <a:r>
              <a:rPr lang="en-US" sz="1400" b="1" i="1" dirty="0" err="1">
                <a:solidFill>
                  <a:srgbClr val="353630"/>
                </a:solidFill>
              </a:rPr>
              <a:t>adb</a:t>
            </a:r>
            <a:r>
              <a:rPr lang="en-US" sz="1400" b="1" i="1" dirty="0">
                <a:solidFill>
                  <a:srgbClr val="353630"/>
                </a:solidFill>
              </a:rPr>
              <a:t> shell "</a:t>
            </a:r>
            <a:r>
              <a:rPr lang="en-US" sz="1400" b="1" i="1" dirty="0" err="1">
                <a:solidFill>
                  <a:srgbClr val="353630"/>
                </a:solidFill>
              </a:rPr>
              <a:t>AudioSetParam</a:t>
            </a:r>
            <a:r>
              <a:rPr lang="en-US" sz="1400" b="1" i="1" dirty="0">
                <a:solidFill>
                  <a:srgbClr val="353630"/>
                </a:solidFill>
              </a:rPr>
              <a:t> </a:t>
            </a:r>
            <a:r>
              <a:rPr lang="en-US" sz="1400" b="1" i="1" dirty="0" smtClean="0">
                <a:solidFill>
                  <a:srgbClr val="353630"/>
                </a:solidFill>
              </a:rPr>
              <a:t>AURISYS_SET_PARAM,DSP,ALL,</a:t>
            </a:r>
            <a:r>
              <a:rPr lang="en-US" sz="1400" b="1" i="1" dirty="0" smtClean="0">
                <a:solidFill>
                  <a:srgbClr val="00B050"/>
                </a:solidFill>
              </a:rPr>
              <a:t>AURISYS_DEMO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0070C0"/>
                </a:solidFill>
              </a:rPr>
              <a:t>APPLY_PARAM</a:t>
            </a:r>
            <a:r>
              <a:rPr lang="en-US" sz="1400" b="1" i="1" dirty="0" smtClean="0">
                <a:solidFill>
                  <a:srgbClr val="353630"/>
                </a:solidFill>
              </a:rPr>
              <a:t>,</a:t>
            </a:r>
            <a:r>
              <a:rPr lang="en-US" sz="1400" b="1" i="1" dirty="0" smtClean="0">
                <a:solidFill>
                  <a:srgbClr val="FF0000"/>
                </a:solidFill>
              </a:rPr>
              <a:t>SetAudioCustomScene,app1</a:t>
            </a:r>
            <a:r>
              <a:rPr lang="en-US" sz="1400" b="1" i="1" dirty="0" smtClean="0">
                <a:solidFill>
                  <a:srgbClr val="353630"/>
                </a:solidFill>
              </a:rPr>
              <a:t>=SET</a:t>
            </a:r>
            <a:r>
              <a:rPr lang="en-US" sz="1400" b="1" i="1" dirty="0" smtClean="0"/>
              <a:t>"</a:t>
            </a:r>
            <a:endParaRPr lang="en-US" sz="1400" dirty="0" smtClean="0"/>
          </a:p>
          <a:p>
            <a:endParaRPr 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737" y="1790510"/>
            <a:ext cx="4579620" cy="483108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432002"/>
            <a:ext cx="10972800" cy="622442"/>
          </a:xfrm>
        </p:spPr>
        <p:txBody>
          <a:bodyPr/>
          <a:lstStyle/>
          <a:p>
            <a:r>
              <a:rPr lang="en-US" dirty="0"/>
              <a:t>Dynamic Tuning - APPLY_PARAM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爆炸 2 7"/>
          <p:cNvSpPr/>
          <p:nvPr/>
        </p:nvSpPr>
        <p:spPr>
          <a:xfrm>
            <a:off x="2278494" y="3001694"/>
            <a:ext cx="1782147" cy="679850"/>
          </a:xfrm>
          <a:prstGeom prst="irregularSeal2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CMD1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爆炸 2 8"/>
          <p:cNvSpPr/>
          <p:nvPr/>
        </p:nvSpPr>
        <p:spPr>
          <a:xfrm>
            <a:off x="2278495" y="3756214"/>
            <a:ext cx="1782147" cy="679850"/>
          </a:xfrm>
          <a:prstGeom prst="irregularSeal2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CMD2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6736701" y="4049485"/>
            <a:ext cx="55983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6214965" y="4791269"/>
            <a:ext cx="12308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6223518" y="5029200"/>
            <a:ext cx="4525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070271" y="6084629"/>
            <a:ext cx="4525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6214965" y="5944670"/>
            <a:ext cx="12308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直線圖說文字 1 16"/>
          <p:cNvSpPr/>
          <p:nvPr/>
        </p:nvSpPr>
        <p:spPr>
          <a:xfrm>
            <a:off x="8051386" y="4380269"/>
            <a:ext cx="1434426" cy="289249"/>
          </a:xfrm>
          <a:prstGeom prst="borderCallout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Set by CMD2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直線圖說文字 1 17"/>
          <p:cNvSpPr/>
          <p:nvPr/>
        </p:nvSpPr>
        <p:spPr>
          <a:xfrm>
            <a:off x="7546239" y="4977881"/>
            <a:ext cx="1434426" cy="289249"/>
          </a:xfrm>
          <a:prstGeom prst="borderCallout1">
            <a:avLst>
              <a:gd name="adj1" fmla="val 18750"/>
              <a:gd name="adj2" fmla="val -8333"/>
              <a:gd name="adj3" fmla="val 22177"/>
              <a:gd name="adj4" fmla="val -5394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Set by CMD1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6214965" y="6209037"/>
            <a:ext cx="1111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802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432002"/>
            <a:ext cx="10972800" cy="647156"/>
          </a:xfrm>
        </p:spPr>
        <p:txBody>
          <a:bodyPr/>
          <a:lstStyle/>
          <a:p>
            <a:r>
              <a:rPr lang="en-US" dirty="0" smtClean="0"/>
              <a:t>How to check set result?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161535"/>
            <a:ext cx="10972800" cy="500706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Check set CMD result :</a:t>
            </a:r>
          </a:p>
          <a:p>
            <a:pPr lvl="1"/>
            <a:r>
              <a:rPr lang="en-US" sz="1600" dirty="0" smtClean="0"/>
              <a:t>After setting CMD, console will </a:t>
            </a:r>
            <a:r>
              <a:rPr lang="en-US" sz="1600" dirty="0"/>
              <a:t>show </a:t>
            </a:r>
            <a:r>
              <a:rPr lang="en-US" sz="1600" dirty="0" smtClean="0"/>
              <a:t>“</a:t>
            </a:r>
            <a:r>
              <a:rPr lang="en-US" sz="1600" b="1" dirty="0" smtClean="0">
                <a:solidFill>
                  <a:srgbClr val="FF0000"/>
                </a:solidFill>
              </a:rPr>
              <a:t>SET_PASS</a:t>
            </a:r>
            <a:r>
              <a:rPr lang="en-US" sz="1600" dirty="0"/>
              <a:t>”, if CMD successfully transfer to </a:t>
            </a:r>
            <a:r>
              <a:rPr lang="en-US" altLang="zh-TW" sz="1600" dirty="0"/>
              <a:t>library</a:t>
            </a:r>
            <a:r>
              <a:rPr lang="en-US" sz="1600" dirty="0" smtClean="0"/>
              <a:t>. Otherwise it </a:t>
            </a:r>
            <a:r>
              <a:rPr lang="en-US" sz="1600" dirty="0"/>
              <a:t>will show </a:t>
            </a:r>
            <a:r>
              <a:rPr lang="en-US" sz="1600" dirty="0" smtClean="0"/>
              <a:t>“</a:t>
            </a:r>
            <a:r>
              <a:rPr lang="en-US" sz="1600" b="1" dirty="0" smtClean="0">
                <a:solidFill>
                  <a:srgbClr val="FF0000"/>
                </a:solidFill>
              </a:rPr>
              <a:t>SET_FAIL</a:t>
            </a:r>
            <a:r>
              <a:rPr lang="en-US" sz="1600" dirty="0" smtClean="0"/>
              <a:t>”.</a:t>
            </a:r>
          </a:p>
          <a:p>
            <a:endParaRPr lang="en-US" sz="2000" dirty="0"/>
          </a:p>
          <a:p>
            <a:r>
              <a:rPr lang="en-US" sz="2000" dirty="0" smtClean="0"/>
              <a:t>Check CMD take effect in </a:t>
            </a:r>
            <a:r>
              <a:rPr lang="en-US" altLang="zh-TW" sz="2000" dirty="0" smtClean="0"/>
              <a:t>library</a:t>
            </a:r>
            <a:r>
              <a:rPr lang="en-US" sz="2000" dirty="0" smtClean="0"/>
              <a:t>:</a:t>
            </a:r>
          </a:p>
          <a:p>
            <a:pPr lvl="1"/>
            <a:r>
              <a:rPr lang="en-US" sz="1400" b="1" i="1" dirty="0" err="1" smtClean="0">
                <a:solidFill>
                  <a:srgbClr val="353630"/>
                </a:solidFill>
              </a:rPr>
              <a:t>adb</a:t>
            </a:r>
            <a:r>
              <a:rPr lang="en-US" sz="1400" b="1" i="1" dirty="0" smtClean="0">
                <a:solidFill>
                  <a:srgbClr val="353630"/>
                </a:solidFill>
              </a:rPr>
              <a:t> </a:t>
            </a:r>
            <a:r>
              <a:rPr lang="en-US" sz="1400" b="1" i="1" dirty="0">
                <a:solidFill>
                  <a:srgbClr val="353630"/>
                </a:solidFill>
              </a:rPr>
              <a:t>shell "</a:t>
            </a:r>
            <a:r>
              <a:rPr lang="en-US" sz="1400" b="1" i="1" dirty="0" err="1">
                <a:solidFill>
                  <a:srgbClr val="353630"/>
                </a:solidFill>
              </a:rPr>
              <a:t>AudioSetParam</a:t>
            </a:r>
            <a:r>
              <a:rPr lang="en-US" sz="1400" b="1" i="1" dirty="0">
                <a:solidFill>
                  <a:srgbClr val="353630"/>
                </a:solidFill>
              </a:rPr>
              <a:t> </a:t>
            </a:r>
            <a:r>
              <a:rPr lang="en-US" sz="1400" b="1" i="1" dirty="0" smtClean="0">
                <a:solidFill>
                  <a:srgbClr val="353630"/>
                </a:solidFill>
              </a:rPr>
              <a:t>AURISYS_GET_PARAM,DSP,PRIMARY,</a:t>
            </a:r>
            <a:r>
              <a:rPr lang="en-US" sz="1400" b="1" i="1" dirty="0" smtClean="0">
                <a:solidFill>
                  <a:srgbClr val="00B050"/>
                </a:solidFill>
              </a:rPr>
              <a:t>AURISYS_DEMO</a:t>
            </a:r>
            <a:r>
              <a:rPr lang="en-US" sz="1400" b="1" i="1" dirty="0" smtClean="0">
                <a:solidFill>
                  <a:srgbClr val="353630"/>
                </a:solidFill>
              </a:rPr>
              <a:t>,</a:t>
            </a:r>
            <a:r>
              <a:rPr lang="en-US" sz="1400" b="1" i="1" dirty="0" smtClean="0">
                <a:solidFill>
                  <a:srgbClr val="0070C0"/>
                </a:solidFill>
              </a:rPr>
              <a:t>PARAM_FILE</a:t>
            </a:r>
            <a:r>
              <a:rPr lang="en-US" sz="1400" b="1" i="1" dirty="0" smtClean="0">
                <a:solidFill>
                  <a:srgbClr val="353630"/>
                </a:solidFill>
              </a:rPr>
              <a:t>“</a:t>
            </a:r>
          </a:p>
          <a:p>
            <a:endParaRPr lang="en-US" sz="1400" b="1" i="1" dirty="0">
              <a:solidFill>
                <a:srgbClr val="353630"/>
              </a:solidFill>
            </a:endParaRPr>
          </a:p>
          <a:p>
            <a:pPr lvl="1"/>
            <a:r>
              <a:rPr lang="en-US" sz="1400" b="1" dirty="0" smtClean="0">
                <a:solidFill>
                  <a:srgbClr val="353630"/>
                </a:solidFill>
              </a:rPr>
              <a:t>Below CMDs can only send </a:t>
            </a:r>
            <a:r>
              <a:rPr lang="en-US" sz="1400" b="1" dirty="0" smtClean="0">
                <a:solidFill>
                  <a:srgbClr val="FF0000"/>
                </a:solidFill>
              </a:rPr>
              <a:t>after</a:t>
            </a:r>
            <a:r>
              <a:rPr lang="en-US" sz="1400" b="1" dirty="0" smtClean="0">
                <a:solidFill>
                  <a:srgbClr val="353630"/>
                </a:solidFill>
              </a:rPr>
              <a:t> open </a:t>
            </a:r>
            <a:r>
              <a:rPr lang="en-US" sz="1400" b="1" dirty="0" smtClean="0">
                <a:solidFill>
                  <a:srgbClr val="00B050"/>
                </a:solidFill>
              </a:rPr>
              <a:t>AURISYS_DEMO</a:t>
            </a:r>
            <a:r>
              <a:rPr lang="en-US" sz="1400" b="1" dirty="0" smtClean="0"/>
              <a:t> lib</a:t>
            </a:r>
            <a:r>
              <a:rPr lang="en-US" sz="1400" b="1" dirty="0" smtClean="0">
                <a:solidFill>
                  <a:srgbClr val="353630"/>
                </a:solidFill>
              </a:rPr>
              <a:t>, </a:t>
            </a:r>
            <a:r>
              <a:rPr lang="en-US" sz="1400" b="1" dirty="0" smtClean="0">
                <a:solidFill>
                  <a:srgbClr val="353630"/>
                </a:solidFill>
              </a:rPr>
              <a:t>or will get “</a:t>
            </a:r>
            <a:r>
              <a:rPr lang="en-US" sz="1400" b="1" dirty="0" smtClean="0">
                <a:solidFill>
                  <a:srgbClr val="FF0000"/>
                </a:solidFill>
              </a:rPr>
              <a:t>GET_FAIL</a:t>
            </a:r>
            <a:r>
              <a:rPr lang="en-US" sz="1400" b="1" dirty="0" smtClean="0">
                <a:solidFill>
                  <a:srgbClr val="353630"/>
                </a:solidFill>
              </a:rPr>
              <a:t>”  in console.</a:t>
            </a:r>
          </a:p>
          <a:p>
            <a:pPr lvl="1"/>
            <a:r>
              <a:rPr lang="en-US" sz="1400" b="1" i="1" dirty="0" err="1"/>
              <a:t>adb</a:t>
            </a:r>
            <a:r>
              <a:rPr lang="en-US" sz="1400" b="1" i="1" dirty="0"/>
              <a:t> shell "</a:t>
            </a:r>
            <a:r>
              <a:rPr lang="en-US" sz="1400" b="1" i="1" dirty="0" err="1"/>
              <a:t>AudioSetParam</a:t>
            </a:r>
            <a:r>
              <a:rPr lang="en-US" sz="1400" b="1" i="1" dirty="0"/>
              <a:t> </a:t>
            </a:r>
            <a:r>
              <a:rPr lang="en-US" sz="1400" b="1" i="1" dirty="0" smtClean="0"/>
              <a:t>AURISYS_GET_PARAM,DSP,PRIMARY,</a:t>
            </a:r>
            <a:r>
              <a:rPr lang="en-US" sz="1400" b="1" i="1" dirty="0" smtClean="0">
                <a:solidFill>
                  <a:srgbClr val="00B050"/>
                </a:solidFill>
              </a:rPr>
              <a:t>AURISYS_DEMO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0070C0"/>
                </a:solidFill>
              </a:rPr>
              <a:t>ADDR_VALUE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FF0000"/>
                </a:solidFill>
              </a:rPr>
              <a:t>0x1234</a:t>
            </a:r>
            <a:r>
              <a:rPr lang="en-US" sz="1400" b="1" i="1" dirty="0" smtClean="0"/>
              <a:t>"</a:t>
            </a:r>
            <a:endParaRPr lang="en-US" sz="1400" dirty="0"/>
          </a:p>
          <a:p>
            <a:pPr lvl="1"/>
            <a:r>
              <a:rPr lang="en-US" sz="1400" b="1" i="1" dirty="0" err="1"/>
              <a:t>adb</a:t>
            </a:r>
            <a:r>
              <a:rPr lang="en-US" sz="1400" b="1" i="1" dirty="0"/>
              <a:t> shell "</a:t>
            </a:r>
            <a:r>
              <a:rPr lang="en-US" sz="1400" b="1" i="1" dirty="0" err="1"/>
              <a:t>AudioSetParam</a:t>
            </a:r>
            <a:r>
              <a:rPr lang="en-US" sz="1400" b="1" i="1" dirty="0"/>
              <a:t> </a:t>
            </a:r>
            <a:r>
              <a:rPr lang="en-US" sz="1400" b="1" i="1" dirty="0" smtClean="0"/>
              <a:t>AURISYS_GET_PARAM,DSP,PRIMARY,</a:t>
            </a:r>
            <a:r>
              <a:rPr lang="en-US" sz="1400" b="1" i="1" dirty="0" smtClean="0">
                <a:solidFill>
                  <a:srgbClr val="00B050"/>
                </a:solidFill>
              </a:rPr>
              <a:t>AURISYS_DEMO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0070C0"/>
                </a:solidFill>
              </a:rPr>
              <a:t>KEY_VALUE</a:t>
            </a:r>
            <a:r>
              <a:rPr lang="en-US" sz="1400" b="1" i="1" dirty="0" smtClean="0"/>
              <a:t>,</a:t>
            </a:r>
            <a:r>
              <a:rPr lang="en-US" sz="1400" b="1" i="1" dirty="0" smtClean="0">
                <a:solidFill>
                  <a:srgbClr val="FF0000"/>
                </a:solidFill>
              </a:rPr>
              <a:t>HAHA</a:t>
            </a:r>
            <a:r>
              <a:rPr lang="en-US" sz="1400" b="1" i="1" dirty="0" smtClean="0"/>
              <a:t>“</a:t>
            </a:r>
          </a:p>
          <a:p>
            <a:pPr lvl="1"/>
            <a:r>
              <a:rPr lang="en-US" sz="1400" b="1" i="1" dirty="0" err="1">
                <a:solidFill>
                  <a:srgbClr val="353630"/>
                </a:solidFill>
              </a:rPr>
              <a:t>adb</a:t>
            </a:r>
            <a:r>
              <a:rPr lang="en-US" sz="1400" b="1" i="1" dirty="0">
                <a:solidFill>
                  <a:srgbClr val="353630"/>
                </a:solidFill>
              </a:rPr>
              <a:t> shell "</a:t>
            </a:r>
            <a:r>
              <a:rPr lang="en-US" sz="1400" b="1" i="1" dirty="0" err="1">
                <a:solidFill>
                  <a:srgbClr val="353630"/>
                </a:solidFill>
              </a:rPr>
              <a:t>AudioSetParam</a:t>
            </a:r>
            <a:r>
              <a:rPr lang="en-US" sz="1400" b="1" i="1" dirty="0">
                <a:solidFill>
                  <a:srgbClr val="353630"/>
                </a:solidFill>
              </a:rPr>
              <a:t> AURISYS_GET_PARAM,DSP,PRIMARY,</a:t>
            </a:r>
            <a:r>
              <a:rPr lang="en-US" sz="1400" b="1" i="1" dirty="0">
                <a:solidFill>
                  <a:srgbClr val="00B050"/>
                </a:solidFill>
              </a:rPr>
              <a:t>AURISYS_DEMO</a:t>
            </a:r>
            <a:r>
              <a:rPr lang="en-US" sz="1400" b="1" i="1" dirty="0">
                <a:solidFill>
                  <a:srgbClr val="353630"/>
                </a:solidFill>
              </a:rPr>
              <a:t>,</a:t>
            </a:r>
            <a:r>
              <a:rPr lang="en-US" sz="1400" b="1" i="1" dirty="0">
                <a:solidFill>
                  <a:srgbClr val="0070C0"/>
                </a:solidFill>
              </a:rPr>
              <a:t>APPLY_PARAM</a:t>
            </a:r>
            <a:r>
              <a:rPr lang="en-US" sz="1400" b="1" i="1" dirty="0">
                <a:solidFill>
                  <a:srgbClr val="353630"/>
                </a:solidFill>
              </a:rPr>
              <a:t>“</a:t>
            </a:r>
          </a:p>
          <a:p>
            <a:pPr lvl="1"/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5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appendix</a:t>
            </a:r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432001"/>
            <a:ext cx="10972800" cy="803675"/>
          </a:xfrm>
        </p:spPr>
        <p:txBody>
          <a:bodyPr/>
          <a:lstStyle/>
          <a:p>
            <a:r>
              <a:rPr lang="en-US" dirty="0" err="1"/>
              <a:t>Aurisys</a:t>
            </a:r>
            <a:r>
              <a:rPr lang="en-US" dirty="0"/>
              <a:t> ARSI </a:t>
            </a:r>
            <a:r>
              <a:rPr lang="en-US" dirty="0" smtClean="0"/>
              <a:t>functions</a:t>
            </a:r>
            <a:endParaRPr 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05896736"/>
              </p:ext>
            </p:extLst>
          </p:nvPr>
        </p:nvGraphicFramePr>
        <p:xfrm>
          <a:off x="1398372" y="1441622"/>
          <a:ext cx="9395255" cy="33746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5838"/>
                <a:gridCol w="5729417"/>
              </a:tblGrid>
              <a:tr h="326777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  </a:t>
                      </a:r>
                      <a:r>
                        <a:rPr lang="en-US" sz="1400" kern="0" dirty="0">
                          <a:effectLst/>
                        </a:rPr>
                        <a:t>Functions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Description 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/>
                </a:tc>
              </a:tr>
              <a:tr h="433466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 err="1" smtClean="0">
                          <a:effectLst/>
                        </a:rPr>
                        <a:t>arsi_query_param_buf_size_by_custom_info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Query the buffer size to </a:t>
                      </a:r>
                      <a:r>
                        <a:rPr lang="en-US" sz="1400" kern="100" dirty="0" smtClean="0">
                          <a:effectLst/>
                        </a:rPr>
                        <a:t>keep </a:t>
                      </a:r>
                      <a:r>
                        <a:rPr lang="en-US" altLang="zh-TW" sz="1400" dirty="0" smtClean="0"/>
                        <a:t>library </a:t>
                      </a:r>
                      <a:r>
                        <a:rPr lang="en-US" sz="1400" kern="100" dirty="0" smtClean="0">
                          <a:effectLst/>
                        </a:rPr>
                        <a:t>parameters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/>
                </a:tc>
              </a:tr>
              <a:tr h="433466">
                <a:tc>
                  <a:txBody>
                    <a:bodyPr/>
                    <a:lstStyle/>
                    <a:p>
                      <a:pPr marL="683895" indent="-683895">
                        <a:lnSpc>
                          <a:spcPct val="12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tabLst>
                          <a:tab pos="683895" algn="l"/>
                          <a:tab pos="457200" algn="l"/>
                        </a:tabLst>
                      </a:pPr>
                      <a:r>
                        <a:rPr lang="en-US" sz="1400" kern="100" dirty="0" err="1" smtClean="0">
                          <a:effectLst/>
                        </a:rPr>
                        <a:t>arsi_parsing_param_file_by_custom_info</a:t>
                      </a:r>
                      <a:endParaRPr lang="en-US" sz="1400" b="1" kern="2600" dirty="0">
                        <a:solidFill>
                          <a:srgbClr val="006EBC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3025" marR="73025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Parsing </a:t>
                      </a:r>
                      <a:r>
                        <a:rPr lang="en-US" sz="1400" kern="100" dirty="0" err="1">
                          <a:effectLst/>
                        </a:rPr>
                        <a:t>param</a:t>
                      </a:r>
                      <a:r>
                        <a:rPr lang="en-US" sz="1400" kern="100" dirty="0">
                          <a:effectLst/>
                        </a:rPr>
                        <a:t> file to get parameters into </a:t>
                      </a:r>
                      <a:r>
                        <a:rPr lang="en-US" sz="1400" kern="100" dirty="0" err="1" smtClean="0">
                          <a:effectLst/>
                        </a:rPr>
                        <a:t>p_param_buf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/>
                </a:tc>
              </a:tr>
              <a:tr h="433466">
                <a:tc>
                  <a:txBody>
                    <a:bodyPr/>
                    <a:lstStyle/>
                    <a:p>
                      <a:pPr marL="683895" marR="0" indent="-683895" algn="l" defTabSz="457200" rtl="0" eaLnBrk="1" fontAlgn="auto" latinLnBrk="0" hangingPunct="1">
                        <a:lnSpc>
                          <a:spcPct val="12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683895" algn="l"/>
                          <a:tab pos="457200" algn="l"/>
                        </a:tabLst>
                        <a:defRPr/>
                      </a:pPr>
                      <a:r>
                        <a:rPr lang="en-US" sz="1400" dirty="0" err="1" smtClean="0">
                          <a:solidFill>
                            <a:schemeClr val="bg1"/>
                          </a:solidFill>
                        </a:rPr>
                        <a:t>arsi_update_param</a:t>
                      </a:r>
                      <a:endParaRPr lang="en-US" sz="140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73025" marR="73025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Update </a:t>
                      </a:r>
                      <a:r>
                        <a:rPr lang="en-US" sz="1400" kern="100" dirty="0" err="1" smtClean="0">
                          <a:effectLst/>
                        </a:rPr>
                        <a:t>param</a:t>
                      </a:r>
                      <a:r>
                        <a:rPr lang="en-US" sz="1400" kern="100" dirty="0" smtClean="0">
                          <a:effectLst/>
                        </a:rPr>
                        <a:t> and</a:t>
                      </a:r>
                      <a:r>
                        <a:rPr lang="en-US" sz="1400" kern="100" baseline="0" dirty="0" smtClean="0">
                          <a:effectLst/>
                        </a:rPr>
                        <a:t> enhancement mode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/>
                </a:tc>
              </a:tr>
              <a:tr h="433466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arsi_set_addr_value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Set value at a specified address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/>
                </a:tc>
              </a:tr>
              <a:tr h="433466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arsi_get_addr_value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Get value from the specified address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/>
                </a:tc>
              </a:tr>
              <a:tr h="433466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</a:rPr>
                        <a:t>arsi_set_key_value_pair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set key_value string to library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/>
                </a:tc>
              </a:tr>
              <a:tr h="433466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arsi_get_key_value_pair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get </a:t>
                      </a:r>
                      <a:r>
                        <a:rPr lang="en-US" sz="1400" kern="0" dirty="0" err="1">
                          <a:effectLst/>
                        </a:rPr>
                        <a:t>key_value</a:t>
                      </a:r>
                      <a:r>
                        <a:rPr lang="en-US" sz="1400" kern="0" dirty="0">
                          <a:effectLst/>
                        </a:rPr>
                        <a:t> string from library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/>
                </a:tc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00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Get</a:t>
            </a:r>
            <a:r>
              <a:rPr lang="zh-TW" altLang="en-US" dirty="0" smtClean="0"/>
              <a:t> </a:t>
            </a:r>
            <a:r>
              <a:rPr lang="en-US" altLang="zh-TW" dirty="0" smtClean="0"/>
              <a:t>ADB result from console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309816"/>
            <a:ext cx="10972800" cy="4858787"/>
          </a:xfrm>
        </p:spPr>
        <p:txBody>
          <a:bodyPr>
            <a:normAutofit/>
          </a:bodyPr>
          <a:lstStyle/>
          <a:p>
            <a:r>
              <a:rPr lang="en-US" sz="2000" dirty="0"/>
              <a:t>Out put </a:t>
            </a:r>
            <a:r>
              <a:rPr lang="en-US" sz="2000" dirty="0" err="1"/>
              <a:t>adb</a:t>
            </a:r>
            <a:r>
              <a:rPr lang="en-US" sz="2000" dirty="0"/>
              <a:t> command result to a file:</a:t>
            </a:r>
          </a:p>
          <a:p>
            <a:pPr lvl="1"/>
            <a:r>
              <a:rPr lang="en-US" sz="1600" b="1" dirty="0" err="1"/>
              <a:t>adb</a:t>
            </a:r>
            <a:r>
              <a:rPr lang="en-US" sz="1600" b="1" dirty="0"/>
              <a:t> shell </a:t>
            </a:r>
            <a:r>
              <a:rPr lang="en-US" sz="1600" b="1" dirty="0"/>
              <a:t>"</a:t>
            </a:r>
            <a:r>
              <a:rPr lang="en-US" sz="1600" b="1" dirty="0" err="1"/>
              <a:t>AudioSetParam</a:t>
            </a:r>
            <a:r>
              <a:rPr lang="en-US" sz="1600" b="1" dirty="0"/>
              <a:t> </a:t>
            </a:r>
            <a:r>
              <a:rPr lang="en-US" sz="1600" b="1" dirty="0" err="1"/>
              <a:t>AURISYS_SET_PARAM,DSP,ALL,AURISYS_DEMO,KEY_VALUE,HAHA,on</a:t>
            </a:r>
            <a:r>
              <a:rPr lang="en-US" sz="1600" b="1" dirty="0"/>
              <a:t>=SET"</a:t>
            </a:r>
            <a:r>
              <a:rPr lang="en-US" sz="1600" b="1" dirty="0" smtClean="0">
                <a:solidFill>
                  <a:srgbClr val="FF0000"/>
                </a:solidFill>
              </a:rPr>
              <a:t>&gt;</a:t>
            </a:r>
            <a:r>
              <a:rPr lang="en-US" sz="1600" b="1" dirty="0" smtClean="0">
                <a:solidFill>
                  <a:srgbClr val="FF0000"/>
                </a:solidFill>
              </a:rPr>
              <a:t>List.ini</a:t>
            </a:r>
            <a:endParaRPr lang="en-US" sz="1600" dirty="0">
              <a:solidFill>
                <a:srgbClr val="FF0000"/>
              </a:solidFill>
            </a:endParaRPr>
          </a:p>
          <a:p>
            <a:endParaRPr lang="en-US" sz="2000" dirty="0" smtClean="0"/>
          </a:p>
          <a:p>
            <a:r>
              <a:rPr lang="en-US" sz="2000" dirty="0" smtClean="0"/>
              <a:t>Some of the commands may output as </a:t>
            </a:r>
            <a:r>
              <a:rPr lang="en-US" sz="2000" dirty="0" err="1" smtClean="0">
                <a:solidFill>
                  <a:srgbClr val="FF0000"/>
                </a:solidFill>
              </a:rPr>
              <a:t>stderr</a:t>
            </a:r>
            <a:r>
              <a:rPr lang="en-US" sz="2000" dirty="0" smtClean="0"/>
              <a:t>, use below command instead:</a:t>
            </a:r>
          </a:p>
          <a:p>
            <a:pPr lvl="1"/>
            <a:r>
              <a:rPr lang="en-US" sz="1600" b="1" dirty="0" err="1"/>
              <a:t>adb</a:t>
            </a:r>
            <a:r>
              <a:rPr lang="en-US" sz="1600" b="1" dirty="0"/>
              <a:t> shell </a:t>
            </a:r>
            <a:r>
              <a:rPr lang="en-US" sz="1600" b="1" dirty="0" smtClean="0"/>
              <a:t>"</a:t>
            </a:r>
            <a:r>
              <a:rPr lang="en-US" sz="1600" b="1" dirty="0" err="1" smtClean="0"/>
              <a:t>AudioSetParam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AURISYS_SET_PARAM,DSP,ALL,AURISYS_DEMO</a:t>
            </a:r>
            <a:r>
              <a:rPr lang="en-US" sz="1600" b="1" dirty="0" err="1" smtClean="0"/>
              <a:t>,KEY_VALUE,HAHA,on</a:t>
            </a:r>
            <a:r>
              <a:rPr lang="en-US" sz="1600" b="1" dirty="0" smtClean="0"/>
              <a:t>=SET </a:t>
            </a:r>
            <a:r>
              <a:rPr lang="en-US" sz="1600" b="1" dirty="0" smtClean="0">
                <a:solidFill>
                  <a:srgbClr val="FF0000"/>
                </a:solidFill>
              </a:rPr>
              <a:t>2&gt;&amp;1</a:t>
            </a:r>
            <a:r>
              <a:rPr lang="en-US" sz="1600" b="1" dirty="0" smtClean="0"/>
              <a:t>"</a:t>
            </a:r>
            <a:r>
              <a:rPr lang="en-US" sz="1600" b="1" dirty="0" smtClean="0">
                <a:solidFill>
                  <a:srgbClr val="FF0000"/>
                </a:solidFill>
              </a:rPr>
              <a:t>&gt;List.ini</a:t>
            </a:r>
            <a:endParaRPr lang="en-US" sz="1600" dirty="0">
              <a:solidFill>
                <a:srgbClr val="FF0000"/>
              </a:solidFill>
            </a:endParaRPr>
          </a:p>
          <a:p>
            <a:pPr lvl="1"/>
            <a:endParaRPr lang="en-US" sz="1600" dirty="0" smtClean="0"/>
          </a:p>
          <a:p>
            <a:pPr lvl="1"/>
            <a:endParaRPr lang="en-US" sz="1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8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432001"/>
            <a:ext cx="10972800" cy="669011"/>
          </a:xfrm>
        </p:spPr>
        <p:txBody>
          <a:bodyPr/>
          <a:lstStyle/>
          <a:p>
            <a:r>
              <a:rPr lang="en-US" dirty="0"/>
              <a:t>aurisys_config_hifi3.xml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0950-7351-4497-8EF1-014BDD79AA1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609600" y="1240971"/>
            <a:ext cx="10972800" cy="4927632"/>
          </a:xfrm>
        </p:spPr>
        <p:txBody>
          <a:bodyPr/>
          <a:lstStyle/>
          <a:p>
            <a:r>
              <a:rPr lang="en-US" altLang="zh-TW" sz="2000" dirty="0" err="1"/>
              <a:t>adb</a:t>
            </a:r>
            <a:r>
              <a:rPr lang="en-US" altLang="zh-TW" sz="2000" dirty="0"/>
              <a:t> shell "</a:t>
            </a:r>
            <a:r>
              <a:rPr lang="en-US" altLang="zh-TW" sz="2000" dirty="0" err="1"/>
              <a:t>AudioSetParam</a:t>
            </a:r>
            <a:r>
              <a:rPr lang="en-US" altLang="zh-TW" sz="2000" dirty="0"/>
              <a:t> AURISYS_SET_PARAM,$target,</a:t>
            </a:r>
            <a:r>
              <a:rPr lang="en-US" altLang="zh-TW" sz="2000" b="1" dirty="0">
                <a:solidFill>
                  <a:srgbClr val="C00000"/>
                </a:solidFill>
              </a:rPr>
              <a:t>$scene</a:t>
            </a:r>
            <a:r>
              <a:rPr lang="en-US" altLang="zh-TW" sz="2000" dirty="0"/>
              <a:t>,</a:t>
            </a:r>
            <a:r>
              <a:rPr lang="en-US" altLang="zh-TW" sz="2000" b="1" dirty="0">
                <a:solidFill>
                  <a:srgbClr val="C00000"/>
                </a:solidFill>
              </a:rPr>
              <a:t>$lib</a:t>
            </a:r>
            <a:r>
              <a:rPr lang="en-US" altLang="zh-TW" sz="2000" dirty="0"/>
              <a:t>,</a:t>
            </a:r>
            <a:r>
              <a:rPr lang="en-US" altLang="zh-TW" sz="2000" b="1" dirty="0">
                <a:solidFill>
                  <a:srgbClr val="C00000"/>
                </a:solidFill>
              </a:rPr>
              <a:t>$</a:t>
            </a:r>
            <a:r>
              <a:rPr lang="en-US" altLang="zh-TW" sz="2000" b="1" dirty="0" err="1" smtClean="0">
                <a:solidFill>
                  <a:srgbClr val="C00000"/>
                </a:solidFill>
              </a:rPr>
              <a:t>cmd</a:t>
            </a:r>
            <a:r>
              <a:rPr lang="en-US" altLang="zh-TW" sz="2000" dirty="0" smtClean="0"/>
              <a:t>=SET</a:t>
            </a:r>
            <a:r>
              <a:rPr lang="en-US" altLang="zh-TW" sz="2000" dirty="0"/>
              <a:t> "</a:t>
            </a:r>
          </a:p>
          <a:p>
            <a:endParaRPr lang="en-US" dirty="0"/>
          </a:p>
        </p:txBody>
      </p:sp>
      <p:pic>
        <p:nvPicPr>
          <p:cNvPr id="5" name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111" y="1766266"/>
            <a:ext cx="5135880" cy="70104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111" y="2613607"/>
            <a:ext cx="9578340" cy="3291840"/>
          </a:xfrm>
          <a:prstGeom prst="rect">
            <a:avLst/>
          </a:prstGeom>
        </p:spPr>
      </p:pic>
      <p:cxnSp>
        <p:nvCxnSpPr>
          <p:cNvPr id="10" name="直線單箭頭接點 9"/>
          <p:cNvCxnSpPr/>
          <p:nvPr/>
        </p:nvCxnSpPr>
        <p:spPr>
          <a:xfrm flipH="1">
            <a:off x="6371991" y="1604865"/>
            <a:ext cx="709944" cy="242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H="1">
            <a:off x="6371991" y="1571818"/>
            <a:ext cx="859233" cy="2135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4041786" y="1571818"/>
            <a:ext cx="3815950" cy="1796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1931437" y="3442996"/>
            <a:ext cx="21103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3985651" y="1912775"/>
            <a:ext cx="227519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4041786" y="3834880"/>
            <a:ext cx="227519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62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18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diaTek">
  <a:themeElements>
    <a:clrScheme name="Custom 5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9A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A53B7DB280546A20112FD2EF61E0F" ma:contentTypeVersion="8" ma:contentTypeDescription="Create a new document." ma:contentTypeScope="" ma:versionID="93dbae95c85826a351b64e5a9c00c7f1">
  <xsd:schema xmlns:xsd="http://www.w3.org/2001/XMLSchema" xmlns:xs="http://www.w3.org/2001/XMLSchema" xmlns:p="http://schemas.microsoft.com/office/2006/metadata/properties" xmlns:ns2="http://schemas.microsoft.com/sharepoint/v4" xmlns:ns3="8b8cf6ce-236f-4713-896e-b4ec346257bb" xmlns:ns4="58b0650e-828d-46c1-af00-111984e5092a" xmlns:ns5="7a58c3ed-4a22-4d08-9ddf-2c2b66cc6605" targetNamespace="http://schemas.microsoft.com/office/2006/metadata/properties" ma:root="true" ma:fieldsID="f8eeb43b36309ba801eb86731cfe2d05" ns2:_="" ns3:_="" ns4:_="" ns5:_="">
    <xsd:import namespace="http://schemas.microsoft.com/sharepoint/v4"/>
    <xsd:import namespace="8b8cf6ce-236f-4713-896e-b4ec346257bb"/>
    <xsd:import namespace="58b0650e-828d-46c1-af00-111984e5092a"/>
    <xsd:import namespace="7a58c3ed-4a22-4d08-9ddf-2c2b66cc6605"/>
    <xsd:element name="properties">
      <xsd:complexType>
        <xsd:sequence>
          <xsd:element name="documentManagement">
            <xsd:complexType>
              <xsd:all>
                <xsd:element ref="ns2:IconOverlay" minOccurs="0"/>
                <xsd:element ref="ns3:SharedWithUsers" minOccurs="0"/>
                <xsd:element ref="ns4:SharedWithDetails" minOccurs="0"/>
                <xsd:element ref="ns5:Sensi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8cf6ce-236f-4713-896e-b4ec346257bb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b0650e-828d-46c1-af00-111984e5092a" elementFormDefault="qualified">
    <xsd:import namespace="http://schemas.microsoft.com/office/2006/documentManagement/types"/>
    <xsd:import namespace="http://schemas.microsoft.com/office/infopath/2007/PartnerControls"/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58c3ed-4a22-4d08-9ddf-2c2b66cc6605" elementFormDefault="qualified">
    <xsd:import namespace="http://schemas.microsoft.com/office/2006/documentManagement/types"/>
    <xsd:import namespace="http://schemas.microsoft.com/office/infopath/2007/PartnerControls"/>
    <xsd:element name="Sensitivity" ma:index="11" nillable="true" ma:displayName="Sensitivity" ma:internalName="Sensitivit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Sensitivity xmlns="7a58c3ed-4a22-4d08-9ddf-2c2b66cc6605" xsi:nil="true"/>
  </documentManagement>
</p:properties>
</file>

<file path=customXml/itemProps1.xml><?xml version="1.0" encoding="utf-8"?>
<ds:datastoreItem xmlns:ds="http://schemas.openxmlformats.org/officeDocument/2006/customXml" ds:itemID="{2D65B129-EBA7-4294-84C6-9F2FD9CD176E}"/>
</file>

<file path=customXml/itemProps2.xml><?xml version="1.0" encoding="utf-8"?>
<ds:datastoreItem xmlns:ds="http://schemas.openxmlformats.org/officeDocument/2006/customXml" ds:itemID="{EB12F15C-D7AE-4884-B2A8-C1276E7F3A58}"/>
</file>

<file path=customXml/itemProps3.xml><?xml version="1.0" encoding="utf-8"?>
<ds:datastoreItem xmlns:ds="http://schemas.openxmlformats.org/officeDocument/2006/customXml" ds:itemID="{21E6DED8-33EE-4EE3-A0C5-97BC4E90C9AC}"/>
</file>

<file path=docProps/app.xml><?xml version="1.0" encoding="utf-8"?>
<Properties xmlns="http://schemas.openxmlformats.org/officeDocument/2006/extended-properties" xmlns:vt="http://schemas.openxmlformats.org/officeDocument/2006/docPropsVTypes">
  <Template>MediaTek-Confidential_A</Template>
  <TotalTime>23698</TotalTime>
  <Words>1252</Words>
  <Application>Microsoft Office PowerPoint</Application>
  <PresentationFormat>寬螢幕</PresentationFormat>
  <Paragraphs>254</Paragraphs>
  <Slides>24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24</vt:i4>
      </vt:variant>
    </vt:vector>
  </HeadingPairs>
  <TitlesOfParts>
    <vt:vector size="34" baseType="lpstr">
      <vt:lpstr>Lucida Grande</vt:lpstr>
      <vt:lpstr>SimHei</vt:lpstr>
      <vt:lpstr>新細明體</vt:lpstr>
      <vt:lpstr>Arial</vt:lpstr>
      <vt:lpstr>Calibri</vt:lpstr>
      <vt:lpstr>Calibri Bold</vt:lpstr>
      <vt:lpstr>Times New Roman</vt:lpstr>
      <vt:lpstr>Wingdings</vt:lpstr>
      <vt:lpstr>MediaTek</vt:lpstr>
      <vt:lpstr>Custom Design</vt:lpstr>
      <vt:lpstr>Aurisys Tuning Guide</vt:lpstr>
      <vt:lpstr>Outline</vt:lpstr>
      <vt:lpstr>Outline</vt:lpstr>
      <vt:lpstr>Overview</vt:lpstr>
      <vt:lpstr>Outline</vt:lpstr>
      <vt:lpstr>Tuning Interface - Set Parameter</vt:lpstr>
      <vt:lpstr>Tuning Interface - Get Parameter</vt:lpstr>
      <vt:lpstr>Scene Table</vt:lpstr>
      <vt:lpstr>Tuning Interface - Set Parameter CMD Summary</vt:lpstr>
      <vt:lpstr>Tuning Interface - Get Parameter CMD Summary</vt:lpstr>
      <vt:lpstr>API For Set/Get Parameter</vt:lpstr>
      <vt:lpstr>Outline</vt:lpstr>
      <vt:lpstr>Static Tuning - PARAM_FILE</vt:lpstr>
      <vt:lpstr>Static Tuning - PARAM_FILE</vt:lpstr>
      <vt:lpstr>Dynamic Tuning - ADDR_VALUE/KEY_VALUE</vt:lpstr>
      <vt:lpstr>Dynamic Tuning - ADDR_VALUE/KEY_VALUE</vt:lpstr>
      <vt:lpstr>Dynamic Tuning - APPLY_PARAM</vt:lpstr>
      <vt:lpstr>Dynamic Tuning - APPLY_PARAM</vt:lpstr>
      <vt:lpstr>How to check set result?</vt:lpstr>
      <vt:lpstr>appendix</vt:lpstr>
      <vt:lpstr>Aurisys ARSI functions</vt:lpstr>
      <vt:lpstr>Get ADB result from console</vt:lpstr>
      <vt:lpstr>aurisys_config_hifi3.xml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Aurisys Tuning Guide</dc:title>
  <dc:creator>Danny Hung (洪士堯)</dc:creator>
  <cp:lastModifiedBy>Danny Hung (洪士堯)</cp:lastModifiedBy>
  <cp:revision>153</cp:revision>
  <dcterms:created xsi:type="dcterms:W3CDTF">2018-03-02T07:36:40Z</dcterms:created>
  <dcterms:modified xsi:type="dcterms:W3CDTF">2018-07-11T06:41:10Z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0x010100FC2A53B7DB280546A20112FD2EF61E0F</vt:lpwstr>
  </property>
</Properties>
</file>